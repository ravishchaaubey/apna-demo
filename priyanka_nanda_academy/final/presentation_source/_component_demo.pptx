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45d18659-96d6-0ac9-ca7f-830e232f8b10}">
          <p14:sldIdLst>
            <p14:sldId id="256"/>
          </p14:sldIdLst>
        </p14:section>
        <p14:section name="Design system and evidence badges" id="{295bef87-2dd5-275e-0f8f-330f52fbae68}">
          <p14:sldIdLst>
            <p14:sldId id="257"/>
            <p14:sldId id="258"/>
          </p14:sldIdLst>
        </p14:section>
        <p14:section name="Data components" id="{14801d53-6d1f-6cd8-da4c-79463f1d21bd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Decision components" id="{095f7a27-ddb5-8b9b-20bd-b7d3867ca506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Appendix" id="{0d394911-588e-ca45-b550-d2712833562d}">
          <p14:sldIdLst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 revenue by year</c:v>
                </c:pt>
              </c:strCache>
            </c:strRef>
          </c:tx>
          <c:spPr>
            <a:solidFill>
              <a:srgbClr val="5E2B52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70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Lorem Y1</c:v>
                  </c:pt>
                  <c:pt idx="1">
                    <c:v>Ipsum Y2</c:v>
                  </c:pt>
                  <c:pt idx="2">
                    <c:v>Dolor Y3</c:v>
                  </c:pt>
                  <c:pt idx="3">
                    <c:v>Sit Y4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66.5</c:v>
                </c:pt>
                <c:pt idx="1">
                  <c:v>115.8</c:v>
                </c:pt>
                <c:pt idx="2">
                  <c:v>165.3</c:v>
                </c:pt>
                <c:pt idx="3">
                  <c:v>182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2B21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C9BCB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F6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1"/>
        <c:axPos val="l"/>
        <c:numFmt formatCode="#,##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Ipsum enquiries by channel</c:v>
                </c:pt>
              </c:strCache>
            </c:strRef>
          </c:tx>
          <c:spPr>
            <a:solidFill>
              <a:srgbClr val="C2705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70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Lorem search</c:v>
                  </c:pt>
                  <c:pt idx="1">
                    <c:v>Ipsum social</c:v>
                  </c:pt>
                  <c:pt idx="2">
                    <c:v>Dolor referral</c:v>
                  </c:pt>
                  <c:pt idx="3">
                    <c:v>Sit walk-in</c:v>
                  </c:pt>
                  <c:pt idx="4">
                    <c:v>Amet 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27</c:v>
                </c:pt>
                <c:pt idx="2">
                  <c:v>18</c:v>
                </c:pt>
                <c:pt idx="3">
                  <c:v>12</c:v>
                </c:pt>
                <c:pt idx="4">
                  <c:v>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B21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C9BCB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F6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b"/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9C8794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Lorem Y1</c:v>
                  </c:pt>
                  <c:pt idx="1">
                    <c:v>Ipsum Y2</c:v>
                  </c:pt>
                  <c:pt idx="2">
                    <c:v>Dolor Y3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-13</c:v>
                </c:pt>
                <c:pt idx="1">
                  <c:v>-7.2</c:v>
                </c:pt>
                <c:pt idx="2">
                  <c:v>-9.6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Planning</c:v>
                </c:pt>
              </c:strCache>
            </c:strRef>
          </c:tx>
          <c:spPr>
            <a:solidFill>
              <a:srgbClr val="5E2B52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Lorem Y1</c:v>
                  </c:pt>
                  <c:pt idx="1">
                    <c:v>Ipsum Y2</c:v>
                  </c:pt>
                  <c:pt idx="2">
                    <c:v>Dolor Y3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2.2</c:v>
                </c:pt>
                <c:pt idx="1">
                  <c:v>13.7</c:v>
                </c:pt>
                <c:pt idx="2">
                  <c:v>43.5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C2705C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Lorem Y1</c:v>
                  </c:pt>
                  <c:pt idx="1">
                    <c:v>Ipsum Y2</c:v>
                  </c:pt>
                  <c:pt idx="2">
                    <c:v>Dolor Y3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6.8</c:v>
                </c:pt>
                <c:pt idx="1">
                  <c:v>21</c:v>
                </c:pt>
                <c:pt idx="2">
                  <c:v>58.1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2B21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C9BCB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F6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-40"/>
        </c:scaling>
        <c:delete val="1"/>
        <c:axPos val="l"/>
        <c:numFmt formatCode="#,##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B5F6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9C8794"/>
            </a:solidFill>
            <a:ln w="28575" cap="flat">
              <a:solidFill>
                <a:srgbClr val="9C8794"/>
              </a:solidFill>
              <a:prstDash val="solid"/>
              <a:round/>
            </a:ln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9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C8794"/>
              </a:solidFill>
              <a:ln w="9525" cap="flat">
                <a:solidFill>
                  <a:srgbClr val="9C87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M0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-5.1</c:v>
                </c:pt>
                <c:pt idx="2">
                  <c:v>-9.8</c:v>
                </c:pt>
                <c:pt idx="3">
                  <c:v>-12.9</c:v>
                </c:pt>
                <c:pt idx="4">
                  <c:v>-14.9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Planning</c:v>
                </c:pt>
              </c:strCache>
            </c:strRef>
          </c:tx>
          <c:spPr>
            <a:solidFill>
              <a:srgbClr val="5E2B52"/>
            </a:solidFill>
            <a:ln w="28575" cap="flat">
              <a:solidFill>
                <a:srgbClr val="5E2B52"/>
              </a:solidFill>
              <a:prstDash val="solid"/>
              <a:round/>
            </a:ln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9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E2B52"/>
              </a:solidFill>
              <a:ln w="9525" cap="flat">
                <a:solidFill>
                  <a:srgbClr val="5E2B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M0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-6</c:v>
                </c:pt>
                <c:pt idx="2">
                  <c:v>-11</c:v>
                </c:pt>
                <c:pt idx="3">
                  <c:v>-16.2</c:v>
                </c:pt>
                <c:pt idx="4">
                  <c:v>-8.4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C2705C"/>
            </a:solidFill>
            <a:ln w="28575" cap="flat">
              <a:solidFill>
                <a:srgbClr val="C2705C"/>
              </a:solidFill>
              <a:prstDash val="solid"/>
              <a:round/>
            </a:ln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9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2705C"/>
              </a:solidFill>
              <a:ln w="9525" cap="flat">
                <a:solidFill>
                  <a:srgbClr val="C270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M0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-6.5</c:v>
                </c:pt>
                <c:pt idx="2">
                  <c:v>-9</c:v>
                </c:pt>
                <c:pt idx="3">
                  <c:v>-3.1</c:v>
                </c:pt>
                <c:pt idx="4">
                  <c:v>6.2</c:v>
                </c:pt>
              </c:numCache>
            </c:numRef>
          </c:val>
          <c:smooth val="0"/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2B2129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C9BCB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F6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20"/>
        </c:scaling>
        <c:delete val="0"/>
        <c:axPos val="l"/>
        <c:majorGridlines>
          <c:spPr>
            <a:ln w="6350" cap="flat">
              <a:solidFill>
                <a:srgbClr val="E4DAD5"/>
              </a:solidFill>
              <a:prstDash val="solid"/>
              <a:round/>
            </a:ln>
          </c:spPr>
        </c:majorGridlines>
        <c:numFmt formatCode="#,##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B5F6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 fee comparison</c:v>
                </c:pt>
              </c:strCache>
            </c:strRef>
          </c:tx>
          <c:spPr>
            <a:solidFill>
              <a:srgbClr val="5E2B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E2B5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705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Lorem A</c:v>
                  </c:pt>
                  <c:pt idx="1">
                    <c:v>Ipsum B</c:v>
                  </c:pt>
                  <c:pt idx="2">
                    <c:v>Dolor C</c:v>
                  </c:pt>
                  <c:pt idx="3">
                    <c:v>Sit D</c:v>
                  </c:pt>
                  <c:pt idx="4">
                    <c:v>Amet E</c:v>
                  </c:pt>
                  <c:pt idx="5">
                    <c:v>PNA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48</c:v>
                </c:pt>
                <c:pt idx="2">
                  <c:v>55</c:v>
                </c:pt>
                <c:pt idx="3">
                  <c:v>62</c:v>
                </c:pt>
                <c:pt idx="4">
                  <c:v>75</c:v>
                </c:pt>
                <c:pt idx="5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1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C9BCB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F6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NA_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 label"/>
          <p:cNvSpPr/>
          <p:nvPr/>
        </p:nvSpPr>
        <p:spPr>
          <a:xfrm>
            <a:off x="7436815" y="3291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6B5F67"/>
                </a:solidFill>
              </a:rPr>
              <a:t>PRIYANKA NANDA MAKEUP ACADEMY</a:t>
            </a:r>
            <a:endParaRPr lang="en-US" sz="9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NA_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disc"/>
          <p:cNvSpPr/>
          <p:nvPr/>
        </p:nvSpPr>
        <p:spPr>
          <a:xfrm>
            <a:off x="8138160" y="822960"/>
            <a:ext cx="5852160" cy="5852160"/>
          </a:xfrm>
          <a:prstGeom prst="ellipse">
            <a:avLst/>
          </a:prstGeom>
          <a:solidFill>
            <a:srgbClr val="C2705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Motif ring"/>
          <p:cNvSpPr/>
          <p:nvPr/>
        </p:nvSpPr>
        <p:spPr>
          <a:xfrm>
            <a:off x="8732520" y="1417320"/>
            <a:ext cx="4663440" cy="4663440"/>
          </a:xfrm>
          <a:prstGeom prst="ellipse">
            <a:avLst/>
          </a:prstGeom>
          <a:ln w="15875">
            <a:solidFill>
              <a:srgbClr val="C270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Brand label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7A995"/>
                </a:solidFill>
              </a:rPr>
              <a:t>PRIYANKA NANDA MAKEUP ACADEMY</a:t>
            </a:r>
            <a:endParaRPr lang="en-US" sz="1000" dirty="0"/>
          </a:p>
        </p:txBody>
      </p:sp>
      <p:sp>
        <p:nvSpPr>
          <p:cNvPr id="5" name="Section number"/>
          <p:cNvSpPr/>
          <p:nvPr>
            <p:ph idx="103" type="body" hasCustomPrompt="1"/>
          </p:nvPr>
        </p:nvSpPr>
        <p:spPr>
          <a:xfrm>
            <a:off x="548640" y="1874520"/>
            <a:ext cx="2743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dirty="0">
                <a:solidFill>
                  <a:srgbClr val="E7A9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6" name="Title"/>
          <p:cNvSpPr/>
          <p:nvPr>
            <p:ph type="title" hasCustomPrompt="1"/>
          </p:nvPr>
        </p:nvSpPr>
        <p:spPr>
          <a:xfrm>
            <a:off x="548640" y="292608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D9C9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NA_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disc"/>
          <p:cNvSpPr/>
          <p:nvPr/>
        </p:nvSpPr>
        <p:spPr>
          <a:xfrm>
            <a:off x="7962595" y="691286"/>
            <a:ext cx="6554419" cy="6554419"/>
          </a:xfrm>
          <a:prstGeom prst="ellipse">
            <a:avLst/>
          </a:prstGeom>
          <a:solidFill>
            <a:srgbClr val="C2705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Motif ring"/>
          <p:cNvSpPr/>
          <p:nvPr/>
        </p:nvSpPr>
        <p:spPr>
          <a:xfrm>
            <a:off x="8556955" y="1285646"/>
            <a:ext cx="5223053" cy="5223053"/>
          </a:xfrm>
          <a:prstGeom prst="ellipse">
            <a:avLst/>
          </a:prstGeom>
          <a:ln w="15875">
            <a:solidFill>
              <a:srgbClr val="C270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Brand label"/>
          <p:cNvSpPr/>
          <p:nvPr/>
        </p:nvSpPr>
        <p:spPr>
          <a:xfrm>
            <a:off x="548640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7A995"/>
                </a:solidFill>
              </a:rPr>
              <a:t>PRIYANKA NANDA MAKEUP ACADEMY</a:t>
            </a:r>
            <a:endParaRPr lang="en-US" sz="1100" dirty="0"/>
          </a:p>
        </p:txBody>
      </p:sp>
      <p:sp>
        <p:nvSpPr>
          <p:cNvPr id="5" name="Title"/>
          <p:cNvSpPr/>
          <p:nvPr>
            <p:ph type="title" hasCustomPrompt="1"/>
          </p:nvPr>
        </p:nvSpPr>
        <p:spPr>
          <a:xfrm>
            <a:off x="548640" y="18288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6" name="Subtitle"/>
          <p:cNvSpPr/>
          <p:nvPr>
            <p:ph idx="104" type="body" hasCustomPrompt="1"/>
          </p:nvPr>
        </p:nvSpPr>
        <p:spPr>
          <a:xfrm>
            <a:off x="548640" y="4023360"/>
            <a:ext cx="71323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E7A99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7" name="Cover meta"/>
          <p:cNvSpPr/>
          <p:nvPr>
            <p:ph idx="105" type="body" hasCustomPrompt="1"/>
          </p:nvPr>
        </p:nvSpPr>
        <p:spPr>
          <a:xfrm>
            <a:off x="548640" y="5669280"/>
            <a:ext cx="71323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D9C9D3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 hasCustomPrompt="1"/>
          </p:nvPr>
        </p:nvSpPr>
        <p:spPr>
          <a:xfrm>
            <a:off x="548640" y="18288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ipsum growth strategy for a placeholder academy</a:t>
            </a:r>
            <a:endParaRPr lang="en-US" sz="4400" dirty="0"/>
          </a:p>
        </p:txBody>
      </p:sp>
      <p:sp>
        <p:nvSpPr>
          <p:cNvPr id="3" name="Subtitle"/>
          <p:cNvSpPr/>
          <p:nvPr>
            <p:ph idx="104" type="body" hasCustomPrompt="1"/>
          </p:nvPr>
        </p:nvSpPr>
        <p:spPr>
          <a:xfrm>
            <a:off x="548640" y="4023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7A995"/>
                </a:solidFill>
              </a:rPr>
              <a:t>Component library demo with dummy data only</a:t>
            </a:r>
            <a:endParaRPr lang="en-US" sz="1800" dirty="0"/>
          </a:p>
        </p:txBody>
      </p:sp>
      <p:sp>
        <p:nvSpPr>
          <p:cNvPr id="4" name="Cover meta"/>
          <p:cNvSpPr/>
          <p:nvPr>
            <p:ph idx="105" type="body" hasCustomPrompt="1"/>
          </p:nvPr>
        </p:nvSpPr>
        <p:spPr>
          <a:xfrm>
            <a:off x="548640" y="5669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D9C9D3"/>
                </a:solidFill>
              </a:rPr>
              <a:t>Placeholder meta line · Prepared for layout QA · Lorem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>
            <p:ph idx="103" type="body" hasCustomPrompt="1"/>
          </p:nvPr>
        </p:nvSpPr>
        <p:spPr>
          <a:xfrm>
            <a:off x="548640" y="1874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E7A99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2926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Design system and evidence badges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709670"/>
            <a:ext cx="6949440" cy="5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C9D3"/>
                </a:solidFill>
              </a:rPr>
              <a:t>Section divider: numeral, title and a short lorem subtitle that can wrap onto a second 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D9C9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DESIGN SYSTEM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assertion title states the slide's single message in one or two lines</a:t>
            </a:r>
            <a:endParaRPr lang="en-US" sz="2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114870"/>
            <a:ext cx="11094415" cy="26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5F67"/>
                </a:solidFill>
              </a:rPr>
              <a:t>Subtitle: optional supporting sentence in 15 pt muted body text</a:t>
            </a:r>
            <a:endParaRPr lang="en-US" sz="1500" dirty="0"/>
          </a:p>
        </p:txBody>
      </p:sp>
      <p:sp>
        <p:nvSpPr>
          <p:cNvPr id="5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   Note: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Footer is 9 pt, left-aligned and bottom-anchored beside the slide number.</a:t>
            </a:r>
            <a:endParaRPr lang="en-US" sz="900" dirty="0"/>
          </a:p>
        </p:txBody>
      </p:sp>
      <p:sp>
        <p:nvSpPr>
          <p:cNvPr id="6" name="Swatch Aubergine"/>
          <p:cNvSpPr/>
          <p:nvPr/>
        </p:nvSpPr>
        <p:spPr>
          <a:xfrm>
            <a:off x="548640" y="19202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3D1A33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7" name="Swatch label Aubergine"/>
          <p:cNvSpPr txBox="1"/>
          <p:nvPr/>
        </p:nvSpPr>
        <p:spPr>
          <a:xfrm>
            <a:off x="548640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Aubergine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#3D1A33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Dominant: titles, dark slides</a:t>
            </a:r>
            <a:endParaRPr lang="en-US" sz="1200" dirty="0"/>
          </a:p>
        </p:txBody>
      </p:sp>
      <p:sp>
        <p:nvSpPr>
          <p:cNvPr id="8" name="Swatch Plum"/>
          <p:cNvSpPr/>
          <p:nvPr/>
        </p:nvSpPr>
        <p:spPr>
          <a:xfrm>
            <a:off x="2419502" y="19202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5E2B52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9" name="Swatch label Plum"/>
          <p:cNvSpPr txBox="1"/>
          <p:nvPr/>
        </p:nvSpPr>
        <p:spPr>
          <a:xfrm>
            <a:off x="2419502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Plum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#5E2B52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Primary data colour</a:t>
            </a:r>
            <a:endParaRPr lang="en-US" sz="1200" dirty="0"/>
          </a:p>
        </p:txBody>
      </p:sp>
      <p:sp>
        <p:nvSpPr>
          <p:cNvPr id="10" name="Swatch Rose gold"/>
          <p:cNvSpPr/>
          <p:nvPr/>
        </p:nvSpPr>
        <p:spPr>
          <a:xfrm>
            <a:off x="4290365" y="19202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C2705C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1" name="Swatch label Rose gold"/>
          <p:cNvSpPr txBox="1"/>
          <p:nvPr/>
        </p:nvSpPr>
        <p:spPr>
          <a:xfrm>
            <a:off x="4290365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Rose gold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#C2705C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Sharp accent</a:t>
            </a:r>
            <a:endParaRPr lang="en-US" sz="1200" dirty="0"/>
          </a:p>
        </p:txBody>
      </p:sp>
      <p:sp>
        <p:nvSpPr>
          <p:cNvPr id="12" name="Swatch Mauve"/>
          <p:cNvSpPr/>
          <p:nvPr/>
        </p:nvSpPr>
        <p:spPr>
          <a:xfrm>
            <a:off x="6161227" y="19202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9C8794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3" name="Swatch label Mauve"/>
          <p:cNvSpPr txBox="1"/>
          <p:nvPr/>
        </p:nvSpPr>
        <p:spPr>
          <a:xfrm>
            <a:off x="6161227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Mauve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#9C8794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Muted secondary</a:t>
            </a:r>
            <a:endParaRPr lang="en-US" sz="1200" dirty="0"/>
          </a:p>
        </p:txBody>
      </p:sp>
      <p:sp>
        <p:nvSpPr>
          <p:cNvPr id="14" name="Swatch Porcelain"/>
          <p:cNvSpPr/>
          <p:nvPr/>
        </p:nvSpPr>
        <p:spPr>
          <a:xfrm>
            <a:off x="8032090" y="19202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8F4F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5" name="Swatch label Porcelain"/>
          <p:cNvSpPr txBox="1"/>
          <p:nvPr/>
        </p:nvSpPr>
        <p:spPr>
          <a:xfrm>
            <a:off x="8032090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Porcelain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#F8F4F1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Slide background</a:t>
            </a:r>
            <a:endParaRPr lang="en-US" sz="1200" dirty="0"/>
          </a:p>
        </p:txBody>
      </p:sp>
      <p:sp>
        <p:nvSpPr>
          <p:cNvPr id="16" name="Swatch Ink"/>
          <p:cNvSpPr/>
          <p:nvPr/>
        </p:nvSpPr>
        <p:spPr>
          <a:xfrm>
            <a:off x="9902952" y="19202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B2129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7" name="Swatch label Ink"/>
          <p:cNvSpPr txBox="1"/>
          <p:nvPr/>
        </p:nvSpPr>
        <p:spPr>
          <a:xfrm>
            <a:off x="9902952" y="2834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Ink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#2B2129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Body text</a:t>
            </a:r>
            <a:endParaRPr lang="en-US" sz="1200" dirty="0"/>
          </a:p>
        </p:txBody>
      </p:sp>
      <p:sp>
        <p:nvSpPr>
          <p:cNvPr id="18" name="Text card"/>
          <p:cNvSpPr/>
          <p:nvPr/>
        </p:nvSpPr>
        <p:spPr>
          <a:xfrm>
            <a:off x="548640" y="3703320"/>
            <a:ext cx="566928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9" name="Text block"/>
          <p:cNvSpPr txBox="1"/>
          <p:nvPr/>
        </p:nvSpPr>
        <p:spPr>
          <a:xfrm>
            <a:off x="749808" y="3904488"/>
            <a:ext cx="5266944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Typography: Cambria headings, Calibri body</a:t>
            </a:r>
            <a:endParaRPr lang="en-US" sz="12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Assertion title 28 pt (floor 22), two lines maximum</a:t>
            </a:r>
            <a:endParaRPr lang="en-US" sz="12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Body 14 pt (floor 11); tables and dense cells floor 10 pt</a:t>
            </a:r>
            <a:endParaRPr lang="en-US" sz="12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Chart labels 11 pt in the theme body font; footers and badges 9 pt</a:t>
            </a:r>
            <a:endParaRPr lang="en-US" sz="12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Rupee sign set in the body font so it renders identically everywhere: ₹66.5L</a:t>
            </a:r>
            <a:endParaRPr lang="en-US" sz="1200" dirty="0"/>
          </a:p>
        </p:txBody>
      </p:sp>
      <p:sp>
        <p:nvSpPr>
          <p:cNvPr id="20" name="Badge card"/>
          <p:cNvSpPr/>
          <p:nvPr/>
        </p:nvSpPr>
        <p:spPr>
          <a:xfrm>
            <a:off x="6492240" y="3703320"/>
            <a:ext cx="5150815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21" name="Badge heading"/>
          <p:cNvSpPr txBox="1"/>
          <p:nvPr/>
        </p:nvSpPr>
        <p:spPr>
          <a:xfrm>
            <a:off x="6693408" y="3904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1A33"/>
                </a:solidFill>
              </a:rPr>
              <a:t>Evidence badges</a:t>
            </a:r>
            <a:endParaRPr lang="en-US" sz="1500" dirty="0"/>
          </a:p>
        </p:txBody>
      </p:sp>
      <p:sp>
        <p:nvSpPr>
          <p:cNvPr id="22" name="Badge VERIFIED"/>
          <p:cNvSpPr txBox="1"/>
          <p:nvPr/>
        </p:nvSpPr>
        <p:spPr>
          <a:xfrm>
            <a:off x="6693408" y="4315968"/>
            <a:ext cx="1600200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bg1"/>
                </a:solidFill>
              </a:rPr>
              <a:t>VERIFIED</a:t>
            </a:r>
            <a:endParaRPr lang="en-US" sz="900" dirty="0"/>
          </a:p>
        </p:txBody>
      </p:sp>
      <p:sp>
        <p:nvSpPr>
          <p:cNvPr id="23" name="Badge meaning 1"/>
          <p:cNvSpPr txBox="1"/>
          <p:nvPr/>
        </p:nvSpPr>
        <p:spPr>
          <a:xfrm>
            <a:off x="8430768" y="43159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129"/>
                </a:solidFill>
              </a:rPr>
              <a:t>Sourced fact, checked</a:t>
            </a:r>
            <a:endParaRPr lang="en-US" sz="1100" dirty="0"/>
          </a:p>
        </p:txBody>
      </p:sp>
      <p:sp>
        <p:nvSpPr>
          <p:cNvPr id="24" name="Badge ESTIMATE"/>
          <p:cNvSpPr txBox="1"/>
          <p:nvPr/>
        </p:nvSpPr>
        <p:spPr>
          <a:xfrm>
            <a:off x="6693408" y="4645152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F8EBD4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A4B0C"/>
                </a:solidFill>
              </a:rPr>
              <a:t>ESTIMATE</a:t>
            </a:r>
            <a:endParaRPr lang="en-US" sz="900" dirty="0"/>
          </a:p>
        </p:txBody>
      </p:sp>
      <p:sp>
        <p:nvSpPr>
          <p:cNvPr id="25" name="Badge meaning 2"/>
          <p:cNvSpPr txBox="1"/>
          <p:nvPr/>
        </p:nvSpPr>
        <p:spPr>
          <a:xfrm>
            <a:off x="8430768" y="46451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129"/>
                </a:solidFill>
              </a:rPr>
              <a:t>Our modelled number</a:t>
            </a:r>
            <a:endParaRPr lang="en-US" sz="1100" dirty="0"/>
          </a:p>
        </p:txBody>
      </p:sp>
      <p:sp>
        <p:nvSpPr>
          <p:cNvPr id="26" name="Badge HYPOTHESIS"/>
          <p:cNvSpPr txBox="1"/>
          <p:nvPr/>
        </p:nvSpPr>
        <p:spPr>
          <a:xfrm>
            <a:off x="6693408" y="4974336"/>
            <a:ext cx="1600200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accent6"/>
                </a:solidFill>
              </a:rPr>
              <a:t>HYPOTHESIS</a:t>
            </a:r>
            <a:endParaRPr lang="en-US" sz="900" dirty="0"/>
          </a:p>
        </p:txBody>
      </p:sp>
      <p:sp>
        <p:nvSpPr>
          <p:cNvPr id="27" name="Badge meaning 3"/>
          <p:cNvSpPr txBox="1"/>
          <p:nvPr/>
        </p:nvSpPr>
        <p:spPr>
          <a:xfrm>
            <a:off x="8430768" y="49743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129"/>
                </a:solidFill>
              </a:rPr>
              <a:t>To be tested (dashed = uncertain)</a:t>
            </a:r>
            <a:endParaRPr lang="en-US" sz="1100" dirty="0"/>
          </a:p>
        </p:txBody>
      </p:sp>
      <p:sp>
        <p:nvSpPr>
          <p:cNvPr id="28" name="Badge RECOMMENDATION"/>
          <p:cNvSpPr txBox="1"/>
          <p:nvPr/>
        </p:nvSpPr>
        <p:spPr>
          <a:xfrm>
            <a:off x="6693408" y="5303520"/>
            <a:ext cx="1600200" cy="21945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bg1"/>
                </a:solidFill>
              </a:rPr>
              <a:t>RECOMMENDATION</a:t>
            </a:r>
            <a:endParaRPr lang="en-US" sz="900" dirty="0"/>
          </a:p>
        </p:txBody>
      </p:sp>
      <p:sp>
        <p:nvSpPr>
          <p:cNvPr id="29" name="Badge meaning 4"/>
          <p:cNvSpPr txBox="1"/>
          <p:nvPr/>
        </p:nvSpPr>
        <p:spPr>
          <a:xfrm>
            <a:off x="8430768" y="53035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129"/>
                </a:solidFill>
              </a:rPr>
              <a:t>Our advice</a:t>
            </a:r>
            <a:endParaRPr lang="en-US" sz="1100" dirty="0"/>
          </a:p>
        </p:txBody>
      </p:sp>
      <p:sp>
        <p:nvSpPr>
          <p:cNvPr id="30" name="Badge FOUNDER-STATED"/>
          <p:cNvSpPr txBox="1"/>
          <p:nvPr/>
        </p:nvSpPr>
        <p:spPr>
          <a:xfrm>
            <a:off x="6693408" y="5632704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EEE7EB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tx2"/>
                </a:solidFill>
              </a:rPr>
              <a:t>FOUNDER-STATED</a:t>
            </a:r>
            <a:endParaRPr lang="en-US" sz="900" dirty="0"/>
          </a:p>
        </p:txBody>
      </p:sp>
      <p:sp>
        <p:nvSpPr>
          <p:cNvPr id="31" name="Badge meaning 5"/>
          <p:cNvSpPr txBox="1"/>
          <p:nvPr/>
        </p:nvSpPr>
        <p:spPr>
          <a:xfrm>
            <a:off x="8430768" y="56327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129"/>
                </a:solidFill>
              </a:rPr>
              <a:t>Stated by the founder, unverified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>
            <p:ph idx="103" type="body" hasCustomPrompt="1"/>
          </p:nvPr>
        </p:nvSpPr>
        <p:spPr>
          <a:xfrm>
            <a:off x="548640" y="1874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E7A99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2926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 components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738880"/>
            <a:ext cx="6949440" cy="2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C9D3"/>
                </a:solidFill>
              </a:rPr>
              <a:t>KPI tiles, native charts, sizing tree and funnel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D9C9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KPI TILES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headline metrics sit in a row of equal tiles that share one number size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sp>
        <p:nvSpPr>
          <p:cNvPr id="5" name="KPI card"/>
          <p:cNvSpPr/>
          <p:nvPr/>
        </p:nvSpPr>
        <p:spPr>
          <a:xfrm>
            <a:off x="548640" y="1920240"/>
            <a:ext cx="2567864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/>
        </p:spPr>
      </p:sp>
      <p:sp>
        <p:nvSpPr>
          <p:cNvPr id="6" name="KPI label"/>
          <p:cNvSpPr txBox="1"/>
          <p:nvPr/>
        </p:nvSpPr>
        <p:spPr>
          <a:xfrm>
            <a:off x="749808" y="2121408"/>
            <a:ext cx="127670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Lorem metric 12</a:t>
            </a:r>
            <a:endParaRPr lang="en-US" sz="1300" dirty="0"/>
          </a:p>
        </p:txBody>
      </p:sp>
      <p:sp>
        <p:nvSpPr>
          <p:cNvPr id="7" name="Badge ESTIMATE"/>
          <p:cNvSpPr txBox="1"/>
          <p:nvPr/>
        </p:nvSpPr>
        <p:spPr>
          <a:xfrm>
            <a:off x="2136243" y="2121408"/>
            <a:ext cx="779093" cy="219456"/>
          </a:xfrm>
          <a:prstGeom prst="roundRect">
            <a:avLst>
              <a:gd name="adj" fmla="val 50000"/>
            </a:avLst>
          </a:prstGeom>
          <a:solidFill>
            <a:srgbClr val="F8EBD4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A4B0C"/>
                </a:solidFill>
              </a:rPr>
              <a:t>ESTIMATE</a:t>
            </a:r>
            <a:endParaRPr lang="en-US" sz="900" dirty="0"/>
          </a:p>
        </p:txBody>
      </p:sp>
      <p:sp>
        <p:nvSpPr>
          <p:cNvPr id="8" name="KPI value"/>
          <p:cNvSpPr txBox="1"/>
          <p:nvPr/>
        </p:nvSpPr>
        <p:spPr>
          <a:xfrm>
            <a:off x="749808" y="2908275"/>
            <a:ext cx="2165528" cy="6974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₹</a:t>
            </a:r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66.5</a:t>
            </a:r>
            <a:pPr algn="l" indent="0" marL="0">
              <a:buNone/>
            </a:pPr>
            <a:r>
              <a:rPr lang="en-US" sz="2200" dirty="0">
                <a:solidFill>
                  <a:srgbClr val="E7A995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</a:t>
            </a:r>
            <a:endParaRPr lang="en-US" sz="1200" dirty="0"/>
          </a:p>
        </p:txBody>
      </p:sp>
      <p:sp>
        <p:nvSpPr>
          <p:cNvPr id="9" name="KPI period"/>
          <p:cNvSpPr txBox="1"/>
          <p:nvPr/>
        </p:nvSpPr>
        <p:spPr>
          <a:xfrm>
            <a:off x="749808" y="3605759"/>
            <a:ext cx="2165528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C9D3"/>
                </a:solidFill>
              </a:rPr>
              <a:t>Year 1 · Lorem 2026–2027</a:t>
            </a:r>
            <a:endParaRPr lang="en-US" sz="1100" dirty="0"/>
          </a:p>
        </p:txBody>
      </p:sp>
      <p:sp>
        <p:nvSpPr>
          <p:cNvPr id="10" name="KPI card 2"/>
          <p:cNvSpPr/>
          <p:nvPr/>
        </p:nvSpPr>
        <p:spPr>
          <a:xfrm>
            <a:off x="3390824" y="1920240"/>
            <a:ext cx="256786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1" name="KPI label 2"/>
          <p:cNvSpPr txBox="1"/>
          <p:nvPr/>
        </p:nvSpPr>
        <p:spPr>
          <a:xfrm>
            <a:off x="3591992" y="2121408"/>
            <a:ext cx="127670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Ipsum enrolments</a:t>
            </a:r>
            <a:endParaRPr lang="en-US" sz="1300" dirty="0"/>
          </a:p>
        </p:txBody>
      </p:sp>
      <p:sp>
        <p:nvSpPr>
          <p:cNvPr id="12" name="Badge ESTIMATE 2"/>
          <p:cNvSpPr txBox="1"/>
          <p:nvPr/>
        </p:nvSpPr>
        <p:spPr>
          <a:xfrm>
            <a:off x="4978427" y="2121408"/>
            <a:ext cx="779093" cy="219456"/>
          </a:xfrm>
          <a:prstGeom prst="roundRect">
            <a:avLst>
              <a:gd name="adj" fmla="val 50000"/>
            </a:avLst>
          </a:prstGeom>
          <a:solidFill>
            <a:srgbClr val="F8EBD4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A4B0C"/>
                </a:solidFill>
              </a:rPr>
              <a:t>ESTIMATE</a:t>
            </a:r>
            <a:endParaRPr lang="en-US" sz="900" dirty="0"/>
          </a:p>
        </p:txBody>
      </p:sp>
      <p:sp>
        <p:nvSpPr>
          <p:cNvPr id="13" name="KPI value 2"/>
          <p:cNvSpPr txBox="1"/>
          <p:nvPr/>
        </p:nvSpPr>
        <p:spPr>
          <a:xfrm>
            <a:off x="3591992" y="2691841"/>
            <a:ext cx="2165528" cy="6974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91</a:t>
            </a:r>
            <a:pPr algn="l" indent="0" marL="0">
              <a:buNone/>
            </a:pPr>
            <a:r>
              <a:rPr lang="en-US" sz="2200" dirty="0">
                <a:solidFill>
                  <a:srgbClr val="6B5F67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students</a:t>
            </a:r>
            <a:endParaRPr lang="en-US" sz="1200" dirty="0"/>
          </a:p>
        </p:txBody>
      </p:sp>
      <p:sp>
        <p:nvSpPr>
          <p:cNvPr id="14" name="KPI period 2"/>
          <p:cNvSpPr txBox="1"/>
          <p:nvPr/>
        </p:nvSpPr>
        <p:spPr>
          <a:xfrm>
            <a:off x="3591992" y="3389325"/>
            <a:ext cx="2165528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Year 1 · placeholder</a:t>
            </a:r>
            <a:endParaRPr lang="en-US" sz="1100" dirty="0"/>
          </a:p>
        </p:txBody>
      </p:sp>
      <p:sp>
        <p:nvSpPr>
          <p:cNvPr id="15" name="KPI note"/>
          <p:cNvSpPr txBox="1"/>
          <p:nvPr/>
        </p:nvSpPr>
        <p:spPr>
          <a:xfrm>
            <a:off x="3591992" y="3605759"/>
            <a:ext cx="2165528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Dolor case: 33</a:t>
            </a:r>
            <a:endParaRPr lang="en-US" sz="1100" dirty="0"/>
          </a:p>
        </p:txBody>
      </p:sp>
      <p:sp>
        <p:nvSpPr>
          <p:cNvPr id="16" name="KPI card 3"/>
          <p:cNvSpPr/>
          <p:nvPr/>
        </p:nvSpPr>
        <p:spPr>
          <a:xfrm>
            <a:off x="6233008" y="1920240"/>
            <a:ext cx="256786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7" name="KPI label 3"/>
          <p:cNvSpPr txBox="1"/>
          <p:nvPr/>
        </p:nvSpPr>
        <p:spPr>
          <a:xfrm>
            <a:off x="6434176" y="2121408"/>
            <a:ext cx="114213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Dolor share of market</a:t>
            </a:r>
            <a:endParaRPr lang="en-US" sz="1300" dirty="0"/>
          </a:p>
        </p:txBody>
      </p:sp>
      <p:sp>
        <p:nvSpPr>
          <p:cNvPr id="18" name="Badge HYPOTHESIS"/>
          <p:cNvSpPr txBox="1"/>
          <p:nvPr/>
        </p:nvSpPr>
        <p:spPr>
          <a:xfrm>
            <a:off x="7686036" y="2121408"/>
            <a:ext cx="913667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accent6"/>
                </a:solidFill>
              </a:rPr>
              <a:t>HYPOTHESIS</a:t>
            </a:r>
            <a:endParaRPr lang="en-US" sz="900" dirty="0"/>
          </a:p>
        </p:txBody>
      </p:sp>
      <p:sp>
        <p:nvSpPr>
          <p:cNvPr id="19" name="KPI value 3"/>
          <p:cNvSpPr txBox="1"/>
          <p:nvPr/>
        </p:nvSpPr>
        <p:spPr>
          <a:xfrm>
            <a:off x="6434176" y="2908275"/>
            <a:ext cx="2165528" cy="6974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</a:t>
            </a:r>
            <a:pPr algn="l" indent="0" marL="0">
              <a:buNone/>
            </a:pPr>
            <a:r>
              <a:rPr lang="en-US" sz="2200" dirty="0">
                <a:solidFill>
                  <a:srgbClr val="6B5F67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%</a:t>
            </a:r>
            <a:endParaRPr lang="en-US" sz="1200" dirty="0"/>
          </a:p>
        </p:txBody>
      </p:sp>
      <p:sp>
        <p:nvSpPr>
          <p:cNvPr id="20" name="KPI period 3"/>
          <p:cNvSpPr txBox="1"/>
          <p:nvPr/>
        </p:nvSpPr>
        <p:spPr>
          <a:xfrm>
            <a:off x="6434176" y="3605759"/>
            <a:ext cx="2165528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Lorem base year</a:t>
            </a:r>
            <a:endParaRPr lang="en-US" sz="1100" dirty="0"/>
          </a:p>
        </p:txBody>
      </p:sp>
      <p:sp>
        <p:nvSpPr>
          <p:cNvPr id="21" name="KPI card 4"/>
          <p:cNvSpPr/>
          <p:nvPr/>
        </p:nvSpPr>
        <p:spPr>
          <a:xfrm>
            <a:off x="9075191" y="1920240"/>
            <a:ext cx="256786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22" name="KPI label 4"/>
          <p:cNvSpPr txBox="1"/>
          <p:nvPr/>
        </p:nvSpPr>
        <p:spPr>
          <a:xfrm>
            <a:off x="9276359" y="2121408"/>
            <a:ext cx="132615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Sit amet market size</a:t>
            </a:r>
            <a:endParaRPr lang="en-US" sz="1300" dirty="0"/>
          </a:p>
        </p:txBody>
      </p:sp>
      <p:sp>
        <p:nvSpPr>
          <p:cNvPr id="23" name="Badge VERIFIED"/>
          <p:cNvSpPr txBox="1"/>
          <p:nvPr/>
        </p:nvSpPr>
        <p:spPr>
          <a:xfrm>
            <a:off x="10712240" y="2121408"/>
            <a:ext cx="729647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bg1"/>
                </a:solidFill>
              </a:rPr>
              <a:t>VERIFIED</a:t>
            </a:r>
            <a:endParaRPr lang="en-US" sz="900" dirty="0"/>
          </a:p>
        </p:txBody>
      </p:sp>
      <p:sp>
        <p:nvSpPr>
          <p:cNvPr id="24" name="KPI value 4"/>
          <p:cNvSpPr txBox="1"/>
          <p:nvPr/>
        </p:nvSpPr>
        <p:spPr>
          <a:xfrm>
            <a:off x="9276359" y="2908275"/>
            <a:ext cx="2165528" cy="6974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₹</a:t>
            </a:r>
            <a:pPr algn="l"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3.27</a:t>
            </a:r>
            <a:pPr algn="l" indent="0" marL="0">
              <a:buNone/>
            </a:pPr>
            <a:r>
              <a:rPr lang="en-US" sz="2200" dirty="0">
                <a:solidFill>
                  <a:srgbClr val="6B5F67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cr</a:t>
            </a:r>
            <a:endParaRPr lang="en-US" sz="1200" dirty="0"/>
          </a:p>
        </p:txBody>
      </p:sp>
      <p:sp>
        <p:nvSpPr>
          <p:cNvPr id="25" name="KPI period 4"/>
          <p:cNvSpPr txBox="1"/>
          <p:nvPr/>
        </p:nvSpPr>
        <p:spPr>
          <a:xfrm>
            <a:off x="9276359" y="3605759"/>
            <a:ext cx="2165528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Annual, placeholder region</a:t>
            </a:r>
            <a:endParaRPr lang="en-US" sz="1100" dirty="0"/>
          </a:p>
        </p:txBody>
      </p:sp>
      <p:sp>
        <p:nvSpPr>
          <p:cNvPr id="26" name="KPI card 5"/>
          <p:cNvSpPr/>
          <p:nvPr/>
        </p:nvSpPr>
        <p:spPr>
          <a:xfrm>
            <a:off x="548640" y="4251960"/>
            <a:ext cx="3515258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27" name="KPI label 5"/>
          <p:cNvSpPr txBox="1"/>
          <p:nvPr/>
        </p:nvSpPr>
        <p:spPr>
          <a:xfrm>
            <a:off x="749808" y="4453128"/>
            <a:ext cx="22241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Consectetur peak cash need</a:t>
            </a:r>
            <a:endParaRPr lang="en-US" sz="1300" dirty="0"/>
          </a:p>
        </p:txBody>
      </p:sp>
      <p:sp>
        <p:nvSpPr>
          <p:cNvPr id="28" name="Badge ESTIMATE 3"/>
          <p:cNvSpPr txBox="1"/>
          <p:nvPr/>
        </p:nvSpPr>
        <p:spPr>
          <a:xfrm>
            <a:off x="3083637" y="4453128"/>
            <a:ext cx="779093" cy="219456"/>
          </a:xfrm>
          <a:prstGeom prst="roundRect">
            <a:avLst>
              <a:gd name="adj" fmla="val 50000"/>
            </a:avLst>
          </a:prstGeom>
          <a:solidFill>
            <a:srgbClr val="F8EBD4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A4B0C"/>
                </a:solidFill>
              </a:rPr>
              <a:t>ESTIMATE</a:t>
            </a:r>
            <a:endParaRPr lang="en-US" sz="900" dirty="0"/>
          </a:p>
        </p:txBody>
      </p:sp>
      <p:sp>
        <p:nvSpPr>
          <p:cNvPr id="29" name="KPI value 5"/>
          <p:cNvSpPr txBox="1"/>
          <p:nvPr/>
        </p:nvSpPr>
        <p:spPr>
          <a:xfrm>
            <a:off x="749808" y="5057115"/>
            <a:ext cx="3112922" cy="6974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₹</a:t>
            </a:r>
            <a:pPr algn="l"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25.6</a:t>
            </a:r>
            <a:pPr algn="l" indent="0" marL="0">
              <a:buNone/>
            </a:pPr>
            <a:r>
              <a:rPr lang="en-US" sz="2200" dirty="0">
                <a:solidFill>
                  <a:srgbClr val="6B5F67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L</a:t>
            </a:r>
            <a:endParaRPr lang="en-US" sz="1200" dirty="0"/>
          </a:p>
        </p:txBody>
      </p:sp>
      <p:sp>
        <p:nvSpPr>
          <p:cNvPr id="30" name="KPI period 5"/>
          <p:cNvSpPr txBox="1"/>
          <p:nvPr/>
        </p:nvSpPr>
        <p:spPr>
          <a:xfrm>
            <a:off x="749808" y="5754599"/>
            <a:ext cx="3112922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Months 1–12 · lorem</a:t>
            </a:r>
            <a:endParaRPr lang="en-US" sz="1100" dirty="0"/>
          </a:p>
        </p:txBody>
      </p:sp>
      <p:sp>
        <p:nvSpPr>
          <p:cNvPr id="31" name="KPI card 6"/>
          <p:cNvSpPr/>
          <p:nvPr/>
        </p:nvSpPr>
        <p:spPr>
          <a:xfrm>
            <a:off x="4338218" y="4251960"/>
            <a:ext cx="3515258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32" name="KPI label 6"/>
          <p:cNvSpPr txBox="1"/>
          <p:nvPr/>
        </p:nvSpPr>
        <p:spPr>
          <a:xfrm>
            <a:off x="4539386" y="4453128"/>
            <a:ext cx="167177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Adipiscing response time</a:t>
            </a:r>
            <a:endParaRPr lang="en-US" sz="1300" dirty="0"/>
          </a:p>
        </p:txBody>
      </p:sp>
      <p:sp>
        <p:nvSpPr>
          <p:cNvPr id="33" name="Badge RECOMMENDATION"/>
          <p:cNvSpPr txBox="1"/>
          <p:nvPr/>
        </p:nvSpPr>
        <p:spPr>
          <a:xfrm>
            <a:off x="6320892" y="4453128"/>
            <a:ext cx="1331417" cy="21945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bg1"/>
                </a:solidFill>
              </a:rPr>
              <a:t>RECOMMENDATION</a:t>
            </a:r>
            <a:endParaRPr lang="en-US" sz="900" dirty="0"/>
          </a:p>
        </p:txBody>
      </p:sp>
      <p:sp>
        <p:nvSpPr>
          <p:cNvPr id="34" name="KPI value 6"/>
          <p:cNvSpPr txBox="1"/>
          <p:nvPr/>
        </p:nvSpPr>
        <p:spPr>
          <a:xfrm>
            <a:off x="4539386" y="5057115"/>
            <a:ext cx="3112922" cy="6974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≤5</a:t>
            </a:r>
            <a:pPr algn="l" indent="0" marL="0">
              <a:buNone/>
            </a:pPr>
            <a:r>
              <a:rPr lang="en-US" sz="2200" dirty="0">
                <a:solidFill>
                  <a:srgbClr val="6B5F67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 min</a:t>
            </a:r>
            <a:endParaRPr lang="en-US" sz="1200" dirty="0"/>
          </a:p>
        </p:txBody>
      </p:sp>
      <p:sp>
        <p:nvSpPr>
          <p:cNvPr id="35" name="KPI period 6"/>
          <p:cNvSpPr txBox="1"/>
          <p:nvPr/>
        </p:nvSpPr>
        <p:spPr>
          <a:xfrm>
            <a:off x="4539386" y="5754599"/>
            <a:ext cx="3112922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Median first reply target</a:t>
            </a:r>
            <a:endParaRPr lang="en-US" sz="1100" dirty="0"/>
          </a:p>
        </p:txBody>
      </p:sp>
      <p:sp>
        <p:nvSpPr>
          <p:cNvPr id="36" name="KPI card 7"/>
          <p:cNvSpPr/>
          <p:nvPr/>
        </p:nvSpPr>
        <p:spPr>
          <a:xfrm>
            <a:off x="8127797" y="4251960"/>
            <a:ext cx="3515258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37" name="KPI label 7"/>
          <p:cNvSpPr txBox="1"/>
          <p:nvPr/>
        </p:nvSpPr>
        <p:spPr>
          <a:xfrm>
            <a:off x="8328965" y="4453128"/>
            <a:ext cx="167177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Elit price step</a:t>
            </a:r>
            <a:endParaRPr lang="en-US" sz="1300" dirty="0"/>
          </a:p>
        </p:txBody>
      </p:sp>
      <p:sp>
        <p:nvSpPr>
          <p:cNvPr id="38" name="Badge RECOMMENDATION 2"/>
          <p:cNvSpPr txBox="1"/>
          <p:nvPr/>
        </p:nvSpPr>
        <p:spPr>
          <a:xfrm>
            <a:off x="10110470" y="4453128"/>
            <a:ext cx="1331417" cy="21945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bg1"/>
                </a:solidFill>
              </a:rPr>
              <a:t>RECOMMENDATION</a:t>
            </a:r>
            <a:endParaRPr lang="en-US" sz="900" dirty="0"/>
          </a:p>
        </p:txBody>
      </p:sp>
      <p:sp>
        <p:nvSpPr>
          <p:cNvPr id="39" name="KPI value 7"/>
          <p:cNvSpPr txBox="1"/>
          <p:nvPr/>
        </p:nvSpPr>
        <p:spPr>
          <a:xfrm>
            <a:off x="8328965" y="5057115"/>
            <a:ext cx="3112922" cy="6974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₹</a:t>
            </a:r>
            <a:pPr algn="l"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75,000</a:t>
            </a:r>
            <a:endParaRPr lang="en-US" sz="1200" dirty="0"/>
          </a:p>
        </p:txBody>
      </p:sp>
      <p:sp>
        <p:nvSpPr>
          <p:cNvPr id="40" name="KPI period 7"/>
          <p:cNvSpPr txBox="1"/>
          <p:nvPr/>
        </p:nvSpPr>
        <p:spPr>
          <a:xfrm>
            <a:off x="8328965" y="5754599"/>
            <a:ext cx="3112922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List fee after lorem gate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BAR AND COLUMN CHARTS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native charts carry data labels, quiet axes and one highlighted bar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sp>
        <p:nvSpPr>
          <p:cNvPr id="5" name="Chart card"/>
          <p:cNvSpPr/>
          <p:nvPr/>
        </p:nvSpPr>
        <p:spPr>
          <a:xfrm>
            <a:off x="548640" y="1920240"/>
            <a:ext cx="5486400" cy="4224528"/>
          </a:xfrm>
          <a:prstGeom prst="roundRect">
            <a:avLst>
              <a:gd name="adj" fmla="val 173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6" name="Chart title"/>
          <p:cNvSpPr txBox="1"/>
          <p:nvPr/>
        </p:nvSpPr>
        <p:spPr>
          <a:xfrm>
            <a:off x="731520" y="2103120"/>
            <a:ext cx="5120640" cy="2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Lorem revenue by year</a:t>
            </a:r>
            <a:endParaRPr lang="en-US" sz="1300" dirty="0"/>
          </a:p>
        </p:txBody>
      </p:sp>
      <p:sp>
        <p:nvSpPr>
          <p:cNvPr id="7" name="Chart unit"/>
          <p:cNvSpPr txBox="1"/>
          <p:nvPr/>
        </p:nvSpPr>
        <p:spPr>
          <a:xfrm>
            <a:off x="731520" y="233230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₹ lakh, ex-GST (placeholder)</a:t>
            </a:r>
            <a:endParaRPr lang="en-US" sz="1100" dirty="0"/>
          </a:p>
        </p:txBody>
      </p:sp>
      <p:sp>
        <p:nvSpPr>
          <p:cNvPr id="8" name="Badge ESTIMATE"/>
          <p:cNvSpPr txBox="1"/>
          <p:nvPr/>
        </p:nvSpPr>
        <p:spPr>
          <a:xfrm>
            <a:off x="5073067" y="2103120"/>
            <a:ext cx="779093" cy="219456"/>
          </a:xfrm>
          <a:prstGeom prst="roundRect">
            <a:avLst>
              <a:gd name="adj" fmla="val 50000"/>
            </a:avLst>
          </a:prstGeom>
          <a:solidFill>
            <a:srgbClr val="F8EBD4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A4B0C"/>
                </a:solidFill>
              </a:rPr>
              <a:t>ESTIMATE</a:t>
            </a:r>
            <a:endParaRPr lang="en-US" sz="900" dirty="0"/>
          </a:p>
        </p:txBody>
      </p:sp>
      <p:graphicFrame>
        <p:nvGraphicFramePr>
          <p:cNvPr id="9" name="Bar chart" descr="Lorem revenue by year"/>
          <p:cNvGraphicFramePr/>
          <p:nvPr/>
        </p:nvGraphicFramePr>
        <p:xfrm>
          <a:off x="640080" y="2606624"/>
          <a:ext cx="5303520" cy="34467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Chart card 2"/>
          <p:cNvSpPr/>
          <p:nvPr/>
        </p:nvSpPr>
        <p:spPr>
          <a:xfrm>
            <a:off x="6309360" y="1920240"/>
            <a:ext cx="5333695" cy="4224528"/>
          </a:xfrm>
          <a:prstGeom prst="roundRect">
            <a:avLst>
              <a:gd name="adj" fmla="val 173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1" name="Chart title 2"/>
          <p:cNvSpPr txBox="1"/>
          <p:nvPr/>
        </p:nvSpPr>
        <p:spPr>
          <a:xfrm>
            <a:off x="6492240" y="2103120"/>
            <a:ext cx="4967935" cy="2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Ipsum enquiries by channel</a:t>
            </a:r>
            <a:endParaRPr lang="en-US" sz="1300" dirty="0"/>
          </a:p>
        </p:txBody>
      </p:sp>
      <p:sp>
        <p:nvSpPr>
          <p:cNvPr id="12" name="Chart unit 2"/>
          <p:cNvSpPr txBox="1"/>
          <p:nvPr/>
        </p:nvSpPr>
        <p:spPr>
          <a:xfrm>
            <a:off x="6492240" y="2332304"/>
            <a:ext cx="49679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Share of leads, % (placeholder)</a:t>
            </a:r>
            <a:endParaRPr lang="en-US" sz="1100" dirty="0"/>
          </a:p>
        </p:txBody>
      </p:sp>
      <p:graphicFrame>
        <p:nvGraphicFramePr>
          <p:cNvPr id="13" name="Bar chart 2" descr="Ipsum enquiries by channel"/>
          <p:cNvGraphicFramePr/>
          <p:nvPr/>
        </p:nvGraphicFramePr>
        <p:xfrm>
          <a:off x="6400800" y="2606624"/>
          <a:ext cx="5150815" cy="34467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SCENARIO CHART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scenarios use fixed colours: muted conservative, plum planning, rose upside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   Note: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Negative values plot below the axis; category labels stay at the bottom.</a:t>
            </a:r>
            <a:endParaRPr lang="en-US" sz="900" dirty="0"/>
          </a:p>
        </p:txBody>
      </p:sp>
      <p:sp>
        <p:nvSpPr>
          <p:cNvPr id="5" name="Chart card"/>
          <p:cNvSpPr/>
          <p:nvPr/>
        </p:nvSpPr>
        <p:spPr>
          <a:xfrm>
            <a:off x="548640" y="1920240"/>
            <a:ext cx="6400800" cy="4224528"/>
          </a:xfrm>
          <a:prstGeom prst="roundRect">
            <a:avLst>
              <a:gd name="adj" fmla="val 173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6" name="Chart title"/>
          <p:cNvSpPr txBox="1"/>
          <p:nvPr/>
        </p:nvSpPr>
        <p:spPr>
          <a:xfrm>
            <a:off x="731520" y="2103120"/>
            <a:ext cx="6035040" cy="2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Lorem EBITDA by scenario</a:t>
            </a:r>
            <a:endParaRPr lang="en-US" sz="1300" dirty="0"/>
          </a:p>
        </p:txBody>
      </p:sp>
      <p:sp>
        <p:nvSpPr>
          <p:cNvPr id="7" name="Chart unit"/>
          <p:cNvSpPr txBox="1"/>
          <p:nvPr/>
        </p:nvSpPr>
        <p:spPr>
          <a:xfrm>
            <a:off x="731520" y="2332304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₹ lakh (placeholder)</a:t>
            </a:r>
            <a:endParaRPr lang="en-US" sz="1100" dirty="0"/>
          </a:p>
        </p:txBody>
      </p:sp>
      <p:sp>
        <p:nvSpPr>
          <p:cNvPr id="8" name="Badge ESTIMATE"/>
          <p:cNvSpPr txBox="1"/>
          <p:nvPr/>
        </p:nvSpPr>
        <p:spPr>
          <a:xfrm>
            <a:off x="5987467" y="2103120"/>
            <a:ext cx="779093" cy="219456"/>
          </a:xfrm>
          <a:prstGeom prst="roundRect">
            <a:avLst>
              <a:gd name="adj" fmla="val 50000"/>
            </a:avLst>
          </a:prstGeom>
          <a:solidFill>
            <a:srgbClr val="F8EBD4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A4B0C"/>
                </a:solidFill>
              </a:rPr>
              <a:t>ESTIMATE</a:t>
            </a:r>
            <a:endParaRPr lang="en-US" sz="900" dirty="0"/>
          </a:p>
        </p:txBody>
      </p:sp>
      <p:graphicFrame>
        <p:nvGraphicFramePr>
          <p:cNvPr id="9" name="Scenario chart" descr="Lorem EBITDA by scenario"/>
          <p:cNvGraphicFramePr/>
          <p:nvPr/>
        </p:nvGraphicFramePr>
        <p:xfrm>
          <a:off x="640080" y="2606624"/>
          <a:ext cx="6217920" cy="34467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Chart card 2"/>
          <p:cNvSpPr/>
          <p:nvPr/>
        </p:nvSpPr>
        <p:spPr>
          <a:xfrm>
            <a:off x="7223760" y="1920240"/>
            <a:ext cx="4419295" cy="4224528"/>
          </a:xfrm>
          <a:prstGeom prst="roundRect">
            <a:avLst>
              <a:gd name="adj" fmla="val 173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1" name="Chart title 2"/>
          <p:cNvSpPr txBox="1"/>
          <p:nvPr/>
        </p:nvSpPr>
        <p:spPr>
          <a:xfrm>
            <a:off x="7406640" y="2103120"/>
            <a:ext cx="4053535" cy="2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Ipsum cumulative cash</a:t>
            </a:r>
            <a:endParaRPr lang="en-US" sz="1300" dirty="0"/>
          </a:p>
        </p:txBody>
      </p:sp>
      <p:sp>
        <p:nvSpPr>
          <p:cNvPr id="12" name="Chart unit 2"/>
          <p:cNvSpPr txBox="1"/>
          <p:nvPr/>
        </p:nvSpPr>
        <p:spPr>
          <a:xfrm>
            <a:off x="7406640" y="2332304"/>
            <a:ext cx="40535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₹ lakh (placeholder)</a:t>
            </a:r>
            <a:endParaRPr lang="en-US" sz="1100" dirty="0"/>
          </a:p>
        </p:txBody>
      </p:sp>
      <p:graphicFrame>
        <p:nvGraphicFramePr>
          <p:cNvPr id="13" name="Scenario line chart" descr="Ipsum cumulative cash"/>
          <p:cNvGraphicFramePr/>
          <p:nvPr/>
        </p:nvGraphicFramePr>
        <p:xfrm>
          <a:off x="7315200" y="2606624"/>
          <a:ext cx="4236415" cy="34467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MARKET SIZING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market narrows from a national pool to a reachable placeholder share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sp>
        <p:nvSpPr>
          <p:cNvPr id="5" name="Market box"/>
          <p:cNvSpPr/>
          <p:nvPr/>
        </p:nvSpPr>
        <p:spPr>
          <a:xfrm>
            <a:off x="548640" y="1920240"/>
            <a:ext cx="2905658" cy="3172293"/>
          </a:xfrm>
          <a:prstGeom prst="roundRect">
            <a:avLst>
              <a:gd name="adj" fmla="val 2518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6" name="Market code"/>
          <p:cNvSpPr txBox="1"/>
          <p:nvPr/>
        </p:nvSpPr>
        <p:spPr>
          <a:xfrm>
            <a:off x="749808" y="2121408"/>
            <a:ext cx="25033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TAM</a:t>
            </a:r>
            <a:endParaRPr lang="en-US" sz="1100" dirty="0"/>
          </a:p>
        </p:txBody>
      </p:sp>
      <p:sp>
        <p:nvSpPr>
          <p:cNvPr id="7" name="Market title"/>
          <p:cNvSpPr txBox="1"/>
          <p:nvPr/>
        </p:nvSpPr>
        <p:spPr>
          <a:xfrm>
            <a:off x="749808" y="2377440"/>
            <a:ext cx="2503322" cy="2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Lorem national training market</a:t>
            </a:r>
            <a:endParaRPr lang="en-US" sz="1300" dirty="0"/>
          </a:p>
        </p:txBody>
      </p:sp>
      <p:sp>
        <p:nvSpPr>
          <p:cNvPr id="8" name="Market value"/>
          <p:cNvSpPr txBox="1"/>
          <p:nvPr/>
        </p:nvSpPr>
        <p:spPr>
          <a:xfrm>
            <a:off x="749808" y="2634056"/>
            <a:ext cx="2503322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₹</a:t>
            </a:r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388 cr</a:t>
            </a:r>
            <a:endParaRPr lang="en-US" sz="1200" dirty="0"/>
          </a:p>
        </p:txBody>
      </p:sp>
      <p:sp>
        <p:nvSpPr>
          <p:cNvPr id="9" name="Market range"/>
          <p:cNvSpPr txBox="1"/>
          <p:nvPr/>
        </p:nvSpPr>
        <p:spPr>
          <a:xfrm>
            <a:off x="749808" y="3101416"/>
            <a:ext cx="2503322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Range ₹80–1,373 cr</a:t>
            </a:r>
            <a:endParaRPr lang="en-US" sz="1100" dirty="0"/>
          </a:p>
        </p:txBody>
      </p:sp>
      <p:sp>
        <p:nvSpPr>
          <p:cNvPr id="10" name="Market note"/>
          <p:cNvSpPr txBox="1"/>
          <p:nvPr/>
        </p:nvSpPr>
        <p:spPr>
          <a:xfrm>
            <a:off x="749808" y="3381858"/>
            <a:ext cx="2503322" cy="359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Bottom-up build, no published figure (placeholder).</a:t>
            </a:r>
            <a:endParaRPr lang="en-US" sz="1100" dirty="0"/>
          </a:p>
        </p:txBody>
      </p:sp>
      <p:sp>
        <p:nvSpPr>
          <p:cNvPr id="11" name="Badge ESTIMATE"/>
          <p:cNvSpPr txBox="1"/>
          <p:nvPr/>
        </p:nvSpPr>
        <p:spPr>
          <a:xfrm>
            <a:off x="749808" y="4671909"/>
            <a:ext cx="779093" cy="219456"/>
          </a:xfrm>
          <a:prstGeom prst="roundRect">
            <a:avLst>
              <a:gd name="adj" fmla="val 50000"/>
            </a:avLst>
          </a:prstGeom>
          <a:solidFill>
            <a:srgbClr val="F8EBD4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A4B0C"/>
                </a:solidFill>
              </a:rPr>
              <a:t>ESTIMATE</a:t>
            </a:r>
            <a:endParaRPr lang="en-US" sz="900" dirty="0"/>
          </a:p>
        </p:txBody>
      </p:sp>
      <p:sp>
        <p:nvSpPr>
          <p:cNvPr id="12" name="Market connector"/>
          <p:cNvSpPr/>
          <p:nvPr/>
        </p:nvSpPr>
        <p:spPr>
          <a:xfrm>
            <a:off x="3545738" y="3506386"/>
            <a:ext cx="10058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Market link"/>
          <p:cNvSpPr txBox="1"/>
          <p:nvPr/>
        </p:nvSpPr>
        <p:spPr>
          <a:xfrm>
            <a:off x="3545738" y="3262521"/>
            <a:ext cx="1005840" cy="1707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4513F"/>
                </a:solidFill>
              </a:rPr>
              <a:t>2.0% of TAM</a:t>
            </a:r>
            <a:endParaRPr lang="en-US" sz="1100" dirty="0"/>
          </a:p>
        </p:txBody>
      </p:sp>
      <p:sp>
        <p:nvSpPr>
          <p:cNvPr id="14" name="Market link note"/>
          <p:cNvSpPr txBox="1"/>
          <p:nvPr/>
        </p:nvSpPr>
        <p:spPr>
          <a:xfrm>
            <a:off x="3545738" y="3579538"/>
            <a:ext cx="1005840" cy="17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lorem filter</a:t>
            </a:r>
            <a:endParaRPr lang="en-US" sz="1000" dirty="0"/>
          </a:p>
        </p:txBody>
      </p:sp>
      <p:sp>
        <p:nvSpPr>
          <p:cNvPr id="15" name="Market box 2"/>
          <p:cNvSpPr/>
          <p:nvPr/>
        </p:nvSpPr>
        <p:spPr>
          <a:xfrm>
            <a:off x="4643018" y="2062993"/>
            <a:ext cx="2905658" cy="2886786"/>
          </a:xfrm>
          <a:prstGeom prst="roundRect">
            <a:avLst>
              <a:gd name="adj" fmla="val 2534"/>
            </a:avLst>
          </a:prstGeom>
          <a:solidFill>
            <a:srgbClr val="F2EAF0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6" name="Market code 2"/>
          <p:cNvSpPr txBox="1"/>
          <p:nvPr/>
        </p:nvSpPr>
        <p:spPr>
          <a:xfrm>
            <a:off x="4844186" y="2264161"/>
            <a:ext cx="25033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SAM</a:t>
            </a:r>
            <a:endParaRPr lang="en-US" sz="1100" dirty="0"/>
          </a:p>
        </p:txBody>
      </p:sp>
      <p:sp>
        <p:nvSpPr>
          <p:cNvPr id="17" name="Market title 2"/>
          <p:cNvSpPr txBox="1"/>
          <p:nvPr/>
        </p:nvSpPr>
        <p:spPr>
          <a:xfrm>
            <a:off x="4844186" y="2520193"/>
            <a:ext cx="2503322" cy="2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Ipsum serviceable market</a:t>
            </a:r>
            <a:endParaRPr lang="en-US" sz="1300" dirty="0"/>
          </a:p>
        </p:txBody>
      </p:sp>
      <p:sp>
        <p:nvSpPr>
          <p:cNvPr id="18" name="Market value 2"/>
          <p:cNvSpPr txBox="1"/>
          <p:nvPr/>
        </p:nvSpPr>
        <p:spPr>
          <a:xfrm>
            <a:off x="4844186" y="2776809"/>
            <a:ext cx="2503322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₹</a:t>
            </a:r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7.8 cr</a:t>
            </a:r>
            <a:endParaRPr lang="en-US" sz="1200" dirty="0"/>
          </a:p>
        </p:txBody>
      </p:sp>
      <p:sp>
        <p:nvSpPr>
          <p:cNvPr id="19" name="Market range 2"/>
          <p:cNvSpPr txBox="1"/>
          <p:nvPr/>
        </p:nvSpPr>
        <p:spPr>
          <a:xfrm>
            <a:off x="4844186" y="3244169"/>
            <a:ext cx="2503322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Range ₹2.3–24.2 cr</a:t>
            </a:r>
            <a:endParaRPr lang="en-US" sz="1100" dirty="0"/>
          </a:p>
        </p:txBody>
      </p:sp>
      <p:sp>
        <p:nvSpPr>
          <p:cNvPr id="20" name="Market parts"/>
          <p:cNvSpPr txBox="1"/>
          <p:nvPr/>
        </p:nvSpPr>
        <p:spPr>
          <a:xfrm>
            <a:off x="4844186" y="3524611"/>
            <a:ext cx="2503322" cy="567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Lorem city: </a:t>
            </a:r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₹3.3 cr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Ipsum travellers: </a:t>
            </a:r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₹2.1 cr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Dolor hybrid: </a:t>
            </a:r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₹1.4 cr</a:t>
            </a:r>
            <a:endParaRPr lang="en-US" sz="1100" dirty="0"/>
          </a:p>
        </p:txBody>
      </p:sp>
      <p:sp>
        <p:nvSpPr>
          <p:cNvPr id="21" name="Badge ESTIMATE 2"/>
          <p:cNvSpPr txBox="1"/>
          <p:nvPr/>
        </p:nvSpPr>
        <p:spPr>
          <a:xfrm>
            <a:off x="4844186" y="4529155"/>
            <a:ext cx="779093" cy="219456"/>
          </a:xfrm>
          <a:prstGeom prst="roundRect">
            <a:avLst>
              <a:gd name="adj" fmla="val 50000"/>
            </a:avLst>
          </a:prstGeom>
          <a:solidFill>
            <a:srgbClr val="F8EBD4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A4B0C"/>
                </a:solidFill>
              </a:rPr>
              <a:t>ESTIMATE</a:t>
            </a:r>
            <a:endParaRPr lang="en-US" sz="900" dirty="0"/>
          </a:p>
        </p:txBody>
      </p:sp>
      <p:sp>
        <p:nvSpPr>
          <p:cNvPr id="22" name="Market connector 2"/>
          <p:cNvSpPr/>
          <p:nvPr/>
        </p:nvSpPr>
        <p:spPr>
          <a:xfrm>
            <a:off x="7640117" y="3506386"/>
            <a:ext cx="10058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Market link 2"/>
          <p:cNvSpPr txBox="1"/>
          <p:nvPr/>
        </p:nvSpPr>
        <p:spPr>
          <a:xfrm>
            <a:off x="7640117" y="3262521"/>
            <a:ext cx="1005840" cy="17071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4513F"/>
                </a:solidFill>
              </a:rPr>
              <a:t>24% of SAM</a:t>
            </a:r>
            <a:endParaRPr lang="en-US" sz="1100" dirty="0"/>
          </a:p>
        </p:txBody>
      </p:sp>
      <p:sp>
        <p:nvSpPr>
          <p:cNvPr id="24" name="Market link note 2"/>
          <p:cNvSpPr txBox="1"/>
          <p:nvPr/>
        </p:nvSpPr>
        <p:spPr>
          <a:xfrm>
            <a:off x="7640117" y="3579538"/>
            <a:ext cx="1005840" cy="17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ipsum share</a:t>
            </a:r>
            <a:endParaRPr lang="en-US" sz="1000" dirty="0"/>
          </a:p>
        </p:txBody>
      </p:sp>
      <p:sp>
        <p:nvSpPr>
          <p:cNvPr id="25" name="Market box 3"/>
          <p:cNvSpPr/>
          <p:nvPr/>
        </p:nvSpPr>
        <p:spPr>
          <a:xfrm>
            <a:off x="8737397" y="2205746"/>
            <a:ext cx="2905658" cy="2601280"/>
          </a:xfrm>
          <a:prstGeom prst="roundRect">
            <a:avLst>
              <a:gd name="adj" fmla="val 2812"/>
            </a:avLst>
          </a:prstGeom>
          <a:solidFill>
            <a:schemeClr val="tx2"/>
          </a:solidFill>
          <a:ln/>
        </p:spPr>
      </p:sp>
      <p:sp>
        <p:nvSpPr>
          <p:cNvPr id="26" name="Market code 3"/>
          <p:cNvSpPr txBox="1"/>
          <p:nvPr/>
        </p:nvSpPr>
        <p:spPr>
          <a:xfrm>
            <a:off x="8938565" y="2406914"/>
            <a:ext cx="25033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E7A995"/>
                </a:solidFill>
              </a:rPr>
              <a:t>SOM</a:t>
            </a:r>
            <a:endParaRPr lang="en-US" sz="1100" dirty="0"/>
          </a:p>
        </p:txBody>
      </p:sp>
      <p:sp>
        <p:nvSpPr>
          <p:cNvPr id="27" name="Market title 3"/>
          <p:cNvSpPr txBox="1"/>
          <p:nvPr/>
        </p:nvSpPr>
        <p:spPr>
          <a:xfrm>
            <a:off x="8938565" y="2662946"/>
            <a:ext cx="2503322" cy="2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Dolor obtainable revenue, Year 3</a:t>
            </a:r>
            <a:endParaRPr lang="en-US" sz="1300" dirty="0"/>
          </a:p>
        </p:txBody>
      </p:sp>
      <p:sp>
        <p:nvSpPr>
          <p:cNvPr id="28" name="Market value 3"/>
          <p:cNvSpPr txBox="1"/>
          <p:nvPr/>
        </p:nvSpPr>
        <p:spPr>
          <a:xfrm>
            <a:off x="8938565" y="2919563"/>
            <a:ext cx="2503322" cy="48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₹</a:t>
            </a:r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1.88 cr</a:t>
            </a:r>
            <a:endParaRPr lang="en-US" sz="1200" dirty="0"/>
          </a:p>
        </p:txBody>
      </p:sp>
      <p:sp>
        <p:nvSpPr>
          <p:cNvPr id="29" name="Market range 3"/>
          <p:cNvSpPr txBox="1"/>
          <p:nvPr/>
        </p:nvSpPr>
        <p:spPr>
          <a:xfrm>
            <a:off x="8938565" y="3386923"/>
            <a:ext cx="2503322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9C9D3"/>
                </a:solidFill>
              </a:rPr>
              <a:t>Range ₹0.41–3.83 cr</a:t>
            </a:r>
            <a:endParaRPr lang="en-US" sz="1100" dirty="0"/>
          </a:p>
        </p:txBody>
      </p:sp>
      <p:sp>
        <p:nvSpPr>
          <p:cNvPr id="30" name="Market note 2"/>
          <p:cNvSpPr txBox="1"/>
          <p:nvPr/>
        </p:nvSpPr>
        <p:spPr>
          <a:xfrm>
            <a:off x="8938565" y="3667364"/>
            <a:ext cx="2503322" cy="18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 gated plan, not a forecast.</a:t>
            </a:r>
            <a:endParaRPr lang="en-US" sz="1100" dirty="0"/>
          </a:p>
        </p:txBody>
      </p:sp>
      <p:sp>
        <p:nvSpPr>
          <p:cNvPr id="31" name="Badge RECOMMENDATION"/>
          <p:cNvSpPr txBox="1"/>
          <p:nvPr/>
        </p:nvSpPr>
        <p:spPr>
          <a:xfrm>
            <a:off x="8938565" y="4386402"/>
            <a:ext cx="1331417" cy="21945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rgbClr val="E7A99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bg1"/>
                </a:solidFill>
              </a:rPr>
              <a:t>RECOMMENDATION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FUNNEL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admissions funnel shows volume at each stage and conversion between them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sp>
        <p:nvSpPr>
          <p:cNvPr id="5" name="Funnel header"/>
          <p:cNvSpPr txBox="1"/>
          <p:nvPr/>
        </p:nvSpPr>
        <p:spPr>
          <a:xfrm>
            <a:off x="548640" y="19202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B5F67"/>
                </a:solidFill>
              </a:rPr>
              <a:t>STAGE</a:t>
            </a:r>
            <a:endParaRPr lang="en-US" sz="1000" dirty="0"/>
          </a:p>
        </p:txBody>
      </p:sp>
      <p:sp>
        <p:nvSpPr>
          <p:cNvPr id="6" name="Funnel header 2"/>
          <p:cNvSpPr txBox="1"/>
          <p:nvPr/>
        </p:nvSpPr>
        <p:spPr>
          <a:xfrm>
            <a:off x="3337560" y="1920240"/>
            <a:ext cx="6248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5F67"/>
                </a:solidFill>
              </a:rPr>
              <a:t>VOLUME, YEAR 1 (PLACEHOLDER)</a:t>
            </a:r>
            <a:endParaRPr lang="en-US" sz="1000" dirty="0"/>
          </a:p>
        </p:txBody>
      </p:sp>
      <p:sp>
        <p:nvSpPr>
          <p:cNvPr id="7" name="Funnel header 3"/>
          <p:cNvSpPr txBox="1"/>
          <p:nvPr/>
        </p:nvSpPr>
        <p:spPr>
          <a:xfrm>
            <a:off x="9814255" y="1920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6B5F67"/>
                </a:solidFill>
              </a:rPr>
              <a:t>CONVERSION</a:t>
            </a:r>
            <a:endParaRPr lang="en-US" sz="1000" dirty="0"/>
          </a:p>
        </p:txBody>
      </p:sp>
      <p:sp>
        <p:nvSpPr>
          <p:cNvPr id="8" name="Funnel bar"/>
          <p:cNvSpPr/>
          <p:nvPr/>
        </p:nvSpPr>
        <p:spPr>
          <a:xfrm>
            <a:off x="3337560" y="2364199"/>
            <a:ext cx="6248095" cy="516599"/>
          </a:xfrm>
          <a:prstGeom prst="roundRect">
            <a:avLst>
              <a:gd name="adj" fmla="val 10620"/>
            </a:avLst>
          </a:prstGeom>
          <a:solidFill>
            <a:srgbClr val="3D1A33"/>
          </a:solidFill>
          <a:ln/>
        </p:spPr>
      </p:sp>
      <p:sp>
        <p:nvSpPr>
          <p:cNvPr id="9" name="Funnel value"/>
          <p:cNvSpPr txBox="1"/>
          <p:nvPr/>
        </p:nvSpPr>
        <p:spPr>
          <a:xfrm>
            <a:off x="3337560" y="2364199"/>
            <a:ext cx="6248095" cy="516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1,20,000</a:t>
            </a:r>
            <a:endParaRPr lang="en-US" sz="1600" dirty="0"/>
          </a:p>
        </p:txBody>
      </p:sp>
      <p:sp>
        <p:nvSpPr>
          <p:cNvPr id="10" name="Funnel stage"/>
          <p:cNvSpPr txBox="1"/>
          <p:nvPr/>
        </p:nvSpPr>
        <p:spPr>
          <a:xfrm>
            <a:off x="548640" y="2231136"/>
            <a:ext cx="2560320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Lorem impressions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Ipsum paid and organic</a:t>
            </a:r>
            <a:endParaRPr lang="en-US" sz="1200" dirty="0"/>
          </a:p>
        </p:txBody>
      </p:sp>
      <p:sp>
        <p:nvSpPr>
          <p:cNvPr id="11" name="Funnel bar 2"/>
          <p:cNvSpPr/>
          <p:nvPr/>
        </p:nvSpPr>
        <p:spPr>
          <a:xfrm>
            <a:off x="3884268" y="3146926"/>
            <a:ext cx="5154679" cy="516599"/>
          </a:xfrm>
          <a:prstGeom prst="roundRect">
            <a:avLst>
              <a:gd name="adj" fmla="val 10620"/>
            </a:avLst>
          </a:prstGeom>
          <a:solidFill>
            <a:srgbClr val="654058"/>
          </a:solidFill>
          <a:ln/>
        </p:spPr>
      </p:sp>
      <p:sp>
        <p:nvSpPr>
          <p:cNvPr id="12" name="Funnel value 2"/>
          <p:cNvSpPr txBox="1"/>
          <p:nvPr/>
        </p:nvSpPr>
        <p:spPr>
          <a:xfrm>
            <a:off x="3884268" y="3146926"/>
            <a:ext cx="5154679" cy="516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4,800</a:t>
            </a:r>
            <a:endParaRPr lang="en-US" sz="1600" dirty="0"/>
          </a:p>
        </p:txBody>
      </p:sp>
      <p:sp>
        <p:nvSpPr>
          <p:cNvPr id="13" name="Funnel stage 2"/>
          <p:cNvSpPr txBox="1"/>
          <p:nvPr/>
        </p:nvSpPr>
        <p:spPr>
          <a:xfrm>
            <a:off x="548640" y="3013862"/>
            <a:ext cx="2560320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Ipsum leads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Dolor form and WhatsApp</a:t>
            </a:r>
            <a:endParaRPr lang="en-US" sz="1200" dirty="0"/>
          </a:p>
        </p:txBody>
      </p:sp>
      <p:sp>
        <p:nvSpPr>
          <p:cNvPr id="14" name="Funnel bar 3"/>
          <p:cNvSpPr/>
          <p:nvPr/>
        </p:nvSpPr>
        <p:spPr>
          <a:xfrm>
            <a:off x="4430977" y="3929652"/>
            <a:ext cx="4061262" cy="516599"/>
          </a:xfrm>
          <a:prstGeom prst="roundRect">
            <a:avLst>
              <a:gd name="adj" fmla="val 10620"/>
            </a:avLst>
          </a:prstGeom>
          <a:solidFill>
            <a:srgbClr val="8C677E"/>
          </a:solidFill>
          <a:ln/>
        </p:spPr>
      </p:sp>
      <p:sp>
        <p:nvSpPr>
          <p:cNvPr id="15" name="Funnel value 3"/>
          <p:cNvSpPr txBox="1"/>
          <p:nvPr/>
        </p:nvSpPr>
        <p:spPr>
          <a:xfrm>
            <a:off x="4430977" y="3929652"/>
            <a:ext cx="4061262" cy="516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1,900</a:t>
            </a:r>
            <a:endParaRPr lang="en-US" sz="1600" dirty="0"/>
          </a:p>
        </p:txBody>
      </p:sp>
      <p:sp>
        <p:nvSpPr>
          <p:cNvPr id="16" name="Funnel stage 3"/>
          <p:cNvSpPr txBox="1"/>
          <p:nvPr/>
        </p:nvSpPr>
        <p:spPr>
          <a:xfrm>
            <a:off x="548640" y="3796589"/>
            <a:ext cx="2560320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Qualified leads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Sit amet criteria met</a:t>
            </a:r>
            <a:endParaRPr lang="en-US" sz="1200" dirty="0"/>
          </a:p>
        </p:txBody>
      </p:sp>
      <p:sp>
        <p:nvSpPr>
          <p:cNvPr id="17" name="Funnel bar 4"/>
          <p:cNvSpPr/>
          <p:nvPr/>
        </p:nvSpPr>
        <p:spPr>
          <a:xfrm>
            <a:off x="4977685" y="4712379"/>
            <a:ext cx="2967845" cy="516599"/>
          </a:xfrm>
          <a:prstGeom prst="roundRect">
            <a:avLst>
              <a:gd name="adj" fmla="val 10620"/>
            </a:avLst>
          </a:prstGeom>
          <a:solidFill>
            <a:srgbClr val="B48DA3"/>
          </a:solidFill>
          <a:ln/>
        </p:spPr>
      </p:sp>
      <p:sp>
        <p:nvSpPr>
          <p:cNvPr id="18" name="Funnel value 4"/>
          <p:cNvSpPr txBox="1"/>
          <p:nvPr/>
        </p:nvSpPr>
        <p:spPr>
          <a:xfrm>
            <a:off x="4977685" y="4712379"/>
            <a:ext cx="2967845" cy="516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129"/>
                </a:solidFill>
              </a:rPr>
              <a:t>620</a:t>
            </a:r>
            <a:endParaRPr lang="en-US" sz="1600" dirty="0"/>
          </a:p>
        </p:txBody>
      </p:sp>
      <p:sp>
        <p:nvSpPr>
          <p:cNvPr id="19" name="Funnel stage 4"/>
          <p:cNvSpPr txBox="1"/>
          <p:nvPr/>
        </p:nvSpPr>
        <p:spPr>
          <a:xfrm>
            <a:off x="548640" y="4579315"/>
            <a:ext cx="2560320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Counselled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Consectetur call or visit</a:t>
            </a:r>
            <a:endParaRPr lang="en-US" sz="1200" dirty="0"/>
          </a:p>
        </p:txBody>
      </p:sp>
      <p:sp>
        <p:nvSpPr>
          <p:cNvPr id="20" name="Funnel bar 5"/>
          <p:cNvSpPr/>
          <p:nvPr/>
        </p:nvSpPr>
        <p:spPr>
          <a:xfrm>
            <a:off x="5524393" y="5495105"/>
            <a:ext cx="1874429" cy="516599"/>
          </a:xfrm>
          <a:prstGeom prst="roundRect">
            <a:avLst>
              <a:gd name="adj" fmla="val 10620"/>
            </a:avLst>
          </a:prstGeom>
          <a:solidFill>
            <a:srgbClr val="C2705C"/>
          </a:solidFill>
          <a:ln/>
        </p:spPr>
      </p:sp>
      <p:sp>
        <p:nvSpPr>
          <p:cNvPr id="21" name="Funnel value 5"/>
          <p:cNvSpPr txBox="1"/>
          <p:nvPr/>
        </p:nvSpPr>
        <p:spPr>
          <a:xfrm>
            <a:off x="5524393" y="5495105"/>
            <a:ext cx="1874429" cy="516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129"/>
                </a:solidFill>
              </a:rPr>
              <a:t>91</a:t>
            </a:r>
            <a:endParaRPr lang="en-US" sz="1600" dirty="0"/>
          </a:p>
        </p:txBody>
      </p:sp>
      <p:sp>
        <p:nvSpPr>
          <p:cNvPr id="22" name="Funnel stage 5"/>
          <p:cNvSpPr txBox="1"/>
          <p:nvPr/>
        </p:nvSpPr>
        <p:spPr>
          <a:xfrm>
            <a:off x="548640" y="5362042"/>
            <a:ext cx="2560320" cy="78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Enrolled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Adipiscing fee paid</a:t>
            </a:r>
            <a:endParaRPr lang="en-US" sz="1200" dirty="0"/>
          </a:p>
        </p:txBody>
      </p:sp>
      <p:sp>
        <p:nvSpPr>
          <p:cNvPr id="23" name="Funnel conversion"/>
          <p:cNvSpPr txBox="1"/>
          <p:nvPr/>
        </p:nvSpPr>
        <p:spPr>
          <a:xfrm>
            <a:off x="9814255" y="2876702"/>
            <a:ext cx="716448" cy="274320"/>
          </a:xfrm>
          <a:prstGeom prst="roundRect">
            <a:avLst>
              <a:gd name="adj" fmla="val 50000"/>
            </a:avLst>
          </a:prstGeom>
          <a:solidFill>
            <a:srgbClr val="F7E7E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4513F"/>
                </a:solidFill>
              </a:rPr>
              <a:t>↓ 4.0%</a:t>
            </a:r>
            <a:endParaRPr lang="en-US" sz="1200" dirty="0"/>
          </a:p>
        </p:txBody>
      </p:sp>
      <p:sp>
        <p:nvSpPr>
          <p:cNvPr id="24" name="Funnel conversion note"/>
          <p:cNvSpPr txBox="1"/>
          <p:nvPr/>
        </p:nvSpPr>
        <p:spPr>
          <a:xfrm>
            <a:off x="10603855" y="2936265"/>
            <a:ext cx="1039200" cy="17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lorem click</a:t>
            </a:r>
            <a:endParaRPr lang="en-US" sz="1000" dirty="0"/>
          </a:p>
        </p:txBody>
      </p:sp>
      <p:sp>
        <p:nvSpPr>
          <p:cNvPr id="25" name="Funnel conversion 2"/>
          <p:cNvSpPr txBox="1"/>
          <p:nvPr/>
        </p:nvSpPr>
        <p:spPr>
          <a:xfrm>
            <a:off x="9814255" y="3659429"/>
            <a:ext cx="675742" cy="274320"/>
          </a:xfrm>
          <a:prstGeom prst="roundRect">
            <a:avLst>
              <a:gd name="adj" fmla="val 50000"/>
            </a:avLst>
          </a:prstGeom>
          <a:solidFill>
            <a:srgbClr val="F7E7E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4513F"/>
                </a:solidFill>
              </a:rPr>
              <a:t>↓ 40%</a:t>
            </a:r>
            <a:endParaRPr lang="en-US" sz="1200" dirty="0"/>
          </a:p>
        </p:txBody>
      </p:sp>
      <p:sp>
        <p:nvSpPr>
          <p:cNvPr id="26" name="Funnel conversion note 2"/>
          <p:cNvSpPr txBox="1"/>
          <p:nvPr/>
        </p:nvSpPr>
        <p:spPr>
          <a:xfrm>
            <a:off x="10563149" y="3718992"/>
            <a:ext cx="1079906" cy="17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ipsum qualify</a:t>
            </a:r>
            <a:endParaRPr lang="en-US" sz="1000" dirty="0"/>
          </a:p>
        </p:txBody>
      </p:sp>
      <p:sp>
        <p:nvSpPr>
          <p:cNvPr id="27" name="Funnel conversion 3"/>
          <p:cNvSpPr txBox="1"/>
          <p:nvPr/>
        </p:nvSpPr>
        <p:spPr>
          <a:xfrm>
            <a:off x="9814255" y="4442155"/>
            <a:ext cx="675742" cy="274320"/>
          </a:xfrm>
          <a:prstGeom prst="roundRect">
            <a:avLst>
              <a:gd name="adj" fmla="val 50000"/>
            </a:avLst>
          </a:prstGeom>
          <a:solidFill>
            <a:srgbClr val="F7E7E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4513F"/>
                </a:solidFill>
              </a:rPr>
              <a:t>↓ 33%</a:t>
            </a:r>
            <a:endParaRPr lang="en-US" sz="1200" dirty="0"/>
          </a:p>
        </p:txBody>
      </p:sp>
      <p:sp>
        <p:nvSpPr>
          <p:cNvPr id="28" name="Funnel conversion note 3"/>
          <p:cNvSpPr txBox="1"/>
          <p:nvPr/>
        </p:nvSpPr>
        <p:spPr>
          <a:xfrm>
            <a:off x="10563149" y="4501718"/>
            <a:ext cx="1079906" cy="17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dolor counsel</a:t>
            </a:r>
            <a:endParaRPr lang="en-US" sz="1000" dirty="0"/>
          </a:p>
        </p:txBody>
      </p:sp>
      <p:sp>
        <p:nvSpPr>
          <p:cNvPr id="29" name="Funnel conversion 4"/>
          <p:cNvSpPr txBox="1"/>
          <p:nvPr/>
        </p:nvSpPr>
        <p:spPr>
          <a:xfrm>
            <a:off x="9814255" y="5224882"/>
            <a:ext cx="675742" cy="274320"/>
          </a:xfrm>
          <a:prstGeom prst="roundRect">
            <a:avLst>
              <a:gd name="adj" fmla="val 50000"/>
            </a:avLst>
          </a:prstGeom>
          <a:solidFill>
            <a:srgbClr val="F7E7E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4513F"/>
                </a:solidFill>
              </a:rPr>
              <a:t>↓ 15%</a:t>
            </a:r>
            <a:endParaRPr lang="en-US" sz="1200" dirty="0"/>
          </a:p>
        </p:txBody>
      </p:sp>
      <p:sp>
        <p:nvSpPr>
          <p:cNvPr id="30" name="Funnel conversion note 4"/>
          <p:cNvSpPr txBox="1"/>
          <p:nvPr/>
        </p:nvSpPr>
        <p:spPr>
          <a:xfrm>
            <a:off x="10563149" y="5284445"/>
            <a:ext cx="1079906" cy="173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sit close</a:t>
            </a:r>
            <a:endParaRPr lang="en-US" sz="1000" dirty="0"/>
          </a:p>
        </p:txBody>
      </p:sp>
      <p:sp>
        <p:nvSpPr>
          <p:cNvPr id="31" name="Funnel overall"/>
          <p:cNvSpPr txBox="1"/>
          <p:nvPr/>
        </p:nvSpPr>
        <p:spPr>
          <a:xfrm>
            <a:off x="9814255" y="5616245"/>
            <a:ext cx="107122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Overall 0.1%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>
            <p:ph idx="103" type="body" hasCustomPrompt="1"/>
          </p:nvPr>
        </p:nvSpPr>
        <p:spPr>
          <a:xfrm>
            <a:off x="548640" y="1874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E7A99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2926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Decision components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738880"/>
            <a:ext cx="6949440" cy="2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C9D3"/>
                </a:solidFill>
              </a:rPr>
              <a:t>Scorecards, gates, roadmap, findings and decisions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D9C9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SCORECARD: HARVEY BALLS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option scores against weighted criteria, with a verdict and a why-not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sp>
        <p:nvSpPr>
          <p:cNvPr id="5" name="Scorecard card"/>
          <p:cNvSpPr/>
          <p:nvPr/>
        </p:nvSpPr>
        <p:spPr>
          <a:xfrm>
            <a:off x="548640" y="1920240"/>
            <a:ext cx="11094415" cy="3895344"/>
          </a:xfrm>
          <a:prstGeom prst="roundRect">
            <a:avLst>
              <a:gd name="adj" fmla="val 1878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6" name="Scorecard header"/>
          <p:cNvSpPr txBox="1"/>
          <p:nvPr/>
        </p:nvSpPr>
        <p:spPr>
          <a:xfrm>
            <a:off x="658368" y="1993392"/>
            <a:ext cx="2066544" cy="5608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Option</a:t>
            </a:r>
            <a:endParaRPr lang="en-US" sz="1100" dirty="0"/>
          </a:p>
        </p:txBody>
      </p:sp>
      <p:sp>
        <p:nvSpPr>
          <p:cNvPr id="7" name="Scorecard header 2"/>
          <p:cNvSpPr txBox="1"/>
          <p:nvPr/>
        </p:nvSpPr>
        <p:spPr>
          <a:xfrm>
            <a:off x="2871216" y="1993392"/>
            <a:ext cx="886968" cy="5608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Lorem demand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5F67"/>
                </a:solidFill>
              </a:rPr>
              <a:t>30%</a:t>
            </a:r>
            <a:endParaRPr lang="en-US" sz="1100" dirty="0"/>
          </a:p>
        </p:txBody>
      </p:sp>
      <p:sp>
        <p:nvSpPr>
          <p:cNvPr id="8" name="Scorecard header 3"/>
          <p:cNvSpPr txBox="1"/>
          <p:nvPr/>
        </p:nvSpPr>
        <p:spPr>
          <a:xfrm>
            <a:off x="3831336" y="1993392"/>
            <a:ext cx="886968" cy="5608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Ipsum margin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5F67"/>
                </a:solidFill>
              </a:rPr>
              <a:t>25%</a:t>
            </a:r>
            <a:endParaRPr lang="en-US" sz="1100" dirty="0"/>
          </a:p>
        </p:txBody>
      </p:sp>
      <p:sp>
        <p:nvSpPr>
          <p:cNvPr id="9" name="Scorecard header 4"/>
          <p:cNvSpPr txBox="1"/>
          <p:nvPr/>
        </p:nvSpPr>
        <p:spPr>
          <a:xfrm>
            <a:off x="4791456" y="1993392"/>
            <a:ext cx="886968" cy="5608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Dolor capital fit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5F67"/>
                </a:solidFill>
              </a:rPr>
              <a:t>20%</a:t>
            </a:r>
            <a:endParaRPr lang="en-US" sz="1100" dirty="0"/>
          </a:p>
        </p:txBody>
      </p:sp>
      <p:sp>
        <p:nvSpPr>
          <p:cNvPr id="10" name="Scorecard header 5"/>
          <p:cNvSpPr txBox="1"/>
          <p:nvPr/>
        </p:nvSpPr>
        <p:spPr>
          <a:xfrm>
            <a:off x="5751576" y="1993392"/>
            <a:ext cx="886968" cy="5608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Sit founder fit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5F67"/>
                </a:solidFill>
              </a:rPr>
              <a:t>15%</a:t>
            </a:r>
            <a:endParaRPr lang="en-US" sz="1100" dirty="0"/>
          </a:p>
        </p:txBody>
      </p:sp>
      <p:sp>
        <p:nvSpPr>
          <p:cNvPr id="11" name="Scorecard header 6"/>
          <p:cNvSpPr txBox="1"/>
          <p:nvPr/>
        </p:nvSpPr>
        <p:spPr>
          <a:xfrm>
            <a:off x="6711696" y="1993392"/>
            <a:ext cx="886968" cy="5608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Amet risk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5F67"/>
                </a:solidFill>
              </a:rPr>
              <a:t>10%</a:t>
            </a:r>
            <a:endParaRPr lang="en-US" sz="1100" dirty="0"/>
          </a:p>
        </p:txBody>
      </p:sp>
      <p:sp>
        <p:nvSpPr>
          <p:cNvPr id="12" name="Scorecard header 7"/>
          <p:cNvSpPr txBox="1"/>
          <p:nvPr/>
        </p:nvSpPr>
        <p:spPr>
          <a:xfrm>
            <a:off x="7635240" y="1993392"/>
            <a:ext cx="777240" cy="5608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Score</a:t>
            </a:r>
            <a:endParaRPr lang="en-US" sz="1100" dirty="0"/>
          </a:p>
        </p:txBody>
      </p:sp>
      <p:sp>
        <p:nvSpPr>
          <p:cNvPr id="13" name="Scorecard header 8"/>
          <p:cNvSpPr txBox="1"/>
          <p:nvPr/>
        </p:nvSpPr>
        <p:spPr>
          <a:xfrm>
            <a:off x="8412480" y="1993392"/>
            <a:ext cx="1325880" cy="5608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Verdict</a:t>
            </a:r>
            <a:endParaRPr lang="en-US" sz="1100" dirty="0"/>
          </a:p>
        </p:txBody>
      </p:sp>
      <p:sp>
        <p:nvSpPr>
          <p:cNvPr id="14" name="Scorecard header 9"/>
          <p:cNvSpPr txBox="1"/>
          <p:nvPr/>
        </p:nvSpPr>
        <p:spPr>
          <a:xfrm>
            <a:off x="9848088" y="1993392"/>
            <a:ext cx="1685239" cy="5608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Why not / condition</a:t>
            </a:r>
            <a:endParaRPr lang="en-US" sz="1100" dirty="0"/>
          </a:p>
        </p:txBody>
      </p:sp>
      <p:sp>
        <p:nvSpPr>
          <p:cNvPr id="15" name="Scorecard header rule"/>
          <p:cNvSpPr/>
          <p:nvPr/>
        </p:nvSpPr>
        <p:spPr>
          <a:xfrm>
            <a:off x="658368" y="2590851"/>
            <a:ext cx="10874959" cy="0"/>
          </a:xfrm>
          <a:prstGeom prst="line">
            <a:avLst/>
          </a:prstGeom>
          <a:noFill/>
          <a:ln w="12700">
            <a:solidFill>
              <a:srgbClr val="C9BCB5"/>
            </a:solidFill>
            <a:prstDash val="solid"/>
          </a:ln>
        </p:spPr>
      </p:sp>
      <p:sp>
        <p:nvSpPr>
          <p:cNvPr id="16" name="Scorecard highlight"/>
          <p:cNvSpPr/>
          <p:nvPr/>
        </p:nvSpPr>
        <p:spPr>
          <a:xfrm>
            <a:off x="585216" y="2618283"/>
            <a:ext cx="11021263" cy="590083"/>
          </a:xfrm>
          <a:prstGeom prst="rect">
            <a:avLst/>
          </a:prstGeom>
          <a:solidFill>
            <a:srgbClr val="F2EAF0"/>
          </a:solidFill>
          <a:ln/>
        </p:spPr>
      </p:sp>
      <p:sp>
        <p:nvSpPr>
          <p:cNvPr id="17" name="Scorecard option"/>
          <p:cNvSpPr txBox="1"/>
          <p:nvPr/>
        </p:nvSpPr>
        <p:spPr>
          <a:xfrm>
            <a:off x="658368" y="2627427"/>
            <a:ext cx="2066544" cy="57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Lorem flagship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Single-site placeholder</a:t>
            </a:r>
            <a:endParaRPr lang="en-US" sz="1200" dirty="0"/>
          </a:p>
        </p:txBody>
      </p:sp>
      <p:sp>
        <p:nvSpPr>
          <p:cNvPr id="18" name="Harvey ball"/>
          <p:cNvSpPr/>
          <p:nvPr/>
        </p:nvSpPr>
        <p:spPr>
          <a:xfrm>
            <a:off x="3177540" y="2776164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rvey fill"/>
          <p:cNvSpPr/>
          <p:nvPr/>
        </p:nvSpPr>
        <p:spPr>
          <a:xfrm>
            <a:off x="3177540" y="277616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Harvey ball 2"/>
          <p:cNvSpPr/>
          <p:nvPr/>
        </p:nvSpPr>
        <p:spPr>
          <a:xfrm>
            <a:off x="4137660" y="2776164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Harvey fill 2"/>
          <p:cNvSpPr/>
          <p:nvPr/>
        </p:nvSpPr>
        <p:spPr>
          <a:xfrm>
            <a:off x="4137660" y="2776164"/>
            <a:ext cx="274320" cy="274320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22" name="Harvey ball 3"/>
          <p:cNvSpPr/>
          <p:nvPr/>
        </p:nvSpPr>
        <p:spPr>
          <a:xfrm>
            <a:off x="5097780" y="2776164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Harvey fill 3"/>
          <p:cNvSpPr/>
          <p:nvPr/>
        </p:nvSpPr>
        <p:spPr>
          <a:xfrm>
            <a:off x="5097780" y="2776164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Harvey ball 4"/>
          <p:cNvSpPr/>
          <p:nvPr/>
        </p:nvSpPr>
        <p:spPr>
          <a:xfrm>
            <a:off x="6057900" y="2776164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Harvey fill 4"/>
          <p:cNvSpPr/>
          <p:nvPr/>
        </p:nvSpPr>
        <p:spPr>
          <a:xfrm>
            <a:off x="6057900" y="2776164"/>
            <a:ext cx="274320" cy="274320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26" name="Harvey ball 5"/>
          <p:cNvSpPr/>
          <p:nvPr/>
        </p:nvSpPr>
        <p:spPr>
          <a:xfrm>
            <a:off x="7018020" y="2776164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Harvey fill 5"/>
          <p:cNvSpPr/>
          <p:nvPr/>
        </p:nvSpPr>
        <p:spPr>
          <a:xfrm>
            <a:off x="7018020" y="2776164"/>
            <a:ext cx="274320" cy="274320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28" name="Scorecard total"/>
          <p:cNvSpPr txBox="1"/>
          <p:nvPr/>
        </p:nvSpPr>
        <p:spPr>
          <a:xfrm>
            <a:off x="7635240" y="2590851"/>
            <a:ext cx="777240" cy="644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4.5</a:t>
            </a:r>
            <a:endParaRPr lang="en-US" sz="1400" dirty="0"/>
          </a:p>
        </p:txBody>
      </p:sp>
      <p:sp>
        <p:nvSpPr>
          <p:cNvPr id="29" name="Status chip"/>
          <p:cNvSpPr txBox="1"/>
          <p:nvPr/>
        </p:nvSpPr>
        <p:spPr>
          <a:xfrm>
            <a:off x="8529476" y="2794452"/>
            <a:ext cx="1091889" cy="23774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chemeClr val="bg1"/>
                </a:solidFill>
              </a:rPr>
              <a:t>RECOMMENDED</a:t>
            </a:r>
            <a:endParaRPr lang="en-US" sz="900" dirty="0"/>
          </a:p>
        </p:txBody>
      </p:sp>
      <p:sp>
        <p:nvSpPr>
          <p:cNvPr id="30" name="Scorecard why not"/>
          <p:cNvSpPr txBox="1"/>
          <p:nvPr/>
        </p:nvSpPr>
        <p:spPr>
          <a:xfrm>
            <a:off x="9848088" y="2627427"/>
            <a:ext cx="1685239" cy="57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Chosen: lorem ipsum dolor sit amet, consectetur adipiscing elit.</a:t>
            </a:r>
            <a:endParaRPr lang="en-US" sz="1150" dirty="0"/>
          </a:p>
        </p:txBody>
      </p:sp>
      <p:sp>
        <p:nvSpPr>
          <p:cNvPr id="31" name="Scorecard row rule"/>
          <p:cNvSpPr/>
          <p:nvPr/>
        </p:nvSpPr>
        <p:spPr>
          <a:xfrm>
            <a:off x="658368" y="3235797"/>
            <a:ext cx="10874959" cy="0"/>
          </a:xfrm>
          <a:prstGeom prst="line">
            <a:avLst/>
          </a:prstGeom>
          <a:noFill/>
          <a:ln w="9525">
            <a:solidFill>
              <a:srgbClr val="E4DAD5"/>
            </a:solidFill>
            <a:prstDash val="solid"/>
          </a:ln>
        </p:spPr>
      </p:sp>
      <p:sp>
        <p:nvSpPr>
          <p:cNvPr id="32" name="Scorecard option 2"/>
          <p:cNvSpPr txBox="1"/>
          <p:nvPr/>
        </p:nvSpPr>
        <p:spPr>
          <a:xfrm>
            <a:off x="658368" y="3272373"/>
            <a:ext cx="2066544" cy="57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Ipsum regional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Second engine</a:t>
            </a:r>
            <a:endParaRPr lang="en-US" sz="1200" dirty="0"/>
          </a:p>
        </p:txBody>
      </p:sp>
      <p:sp>
        <p:nvSpPr>
          <p:cNvPr id="33" name="Harvey ball 6"/>
          <p:cNvSpPr/>
          <p:nvPr/>
        </p:nvSpPr>
        <p:spPr>
          <a:xfrm>
            <a:off x="3177540" y="3421111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Harvey fill 6"/>
          <p:cNvSpPr/>
          <p:nvPr/>
        </p:nvSpPr>
        <p:spPr>
          <a:xfrm>
            <a:off x="3177540" y="3421111"/>
            <a:ext cx="274320" cy="274320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35" name="Harvey ball 7"/>
          <p:cNvSpPr/>
          <p:nvPr/>
        </p:nvSpPr>
        <p:spPr>
          <a:xfrm>
            <a:off x="4137660" y="3421111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Harvey fill 7"/>
          <p:cNvSpPr/>
          <p:nvPr/>
        </p:nvSpPr>
        <p:spPr>
          <a:xfrm>
            <a:off x="4137660" y="3421111"/>
            <a:ext cx="274320" cy="274320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37" name="Harvey ball 8"/>
          <p:cNvSpPr/>
          <p:nvPr/>
        </p:nvSpPr>
        <p:spPr>
          <a:xfrm>
            <a:off x="5097780" y="3421111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Harvey fill 8"/>
          <p:cNvSpPr/>
          <p:nvPr/>
        </p:nvSpPr>
        <p:spPr>
          <a:xfrm>
            <a:off x="5097780" y="3421111"/>
            <a:ext cx="274320" cy="274320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/>
        </p:spPr>
      </p:sp>
      <p:sp>
        <p:nvSpPr>
          <p:cNvPr id="39" name="Harvey ball 9"/>
          <p:cNvSpPr/>
          <p:nvPr/>
        </p:nvSpPr>
        <p:spPr>
          <a:xfrm>
            <a:off x="6057900" y="3421111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Harvey fill 9"/>
          <p:cNvSpPr/>
          <p:nvPr/>
        </p:nvSpPr>
        <p:spPr>
          <a:xfrm>
            <a:off x="6057900" y="3421111"/>
            <a:ext cx="274320" cy="274320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41" name="Harvey ball 10"/>
          <p:cNvSpPr/>
          <p:nvPr/>
        </p:nvSpPr>
        <p:spPr>
          <a:xfrm>
            <a:off x="7018020" y="3421111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Harvey fill 10"/>
          <p:cNvSpPr/>
          <p:nvPr/>
        </p:nvSpPr>
        <p:spPr>
          <a:xfrm>
            <a:off x="7018020" y="3421111"/>
            <a:ext cx="274320" cy="274320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/>
        </p:spPr>
      </p:sp>
      <p:sp>
        <p:nvSpPr>
          <p:cNvPr id="43" name="Scorecard total 2"/>
          <p:cNvSpPr txBox="1"/>
          <p:nvPr/>
        </p:nvSpPr>
        <p:spPr>
          <a:xfrm>
            <a:off x="7635240" y="3235797"/>
            <a:ext cx="777240" cy="644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3.7</a:t>
            </a:r>
            <a:endParaRPr lang="en-US" sz="1400" dirty="0"/>
          </a:p>
        </p:txBody>
      </p:sp>
      <p:sp>
        <p:nvSpPr>
          <p:cNvPr id="44" name="Status chip 2"/>
          <p:cNvSpPr txBox="1"/>
          <p:nvPr/>
        </p:nvSpPr>
        <p:spPr>
          <a:xfrm>
            <a:off x="8735951" y="3439399"/>
            <a:ext cx="678938" cy="237744"/>
          </a:xfrm>
          <a:prstGeom prst="roundRect">
            <a:avLst>
              <a:gd name="adj" fmla="val 50000"/>
            </a:avLst>
          </a:prstGeom>
          <a:solidFill>
            <a:srgbClr val="F2EAF0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chemeClr val="tx2"/>
                </a:solidFill>
              </a:rPr>
              <a:t>AT GATE</a:t>
            </a:r>
            <a:endParaRPr lang="en-US" sz="900" dirty="0"/>
          </a:p>
        </p:txBody>
      </p:sp>
      <p:sp>
        <p:nvSpPr>
          <p:cNvPr id="45" name="Scorecard why not 2"/>
          <p:cNvSpPr txBox="1"/>
          <p:nvPr/>
        </p:nvSpPr>
        <p:spPr>
          <a:xfrm>
            <a:off x="9848088" y="3272373"/>
            <a:ext cx="1685239" cy="57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Only after lorem gate: demand from travellers must be proven first.</a:t>
            </a:r>
            <a:endParaRPr lang="en-US" sz="1150" dirty="0"/>
          </a:p>
        </p:txBody>
      </p:sp>
      <p:sp>
        <p:nvSpPr>
          <p:cNvPr id="46" name="Scorecard row rule 2"/>
          <p:cNvSpPr/>
          <p:nvPr/>
        </p:nvSpPr>
        <p:spPr>
          <a:xfrm>
            <a:off x="658368" y="3880744"/>
            <a:ext cx="10874959" cy="0"/>
          </a:xfrm>
          <a:prstGeom prst="line">
            <a:avLst/>
          </a:prstGeom>
          <a:noFill/>
          <a:ln w="9525">
            <a:solidFill>
              <a:srgbClr val="E4DAD5"/>
            </a:solidFill>
            <a:prstDash val="solid"/>
          </a:ln>
        </p:spPr>
      </p:sp>
      <p:sp>
        <p:nvSpPr>
          <p:cNvPr id="47" name="Scorecard option 3"/>
          <p:cNvSpPr txBox="1"/>
          <p:nvPr/>
        </p:nvSpPr>
        <p:spPr>
          <a:xfrm>
            <a:off x="658368" y="3917320"/>
            <a:ext cx="2066544" cy="57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Dolor online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National course</a:t>
            </a:r>
            <a:endParaRPr lang="en-US" sz="1200" dirty="0"/>
          </a:p>
        </p:txBody>
      </p:sp>
      <p:sp>
        <p:nvSpPr>
          <p:cNvPr id="48" name="Harvey ball 11"/>
          <p:cNvSpPr/>
          <p:nvPr/>
        </p:nvSpPr>
        <p:spPr>
          <a:xfrm>
            <a:off x="3177540" y="4066057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9" name="Harvey fill 11"/>
          <p:cNvSpPr/>
          <p:nvPr/>
        </p:nvSpPr>
        <p:spPr>
          <a:xfrm>
            <a:off x="3177540" y="4066057"/>
            <a:ext cx="274320" cy="274320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/>
        </p:spPr>
      </p:sp>
      <p:sp>
        <p:nvSpPr>
          <p:cNvPr id="50" name="Harvey ball 12"/>
          <p:cNvSpPr/>
          <p:nvPr/>
        </p:nvSpPr>
        <p:spPr>
          <a:xfrm>
            <a:off x="4137660" y="4066057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Harvey fill 12"/>
          <p:cNvSpPr/>
          <p:nvPr/>
        </p:nvSpPr>
        <p:spPr>
          <a:xfrm>
            <a:off x="4137660" y="4066057"/>
            <a:ext cx="274320" cy="274320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/>
        </p:spPr>
      </p:sp>
      <p:sp>
        <p:nvSpPr>
          <p:cNvPr id="52" name="Harvey ball 13"/>
          <p:cNvSpPr/>
          <p:nvPr/>
        </p:nvSpPr>
        <p:spPr>
          <a:xfrm>
            <a:off x="5097780" y="4066057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3" name="Harvey fill 13"/>
          <p:cNvSpPr/>
          <p:nvPr/>
        </p:nvSpPr>
        <p:spPr>
          <a:xfrm>
            <a:off x="5097780" y="4066057"/>
            <a:ext cx="274320" cy="274320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54" name="Harvey ball 14"/>
          <p:cNvSpPr/>
          <p:nvPr/>
        </p:nvSpPr>
        <p:spPr>
          <a:xfrm>
            <a:off x="6057900" y="4066057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Harvey fill 14"/>
          <p:cNvSpPr/>
          <p:nvPr/>
        </p:nvSpPr>
        <p:spPr>
          <a:xfrm>
            <a:off x="6057900" y="4066057"/>
            <a:ext cx="274320" cy="274320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/>
        </p:spPr>
      </p:sp>
      <p:sp>
        <p:nvSpPr>
          <p:cNvPr id="56" name="Harvey ball 15"/>
          <p:cNvSpPr/>
          <p:nvPr/>
        </p:nvSpPr>
        <p:spPr>
          <a:xfrm>
            <a:off x="7018020" y="4066057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Harvey fill 15"/>
          <p:cNvSpPr/>
          <p:nvPr/>
        </p:nvSpPr>
        <p:spPr>
          <a:xfrm>
            <a:off x="7018020" y="4066057"/>
            <a:ext cx="274320" cy="274320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/>
        </p:spPr>
      </p:sp>
      <p:sp>
        <p:nvSpPr>
          <p:cNvPr id="58" name="Scorecard total 3"/>
          <p:cNvSpPr txBox="1"/>
          <p:nvPr/>
        </p:nvSpPr>
        <p:spPr>
          <a:xfrm>
            <a:off x="7635240" y="3880744"/>
            <a:ext cx="777240" cy="644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2.9</a:t>
            </a:r>
            <a:endParaRPr lang="en-US" sz="1400" dirty="0"/>
          </a:p>
        </p:txBody>
      </p:sp>
      <p:sp>
        <p:nvSpPr>
          <p:cNvPr id="59" name="Status chip 3"/>
          <p:cNvSpPr txBox="1"/>
          <p:nvPr/>
        </p:nvSpPr>
        <p:spPr>
          <a:xfrm>
            <a:off x="8688941" y="4084345"/>
            <a:ext cx="772958" cy="237744"/>
          </a:xfrm>
          <a:prstGeom prst="roundRect">
            <a:avLst>
              <a:gd name="adj" fmla="val 50000"/>
            </a:avLst>
          </a:prstGeom>
          <a:solidFill>
            <a:srgbClr val="F8EBD4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7A4B0C"/>
                </a:solidFill>
              </a:rPr>
              <a:t>DEFERRED</a:t>
            </a:r>
            <a:endParaRPr lang="en-US" sz="900" dirty="0"/>
          </a:p>
        </p:txBody>
      </p:sp>
      <p:sp>
        <p:nvSpPr>
          <p:cNvPr id="60" name="Scorecard why not 3"/>
          <p:cNvSpPr txBox="1"/>
          <p:nvPr/>
        </p:nvSpPr>
        <p:spPr>
          <a:xfrm>
            <a:off x="9848088" y="3917320"/>
            <a:ext cx="1685239" cy="57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Deferred: crowded placeholder market and weak differentiation today.</a:t>
            </a:r>
            <a:endParaRPr lang="en-US" sz="1150" dirty="0"/>
          </a:p>
        </p:txBody>
      </p:sp>
      <p:sp>
        <p:nvSpPr>
          <p:cNvPr id="61" name="Scorecard row rule 3"/>
          <p:cNvSpPr/>
          <p:nvPr/>
        </p:nvSpPr>
        <p:spPr>
          <a:xfrm>
            <a:off x="658368" y="4525691"/>
            <a:ext cx="10874959" cy="0"/>
          </a:xfrm>
          <a:prstGeom prst="line">
            <a:avLst/>
          </a:prstGeom>
          <a:noFill/>
          <a:ln w="9525">
            <a:solidFill>
              <a:srgbClr val="E4DAD5"/>
            </a:solidFill>
            <a:prstDash val="solid"/>
          </a:ln>
        </p:spPr>
      </p:sp>
      <p:sp>
        <p:nvSpPr>
          <p:cNvPr id="62" name="Scorecard option 4"/>
          <p:cNvSpPr txBox="1"/>
          <p:nvPr/>
        </p:nvSpPr>
        <p:spPr>
          <a:xfrm>
            <a:off x="658368" y="4562267"/>
            <a:ext cx="2066544" cy="57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Sit marketplace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Services platform</a:t>
            </a:r>
            <a:endParaRPr lang="en-US" sz="1200" dirty="0"/>
          </a:p>
        </p:txBody>
      </p:sp>
      <p:sp>
        <p:nvSpPr>
          <p:cNvPr id="63" name="Harvey ball 16"/>
          <p:cNvSpPr/>
          <p:nvPr/>
        </p:nvSpPr>
        <p:spPr>
          <a:xfrm>
            <a:off x="3177540" y="4711004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4" name="Harvey fill 16"/>
          <p:cNvSpPr/>
          <p:nvPr/>
        </p:nvSpPr>
        <p:spPr>
          <a:xfrm>
            <a:off x="3177540" y="4711004"/>
            <a:ext cx="274320" cy="274320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/>
        </p:spPr>
      </p:sp>
      <p:sp>
        <p:nvSpPr>
          <p:cNvPr id="65" name="Harvey ball 17"/>
          <p:cNvSpPr/>
          <p:nvPr/>
        </p:nvSpPr>
        <p:spPr>
          <a:xfrm>
            <a:off x="4137660" y="4711004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6" name="Harvey ball 18"/>
          <p:cNvSpPr/>
          <p:nvPr/>
        </p:nvSpPr>
        <p:spPr>
          <a:xfrm>
            <a:off x="5097780" y="4711004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7" name="Harvey fill 17"/>
          <p:cNvSpPr/>
          <p:nvPr/>
        </p:nvSpPr>
        <p:spPr>
          <a:xfrm>
            <a:off x="5097780" y="4711004"/>
            <a:ext cx="274320" cy="274320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/>
        </p:spPr>
      </p:sp>
      <p:sp>
        <p:nvSpPr>
          <p:cNvPr id="68" name="Harvey ball 19"/>
          <p:cNvSpPr/>
          <p:nvPr/>
        </p:nvSpPr>
        <p:spPr>
          <a:xfrm>
            <a:off x="6057900" y="4711004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9" name="Harvey fill 18"/>
          <p:cNvSpPr/>
          <p:nvPr/>
        </p:nvSpPr>
        <p:spPr>
          <a:xfrm>
            <a:off x="6057900" y="4711004"/>
            <a:ext cx="274320" cy="274320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/>
        </p:spPr>
      </p:sp>
      <p:sp>
        <p:nvSpPr>
          <p:cNvPr id="70" name="Harvey ball 20"/>
          <p:cNvSpPr/>
          <p:nvPr/>
        </p:nvSpPr>
        <p:spPr>
          <a:xfrm>
            <a:off x="7018020" y="4711004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1" name="Scorecard total 4"/>
          <p:cNvSpPr txBox="1"/>
          <p:nvPr/>
        </p:nvSpPr>
        <p:spPr>
          <a:xfrm>
            <a:off x="7635240" y="4525691"/>
            <a:ext cx="777240" cy="644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1.6</a:t>
            </a:r>
            <a:endParaRPr lang="en-US" sz="1400" dirty="0"/>
          </a:p>
        </p:txBody>
      </p:sp>
      <p:sp>
        <p:nvSpPr>
          <p:cNvPr id="72" name="Status chip 4"/>
          <p:cNvSpPr txBox="1"/>
          <p:nvPr/>
        </p:nvSpPr>
        <p:spPr>
          <a:xfrm>
            <a:off x="8705909" y="4729292"/>
            <a:ext cx="739022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9BC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6B5F67"/>
                </a:solidFill>
              </a:rPr>
              <a:t>REJECTED</a:t>
            </a:r>
            <a:endParaRPr lang="en-US" sz="900" dirty="0"/>
          </a:p>
        </p:txBody>
      </p:sp>
      <p:sp>
        <p:nvSpPr>
          <p:cNvPr id="73" name="Scorecard why not 4"/>
          <p:cNvSpPr txBox="1"/>
          <p:nvPr/>
        </p:nvSpPr>
        <p:spPr>
          <a:xfrm>
            <a:off x="9848088" y="4562267"/>
            <a:ext cx="1685239" cy="57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Rejected: negative unit economics of lorem per booking.</a:t>
            </a:r>
            <a:endParaRPr lang="en-US" sz="1150" dirty="0"/>
          </a:p>
        </p:txBody>
      </p:sp>
      <p:sp>
        <p:nvSpPr>
          <p:cNvPr id="74" name="Scorecard row rule 4"/>
          <p:cNvSpPr/>
          <p:nvPr/>
        </p:nvSpPr>
        <p:spPr>
          <a:xfrm>
            <a:off x="658368" y="5170637"/>
            <a:ext cx="10874959" cy="0"/>
          </a:xfrm>
          <a:prstGeom prst="line">
            <a:avLst/>
          </a:prstGeom>
          <a:noFill/>
          <a:ln w="9525">
            <a:solidFill>
              <a:srgbClr val="E4DAD5"/>
            </a:solidFill>
            <a:prstDash val="solid"/>
          </a:ln>
        </p:spPr>
      </p:sp>
      <p:sp>
        <p:nvSpPr>
          <p:cNvPr id="75" name="Scorecard option 5"/>
          <p:cNvSpPr txBox="1"/>
          <p:nvPr/>
        </p:nvSpPr>
        <p:spPr>
          <a:xfrm>
            <a:off x="658368" y="5207213"/>
            <a:ext cx="2066544" cy="57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Amet franchise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Partner centres</a:t>
            </a:r>
            <a:endParaRPr lang="en-US" sz="1200" dirty="0"/>
          </a:p>
        </p:txBody>
      </p:sp>
      <p:sp>
        <p:nvSpPr>
          <p:cNvPr id="76" name="Harvey ball 21"/>
          <p:cNvSpPr/>
          <p:nvPr/>
        </p:nvSpPr>
        <p:spPr>
          <a:xfrm>
            <a:off x="3177540" y="5355951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7" name="Harvey fill 19"/>
          <p:cNvSpPr/>
          <p:nvPr/>
        </p:nvSpPr>
        <p:spPr>
          <a:xfrm>
            <a:off x="3177540" y="5355951"/>
            <a:ext cx="274320" cy="274320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/>
        </p:spPr>
      </p:sp>
      <p:sp>
        <p:nvSpPr>
          <p:cNvPr id="78" name="Harvey ball 22"/>
          <p:cNvSpPr/>
          <p:nvPr/>
        </p:nvSpPr>
        <p:spPr>
          <a:xfrm>
            <a:off x="4137660" y="5355951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9" name="Harvey fill 20"/>
          <p:cNvSpPr/>
          <p:nvPr/>
        </p:nvSpPr>
        <p:spPr>
          <a:xfrm>
            <a:off x="4137660" y="5355951"/>
            <a:ext cx="274320" cy="274320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/>
        </p:spPr>
      </p:sp>
      <p:sp>
        <p:nvSpPr>
          <p:cNvPr id="80" name="Harvey ball 23"/>
          <p:cNvSpPr/>
          <p:nvPr/>
        </p:nvSpPr>
        <p:spPr>
          <a:xfrm>
            <a:off x="5097780" y="5355951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1" name="Harvey fill 21"/>
          <p:cNvSpPr/>
          <p:nvPr/>
        </p:nvSpPr>
        <p:spPr>
          <a:xfrm>
            <a:off x="5097780" y="5355951"/>
            <a:ext cx="274320" cy="274320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/>
        </p:spPr>
      </p:sp>
      <p:sp>
        <p:nvSpPr>
          <p:cNvPr id="82" name="Harvey ball 24"/>
          <p:cNvSpPr/>
          <p:nvPr/>
        </p:nvSpPr>
        <p:spPr>
          <a:xfrm>
            <a:off x="6057900" y="5355951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3" name="Harvey ball 25"/>
          <p:cNvSpPr/>
          <p:nvPr/>
        </p:nvSpPr>
        <p:spPr>
          <a:xfrm>
            <a:off x="7018020" y="5355951"/>
            <a:ext cx="274320" cy="2743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4" name="Harvey fill 22"/>
          <p:cNvSpPr/>
          <p:nvPr/>
        </p:nvSpPr>
        <p:spPr>
          <a:xfrm>
            <a:off x="7018020" y="5355951"/>
            <a:ext cx="274320" cy="274320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/>
        </p:spPr>
      </p:sp>
      <p:sp>
        <p:nvSpPr>
          <p:cNvPr id="85" name="Scorecard total 5"/>
          <p:cNvSpPr txBox="1"/>
          <p:nvPr/>
        </p:nvSpPr>
        <p:spPr>
          <a:xfrm>
            <a:off x="7635240" y="5170637"/>
            <a:ext cx="777240" cy="644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2.3</a:t>
            </a:r>
            <a:endParaRPr lang="en-US" sz="1400" dirty="0"/>
          </a:p>
        </p:txBody>
      </p:sp>
      <p:sp>
        <p:nvSpPr>
          <p:cNvPr id="86" name="Status chip 5"/>
          <p:cNvSpPr txBox="1"/>
          <p:nvPr/>
        </p:nvSpPr>
        <p:spPr>
          <a:xfrm>
            <a:off x="8705909" y="5374239"/>
            <a:ext cx="739022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9BCB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6B5F67"/>
                </a:solidFill>
              </a:rPr>
              <a:t>REJECTED</a:t>
            </a:r>
            <a:endParaRPr lang="en-US" sz="900" dirty="0"/>
          </a:p>
        </p:txBody>
      </p:sp>
      <p:sp>
        <p:nvSpPr>
          <p:cNvPr id="87" name="Scorecard why not 5"/>
          <p:cNvSpPr txBox="1"/>
          <p:nvPr/>
        </p:nvSpPr>
        <p:spPr>
          <a:xfrm>
            <a:off x="9848088" y="5207213"/>
            <a:ext cx="1685239" cy="571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Rejected for now: brand dilution before the method is codified.</a:t>
            </a:r>
            <a:endParaRPr lang="en-US" sz="1150" dirty="0"/>
          </a:p>
        </p:txBody>
      </p:sp>
      <p:sp>
        <p:nvSpPr>
          <p:cNvPr id="88" name="Scorecard legend"/>
          <p:cNvSpPr txBox="1"/>
          <p:nvPr/>
        </p:nvSpPr>
        <p:spPr>
          <a:xfrm>
            <a:off x="548640" y="59070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5F67"/>
                </a:solidFill>
              </a:rPr>
              <a:t>Fit:</a:t>
            </a:r>
            <a:endParaRPr lang="en-US" sz="1000" dirty="0"/>
          </a:p>
        </p:txBody>
      </p:sp>
      <p:sp>
        <p:nvSpPr>
          <p:cNvPr id="89" name="Harvey ball 26"/>
          <p:cNvSpPr/>
          <p:nvPr/>
        </p:nvSpPr>
        <p:spPr>
          <a:xfrm>
            <a:off x="1024128" y="5934456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0" name="Harvey ball 27"/>
          <p:cNvSpPr/>
          <p:nvPr/>
        </p:nvSpPr>
        <p:spPr>
          <a:xfrm>
            <a:off x="1316736" y="5934456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1" name="Harvey fill 23"/>
          <p:cNvSpPr/>
          <p:nvPr/>
        </p:nvSpPr>
        <p:spPr>
          <a:xfrm>
            <a:off x="1316736" y="5934456"/>
            <a:ext cx="182880" cy="182880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/>
        </p:spPr>
      </p:sp>
      <p:sp>
        <p:nvSpPr>
          <p:cNvPr id="92" name="Harvey ball 28"/>
          <p:cNvSpPr/>
          <p:nvPr/>
        </p:nvSpPr>
        <p:spPr>
          <a:xfrm>
            <a:off x="1609344" y="5934456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3" name="Harvey fill 24"/>
          <p:cNvSpPr/>
          <p:nvPr/>
        </p:nvSpPr>
        <p:spPr>
          <a:xfrm>
            <a:off x="1609344" y="5934456"/>
            <a:ext cx="182880" cy="182880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/>
        </p:spPr>
      </p:sp>
      <p:sp>
        <p:nvSpPr>
          <p:cNvPr id="94" name="Harvey ball 29"/>
          <p:cNvSpPr/>
          <p:nvPr/>
        </p:nvSpPr>
        <p:spPr>
          <a:xfrm>
            <a:off x="1901952" y="5934456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5" name="Harvey fill 25"/>
          <p:cNvSpPr/>
          <p:nvPr/>
        </p:nvSpPr>
        <p:spPr>
          <a:xfrm>
            <a:off x="1901952" y="5934456"/>
            <a:ext cx="182880" cy="182880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/>
        </p:spPr>
      </p:sp>
      <p:sp>
        <p:nvSpPr>
          <p:cNvPr id="96" name="Harvey ball 30"/>
          <p:cNvSpPr/>
          <p:nvPr/>
        </p:nvSpPr>
        <p:spPr>
          <a:xfrm>
            <a:off x="2194560" y="5934456"/>
            <a:ext cx="182880" cy="1828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7" name="Harvey fill 26"/>
          <p:cNvSpPr/>
          <p:nvPr/>
        </p:nvSpPr>
        <p:spPr>
          <a:xfrm>
            <a:off x="2194560" y="5934456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8" name="Scorecard legend text"/>
          <p:cNvSpPr txBox="1"/>
          <p:nvPr/>
        </p:nvSpPr>
        <p:spPr>
          <a:xfrm>
            <a:off x="2514600" y="59070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empty = weak fit, full = strong fit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SCORECARD: 1–5 CHIPS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coloured score chips suit numeric ratings where exact values matter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sp>
        <p:nvSpPr>
          <p:cNvPr id="5" name="Scorecard card"/>
          <p:cNvSpPr/>
          <p:nvPr/>
        </p:nvSpPr>
        <p:spPr>
          <a:xfrm>
            <a:off x="548640" y="1920240"/>
            <a:ext cx="11094415" cy="3895344"/>
          </a:xfrm>
          <a:prstGeom prst="roundRect">
            <a:avLst>
              <a:gd name="adj" fmla="val 1878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6" name="Scorecard header"/>
          <p:cNvSpPr txBox="1"/>
          <p:nvPr/>
        </p:nvSpPr>
        <p:spPr>
          <a:xfrm>
            <a:off x="658368" y="1993392"/>
            <a:ext cx="2066544" cy="3780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Option</a:t>
            </a:r>
            <a:endParaRPr lang="en-US" sz="1100" dirty="0"/>
          </a:p>
        </p:txBody>
      </p:sp>
      <p:sp>
        <p:nvSpPr>
          <p:cNvPr id="7" name="Scorecard header 2"/>
          <p:cNvSpPr txBox="1"/>
          <p:nvPr/>
        </p:nvSpPr>
        <p:spPr>
          <a:xfrm>
            <a:off x="2871216" y="1993392"/>
            <a:ext cx="886968" cy="3780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Lorem reach</a:t>
            </a:r>
            <a:endParaRPr lang="en-US" sz="1100" dirty="0"/>
          </a:p>
        </p:txBody>
      </p:sp>
      <p:sp>
        <p:nvSpPr>
          <p:cNvPr id="8" name="Scorecard header 3"/>
          <p:cNvSpPr txBox="1"/>
          <p:nvPr/>
        </p:nvSpPr>
        <p:spPr>
          <a:xfrm>
            <a:off x="3831336" y="1993392"/>
            <a:ext cx="886968" cy="3780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Ipsum cost per lead</a:t>
            </a:r>
            <a:endParaRPr lang="en-US" sz="1100" dirty="0"/>
          </a:p>
        </p:txBody>
      </p:sp>
      <p:sp>
        <p:nvSpPr>
          <p:cNvPr id="9" name="Scorecard header 4"/>
          <p:cNvSpPr txBox="1"/>
          <p:nvPr/>
        </p:nvSpPr>
        <p:spPr>
          <a:xfrm>
            <a:off x="4791456" y="1993392"/>
            <a:ext cx="886968" cy="3780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Dolor speed to test</a:t>
            </a:r>
            <a:endParaRPr lang="en-US" sz="1100" dirty="0"/>
          </a:p>
        </p:txBody>
      </p:sp>
      <p:sp>
        <p:nvSpPr>
          <p:cNvPr id="10" name="Scorecard header 5"/>
          <p:cNvSpPr txBox="1"/>
          <p:nvPr/>
        </p:nvSpPr>
        <p:spPr>
          <a:xfrm>
            <a:off x="5751576" y="1993392"/>
            <a:ext cx="886968" cy="3780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Sit brand fit</a:t>
            </a:r>
            <a:endParaRPr lang="en-US" sz="1100" dirty="0"/>
          </a:p>
        </p:txBody>
      </p:sp>
      <p:sp>
        <p:nvSpPr>
          <p:cNvPr id="11" name="Scorecard header 6"/>
          <p:cNvSpPr txBox="1"/>
          <p:nvPr/>
        </p:nvSpPr>
        <p:spPr>
          <a:xfrm>
            <a:off x="6675120" y="1993392"/>
            <a:ext cx="777240" cy="3780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Score</a:t>
            </a:r>
            <a:endParaRPr lang="en-US" sz="1100" dirty="0"/>
          </a:p>
        </p:txBody>
      </p:sp>
      <p:sp>
        <p:nvSpPr>
          <p:cNvPr id="12" name="Scorecard header 7"/>
          <p:cNvSpPr txBox="1"/>
          <p:nvPr/>
        </p:nvSpPr>
        <p:spPr>
          <a:xfrm>
            <a:off x="7562088" y="1993392"/>
            <a:ext cx="3971239" cy="37800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Why not / condition</a:t>
            </a:r>
            <a:endParaRPr lang="en-US" sz="1100" dirty="0"/>
          </a:p>
        </p:txBody>
      </p:sp>
      <p:sp>
        <p:nvSpPr>
          <p:cNvPr id="13" name="Scorecard header rule"/>
          <p:cNvSpPr/>
          <p:nvPr/>
        </p:nvSpPr>
        <p:spPr>
          <a:xfrm>
            <a:off x="658368" y="2407971"/>
            <a:ext cx="10874959" cy="0"/>
          </a:xfrm>
          <a:prstGeom prst="line">
            <a:avLst/>
          </a:prstGeom>
          <a:noFill/>
          <a:ln w="12700">
            <a:solidFill>
              <a:srgbClr val="C9BCB5"/>
            </a:solidFill>
            <a:prstDash val="solid"/>
          </a:ln>
        </p:spPr>
      </p:sp>
      <p:sp>
        <p:nvSpPr>
          <p:cNvPr id="14" name="Scorecard option"/>
          <p:cNvSpPr txBox="1"/>
          <p:nvPr/>
        </p:nvSpPr>
        <p:spPr>
          <a:xfrm>
            <a:off x="658368" y="2444547"/>
            <a:ext cx="2066544" cy="778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Lorem search ads</a:t>
            </a:r>
            <a:endParaRPr lang="en-US" sz="1200" dirty="0"/>
          </a:p>
        </p:txBody>
      </p:sp>
      <p:sp>
        <p:nvSpPr>
          <p:cNvPr id="15" name="Score chip"/>
          <p:cNvSpPr txBox="1"/>
          <p:nvPr/>
        </p:nvSpPr>
        <p:spPr>
          <a:xfrm>
            <a:off x="3104388" y="2696762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7E4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Score chip 2"/>
          <p:cNvSpPr txBox="1"/>
          <p:nvPr/>
        </p:nvSpPr>
        <p:spPr>
          <a:xfrm>
            <a:off x="4064508" y="2696762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7E4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Score chip 3"/>
          <p:cNvSpPr txBox="1"/>
          <p:nvPr/>
        </p:nvSpPr>
        <p:spPr>
          <a:xfrm>
            <a:off x="5024628" y="2696762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3D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Score chip 4"/>
          <p:cNvSpPr txBox="1"/>
          <p:nvPr/>
        </p:nvSpPr>
        <p:spPr>
          <a:xfrm>
            <a:off x="5984748" y="2696762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B48D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Scorecard total"/>
          <p:cNvSpPr txBox="1"/>
          <p:nvPr/>
        </p:nvSpPr>
        <p:spPr>
          <a:xfrm>
            <a:off x="6675120" y="2407971"/>
            <a:ext cx="777240" cy="851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4.0</a:t>
            </a:r>
            <a:endParaRPr lang="en-US" sz="1400" dirty="0"/>
          </a:p>
        </p:txBody>
      </p:sp>
      <p:sp>
        <p:nvSpPr>
          <p:cNvPr id="20" name="Scorecard why not"/>
          <p:cNvSpPr txBox="1"/>
          <p:nvPr/>
        </p:nvSpPr>
        <p:spPr>
          <a:xfrm>
            <a:off x="7562088" y="2444547"/>
            <a:ext cx="3971239" cy="778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Lead with this: high intent, quick to measure.</a:t>
            </a:r>
            <a:endParaRPr lang="en-US" sz="1200" dirty="0"/>
          </a:p>
        </p:txBody>
      </p:sp>
      <p:sp>
        <p:nvSpPr>
          <p:cNvPr id="21" name="Scorecard row rule"/>
          <p:cNvSpPr/>
          <p:nvPr/>
        </p:nvSpPr>
        <p:spPr>
          <a:xfrm>
            <a:off x="658368" y="3259874"/>
            <a:ext cx="10874959" cy="0"/>
          </a:xfrm>
          <a:prstGeom prst="line">
            <a:avLst/>
          </a:prstGeom>
          <a:noFill/>
          <a:ln w="9525">
            <a:solidFill>
              <a:srgbClr val="E4DAD5"/>
            </a:solidFill>
            <a:prstDash val="solid"/>
          </a:ln>
        </p:spPr>
      </p:sp>
      <p:sp>
        <p:nvSpPr>
          <p:cNvPr id="22" name="Scorecard option 2"/>
          <p:cNvSpPr txBox="1"/>
          <p:nvPr/>
        </p:nvSpPr>
        <p:spPr>
          <a:xfrm>
            <a:off x="658368" y="3296450"/>
            <a:ext cx="2066544" cy="778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Ipsum social reels</a:t>
            </a:r>
            <a:endParaRPr lang="en-US" sz="1200" dirty="0"/>
          </a:p>
        </p:txBody>
      </p:sp>
      <p:sp>
        <p:nvSpPr>
          <p:cNvPr id="23" name="Score chip 5"/>
          <p:cNvSpPr txBox="1"/>
          <p:nvPr/>
        </p:nvSpPr>
        <p:spPr>
          <a:xfrm>
            <a:off x="3104388" y="3548666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3D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Score chip 6"/>
          <p:cNvSpPr txBox="1"/>
          <p:nvPr/>
        </p:nvSpPr>
        <p:spPr>
          <a:xfrm>
            <a:off x="4064508" y="3548666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B48D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Score chip 7"/>
          <p:cNvSpPr txBox="1"/>
          <p:nvPr/>
        </p:nvSpPr>
        <p:spPr>
          <a:xfrm>
            <a:off x="5024628" y="3548666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7E4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Score chip 8"/>
          <p:cNvSpPr txBox="1"/>
          <p:nvPr/>
        </p:nvSpPr>
        <p:spPr>
          <a:xfrm>
            <a:off x="5984748" y="3548666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3D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Scorecard total 2"/>
          <p:cNvSpPr txBox="1"/>
          <p:nvPr/>
        </p:nvSpPr>
        <p:spPr>
          <a:xfrm>
            <a:off x="6675120" y="3259874"/>
            <a:ext cx="777240" cy="851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4.3</a:t>
            </a:r>
            <a:endParaRPr lang="en-US" sz="1400" dirty="0"/>
          </a:p>
        </p:txBody>
      </p:sp>
      <p:sp>
        <p:nvSpPr>
          <p:cNvPr id="28" name="Scorecard why not 2"/>
          <p:cNvSpPr txBox="1"/>
          <p:nvPr/>
        </p:nvSpPr>
        <p:spPr>
          <a:xfrm>
            <a:off x="7562088" y="3296450"/>
            <a:ext cx="3971239" cy="778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Pair with proof content; watch lead quality.</a:t>
            </a:r>
            <a:endParaRPr lang="en-US" sz="1200" dirty="0"/>
          </a:p>
        </p:txBody>
      </p:sp>
      <p:sp>
        <p:nvSpPr>
          <p:cNvPr id="29" name="Scorecard row rule 2"/>
          <p:cNvSpPr/>
          <p:nvPr/>
        </p:nvSpPr>
        <p:spPr>
          <a:xfrm>
            <a:off x="658368" y="4111777"/>
            <a:ext cx="10874959" cy="0"/>
          </a:xfrm>
          <a:prstGeom prst="line">
            <a:avLst/>
          </a:prstGeom>
          <a:noFill/>
          <a:ln w="9525">
            <a:solidFill>
              <a:srgbClr val="E4DAD5"/>
            </a:solidFill>
            <a:prstDash val="solid"/>
          </a:ln>
        </p:spPr>
      </p:sp>
      <p:sp>
        <p:nvSpPr>
          <p:cNvPr id="30" name="Scorecard option 3"/>
          <p:cNvSpPr txBox="1"/>
          <p:nvPr/>
        </p:nvSpPr>
        <p:spPr>
          <a:xfrm>
            <a:off x="658368" y="4148353"/>
            <a:ext cx="2066544" cy="778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Dolor pop-up events</a:t>
            </a:r>
            <a:endParaRPr lang="en-US" sz="1200" dirty="0"/>
          </a:p>
        </p:txBody>
      </p:sp>
      <p:sp>
        <p:nvSpPr>
          <p:cNvPr id="31" name="Score chip 9"/>
          <p:cNvSpPr txBox="1"/>
          <p:nvPr/>
        </p:nvSpPr>
        <p:spPr>
          <a:xfrm>
            <a:off x="3104388" y="4400569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DCC3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2</a:t>
            </a:r>
            <a:endParaRPr lang="en-US" sz="1200" dirty="0"/>
          </a:p>
        </p:txBody>
      </p:sp>
      <p:sp>
        <p:nvSpPr>
          <p:cNvPr id="32" name="Score chip 10"/>
          <p:cNvSpPr txBox="1"/>
          <p:nvPr/>
        </p:nvSpPr>
        <p:spPr>
          <a:xfrm>
            <a:off x="4064508" y="4400569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DCC3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2</a:t>
            </a:r>
            <a:endParaRPr lang="en-US" sz="1200" dirty="0"/>
          </a:p>
        </p:txBody>
      </p:sp>
      <p:sp>
        <p:nvSpPr>
          <p:cNvPr id="33" name="Score chip 11"/>
          <p:cNvSpPr txBox="1"/>
          <p:nvPr/>
        </p:nvSpPr>
        <p:spPr>
          <a:xfrm>
            <a:off x="5024628" y="4400569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DCC3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Score chip 12"/>
          <p:cNvSpPr txBox="1"/>
          <p:nvPr/>
        </p:nvSpPr>
        <p:spPr>
          <a:xfrm>
            <a:off x="5984748" y="4400569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7E4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Scorecard total 3"/>
          <p:cNvSpPr txBox="1"/>
          <p:nvPr/>
        </p:nvSpPr>
        <p:spPr>
          <a:xfrm>
            <a:off x="6675120" y="4111777"/>
            <a:ext cx="777240" cy="851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2.5</a:t>
            </a:r>
            <a:endParaRPr lang="en-US" sz="1400" dirty="0"/>
          </a:p>
        </p:txBody>
      </p:sp>
      <p:sp>
        <p:nvSpPr>
          <p:cNvPr id="36" name="Scorecard why not 3"/>
          <p:cNvSpPr txBox="1"/>
          <p:nvPr/>
        </p:nvSpPr>
        <p:spPr>
          <a:xfrm>
            <a:off x="7562088" y="4148353"/>
            <a:ext cx="3971239" cy="778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after the lorem gate; slow and costly to run.</a:t>
            </a:r>
            <a:endParaRPr lang="en-US" sz="1200" dirty="0"/>
          </a:p>
        </p:txBody>
      </p:sp>
      <p:sp>
        <p:nvSpPr>
          <p:cNvPr id="37" name="Scorecard row rule 3"/>
          <p:cNvSpPr/>
          <p:nvPr/>
        </p:nvSpPr>
        <p:spPr>
          <a:xfrm>
            <a:off x="658368" y="4963681"/>
            <a:ext cx="10874959" cy="0"/>
          </a:xfrm>
          <a:prstGeom prst="line">
            <a:avLst/>
          </a:prstGeom>
          <a:noFill/>
          <a:ln w="9525">
            <a:solidFill>
              <a:srgbClr val="E4DAD5"/>
            </a:solidFill>
            <a:prstDash val="solid"/>
          </a:ln>
        </p:spPr>
      </p:sp>
      <p:sp>
        <p:nvSpPr>
          <p:cNvPr id="38" name="Scorecard option 4"/>
          <p:cNvSpPr txBox="1"/>
          <p:nvPr/>
        </p:nvSpPr>
        <p:spPr>
          <a:xfrm>
            <a:off x="658368" y="5000257"/>
            <a:ext cx="2066544" cy="778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Sit referral scheme</a:t>
            </a:r>
            <a:endParaRPr lang="en-US" sz="1200" dirty="0"/>
          </a:p>
        </p:txBody>
      </p:sp>
      <p:sp>
        <p:nvSpPr>
          <p:cNvPr id="39" name="Score chip 13"/>
          <p:cNvSpPr txBox="1"/>
          <p:nvPr/>
        </p:nvSpPr>
        <p:spPr>
          <a:xfrm>
            <a:off x="3104388" y="5252472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DCC3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2</a:t>
            </a:r>
            <a:endParaRPr lang="en-US" sz="1200" dirty="0"/>
          </a:p>
        </p:txBody>
      </p:sp>
      <p:sp>
        <p:nvSpPr>
          <p:cNvPr id="40" name="Score chip 14"/>
          <p:cNvSpPr txBox="1"/>
          <p:nvPr/>
        </p:nvSpPr>
        <p:spPr>
          <a:xfrm>
            <a:off x="4064508" y="5252472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3D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1" name="Score chip 15"/>
          <p:cNvSpPr txBox="1"/>
          <p:nvPr/>
        </p:nvSpPr>
        <p:spPr>
          <a:xfrm>
            <a:off x="5024628" y="5252472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B48D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3</a:t>
            </a:r>
            <a:endParaRPr lang="en-US" sz="1200" dirty="0"/>
          </a:p>
        </p:txBody>
      </p:sp>
      <p:sp>
        <p:nvSpPr>
          <p:cNvPr id="42" name="Score chip 16"/>
          <p:cNvSpPr txBox="1"/>
          <p:nvPr/>
        </p:nvSpPr>
        <p:spPr>
          <a:xfrm>
            <a:off x="5984748" y="5252472"/>
            <a:ext cx="420624" cy="274320"/>
          </a:xfrm>
          <a:prstGeom prst="roundRect">
            <a:avLst>
              <a:gd name="adj" fmla="val 20000"/>
            </a:avLst>
          </a:prstGeom>
          <a:solidFill>
            <a:srgbClr val="3D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Scorecard total 4"/>
          <p:cNvSpPr txBox="1"/>
          <p:nvPr/>
        </p:nvSpPr>
        <p:spPr>
          <a:xfrm>
            <a:off x="6675120" y="4963681"/>
            <a:ext cx="777240" cy="851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3.8</a:t>
            </a:r>
            <a:endParaRPr lang="en-US" sz="1400" dirty="0"/>
          </a:p>
        </p:txBody>
      </p:sp>
      <p:sp>
        <p:nvSpPr>
          <p:cNvPr id="44" name="Scorecard why not 4"/>
          <p:cNvSpPr txBox="1"/>
          <p:nvPr/>
        </p:nvSpPr>
        <p:spPr>
          <a:xfrm>
            <a:off x="7562088" y="5000257"/>
            <a:ext cx="3971239" cy="778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Cheap but small until the alumni base grows.</a:t>
            </a:r>
            <a:endParaRPr lang="en-US" sz="1200" dirty="0"/>
          </a:p>
        </p:txBody>
      </p:sp>
      <p:sp>
        <p:nvSpPr>
          <p:cNvPr id="45" name="Scorecard legend"/>
          <p:cNvSpPr txBox="1"/>
          <p:nvPr/>
        </p:nvSpPr>
        <p:spPr>
          <a:xfrm>
            <a:off x="548640" y="590702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5F67"/>
                </a:solidFill>
              </a:rPr>
              <a:t>Score:</a:t>
            </a:r>
            <a:endParaRPr lang="en-US" sz="1000" dirty="0"/>
          </a:p>
        </p:txBody>
      </p:sp>
      <p:sp>
        <p:nvSpPr>
          <p:cNvPr id="46" name="Score chip 17"/>
          <p:cNvSpPr txBox="1"/>
          <p:nvPr/>
        </p:nvSpPr>
        <p:spPr>
          <a:xfrm>
            <a:off x="1024128" y="5916168"/>
            <a:ext cx="329184" cy="219456"/>
          </a:xfrm>
          <a:prstGeom prst="roundRect">
            <a:avLst>
              <a:gd name="adj" fmla="val 25000"/>
            </a:avLst>
          </a:prstGeom>
          <a:solidFill>
            <a:srgbClr val="F2E8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1</a:t>
            </a:r>
            <a:endParaRPr lang="en-US" sz="1200" dirty="0"/>
          </a:p>
        </p:txBody>
      </p:sp>
      <p:sp>
        <p:nvSpPr>
          <p:cNvPr id="47" name="Score chip 18"/>
          <p:cNvSpPr txBox="1"/>
          <p:nvPr/>
        </p:nvSpPr>
        <p:spPr>
          <a:xfrm>
            <a:off x="1444752" y="5916168"/>
            <a:ext cx="329184" cy="219456"/>
          </a:xfrm>
          <a:prstGeom prst="roundRect">
            <a:avLst>
              <a:gd name="adj" fmla="val 25000"/>
            </a:avLst>
          </a:prstGeom>
          <a:solidFill>
            <a:srgbClr val="DCC3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2</a:t>
            </a:r>
            <a:endParaRPr lang="en-US" sz="1200" dirty="0"/>
          </a:p>
        </p:txBody>
      </p:sp>
      <p:sp>
        <p:nvSpPr>
          <p:cNvPr id="48" name="Score chip 19"/>
          <p:cNvSpPr txBox="1"/>
          <p:nvPr/>
        </p:nvSpPr>
        <p:spPr>
          <a:xfrm>
            <a:off x="1865376" y="5916168"/>
            <a:ext cx="329184" cy="219456"/>
          </a:xfrm>
          <a:prstGeom prst="roundRect">
            <a:avLst>
              <a:gd name="adj" fmla="val 25000"/>
            </a:avLst>
          </a:prstGeom>
          <a:solidFill>
            <a:srgbClr val="B48D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29"/>
                </a:solidFill>
              </a:rPr>
              <a:t>3</a:t>
            </a:r>
            <a:endParaRPr lang="en-US" sz="1200" dirty="0"/>
          </a:p>
        </p:txBody>
      </p:sp>
      <p:sp>
        <p:nvSpPr>
          <p:cNvPr id="49" name="Score chip 20"/>
          <p:cNvSpPr txBox="1"/>
          <p:nvPr/>
        </p:nvSpPr>
        <p:spPr>
          <a:xfrm>
            <a:off x="2286000" y="5916168"/>
            <a:ext cx="329184" cy="219456"/>
          </a:xfrm>
          <a:prstGeom prst="roundRect">
            <a:avLst>
              <a:gd name="adj" fmla="val 25000"/>
            </a:avLst>
          </a:prstGeom>
          <a:solidFill>
            <a:srgbClr val="7E4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0" name="Score chip 21"/>
          <p:cNvSpPr txBox="1"/>
          <p:nvPr/>
        </p:nvSpPr>
        <p:spPr>
          <a:xfrm>
            <a:off x="2706624" y="5916168"/>
            <a:ext cx="329184" cy="219456"/>
          </a:xfrm>
          <a:prstGeom prst="roundRect">
            <a:avLst>
              <a:gd name="adj" fmla="val 25000"/>
            </a:avLst>
          </a:prstGeom>
          <a:solidFill>
            <a:srgbClr val="3D1A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1" name="Scorecard legend text"/>
          <p:cNvSpPr txBox="1"/>
          <p:nvPr/>
        </p:nvSpPr>
        <p:spPr>
          <a:xfrm>
            <a:off x="3154680" y="59070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1 = weak, 5 = strong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GATE TIMELINE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stage gates release money only when proof criteria are met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sp>
        <p:nvSpPr>
          <p:cNvPr id="5" name="Gate spine"/>
          <p:cNvSpPr/>
          <p:nvPr/>
        </p:nvSpPr>
        <p:spPr>
          <a:xfrm>
            <a:off x="1584930" y="2203704"/>
            <a:ext cx="9021836" cy="0"/>
          </a:xfrm>
          <a:prstGeom prst="line">
            <a:avLst/>
          </a:prstGeom>
          <a:noFill/>
          <a:ln w="25400">
            <a:solidFill>
              <a:srgbClr val="C9BCB5"/>
            </a:solidFill>
            <a:prstDash val="solid"/>
          </a:ln>
        </p:spPr>
      </p:sp>
      <p:sp>
        <p:nvSpPr>
          <p:cNvPr id="6" name="Gate node"/>
          <p:cNvSpPr txBox="1"/>
          <p:nvPr/>
        </p:nvSpPr>
        <p:spPr>
          <a:xfrm>
            <a:off x="1301466" y="1920240"/>
            <a:ext cx="566928" cy="566928"/>
          </a:xfrm>
          <a:prstGeom prst="ellipse">
            <a:avLst>
              <a:gd name="adj" fmla="val 50000"/>
            </a:avLst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G0</a:t>
            </a:r>
            <a:endParaRPr lang="en-US" sz="1500" dirty="0"/>
          </a:p>
        </p:txBody>
      </p:sp>
      <p:sp>
        <p:nvSpPr>
          <p:cNvPr id="7" name="Gate name"/>
          <p:cNvSpPr txBox="1"/>
          <p:nvPr/>
        </p:nvSpPr>
        <p:spPr>
          <a:xfrm>
            <a:off x="548640" y="2596896"/>
            <a:ext cx="2072579" cy="2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Lorem baseline</a:t>
            </a:r>
            <a:endParaRPr lang="en-US" sz="1300" dirty="0"/>
          </a:p>
        </p:txBody>
      </p:sp>
      <p:sp>
        <p:nvSpPr>
          <p:cNvPr id="8" name="Gate timing"/>
          <p:cNvSpPr txBox="1"/>
          <p:nvPr/>
        </p:nvSpPr>
        <p:spPr>
          <a:xfrm>
            <a:off x="548640" y="2798648"/>
            <a:ext cx="20725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4513F"/>
                </a:solidFill>
              </a:rPr>
              <a:t>M3 · Jan 2027</a:t>
            </a:r>
            <a:endParaRPr lang="en-US" sz="1100" dirty="0"/>
          </a:p>
        </p:txBody>
      </p:sp>
      <p:sp>
        <p:nvSpPr>
          <p:cNvPr id="9" name="Gate card"/>
          <p:cNvSpPr/>
          <p:nvPr/>
        </p:nvSpPr>
        <p:spPr>
          <a:xfrm>
            <a:off x="548640" y="3127832"/>
            <a:ext cx="2072579" cy="3016936"/>
          </a:xfrm>
          <a:prstGeom prst="roundRect">
            <a:avLst>
              <a:gd name="adj" fmla="val 3530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0" name="Gate criteria"/>
          <p:cNvSpPr txBox="1"/>
          <p:nvPr/>
        </p:nvSpPr>
        <p:spPr>
          <a:xfrm>
            <a:off x="694944" y="3274136"/>
            <a:ext cx="1779971" cy="2083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Ipsum data pull complete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Dolor CRM live, ≥95% tagged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Sit reply ≤15 min median</a:t>
            </a:r>
            <a:endParaRPr lang="en-US" sz="1200" dirty="0"/>
          </a:p>
        </p:txBody>
      </p:sp>
      <p:sp>
        <p:nvSpPr>
          <p:cNvPr id="11" name="Gate unlocks panel"/>
          <p:cNvSpPr/>
          <p:nvPr/>
        </p:nvSpPr>
        <p:spPr>
          <a:xfrm>
            <a:off x="658368" y="5448757"/>
            <a:ext cx="1853123" cy="549707"/>
          </a:xfrm>
          <a:prstGeom prst="roundRect">
            <a:avLst>
              <a:gd name="adj" fmla="val 9981"/>
            </a:avLst>
          </a:prstGeom>
          <a:solidFill>
            <a:srgbClr val="F2EAF0"/>
          </a:solidFill>
          <a:ln/>
        </p:spPr>
      </p:sp>
      <p:sp>
        <p:nvSpPr>
          <p:cNvPr id="12" name="Gate unlocks"/>
          <p:cNvSpPr txBox="1"/>
          <p:nvPr/>
        </p:nvSpPr>
        <p:spPr>
          <a:xfrm>
            <a:off x="749808" y="5540197"/>
            <a:ext cx="1670243" cy="366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rgbClr val="A4513F"/>
                </a:solidFill>
              </a:rPr>
              <a:t>UNLOCKS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Lorem paid tests</a:t>
            </a:r>
            <a:endParaRPr lang="en-US" sz="1200" dirty="0"/>
          </a:p>
        </p:txBody>
      </p:sp>
      <p:sp>
        <p:nvSpPr>
          <p:cNvPr id="13" name="Gate node 2"/>
          <p:cNvSpPr txBox="1"/>
          <p:nvPr/>
        </p:nvSpPr>
        <p:spPr>
          <a:xfrm>
            <a:off x="3556925" y="1920240"/>
            <a:ext cx="566928" cy="566928"/>
          </a:xfrm>
          <a:prstGeom prst="ellipse">
            <a:avLst>
              <a:gd name="adj" fmla="val 50000"/>
            </a:avLst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G1</a:t>
            </a:r>
            <a:endParaRPr lang="en-US" sz="1500" dirty="0"/>
          </a:p>
        </p:txBody>
      </p:sp>
      <p:sp>
        <p:nvSpPr>
          <p:cNvPr id="14" name="Gate name 2"/>
          <p:cNvSpPr txBox="1"/>
          <p:nvPr/>
        </p:nvSpPr>
        <p:spPr>
          <a:xfrm>
            <a:off x="2804099" y="2596896"/>
            <a:ext cx="2072579" cy="2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Ipsum flagship proven</a:t>
            </a:r>
            <a:endParaRPr lang="en-US" sz="1300" dirty="0"/>
          </a:p>
        </p:txBody>
      </p:sp>
      <p:sp>
        <p:nvSpPr>
          <p:cNvPr id="15" name="Gate timing 2"/>
          <p:cNvSpPr txBox="1"/>
          <p:nvPr/>
        </p:nvSpPr>
        <p:spPr>
          <a:xfrm>
            <a:off x="2804099" y="2798648"/>
            <a:ext cx="20725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4513F"/>
                </a:solidFill>
              </a:rPr>
              <a:t>M6 · Apr 2027</a:t>
            </a:r>
            <a:endParaRPr lang="en-US" sz="1100" dirty="0"/>
          </a:p>
        </p:txBody>
      </p:sp>
      <p:sp>
        <p:nvSpPr>
          <p:cNvPr id="16" name="Gate card 2"/>
          <p:cNvSpPr/>
          <p:nvPr/>
        </p:nvSpPr>
        <p:spPr>
          <a:xfrm>
            <a:off x="2804099" y="3127832"/>
            <a:ext cx="2072579" cy="3016936"/>
          </a:xfrm>
          <a:prstGeom prst="roundRect">
            <a:avLst>
              <a:gd name="adj" fmla="val 3530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7" name="Gate criteria 2"/>
          <p:cNvSpPr txBox="1"/>
          <p:nvPr/>
        </p:nvSpPr>
        <p:spPr>
          <a:xfrm>
            <a:off x="2950403" y="3274136"/>
            <a:ext cx="1779971" cy="189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Two cohorts ≥75% full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Lead to enrolment ≥4%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Completion ≥85%, NPS ≥50</a:t>
            </a:r>
            <a:endParaRPr lang="en-US" sz="1200" dirty="0"/>
          </a:p>
        </p:txBody>
      </p:sp>
      <p:sp>
        <p:nvSpPr>
          <p:cNvPr id="18" name="Gate unlocks panel 2"/>
          <p:cNvSpPr/>
          <p:nvPr/>
        </p:nvSpPr>
        <p:spPr>
          <a:xfrm>
            <a:off x="2913827" y="5262524"/>
            <a:ext cx="1853123" cy="735940"/>
          </a:xfrm>
          <a:prstGeom prst="roundRect">
            <a:avLst>
              <a:gd name="adj" fmla="val 7455"/>
            </a:avLst>
          </a:prstGeom>
          <a:solidFill>
            <a:srgbClr val="F2EAF0"/>
          </a:solidFill>
          <a:ln/>
        </p:spPr>
      </p:sp>
      <p:sp>
        <p:nvSpPr>
          <p:cNvPr id="19" name="Gate unlocks 2"/>
          <p:cNvSpPr txBox="1"/>
          <p:nvPr/>
        </p:nvSpPr>
        <p:spPr>
          <a:xfrm>
            <a:off x="3005267" y="5353964"/>
            <a:ext cx="1670243" cy="55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rgbClr val="A4513F"/>
                </a:solidFill>
              </a:rPr>
              <a:t>UNLOCKS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Tranche 2 and price step 1</a:t>
            </a:r>
            <a:endParaRPr lang="en-US" sz="1200" dirty="0"/>
          </a:p>
        </p:txBody>
      </p:sp>
      <p:sp>
        <p:nvSpPr>
          <p:cNvPr id="20" name="Gate node 3"/>
          <p:cNvSpPr txBox="1"/>
          <p:nvPr/>
        </p:nvSpPr>
        <p:spPr>
          <a:xfrm>
            <a:off x="5812384" y="1920240"/>
            <a:ext cx="566928" cy="566928"/>
          </a:xfrm>
          <a:prstGeom prst="ellipse">
            <a:avLst>
              <a:gd name="adj" fmla="val 50000"/>
            </a:avLst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G2</a:t>
            </a:r>
            <a:endParaRPr lang="en-US" sz="1500" dirty="0"/>
          </a:p>
        </p:txBody>
      </p:sp>
      <p:sp>
        <p:nvSpPr>
          <p:cNvPr id="21" name="Gate name 3"/>
          <p:cNvSpPr txBox="1"/>
          <p:nvPr/>
        </p:nvSpPr>
        <p:spPr>
          <a:xfrm>
            <a:off x="5059558" y="2596896"/>
            <a:ext cx="2072579" cy="2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Dolor regional engine</a:t>
            </a:r>
            <a:endParaRPr lang="en-US" sz="1300" dirty="0"/>
          </a:p>
        </p:txBody>
      </p:sp>
      <p:sp>
        <p:nvSpPr>
          <p:cNvPr id="22" name="Gate timing 3"/>
          <p:cNvSpPr txBox="1"/>
          <p:nvPr/>
        </p:nvSpPr>
        <p:spPr>
          <a:xfrm>
            <a:off x="5059558" y="2798648"/>
            <a:ext cx="20725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4513F"/>
                </a:solidFill>
              </a:rPr>
              <a:t>M15–M18</a:t>
            </a:r>
            <a:endParaRPr lang="en-US" sz="1100" dirty="0"/>
          </a:p>
        </p:txBody>
      </p:sp>
      <p:sp>
        <p:nvSpPr>
          <p:cNvPr id="23" name="Gate card 3"/>
          <p:cNvSpPr/>
          <p:nvPr/>
        </p:nvSpPr>
        <p:spPr>
          <a:xfrm>
            <a:off x="5059558" y="3127832"/>
            <a:ext cx="2072579" cy="3016936"/>
          </a:xfrm>
          <a:prstGeom prst="roundRect">
            <a:avLst>
              <a:gd name="adj" fmla="val 3530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24" name="Gate criteria 3"/>
          <p:cNvSpPr txBox="1"/>
          <p:nvPr/>
        </p:nvSpPr>
        <p:spPr>
          <a:xfrm>
            <a:off x="5205862" y="3274136"/>
            <a:ext cx="1779971" cy="2083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Out-of-town ≥15% of enrolments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Two pilot pop-ups convert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Trainer bench ≥3</a:t>
            </a:r>
            <a:endParaRPr lang="en-US" sz="1200" dirty="0"/>
          </a:p>
        </p:txBody>
      </p:sp>
      <p:sp>
        <p:nvSpPr>
          <p:cNvPr id="25" name="Gate unlocks panel 3"/>
          <p:cNvSpPr/>
          <p:nvPr/>
        </p:nvSpPr>
        <p:spPr>
          <a:xfrm>
            <a:off x="5169286" y="5448757"/>
            <a:ext cx="1853123" cy="549707"/>
          </a:xfrm>
          <a:prstGeom prst="roundRect">
            <a:avLst>
              <a:gd name="adj" fmla="val 9981"/>
            </a:avLst>
          </a:prstGeom>
          <a:solidFill>
            <a:srgbClr val="F2EAF0"/>
          </a:solidFill>
          <a:ln/>
        </p:spPr>
      </p:sp>
      <p:sp>
        <p:nvSpPr>
          <p:cNvPr id="26" name="Gate unlocks 3"/>
          <p:cNvSpPr txBox="1"/>
          <p:nvPr/>
        </p:nvSpPr>
        <p:spPr>
          <a:xfrm>
            <a:off x="5260726" y="5540197"/>
            <a:ext cx="1670243" cy="366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rgbClr val="A4513F"/>
                </a:solidFill>
              </a:rPr>
              <a:t>UNLOCKS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Tranche 3, price step 2</a:t>
            </a:r>
            <a:endParaRPr lang="en-US" sz="1200" dirty="0"/>
          </a:p>
        </p:txBody>
      </p:sp>
      <p:sp>
        <p:nvSpPr>
          <p:cNvPr id="27" name="Gate node 4"/>
          <p:cNvSpPr txBox="1"/>
          <p:nvPr/>
        </p:nvSpPr>
        <p:spPr>
          <a:xfrm>
            <a:off x="8059937" y="1920240"/>
            <a:ext cx="582739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G3a</a:t>
            </a:r>
            <a:endParaRPr lang="en-US" sz="1500" dirty="0"/>
          </a:p>
        </p:txBody>
      </p:sp>
      <p:sp>
        <p:nvSpPr>
          <p:cNvPr id="28" name="Gate name 4"/>
          <p:cNvSpPr txBox="1"/>
          <p:nvPr/>
        </p:nvSpPr>
        <p:spPr>
          <a:xfrm>
            <a:off x="7315017" y="2596896"/>
            <a:ext cx="2072579" cy="2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Sit second site</a:t>
            </a:r>
            <a:endParaRPr lang="en-US" sz="1300" dirty="0"/>
          </a:p>
        </p:txBody>
      </p:sp>
      <p:sp>
        <p:nvSpPr>
          <p:cNvPr id="29" name="Gate timing 4"/>
          <p:cNvSpPr txBox="1"/>
          <p:nvPr/>
        </p:nvSpPr>
        <p:spPr>
          <a:xfrm>
            <a:off x="7315017" y="2798648"/>
            <a:ext cx="20725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4513F"/>
                </a:solidFill>
              </a:rPr>
              <a:t>≥M24</a:t>
            </a:r>
            <a:endParaRPr lang="en-US" sz="1100" dirty="0"/>
          </a:p>
        </p:txBody>
      </p:sp>
      <p:sp>
        <p:nvSpPr>
          <p:cNvPr id="30" name="Gate card 4"/>
          <p:cNvSpPr/>
          <p:nvPr/>
        </p:nvSpPr>
        <p:spPr>
          <a:xfrm>
            <a:off x="7315017" y="3127832"/>
            <a:ext cx="2072579" cy="3016936"/>
          </a:xfrm>
          <a:prstGeom prst="roundRect">
            <a:avLst>
              <a:gd name="adj" fmla="val 3530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31" name="Gate criteria 4"/>
          <p:cNvSpPr txBox="1"/>
          <p:nvPr/>
        </p:nvSpPr>
        <p:spPr>
          <a:xfrm>
            <a:off x="7461321" y="3274136"/>
            <a:ext cx="1779971" cy="2083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Flagship EBITDA-positive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Partner host identified</a:t>
            </a:r>
            <a:endParaRPr lang="en-US" sz="1200" dirty="0"/>
          </a:p>
        </p:txBody>
      </p:sp>
      <p:sp>
        <p:nvSpPr>
          <p:cNvPr id="32" name="Gate unlocks panel 4"/>
          <p:cNvSpPr/>
          <p:nvPr/>
        </p:nvSpPr>
        <p:spPr>
          <a:xfrm>
            <a:off x="7424745" y="5448757"/>
            <a:ext cx="1853123" cy="549707"/>
          </a:xfrm>
          <a:prstGeom prst="roundRect">
            <a:avLst>
              <a:gd name="adj" fmla="val 9981"/>
            </a:avLst>
          </a:prstGeom>
          <a:solidFill>
            <a:srgbClr val="F2EAF0"/>
          </a:solidFill>
          <a:ln/>
        </p:spPr>
      </p:sp>
      <p:sp>
        <p:nvSpPr>
          <p:cNvPr id="33" name="Gate unlocks 4"/>
          <p:cNvSpPr txBox="1"/>
          <p:nvPr/>
        </p:nvSpPr>
        <p:spPr>
          <a:xfrm>
            <a:off x="7516185" y="5540197"/>
            <a:ext cx="1670243" cy="366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rgbClr val="A4513F"/>
                </a:solidFill>
              </a:rPr>
              <a:t>UNLOCKS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Partner-hosted satellite</a:t>
            </a:r>
            <a:endParaRPr lang="en-US" sz="1200" dirty="0"/>
          </a:p>
        </p:txBody>
      </p:sp>
      <p:sp>
        <p:nvSpPr>
          <p:cNvPr id="34" name="Gate node 5"/>
          <p:cNvSpPr txBox="1"/>
          <p:nvPr/>
        </p:nvSpPr>
        <p:spPr>
          <a:xfrm>
            <a:off x="10311300" y="1920240"/>
            <a:ext cx="590931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G3b</a:t>
            </a:r>
            <a:endParaRPr lang="en-US" sz="1500" dirty="0"/>
          </a:p>
        </p:txBody>
      </p:sp>
      <p:sp>
        <p:nvSpPr>
          <p:cNvPr id="35" name="Gate name 5"/>
          <p:cNvSpPr txBox="1"/>
          <p:nvPr/>
        </p:nvSpPr>
        <p:spPr>
          <a:xfrm>
            <a:off x="9570476" y="2596896"/>
            <a:ext cx="2072579" cy="2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Amet licensing</a:t>
            </a:r>
            <a:endParaRPr lang="en-US" sz="1300" dirty="0"/>
          </a:p>
        </p:txBody>
      </p:sp>
      <p:sp>
        <p:nvSpPr>
          <p:cNvPr id="36" name="Gate timing 5"/>
          <p:cNvSpPr txBox="1"/>
          <p:nvPr/>
        </p:nvSpPr>
        <p:spPr>
          <a:xfrm>
            <a:off x="9570476" y="2798648"/>
            <a:ext cx="20725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4513F"/>
                </a:solidFill>
              </a:rPr>
              <a:t>≥M30–36</a:t>
            </a:r>
            <a:endParaRPr lang="en-US" sz="1100" dirty="0"/>
          </a:p>
        </p:txBody>
      </p:sp>
      <p:sp>
        <p:nvSpPr>
          <p:cNvPr id="37" name="Gate card 5"/>
          <p:cNvSpPr/>
          <p:nvPr/>
        </p:nvSpPr>
        <p:spPr>
          <a:xfrm>
            <a:off x="9570476" y="3127832"/>
            <a:ext cx="2072579" cy="3016936"/>
          </a:xfrm>
          <a:prstGeom prst="roundRect">
            <a:avLst>
              <a:gd name="adj" fmla="val 3530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38" name="Gate criteria 5"/>
          <p:cNvSpPr txBox="1"/>
          <p:nvPr/>
        </p:nvSpPr>
        <p:spPr>
          <a:xfrm>
            <a:off x="9716780" y="3274136"/>
            <a:ext cx="1779971" cy="2083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Method codified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Educator certification live</a:t>
            </a:r>
            <a:endParaRPr lang="en-US" sz="1200" dirty="0"/>
          </a:p>
        </p:txBody>
      </p:sp>
      <p:sp>
        <p:nvSpPr>
          <p:cNvPr id="39" name="Gate unlocks panel 5"/>
          <p:cNvSpPr/>
          <p:nvPr/>
        </p:nvSpPr>
        <p:spPr>
          <a:xfrm>
            <a:off x="9680204" y="5448757"/>
            <a:ext cx="1853123" cy="549707"/>
          </a:xfrm>
          <a:prstGeom prst="roundRect">
            <a:avLst>
              <a:gd name="adj" fmla="val 9981"/>
            </a:avLst>
          </a:prstGeom>
          <a:solidFill>
            <a:srgbClr val="F2EAF0"/>
          </a:solidFill>
          <a:ln/>
        </p:spPr>
      </p:sp>
      <p:sp>
        <p:nvSpPr>
          <p:cNvPr id="40" name="Gate unlocks 5"/>
          <p:cNvSpPr txBox="1"/>
          <p:nvPr/>
        </p:nvSpPr>
        <p:spPr>
          <a:xfrm>
            <a:off x="9771644" y="5540197"/>
            <a:ext cx="1670243" cy="366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spc="100" kern="0" dirty="0">
                <a:solidFill>
                  <a:srgbClr val="A4513F"/>
                </a:solidFill>
              </a:rPr>
              <a:t>UNLOCKS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Licensing or franchise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ROADMAP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roadmap shows workstreams by month, with gates as dashed markers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sp>
        <p:nvSpPr>
          <p:cNvPr id="5" name="Gantt group"/>
          <p:cNvSpPr txBox="1"/>
          <p:nvPr/>
        </p:nvSpPr>
        <p:spPr>
          <a:xfrm>
            <a:off x="3108960" y="1920240"/>
            <a:ext cx="1888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2026</a:t>
            </a:r>
            <a:endParaRPr lang="en-US" sz="1100" dirty="0"/>
          </a:p>
        </p:txBody>
      </p:sp>
      <p:sp>
        <p:nvSpPr>
          <p:cNvPr id="6" name="Gantt group 2"/>
          <p:cNvSpPr txBox="1"/>
          <p:nvPr/>
        </p:nvSpPr>
        <p:spPr>
          <a:xfrm>
            <a:off x="5088917" y="1920240"/>
            <a:ext cx="6508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2027</a:t>
            </a:r>
            <a:endParaRPr lang="en-US" sz="1100" dirty="0"/>
          </a:p>
        </p:txBody>
      </p:sp>
      <p:sp>
        <p:nvSpPr>
          <p:cNvPr id="7" name="Gantt group rule"/>
          <p:cNvSpPr/>
          <p:nvPr/>
        </p:nvSpPr>
        <p:spPr>
          <a:xfrm>
            <a:off x="5043197" y="1920240"/>
            <a:ext cx="0" cy="4187952"/>
          </a:xfrm>
          <a:prstGeom prst="line">
            <a:avLst/>
          </a:prstGeom>
          <a:noFill/>
          <a:ln w="9525">
            <a:solidFill>
              <a:srgbClr val="C9BCB5"/>
            </a:solidFill>
            <a:prstDash val="solid"/>
          </a:ln>
        </p:spPr>
      </p:sp>
      <p:sp>
        <p:nvSpPr>
          <p:cNvPr id="8" name="Gantt period"/>
          <p:cNvSpPr txBox="1"/>
          <p:nvPr/>
        </p:nvSpPr>
        <p:spPr>
          <a:xfrm>
            <a:off x="3063240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Oct</a:t>
            </a:r>
            <a:endParaRPr lang="en-US" sz="1100" dirty="0"/>
          </a:p>
        </p:txBody>
      </p:sp>
      <p:sp>
        <p:nvSpPr>
          <p:cNvPr id="9" name="Gantt period 2"/>
          <p:cNvSpPr txBox="1"/>
          <p:nvPr/>
        </p:nvSpPr>
        <p:spPr>
          <a:xfrm>
            <a:off x="3723226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Nov</a:t>
            </a:r>
            <a:endParaRPr lang="en-US" sz="1100" dirty="0"/>
          </a:p>
        </p:txBody>
      </p:sp>
      <p:sp>
        <p:nvSpPr>
          <p:cNvPr id="10" name="Gantt column rule"/>
          <p:cNvSpPr/>
          <p:nvPr/>
        </p:nvSpPr>
        <p:spPr>
          <a:xfrm>
            <a:off x="3723226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11" name="Gantt period 3"/>
          <p:cNvSpPr txBox="1"/>
          <p:nvPr/>
        </p:nvSpPr>
        <p:spPr>
          <a:xfrm>
            <a:off x="4383212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Dec</a:t>
            </a:r>
            <a:endParaRPr lang="en-US" sz="1100" dirty="0"/>
          </a:p>
        </p:txBody>
      </p:sp>
      <p:sp>
        <p:nvSpPr>
          <p:cNvPr id="12" name="Gantt column rule 2"/>
          <p:cNvSpPr/>
          <p:nvPr/>
        </p:nvSpPr>
        <p:spPr>
          <a:xfrm>
            <a:off x="4383212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13" name="Gantt period 4"/>
          <p:cNvSpPr txBox="1"/>
          <p:nvPr/>
        </p:nvSpPr>
        <p:spPr>
          <a:xfrm>
            <a:off x="5043197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Jan</a:t>
            </a:r>
            <a:endParaRPr lang="en-US" sz="1100" dirty="0"/>
          </a:p>
        </p:txBody>
      </p:sp>
      <p:sp>
        <p:nvSpPr>
          <p:cNvPr id="14" name="Gantt column rule 3"/>
          <p:cNvSpPr/>
          <p:nvPr/>
        </p:nvSpPr>
        <p:spPr>
          <a:xfrm>
            <a:off x="5043197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15" name="Gantt period 5"/>
          <p:cNvSpPr txBox="1"/>
          <p:nvPr/>
        </p:nvSpPr>
        <p:spPr>
          <a:xfrm>
            <a:off x="5703183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Feb</a:t>
            </a:r>
            <a:endParaRPr lang="en-US" sz="1100" dirty="0"/>
          </a:p>
        </p:txBody>
      </p:sp>
      <p:sp>
        <p:nvSpPr>
          <p:cNvPr id="16" name="Gantt column rule 4"/>
          <p:cNvSpPr/>
          <p:nvPr/>
        </p:nvSpPr>
        <p:spPr>
          <a:xfrm>
            <a:off x="5703183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17" name="Gantt period 6"/>
          <p:cNvSpPr txBox="1"/>
          <p:nvPr/>
        </p:nvSpPr>
        <p:spPr>
          <a:xfrm>
            <a:off x="6363169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Mar</a:t>
            </a:r>
            <a:endParaRPr lang="en-US" sz="1100" dirty="0"/>
          </a:p>
        </p:txBody>
      </p:sp>
      <p:sp>
        <p:nvSpPr>
          <p:cNvPr id="18" name="Gantt column rule 5"/>
          <p:cNvSpPr/>
          <p:nvPr/>
        </p:nvSpPr>
        <p:spPr>
          <a:xfrm>
            <a:off x="6363169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19" name="Gantt period 7"/>
          <p:cNvSpPr txBox="1"/>
          <p:nvPr/>
        </p:nvSpPr>
        <p:spPr>
          <a:xfrm>
            <a:off x="7023155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Apr</a:t>
            </a:r>
            <a:endParaRPr lang="en-US" sz="1100" dirty="0"/>
          </a:p>
        </p:txBody>
      </p:sp>
      <p:sp>
        <p:nvSpPr>
          <p:cNvPr id="20" name="Gantt column rule 6"/>
          <p:cNvSpPr/>
          <p:nvPr/>
        </p:nvSpPr>
        <p:spPr>
          <a:xfrm>
            <a:off x="7023155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21" name="Gantt period 8"/>
          <p:cNvSpPr txBox="1"/>
          <p:nvPr/>
        </p:nvSpPr>
        <p:spPr>
          <a:xfrm>
            <a:off x="7683140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May</a:t>
            </a:r>
            <a:endParaRPr lang="en-US" sz="1100" dirty="0"/>
          </a:p>
        </p:txBody>
      </p:sp>
      <p:sp>
        <p:nvSpPr>
          <p:cNvPr id="22" name="Gantt column rule 7"/>
          <p:cNvSpPr/>
          <p:nvPr/>
        </p:nvSpPr>
        <p:spPr>
          <a:xfrm>
            <a:off x="7683140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23" name="Gantt period 9"/>
          <p:cNvSpPr txBox="1"/>
          <p:nvPr/>
        </p:nvSpPr>
        <p:spPr>
          <a:xfrm>
            <a:off x="8343126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Jun</a:t>
            </a:r>
            <a:endParaRPr lang="en-US" sz="1100" dirty="0"/>
          </a:p>
        </p:txBody>
      </p:sp>
      <p:sp>
        <p:nvSpPr>
          <p:cNvPr id="24" name="Gantt column rule 8"/>
          <p:cNvSpPr/>
          <p:nvPr/>
        </p:nvSpPr>
        <p:spPr>
          <a:xfrm>
            <a:off x="8343126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25" name="Gantt period 10"/>
          <p:cNvSpPr txBox="1"/>
          <p:nvPr/>
        </p:nvSpPr>
        <p:spPr>
          <a:xfrm>
            <a:off x="9003112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Jul</a:t>
            </a:r>
            <a:endParaRPr lang="en-US" sz="1100" dirty="0"/>
          </a:p>
        </p:txBody>
      </p:sp>
      <p:sp>
        <p:nvSpPr>
          <p:cNvPr id="26" name="Gantt column rule 9"/>
          <p:cNvSpPr/>
          <p:nvPr/>
        </p:nvSpPr>
        <p:spPr>
          <a:xfrm>
            <a:off x="9003112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27" name="Gantt period 11"/>
          <p:cNvSpPr txBox="1"/>
          <p:nvPr/>
        </p:nvSpPr>
        <p:spPr>
          <a:xfrm>
            <a:off x="9663098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Aug</a:t>
            </a:r>
            <a:endParaRPr lang="en-US" sz="1100" dirty="0"/>
          </a:p>
        </p:txBody>
      </p:sp>
      <p:sp>
        <p:nvSpPr>
          <p:cNvPr id="28" name="Gantt column rule 10"/>
          <p:cNvSpPr/>
          <p:nvPr/>
        </p:nvSpPr>
        <p:spPr>
          <a:xfrm>
            <a:off x="9663098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29" name="Gantt period 12"/>
          <p:cNvSpPr txBox="1"/>
          <p:nvPr/>
        </p:nvSpPr>
        <p:spPr>
          <a:xfrm>
            <a:off x="10323084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Sep</a:t>
            </a:r>
            <a:endParaRPr lang="en-US" sz="1100" dirty="0"/>
          </a:p>
        </p:txBody>
      </p:sp>
      <p:sp>
        <p:nvSpPr>
          <p:cNvPr id="30" name="Gantt column rule 11"/>
          <p:cNvSpPr/>
          <p:nvPr/>
        </p:nvSpPr>
        <p:spPr>
          <a:xfrm>
            <a:off x="10323084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31" name="Gantt period 13"/>
          <p:cNvSpPr txBox="1"/>
          <p:nvPr/>
        </p:nvSpPr>
        <p:spPr>
          <a:xfrm>
            <a:off x="10983069" y="2176272"/>
            <a:ext cx="659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Oct</a:t>
            </a:r>
            <a:endParaRPr lang="en-US" sz="1100" dirty="0"/>
          </a:p>
        </p:txBody>
      </p:sp>
      <p:sp>
        <p:nvSpPr>
          <p:cNvPr id="32" name="Gantt column rule 12"/>
          <p:cNvSpPr/>
          <p:nvPr/>
        </p:nvSpPr>
        <p:spPr>
          <a:xfrm>
            <a:off x="10983069" y="2779776"/>
            <a:ext cx="0" cy="3328416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33" name="Gantt header rule"/>
          <p:cNvSpPr/>
          <p:nvPr/>
        </p:nvSpPr>
        <p:spPr>
          <a:xfrm>
            <a:off x="548640" y="2779776"/>
            <a:ext cx="11094415" cy="0"/>
          </a:xfrm>
          <a:prstGeom prst="line">
            <a:avLst/>
          </a:prstGeom>
          <a:noFill/>
          <a:ln w="12700">
            <a:solidFill>
              <a:srgbClr val="C9BCB5"/>
            </a:solidFill>
            <a:prstDash val="solid"/>
          </a:ln>
        </p:spPr>
      </p:sp>
      <p:sp>
        <p:nvSpPr>
          <p:cNvPr id="34" name="Gantt marker"/>
          <p:cNvSpPr/>
          <p:nvPr/>
        </p:nvSpPr>
        <p:spPr>
          <a:xfrm>
            <a:off x="5703183" y="2706624"/>
            <a:ext cx="0" cy="34015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35" name="Gantt marker label"/>
          <p:cNvSpPr txBox="1"/>
          <p:nvPr/>
        </p:nvSpPr>
        <p:spPr>
          <a:xfrm>
            <a:off x="5540014" y="2468880"/>
            <a:ext cx="326339" cy="219456"/>
          </a:xfrm>
          <a:prstGeom prst="roundRect">
            <a:avLst>
              <a:gd name="adj" fmla="val 50000"/>
            </a:avLst>
          </a:prstGeom>
          <a:solidFill>
            <a:srgbClr val="A45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chemeClr val="bg1"/>
                </a:solidFill>
              </a:rPr>
              <a:t>G0</a:t>
            </a:r>
            <a:endParaRPr lang="en-US" sz="900" dirty="0"/>
          </a:p>
        </p:txBody>
      </p:sp>
      <p:sp>
        <p:nvSpPr>
          <p:cNvPr id="36" name="Gantt marker 2"/>
          <p:cNvSpPr/>
          <p:nvPr/>
        </p:nvSpPr>
        <p:spPr>
          <a:xfrm>
            <a:off x="7683140" y="2706624"/>
            <a:ext cx="0" cy="3401568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37" name="Gantt marker label 2"/>
          <p:cNvSpPr txBox="1"/>
          <p:nvPr/>
        </p:nvSpPr>
        <p:spPr>
          <a:xfrm>
            <a:off x="7519971" y="2468880"/>
            <a:ext cx="326339" cy="219456"/>
          </a:xfrm>
          <a:prstGeom prst="roundRect">
            <a:avLst>
              <a:gd name="adj" fmla="val 50000"/>
            </a:avLst>
          </a:prstGeom>
          <a:solidFill>
            <a:srgbClr val="A451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chemeClr val="bg1"/>
                </a:solidFill>
              </a:rPr>
              <a:t>G1</a:t>
            </a:r>
            <a:endParaRPr lang="en-US" sz="900" dirty="0"/>
          </a:p>
        </p:txBody>
      </p:sp>
      <p:sp>
        <p:nvSpPr>
          <p:cNvPr id="38" name="Gantt heading"/>
          <p:cNvSpPr txBox="1"/>
          <p:nvPr/>
        </p:nvSpPr>
        <p:spPr>
          <a:xfrm>
            <a:off x="548640" y="277977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A4513F"/>
                </a:solidFill>
              </a:rPr>
              <a:t>LOREM FOUNDATIONS</a:t>
            </a:r>
            <a:endParaRPr lang="en-US" sz="1000" dirty="0"/>
          </a:p>
        </p:txBody>
      </p:sp>
      <p:sp>
        <p:nvSpPr>
          <p:cNvPr id="39" name="Gantt row rule"/>
          <p:cNvSpPr/>
          <p:nvPr/>
        </p:nvSpPr>
        <p:spPr>
          <a:xfrm>
            <a:off x="548640" y="3255264"/>
            <a:ext cx="11094415" cy="0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40" name="Gantt row label"/>
          <p:cNvSpPr txBox="1"/>
          <p:nvPr/>
        </p:nvSpPr>
        <p:spPr>
          <a:xfrm>
            <a:off x="548640" y="32552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Ipsum proof assets</a:t>
            </a:r>
            <a:endParaRPr lang="en-US" sz="1200" dirty="0"/>
          </a:p>
        </p:txBody>
      </p:sp>
      <p:sp>
        <p:nvSpPr>
          <p:cNvPr id="41" name="Gantt bar"/>
          <p:cNvSpPr/>
          <p:nvPr/>
        </p:nvSpPr>
        <p:spPr>
          <a:xfrm>
            <a:off x="3090672" y="3355116"/>
            <a:ext cx="2585079" cy="2757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2" name="Gantt bar label"/>
          <p:cNvSpPr txBox="1"/>
          <p:nvPr/>
        </p:nvSpPr>
        <p:spPr>
          <a:xfrm>
            <a:off x="3090672" y="3355116"/>
            <a:ext cx="2585079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Profiles and reviews</a:t>
            </a:r>
            <a:endParaRPr lang="en-US" sz="1000" dirty="0"/>
          </a:p>
        </p:txBody>
      </p:sp>
      <p:sp>
        <p:nvSpPr>
          <p:cNvPr id="43" name="Gantt milestone"/>
          <p:cNvSpPr/>
          <p:nvPr/>
        </p:nvSpPr>
        <p:spPr>
          <a:xfrm>
            <a:off x="5923448" y="3383280"/>
            <a:ext cx="219456" cy="219456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Gantt milestone label"/>
          <p:cNvSpPr txBox="1"/>
          <p:nvPr/>
        </p:nvSpPr>
        <p:spPr>
          <a:xfrm>
            <a:off x="6188624" y="3255264"/>
            <a:ext cx="4441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Report</a:t>
            </a:r>
            <a:endParaRPr lang="en-US" sz="1000" dirty="0"/>
          </a:p>
        </p:txBody>
      </p:sp>
      <p:sp>
        <p:nvSpPr>
          <p:cNvPr id="45" name="Gantt row rule 2"/>
          <p:cNvSpPr/>
          <p:nvPr/>
        </p:nvSpPr>
        <p:spPr>
          <a:xfrm>
            <a:off x="548640" y="3730752"/>
            <a:ext cx="11094415" cy="0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46" name="Gantt row label 2"/>
          <p:cNvSpPr txBox="1"/>
          <p:nvPr/>
        </p:nvSpPr>
        <p:spPr>
          <a:xfrm>
            <a:off x="548640" y="37307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Dolor CRM and reply speed</a:t>
            </a:r>
            <a:endParaRPr lang="en-US" sz="1200" dirty="0"/>
          </a:p>
        </p:txBody>
      </p:sp>
      <p:sp>
        <p:nvSpPr>
          <p:cNvPr id="47" name="Gantt bar 2"/>
          <p:cNvSpPr/>
          <p:nvPr/>
        </p:nvSpPr>
        <p:spPr>
          <a:xfrm>
            <a:off x="3750658" y="3830604"/>
            <a:ext cx="1265108" cy="275783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8" name="Gantt bar label 2"/>
          <p:cNvSpPr txBox="1"/>
          <p:nvPr/>
        </p:nvSpPr>
        <p:spPr>
          <a:xfrm>
            <a:off x="3750658" y="3830604"/>
            <a:ext cx="1265108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Set up</a:t>
            </a:r>
            <a:endParaRPr lang="en-US" sz="1000" dirty="0"/>
          </a:p>
        </p:txBody>
      </p:sp>
      <p:sp>
        <p:nvSpPr>
          <p:cNvPr id="49" name="Gantt bar 3"/>
          <p:cNvSpPr/>
          <p:nvPr/>
        </p:nvSpPr>
        <p:spPr>
          <a:xfrm>
            <a:off x="5070629" y="3830604"/>
            <a:ext cx="6544994" cy="27578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50" name="Gantt bar label 3"/>
          <p:cNvSpPr txBox="1"/>
          <p:nvPr/>
        </p:nvSpPr>
        <p:spPr>
          <a:xfrm>
            <a:off x="5070629" y="3830604"/>
            <a:ext cx="6544994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129"/>
                </a:solidFill>
              </a:rPr>
              <a:t>Weekly spend-gate reviews</a:t>
            </a:r>
            <a:endParaRPr lang="en-US" sz="1000" dirty="0"/>
          </a:p>
        </p:txBody>
      </p:sp>
      <p:sp>
        <p:nvSpPr>
          <p:cNvPr id="51" name="Gantt row rule 3"/>
          <p:cNvSpPr/>
          <p:nvPr/>
        </p:nvSpPr>
        <p:spPr>
          <a:xfrm>
            <a:off x="548640" y="4206240"/>
            <a:ext cx="11094415" cy="0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52" name="Gantt heading 2"/>
          <p:cNvSpPr txBox="1"/>
          <p:nvPr/>
        </p:nvSpPr>
        <p:spPr>
          <a:xfrm>
            <a:off x="548640" y="42062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A4513F"/>
                </a:solidFill>
              </a:rPr>
              <a:t>SIT GROWTH</a:t>
            </a:r>
            <a:endParaRPr lang="en-US" sz="1000" dirty="0"/>
          </a:p>
        </p:txBody>
      </p:sp>
      <p:sp>
        <p:nvSpPr>
          <p:cNvPr id="53" name="Gantt row rule 4"/>
          <p:cNvSpPr/>
          <p:nvPr/>
        </p:nvSpPr>
        <p:spPr>
          <a:xfrm>
            <a:off x="548640" y="4681728"/>
            <a:ext cx="11094415" cy="0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54" name="Gantt row label 3"/>
          <p:cNvSpPr txBox="1"/>
          <p:nvPr/>
        </p:nvSpPr>
        <p:spPr>
          <a:xfrm>
            <a:off x="548640" y="46817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Amet paid tests</a:t>
            </a:r>
            <a:endParaRPr lang="en-US" sz="1200" dirty="0"/>
          </a:p>
        </p:txBody>
      </p:sp>
      <p:sp>
        <p:nvSpPr>
          <p:cNvPr id="55" name="Gantt bar 4"/>
          <p:cNvSpPr/>
          <p:nvPr/>
        </p:nvSpPr>
        <p:spPr>
          <a:xfrm>
            <a:off x="4410644" y="4781580"/>
            <a:ext cx="3245065" cy="2757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6" name="Gantt bar label 4"/>
          <p:cNvSpPr txBox="1"/>
          <p:nvPr/>
        </p:nvSpPr>
        <p:spPr>
          <a:xfrm>
            <a:off x="4410644" y="4781580"/>
            <a:ext cx="3245065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Tests ≤₹15k/month</a:t>
            </a:r>
            <a:endParaRPr lang="en-US" sz="1000" dirty="0"/>
          </a:p>
        </p:txBody>
      </p:sp>
      <p:sp>
        <p:nvSpPr>
          <p:cNvPr id="57" name="Gantt bar 5"/>
          <p:cNvSpPr/>
          <p:nvPr/>
        </p:nvSpPr>
        <p:spPr>
          <a:xfrm>
            <a:off x="7710572" y="4781580"/>
            <a:ext cx="3905051" cy="2757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8" name="Gantt bar label 5"/>
          <p:cNvSpPr txBox="1"/>
          <p:nvPr/>
        </p:nvSpPr>
        <p:spPr>
          <a:xfrm>
            <a:off x="7710572" y="4781580"/>
            <a:ext cx="3905051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129"/>
                </a:solidFill>
              </a:rPr>
              <a:t>Scale behind gates</a:t>
            </a:r>
            <a:endParaRPr lang="en-US" sz="1000" dirty="0"/>
          </a:p>
        </p:txBody>
      </p:sp>
      <p:sp>
        <p:nvSpPr>
          <p:cNvPr id="59" name="Gantt row rule 5"/>
          <p:cNvSpPr/>
          <p:nvPr/>
        </p:nvSpPr>
        <p:spPr>
          <a:xfrm>
            <a:off x="548640" y="5157216"/>
            <a:ext cx="11094415" cy="0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60" name="Gantt row label 4"/>
          <p:cNvSpPr txBox="1"/>
          <p:nvPr/>
        </p:nvSpPr>
        <p:spPr>
          <a:xfrm>
            <a:off x="548640" y="51572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Consectetur trainer hire and shadowing</a:t>
            </a:r>
            <a:endParaRPr lang="en-US" sz="1200" dirty="0"/>
          </a:p>
        </p:txBody>
      </p:sp>
      <p:sp>
        <p:nvSpPr>
          <p:cNvPr id="61" name="Gantt bar 6"/>
          <p:cNvSpPr/>
          <p:nvPr/>
        </p:nvSpPr>
        <p:spPr>
          <a:xfrm>
            <a:off x="4410644" y="5257068"/>
            <a:ext cx="2585079" cy="2757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2" name="Gantt bar label 6"/>
          <p:cNvSpPr txBox="1"/>
          <p:nvPr/>
        </p:nvSpPr>
        <p:spPr>
          <a:xfrm>
            <a:off x="4410644" y="5257068"/>
            <a:ext cx="2585079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Hire, shadow</a:t>
            </a:r>
            <a:endParaRPr lang="en-US" sz="1000" dirty="0"/>
          </a:p>
        </p:txBody>
      </p:sp>
      <p:sp>
        <p:nvSpPr>
          <p:cNvPr id="63" name="Gantt bar 7"/>
          <p:cNvSpPr/>
          <p:nvPr/>
        </p:nvSpPr>
        <p:spPr>
          <a:xfrm>
            <a:off x="7050587" y="5257068"/>
            <a:ext cx="4565036" cy="27578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4" name="Gantt bar label 7"/>
          <p:cNvSpPr txBox="1"/>
          <p:nvPr/>
        </p:nvSpPr>
        <p:spPr>
          <a:xfrm>
            <a:off x="7050587" y="5257068"/>
            <a:ext cx="4565036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129"/>
                </a:solidFill>
              </a:rPr>
              <a:t>Trainer-led cohorts</a:t>
            </a:r>
            <a:endParaRPr lang="en-US" sz="1000" dirty="0"/>
          </a:p>
        </p:txBody>
      </p:sp>
      <p:sp>
        <p:nvSpPr>
          <p:cNvPr id="65" name="Gantt row rule 6"/>
          <p:cNvSpPr/>
          <p:nvPr/>
        </p:nvSpPr>
        <p:spPr>
          <a:xfrm>
            <a:off x="548640" y="5632704"/>
            <a:ext cx="11094415" cy="0"/>
          </a:xfrm>
          <a:prstGeom prst="line">
            <a:avLst/>
          </a:prstGeom>
          <a:noFill/>
          <a:ln w="6350">
            <a:solidFill>
              <a:srgbClr val="E4DAD5"/>
            </a:solidFill>
            <a:prstDash val="solid"/>
          </a:ln>
        </p:spPr>
      </p:sp>
      <p:sp>
        <p:nvSpPr>
          <p:cNvPr id="66" name="Gantt row label 5"/>
          <p:cNvSpPr txBox="1"/>
          <p:nvPr/>
        </p:nvSpPr>
        <p:spPr>
          <a:xfrm>
            <a:off x="548640" y="56327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Adipiscing price step</a:t>
            </a:r>
            <a:endParaRPr lang="en-US" sz="1200" dirty="0"/>
          </a:p>
        </p:txBody>
      </p:sp>
      <p:sp>
        <p:nvSpPr>
          <p:cNvPr id="67" name="Gantt milestone 2"/>
          <p:cNvSpPr/>
          <p:nvPr/>
        </p:nvSpPr>
        <p:spPr>
          <a:xfrm>
            <a:off x="8233398" y="5760720"/>
            <a:ext cx="219456" cy="219456"/>
          </a:xfrm>
          <a:prstGeom prst="diamond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8" name="Gantt milestone label 2"/>
          <p:cNvSpPr txBox="1"/>
          <p:nvPr/>
        </p:nvSpPr>
        <p:spPr>
          <a:xfrm>
            <a:off x="8498574" y="5632704"/>
            <a:ext cx="9210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Step 1 if G1 met</a:t>
            </a:r>
            <a:endParaRPr lang="en-US" sz="1000" dirty="0"/>
          </a:p>
        </p:txBody>
      </p:sp>
      <p:sp>
        <p:nvSpPr>
          <p:cNvPr id="69" name="Gantt bottom rule"/>
          <p:cNvSpPr/>
          <p:nvPr/>
        </p:nvSpPr>
        <p:spPr>
          <a:xfrm>
            <a:off x="548640" y="6108192"/>
            <a:ext cx="11094415" cy="0"/>
          </a:xfrm>
          <a:prstGeom prst="line">
            <a:avLst/>
          </a:prstGeom>
          <a:noFill/>
          <a:ln w="12700">
            <a:solidFill>
              <a:srgbClr val="C9BCB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FINDINGS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5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findings pair each piece of evidence with what it means for the plan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sp>
        <p:nvSpPr>
          <p:cNvPr id="5" name="Findings header"/>
          <p:cNvSpPr txBox="1"/>
          <p:nvPr/>
        </p:nvSpPr>
        <p:spPr>
          <a:xfrm>
            <a:off x="548640" y="1920240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WHAT WE FOUND</a:t>
            </a:r>
            <a:endParaRPr lang="en-US" sz="1100" dirty="0"/>
          </a:p>
        </p:txBody>
      </p:sp>
      <p:sp>
        <p:nvSpPr>
          <p:cNvPr id="6" name="Findings header 2"/>
          <p:cNvSpPr txBox="1"/>
          <p:nvPr/>
        </p:nvSpPr>
        <p:spPr>
          <a:xfrm>
            <a:off x="6370168" y="1920240"/>
            <a:ext cx="5272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SO WHAT</a:t>
            </a:r>
            <a:endParaRPr lang="en-US" sz="1100" dirty="0"/>
          </a:p>
        </p:txBody>
      </p:sp>
      <p:sp>
        <p:nvSpPr>
          <p:cNvPr id="7" name="Finding card"/>
          <p:cNvSpPr/>
          <p:nvPr/>
        </p:nvSpPr>
        <p:spPr>
          <a:xfrm>
            <a:off x="548640" y="2212848"/>
            <a:ext cx="5272888" cy="900684"/>
          </a:xfrm>
          <a:prstGeom prst="roundRect">
            <a:avLst>
              <a:gd name="adj" fmla="val 812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8" name="Badge FOUNDER-STATED"/>
          <p:cNvSpPr txBox="1"/>
          <p:nvPr/>
        </p:nvSpPr>
        <p:spPr>
          <a:xfrm>
            <a:off x="713232" y="2342985"/>
            <a:ext cx="1232811" cy="219456"/>
          </a:xfrm>
          <a:prstGeom prst="roundRect">
            <a:avLst>
              <a:gd name="adj" fmla="val 50000"/>
            </a:avLst>
          </a:prstGeom>
          <a:solidFill>
            <a:srgbClr val="EEE7EB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tx2"/>
                </a:solidFill>
              </a:rPr>
              <a:t>FOUNDER-STATED</a:t>
            </a:r>
            <a:endParaRPr lang="en-US" sz="900" dirty="0"/>
          </a:p>
        </p:txBody>
      </p:sp>
      <p:sp>
        <p:nvSpPr>
          <p:cNvPr id="9" name="Finding text"/>
          <p:cNvSpPr txBox="1"/>
          <p:nvPr/>
        </p:nvSpPr>
        <p:spPr>
          <a:xfrm>
            <a:off x="713232" y="2626449"/>
            <a:ext cx="4943704" cy="393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Lorem ipsum dolor sit amet: the academy teaches fewer than 60 placeholder students a year.</a:t>
            </a:r>
            <a:endParaRPr lang="en-US" sz="1150" dirty="0"/>
          </a:p>
        </p:txBody>
      </p:sp>
      <p:sp>
        <p:nvSpPr>
          <p:cNvPr id="10" name="Findings arrow"/>
          <p:cNvSpPr/>
          <p:nvPr/>
        </p:nvSpPr>
        <p:spPr>
          <a:xfrm>
            <a:off x="6004408" y="2526030"/>
            <a:ext cx="182880" cy="2743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1" name="So-what card"/>
          <p:cNvSpPr/>
          <p:nvPr/>
        </p:nvSpPr>
        <p:spPr>
          <a:xfrm>
            <a:off x="6370168" y="2212848"/>
            <a:ext cx="5272888" cy="900684"/>
          </a:xfrm>
          <a:prstGeom prst="roundRect">
            <a:avLst>
              <a:gd name="adj" fmla="val 8122"/>
            </a:avLst>
          </a:prstGeom>
          <a:solidFill>
            <a:srgbClr val="F2EAF0"/>
          </a:solidFill>
          <a:ln/>
        </p:spPr>
      </p:sp>
      <p:sp>
        <p:nvSpPr>
          <p:cNvPr id="12" name="So-what text"/>
          <p:cNvSpPr txBox="1"/>
          <p:nvPr/>
        </p:nvSpPr>
        <p:spPr>
          <a:xfrm>
            <a:off x="6534760" y="2484717"/>
            <a:ext cx="4943704" cy="393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Consectetur: growth must come from conversion and proof, not only more leads.</a:t>
            </a:r>
            <a:endParaRPr lang="en-US" sz="1150" dirty="0"/>
          </a:p>
        </p:txBody>
      </p:sp>
      <p:sp>
        <p:nvSpPr>
          <p:cNvPr id="13" name="Finding card 2"/>
          <p:cNvSpPr/>
          <p:nvPr/>
        </p:nvSpPr>
        <p:spPr>
          <a:xfrm>
            <a:off x="548640" y="3223260"/>
            <a:ext cx="5272888" cy="900684"/>
          </a:xfrm>
          <a:prstGeom prst="roundRect">
            <a:avLst>
              <a:gd name="adj" fmla="val 812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4" name="Badge VERIFIED"/>
          <p:cNvSpPr txBox="1"/>
          <p:nvPr/>
        </p:nvSpPr>
        <p:spPr>
          <a:xfrm>
            <a:off x="713232" y="3353397"/>
            <a:ext cx="729647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bg1"/>
                </a:solidFill>
              </a:rPr>
              <a:t>VERIFIED</a:t>
            </a:r>
            <a:endParaRPr lang="en-US" sz="900" dirty="0"/>
          </a:p>
        </p:txBody>
      </p:sp>
      <p:sp>
        <p:nvSpPr>
          <p:cNvPr id="15" name="Finding text 2"/>
          <p:cNvSpPr txBox="1"/>
          <p:nvPr/>
        </p:nvSpPr>
        <p:spPr>
          <a:xfrm>
            <a:off x="713232" y="3636861"/>
            <a:ext cx="4943704" cy="393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Ipsum: no rating, reviews or published fees were found for the placeholder brand.</a:t>
            </a:r>
            <a:endParaRPr lang="en-US" sz="1150" dirty="0"/>
          </a:p>
        </p:txBody>
      </p:sp>
      <p:sp>
        <p:nvSpPr>
          <p:cNvPr id="16" name="Findings arrow 2"/>
          <p:cNvSpPr/>
          <p:nvPr/>
        </p:nvSpPr>
        <p:spPr>
          <a:xfrm>
            <a:off x="6004408" y="3536442"/>
            <a:ext cx="182880" cy="2743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7" name="So-what card 2"/>
          <p:cNvSpPr/>
          <p:nvPr/>
        </p:nvSpPr>
        <p:spPr>
          <a:xfrm>
            <a:off x="6370168" y="3223260"/>
            <a:ext cx="5272888" cy="900684"/>
          </a:xfrm>
          <a:prstGeom prst="roundRect">
            <a:avLst>
              <a:gd name="adj" fmla="val 8122"/>
            </a:avLst>
          </a:prstGeom>
          <a:solidFill>
            <a:srgbClr val="F2EAF0"/>
          </a:solidFill>
          <a:ln/>
        </p:spPr>
      </p:sp>
      <p:sp>
        <p:nvSpPr>
          <p:cNvPr id="18" name="So-what text 2"/>
          <p:cNvSpPr txBox="1"/>
          <p:nvPr/>
        </p:nvSpPr>
        <p:spPr>
          <a:xfrm>
            <a:off x="6534760" y="3584365"/>
            <a:ext cx="4943704" cy="21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Adipiscing: spend the first rupee on proof assets and reply speed, not ads.</a:t>
            </a:r>
            <a:endParaRPr lang="en-US" sz="1150" dirty="0"/>
          </a:p>
        </p:txBody>
      </p:sp>
      <p:sp>
        <p:nvSpPr>
          <p:cNvPr id="19" name="Finding card 3"/>
          <p:cNvSpPr/>
          <p:nvPr/>
        </p:nvSpPr>
        <p:spPr>
          <a:xfrm>
            <a:off x="548640" y="4233672"/>
            <a:ext cx="5272888" cy="900684"/>
          </a:xfrm>
          <a:prstGeom prst="roundRect">
            <a:avLst>
              <a:gd name="adj" fmla="val 812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20" name="Badge ESTIMATE"/>
          <p:cNvSpPr txBox="1"/>
          <p:nvPr/>
        </p:nvSpPr>
        <p:spPr>
          <a:xfrm>
            <a:off x="713232" y="4453045"/>
            <a:ext cx="779093" cy="219456"/>
          </a:xfrm>
          <a:prstGeom prst="roundRect">
            <a:avLst>
              <a:gd name="adj" fmla="val 50000"/>
            </a:avLst>
          </a:prstGeom>
          <a:solidFill>
            <a:srgbClr val="F8EBD4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A4B0C"/>
                </a:solidFill>
              </a:rPr>
              <a:t>ESTIMATE</a:t>
            </a:r>
            <a:endParaRPr lang="en-US" sz="900" dirty="0"/>
          </a:p>
        </p:txBody>
      </p:sp>
      <p:sp>
        <p:nvSpPr>
          <p:cNvPr id="21" name="Finding text 3"/>
          <p:cNvSpPr txBox="1"/>
          <p:nvPr/>
        </p:nvSpPr>
        <p:spPr>
          <a:xfrm>
            <a:off x="713232" y="4736509"/>
            <a:ext cx="4943704" cy="21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Dolor: the local market alone supports a small single-centre academy.</a:t>
            </a:r>
            <a:endParaRPr lang="en-US" sz="1150" dirty="0"/>
          </a:p>
        </p:txBody>
      </p:sp>
      <p:sp>
        <p:nvSpPr>
          <p:cNvPr id="22" name="Findings arrow 3"/>
          <p:cNvSpPr/>
          <p:nvPr/>
        </p:nvSpPr>
        <p:spPr>
          <a:xfrm>
            <a:off x="6004408" y="4546854"/>
            <a:ext cx="182880" cy="2743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3" name="So-what card 3"/>
          <p:cNvSpPr/>
          <p:nvPr/>
        </p:nvSpPr>
        <p:spPr>
          <a:xfrm>
            <a:off x="6370168" y="4233672"/>
            <a:ext cx="5272888" cy="900684"/>
          </a:xfrm>
          <a:prstGeom prst="roundRect">
            <a:avLst>
              <a:gd name="adj" fmla="val 8122"/>
            </a:avLst>
          </a:prstGeom>
          <a:solidFill>
            <a:srgbClr val="F2EAF0"/>
          </a:solidFill>
          <a:ln/>
        </p:spPr>
      </p:sp>
      <p:sp>
        <p:nvSpPr>
          <p:cNvPr id="24" name="So-what text 3"/>
          <p:cNvSpPr txBox="1"/>
          <p:nvPr/>
        </p:nvSpPr>
        <p:spPr>
          <a:xfrm>
            <a:off x="6534760" y="4594777"/>
            <a:ext cx="4943704" cy="21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Elit: plan a regional engine for students who travel, released behind a gate.</a:t>
            </a:r>
            <a:endParaRPr lang="en-US" sz="1150" dirty="0"/>
          </a:p>
        </p:txBody>
      </p:sp>
      <p:sp>
        <p:nvSpPr>
          <p:cNvPr id="25" name="Finding card 4"/>
          <p:cNvSpPr/>
          <p:nvPr/>
        </p:nvSpPr>
        <p:spPr>
          <a:xfrm>
            <a:off x="548640" y="5244084"/>
            <a:ext cx="5272888" cy="900684"/>
          </a:xfrm>
          <a:prstGeom prst="roundRect">
            <a:avLst>
              <a:gd name="adj" fmla="val 812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26" name="Badge HYPOTHESIS"/>
          <p:cNvSpPr txBox="1"/>
          <p:nvPr/>
        </p:nvSpPr>
        <p:spPr>
          <a:xfrm>
            <a:off x="713232" y="5463457"/>
            <a:ext cx="913667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accent6"/>
                </a:solidFill>
              </a:rPr>
              <a:t>HYPOTHESIS</a:t>
            </a:r>
            <a:endParaRPr lang="en-US" sz="900" dirty="0"/>
          </a:p>
        </p:txBody>
      </p:sp>
      <p:sp>
        <p:nvSpPr>
          <p:cNvPr id="27" name="Finding text 4"/>
          <p:cNvSpPr txBox="1"/>
          <p:nvPr/>
        </p:nvSpPr>
        <p:spPr>
          <a:xfrm>
            <a:off x="713232" y="5746921"/>
            <a:ext cx="4943704" cy="21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Sit: a two-step price rise may protect conversion while proof is thin.</a:t>
            </a:r>
            <a:endParaRPr lang="en-US" sz="1150" dirty="0"/>
          </a:p>
        </p:txBody>
      </p:sp>
      <p:sp>
        <p:nvSpPr>
          <p:cNvPr id="28" name="Findings arrow 4"/>
          <p:cNvSpPr/>
          <p:nvPr/>
        </p:nvSpPr>
        <p:spPr>
          <a:xfrm>
            <a:off x="6004408" y="5557266"/>
            <a:ext cx="182880" cy="27432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9" name="So-what card 4"/>
          <p:cNvSpPr/>
          <p:nvPr/>
        </p:nvSpPr>
        <p:spPr>
          <a:xfrm>
            <a:off x="6370168" y="5244084"/>
            <a:ext cx="5272888" cy="900684"/>
          </a:xfrm>
          <a:prstGeom prst="roundRect">
            <a:avLst>
              <a:gd name="adj" fmla="val 8122"/>
            </a:avLst>
          </a:prstGeom>
          <a:solidFill>
            <a:srgbClr val="F2EAF0"/>
          </a:solidFill>
          <a:ln/>
        </p:spPr>
      </p:sp>
      <p:sp>
        <p:nvSpPr>
          <p:cNvPr id="30" name="Badge RECOMMENDATION"/>
          <p:cNvSpPr txBox="1"/>
          <p:nvPr/>
        </p:nvSpPr>
        <p:spPr>
          <a:xfrm>
            <a:off x="6534760" y="5463457"/>
            <a:ext cx="1331417" cy="21945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bg1"/>
                </a:solidFill>
              </a:rPr>
              <a:t>RECOMMENDATION</a:t>
            </a:r>
            <a:endParaRPr lang="en-US" sz="900" dirty="0"/>
          </a:p>
        </p:txBody>
      </p:sp>
      <p:sp>
        <p:nvSpPr>
          <p:cNvPr id="31" name="So-what text 4"/>
          <p:cNvSpPr txBox="1"/>
          <p:nvPr/>
        </p:nvSpPr>
        <p:spPr>
          <a:xfrm>
            <a:off x="6534760" y="5746921"/>
            <a:ext cx="4943704" cy="21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Sed do: test the first step after the gate and roll back if conversion falls.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FOUNDER DECISIONS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decisions the founder needs to take before the plan can start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sp>
        <p:nvSpPr>
          <p:cNvPr id="5" name="Decision card"/>
          <p:cNvSpPr/>
          <p:nvPr/>
        </p:nvSpPr>
        <p:spPr>
          <a:xfrm>
            <a:off x="548640" y="1920240"/>
            <a:ext cx="11094415" cy="4224528"/>
          </a:xfrm>
          <a:prstGeom prst="roundRect">
            <a:avLst>
              <a:gd name="adj" fmla="val 173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6" name="Decision number"/>
          <p:cNvSpPr txBox="1"/>
          <p:nvPr/>
        </p:nvSpPr>
        <p:spPr>
          <a:xfrm>
            <a:off x="731520" y="2260397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Decision text"/>
          <p:cNvSpPr txBox="1"/>
          <p:nvPr/>
        </p:nvSpPr>
        <p:spPr>
          <a:xfrm>
            <a:off x="1371600" y="2176272"/>
            <a:ext cx="8534095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Lorem: approve the flagship model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5F67"/>
                </a:solidFill>
              </a:rPr>
              <a:t>Ipsum dolor sit amet, consectetur adipiscing elit, sed do eiusmod.</a:t>
            </a:r>
            <a:endParaRPr lang="en-US" sz="1200" dirty="0"/>
          </a:p>
        </p:txBody>
      </p:sp>
      <p:sp>
        <p:nvSpPr>
          <p:cNvPr id="8" name="Decision meta"/>
          <p:cNvSpPr txBox="1"/>
          <p:nvPr/>
        </p:nvSpPr>
        <p:spPr>
          <a:xfrm>
            <a:off x="10042855" y="2176272"/>
            <a:ext cx="141732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5F67"/>
                </a:solidFill>
              </a:rPr>
              <a:t>DECIDE BY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M0 · 31 Oct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Founder</a:t>
            </a:r>
            <a:endParaRPr lang="en-US" sz="1200" dirty="0"/>
          </a:p>
        </p:txBody>
      </p:sp>
      <p:sp>
        <p:nvSpPr>
          <p:cNvPr id="9" name="Decision rule"/>
          <p:cNvSpPr/>
          <p:nvPr/>
        </p:nvSpPr>
        <p:spPr>
          <a:xfrm>
            <a:off x="731520" y="2874874"/>
            <a:ext cx="10728655" cy="0"/>
          </a:xfrm>
          <a:prstGeom prst="line">
            <a:avLst/>
          </a:prstGeom>
          <a:noFill/>
          <a:ln w="9525">
            <a:solidFill>
              <a:srgbClr val="E4DAD5"/>
            </a:solidFill>
            <a:prstDash val="solid"/>
          </a:ln>
        </p:spPr>
      </p:sp>
      <p:sp>
        <p:nvSpPr>
          <p:cNvPr id="10" name="Decision number 2"/>
          <p:cNvSpPr txBox="1"/>
          <p:nvPr/>
        </p:nvSpPr>
        <p:spPr>
          <a:xfrm>
            <a:off x="731520" y="303215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Decision text 2"/>
          <p:cNvSpPr txBox="1"/>
          <p:nvPr/>
        </p:nvSpPr>
        <p:spPr>
          <a:xfrm>
            <a:off x="1371600" y="2948026"/>
            <a:ext cx="8534095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Ipsum: release Tranche 1 budget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5F67"/>
                </a:solidFill>
              </a:rPr>
              <a:t>Up to a placeholder cap, with stop-loss at the lorem gate.</a:t>
            </a:r>
            <a:endParaRPr lang="en-US" sz="1200" dirty="0"/>
          </a:p>
        </p:txBody>
      </p:sp>
      <p:sp>
        <p:nvSpPr>
          <p:cNvPr id="12" name="Decision meta 2"/>
          <p:cNvSpPr txBox="1"/>
          <p:nvPr/>
        </p:nvSpPr>
        <p:spPr>
          <a:xfrm>
            <a:off x="10042855" y="2948026"/>
            <a:ext cx="141732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5F67"/>
                </a:solidFill>
              </a:rPr>
              <a:t>DECIDE BY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M0 · 31 Oct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Founder</a:t>
            </a:r>
            <a:endParaRPr lang="en-US" sz="1200" dirty="0"/>
          </a:p>
        </p:txBody>
      </p:sp>
      <p:sp>
        <p:nvSpPr>
          <p:cNvPr id="13" name="Decision rule 2"/>
          <p:cNvSpPr/>
          <p:nvPr/>
        </p:nvSpPr>
        <p:spPr>
          <a:xfrm>
            <a:off x="731520" y="3646627"/>
            <a:ext cx="10728655" cy="0"/>
          </a:xfrm>
          <a:prstGeom prst="line">
            <a:avLst/>
          </a:prstGeom>
          <a:noFill/>
          <a:ln w="9525">
            <a:solidFill>
              <a:srgbClr val="E4DAD5"/>
            </a:solidFill>
            <a:prstDash val="solid"/>
          </a:ln>
        </p:spPr>
      </p:sp>
      <p:sp>
        <p:nvSpPr>
          <p:cNvPr id="14" name="Decision number 3"/>
          <p:cNvSpPr txBox="1"/>
          <p:nvPr/>
        </p:nvSpPr>
        <p:spPr>
          <a:xfrm>
            <a:off x="731520" y="38039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Decision text 3"/>
          <p:cNvSpPr txBox="1"/>
          <p:nvPr/>
        </p:nvSpPr>
        <p:spPr>
          <a:xfrm>
            <a:off x="1371600" y="3719779"/>
            <a:ext cx="8534095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Dolor: share 12–24 months of records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5F67"/>
                </a:solidFill>
              </a:rPr>
              <a:t>Enrolments, fees and enquiries, to replace assumptions with data.</a:t>
            </a:r>
            <a:endParaRPr lang="en-US" sz="1200" dirty="0"/>
          </a:p>
        </p:txBody>
      </p:sp>
      <p:sp>
        <p:nvSpPr>
          <p:cNvPr id="16" name="Decision meta 3"/>
          <p:cNvSpPr txBox="1"/>
          <p:nvPr/>
        </p:nvSpPr>
        <p:spPr>
          <a:xfrm>
            <a:off x="10042855" y="3719779"/>
            <a:ext cx="141732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5F67"/>
                </a:solidFill>
              </a:rPr>
              <a:t>DECIDE BY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M1 · 15 Nov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Founder + analyst</a:t>
            </a:r>
            <a:endParaRPr lang="en-US" sz="1200" dirty="0"/>
          </a:p>
        </p:txBody>
      </p:sp>
      <p:sp>
        <p:nvSpPr>
          <p:cNvPr id="17" name="Decision rule 3"/>
          <p:cNvSpPr/>
          <p:nvPr/>
        </p:nvSpPr>
        <p:spPr>
          <a:xfrm>
            <a:off x="731520" y="4418381"/>
            <a:ext cx="10728655" cy="0"/>
          </a:xfrm>
          <a:prstGeom prst="line">
            <a:avLst/>
          </a:prstGeom>
          <a:noFill/>
          <a:ln w="9525">
            <a:solidFill>
              <a:srgbClr val="E4DAD5"/>
            </a:solidFill>
            <a:prstDash val="solid"/>
          </a:ln>
        </p:spPr>
      </p:sp>
      <p:sp>
        <p:nvSpPr>
          <p:cNvPr id="18" name="Decision number 4"/>
          <p:cNvSpPr txBox="1"/>
          <p:nvPr/>
        </p:nvSpPr>
        <p:spPr>
          <a:xfrm>
            <a:off x="731520" y="457565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Decision text 4"/>
          <p:cNvSpPr txBox="1"/>
          <p:nvPr/>
        </p:nvSpPr>
        <p:spPr>
          <a:xfrm>
            <a:off x="1371600" y="4491533"/>
            <a:ext cx="8534095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Sit: hire a lead trainer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5F67"/>
                </a:solidFill>
              </a:rPr>
              <a:t>Shadow-teaching from the first placeholder cohort.</a:t>
            </a:r>
            <a:endParaRPr lang="en-US" sz="1200" dirty="0"/>
          </a:p>
        </p:txBody>
      </p:sp>
      <p:sp>
        <p:nvSpPr>
          <p:cNvPr id="20" name="Decision meta 4"/>
          <p:cNvSpPr txBox="1"/>
          <p:nvPr/>
        </p:nvSpPr>
        <p:spPr>
          <a:xfrm>
            <a:off x="10042855" y="4491533"/>
            <a:ext cx="141732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5F67"/>
                </a:solidFill>
              </a:rPr>
              <a:t>DECIDE BY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M2 · Dec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Founder</a:t>
            </a:r>
            <a:endParaRPr lang="en-US" sz="1200" dirty="0"/>
          </a:p>
        </p:txBody>
      </p:sp>
      <p:sp>
        <p:nvSpPr>
          <p:cNvPr id="21" name="Decision rule 4"/>
          <p:cNvSpPr/>
          <p:nvPr/>
        </p:nvSpPr>
        <p:spPr>
          <a:xfrm>
            <a:off x="731520" y="5190134"/>
            <a:ext cx="10728655" cy="0"/>
          </a:xfrm>
          <a:prstGeom prst="line">
            <a:avLst/>
          </a:prstGeom>
          <a:noFill/>
          <a:ln w="9525">
            <a:solidFill>
              <a:srgbClr val="E4DAD5"/>
            </a:solidFill>
            <a:prstDash val="solid"/>
          </a:ln>
        </p:spPr>
      </p:sp>
      <p:sp>
        <p:nvSpPr>
          <p:cNvPr id="22" name="Decision number 5"/>
          <p:cNvSpPr txBox="1"/>
          <p:nvPr/>
        </p:nvSpPr>
        <p:spPr>
          <a:xfrm>
            <a:off x="731520" y="5347411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Decision text 5"/>
          <p:cNvSpPr txBox="1"/>
          <p:nvPr/>
        </p:nvSpPr>
        <p:spPr>
          <a:xfrm>
            <a:off x="1371600" y="5263286"/>
            <a:ext cx="8534095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Amet: agree the step-back schedule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5F67"/>
                </a:solidFill>
              </a:rPr>
              <a:t>Teaching share falls only when trainer-led cohorts match.</a:t>
            </a:r>
            <a:endParaRPr lang="en-US" sz="1200" dirty="0"/>
          </a:p>
        </p:txBody>
      </p:sp>
      <p:sp>
        <p:nvSpPr>
          <p:cNvPr id="24" name="Decision meta 5"/>
          <p:cNvSpPr txBox="1"/>
          <p:nvPr/>
        </p:nvSpPr>
        <p:spPr>
          <a:xfrm>
            <a:off x="10042855" y="5263286"/>
            <a:ext cx="141732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5F67"/>
                </a:solidFill>
              </a:rPr>
              <a:t>DECIDE BY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M1 · Nov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B5F67"/>
                </a:solidFill>
              </a:rPr>
              <a:t>Founder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CHART WITH COMMENTARY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chart and commentary share the slide when the message needs explanation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sp>
        <p:nvSpPr>
          <p:cNvPr id="5" name="Chart card"/>
          <p:cNvSpPr/>
          <p:nvPr/>
        </p:nvSpPr>
        <p:spPr>
          <a:xfrm>
            <a:off x="548640" y="1920240"/>
            <a:ext cx="6766560" cy="4224528"/>
          </a:xfrm>
          <a:prstGeom prst="roundRect">
            <a:avLst>
              <a:gd name="adj" fmla="val 1732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6" name="Chart title"/>
          <p:cNvSpPr txBox="1"/>
          <p:nvPr/>
        </p:nvSpPr>
        <p:spPr>
          <a:xfrm>
            <a:off x="731520" y="2103120"/>
            <a:ext cx="6400800" cy="2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Lorem fee comparison</a:t>
            </a:r>
            <a:endParaRPr lang="en-US" sz="1300" dirty="0"/>
          </a:p>
        </p:txBody>
      </p:sp>
      <p:sp>
        <p:nvSpPr>
          <p:cNvPr id="7" name="Chart unit"/>
          <p:cNvSpPr txBox="1"/>
          <p:nvPr/>
        </p:nvSpPr>
        <p:spPr>
          <a:xfrm>
            <a:off x="731520" y="23323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5F67"/>
                </a:solidFill>
              </a:rPr>
              <a:t>₹ thousand, all-in (placeholder)</a:t>
            </a:r>
            <a:endParaRPr lang="en-US" sz="1100" dirty="0"/>
          </a:p>
        </p:txBody>
      </p:sp>
      <p:graphicFrame>
        <p:nvGraphicFramePr>
          <p:cNvPr id="8" name="Bar chart" descr="Lorem fee comparison"/>
          <p:cNvGraphicFramePr/>
          <p:nvPr/>
        </p:nvGraphicFramePr>
        <p:xfrm>
          <a:off x="640080" y="2606624"/>
          <a:ext cx="6583680" cy="34467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card"/>
          <p:cNvSpPr/>
          <p:nvPr/>
        </p:nvSpPr>
        <p:spPr>
          <a:xfrm>
            <a:off x="7589520" y="1920240"/>
            <a:ext cx="4053535" cy="4224528"/>
          </a:xfrm>
          <a:prstGeom prst="roundRect">
            <a:avLst>
              <a:gd name="adj" fmla="val 1805"/>
            </a:avLst>
          </a:prstGeom>
          <a:solidFill>
            <a:schemeClr val="bg1"/>
          </a:solidFill>
          <a:ln w="9525">
            <a:solidFill>
              <a:srgbClr val="E4DAD5"/>
            </a:solidFill>
            <a:prstDash val="solid"/>
          </a:ln>
        </p:spPr>
      </p:sp>
      <p:sp>
        <p:nvSpPr>
          <p:cNvPr id="10" name="Text block"/>
          <p:cNvSpPr txBox="1"/>
          <p:nvPr/>
        </p:nvSpPr>
        <p:spPr>
          <a:xfrm>
            <a:off x="7790688" y="2121408"/>
            <a:ext cx="3651199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What the chart says</a:t>
            </a:r>
            <a:endParaRPr lang="en-US" sz="12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Lorem ipsum dolor sit amet, consectetur adipiscing elit.</a:t>
            </a:r>
            <a:endParaRPr lang="en-US" sz="12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Sed do eiusmod tempor incididunt ut labore et dolore magna aliqua.</a:t>
            </a:r>
            <a:endParaRPr lang="en-US" sz="12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Ut enim ad minim veniam, quis nostrud exercitation ullamco.</a:t>
            </a:r>
            <a:endParaRPr lang="en-US" sz="1200" dirty="0"/>
          </a:p>
        </p:txBody>
      </p:sp>
      <p:sp>
        <p:nvSpPr>
          <p:cNvPr id="11" name="Legend caption"/>
          <p:cNvSpPr txBox="1"/>
          <p:nvPr/>
        </p:nvSpPr>
        <p:spPr>
          <a:xfrm>
            <a:off x="7790688" y="5687568"/>
            <a:ext cx="597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5F67"/>
                </a:solidFill>
              </a:rPr>
              <a:t>Evidence:</a:t>
            </a:r>
            <a:endParaRPr lang="en-US" sz="1000" dirty="0"/>
          </a:p>
        </p:txBody>
      </p:sp>
      <p:sp>
        <p:nvSpPr>
          <p:cNvPr id="12" name="Badge ESTIMATE"/>
          <p:cNvSpPr txBox="1"/>
          <p:nvPr/>
        </p:nvSpPr>
        <p:spPr>
          <a:xfrm>
            <a:off x="8433422" y="5687568"/>
            <a:ext cx="779093" cy="219456"/>
          </a:xfrm>
          <a:prstGeom prst="roundRect">
            <a:avLst>
              <a:gd name="adj" fmla="val 50000"/>
            </a:avLst>
          </a:prstGeom>
          <a:solidFill>
            <a:srgbClr val="F8EBD4"/>
          </a:solidFill>
          <a:ln w="9525">
            <a:solidFill>
              <a:schemeClr val="accent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7A4B0C"/>
                </a:solidFill>
              </a:rPr>
              <a:t>ESTIMATE</a:t>
            </a:r>
            <a:endParaRPr lang="en-US" sz="900" dirty="0"/>
          </a:p>
        </p:txBody>
      </p:sp>
      <p:sp>
        <p:nvSpPr>
          <p:cNvPr id="13" name="Badge HYPOTHESIS"/>
          <p:cNvSpPr txBox="1"/>
          <p:nvPr/>
        </p:nvSpPr>
        <p:spPr>
          <a:xfrm>
            <a:off x="9322243" y="5687568"/>
            <a:ext cx="913667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chemeClr val="accent6"/>
                </a:solidFill>
              </a:rPr>
              <a:t>HYPOTHESIS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/>
          <p:nvPr>
            <p:ph idx="103" type="body" hasCustomPrompt="1"/>
          </p:nvPr>
        </p:nvSpPr>
        <p:spPr>
          <a:xfrm>
            <a:off x="548640" y="1874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dirty="0">
                <a:solidFill>
                  <a:srgbClr val="E7A99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2926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Appendix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738880"/>
            <a:ext cx="6949440" cy="29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9C9D3"/>
                </a:solidFill>
              </a:rPr>
              <a:t>Tables size their font automatically and continue onto extra slides when needed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D9C9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APPENDIX TABLE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assumptions register (placeholder)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graphicFrame>
        <p:nvGraphicFramePr>
          <p:cNvPr id="20" name="Appendix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837314"/>
                <a:gridCol w="5233215"/>
                <a:gridCol w="1883957"/>
                <a:gridCol w="3139929"/>
              </a:tblGrid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A-01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1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₹1.7L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4B0C"/>
                          </a:solidFill>
                        </a:rPr>
                        <a:t>ESTIMATE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1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A-02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₹3.4L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5873"/>
                          </a:solidFill>
                        </a:rPr>
                        <a:t>HYPOTHESIS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A-03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3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₹5.1L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6A5B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Placeholder register, row 3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04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A-04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ipsum assumption 4 with a longer description that wraps onto a second line in the table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₹6.8L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4B0C"/>
                          </a:solidFill>
                        </a:rPr>
                        <a:t>ESTIMATE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4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A-05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₹8.5L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5873"/>
                          </a:solidFill>
                        </a:rPr>
                        <a:t>HYPOTHESIS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A-06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6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₹10.2L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6A5B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Placeholder register, row 6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A-07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7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₹11.9L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4B0C"/>
                          </a:solidFill>
                        </a:rPr>
                        <a:t>ESTIMATE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7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04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A-08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ipsum assumption 8 with a longer description that wraps onto a second line in the table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₹13.6L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5873"/>
                          </a:solidFill>
                        </a:rPr>
                        <a:t>HYPOTHESIS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8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A-09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9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₹15.3L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6A5B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Placeholder register, row 9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APPENDIX TABLE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assumptions register (placeholder), continued (2 of 3)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graphicFrame>
        <p:nvGraphicFramePr>
          <p:cNvPr id="21" name="Appendix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837314"/>
                <a:gridCol w="5233215"/>
                <a:gridCol w="1883957"/>
                <a:gridCol w="3139929"/>
              </a:tblGrid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A-10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10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₹17.0L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4B0C"/>
                          </a:solidFill>
                        </a:rPr>
                        <a:t>ESTIMATE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10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A-11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11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₹18.7L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5873"/>
                          </a:solidFill>
                        </a:rPr>
                        <a:t>HYPOTHESIS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11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  <a:tr h="5004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A-12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ipsum assumption 12 with a longer description that wraps onto a second line in the table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₹20.4L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6A5B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Placeholder register, row 12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A-13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13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₹22.1L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4B0C"/>
                          </a:solidFill>
                        </a:rPr>
                        <a:t>ESTIMATE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13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A-14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14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₹23.8L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5873"/>
                          </a:solidFill>
                        </a:rPr>
                        <a:t>HYPOTHESIS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14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A-15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15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₹25.5L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6A5B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Placeholder register, row 15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  <a:tr h="5004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A-16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ipsum assumption 16 with a longer description that wraps onto a second line in the table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₹27.2L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4B0C"/>
                          </a:solidFill>
                        </a:rPr>
                        <a:t>ESTIMATE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16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A-17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17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₹28.9L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5873"/>
                          </a:solidFill>
                        </a:rPr>
                        <a:t>HYPOTHESIS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17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A-18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18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₹30.6L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6A5B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Placeholder register, row 18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A4513F"/>
                </a:solidFill>
              </a:rPr>
              <a:t>APPENDIX TABLE</a:t>
            </a:r>
            <a:endParaRPr lang="en-US" sz="1100" dirty="0"/>
          </a:p>
        </p:txBody>
      </p:sp>
      <p:sp>
        <p:nvSpPr>
          <p:cNvPr id="3" name="Title"/>
          <p:cNvSpPr/>
          <p:nvPr>
            <p:ph type="title" hasCustomPrompt="1"/>
          </p:nvPr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Lorem assumptions register (placeholder), continued (3 of 3)</a:t>
            </a:r>
            <a:endParaRPr lang="en-US" sz="2800" dirty="0"/>
          </a:p>
        </p:txBody>
      </p:sp>
      <p:sp>
        <p:nvSpPr>
          <p:cNvPr id="4" name="Source footer"/>
          <p:cNvSpPr txBox="1"/>
          <p:nvPr/>
        </p:nvSpPr>
        <p:spPr>
          <a:xfrm>
            <a:off x="548640" y="6272784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5F67"/>
                </a:solidFill>
              </a:rPr>
              <a:t>Source: </a:t>
            </a:r>
            <a:pPr algn="l" indent="0" marL="0">
              <a:buNone/>
            </a:pPr>
            <a:r>
              <a:rPr lang="en-US" sz="900" dirty="0">
                <a:solidFill>
                  <a:srgbClr val="6B5F67"/>
                </a:solidFill>
              </a:rPr>
              <a:t>Lorem source register (placeholder), table 9; dummy data for layout testing only</a:t>
            </a:r>
            <a:endParaRPr lang="en-US" sz="900" dirty="0"/>
          </a:p>
        </p:txBody>
      </p:sp>
      <p:graphicFrame>
        <p:nvGraphicFramePr>
          <p:cNvPr id="22" name="Appendix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837314"/>
                <a:gridCol w="5233215"/>
                <a:gridCol w="1883957"/>
                <a:gridCol w="3139929"/>
              </a:tblGrid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D1A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33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A-19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19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₹32.3L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4B0C"/>
                          </a:solidFill>
                        </a:rPr>
                        <a:t>ESTIMATE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19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04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A-20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ipsum assumption 20 with a longer description that wraps onto a second line in the table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₹34.0L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5873"/>
                          </a:solidFill>
                        </a:rPr>
                        <a:t>HYPOTHESIS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20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A-21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21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₹35.7L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6A5B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Placeholder register, row 21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A-22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22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₹37.4L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4B0C"/>
                          </a:solidFill>
                        </a:rPr>
                        <a:t>ESTIMATE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22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A-23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23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₹39.1L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5873"/>
                          </a:solidFill>
                        </a:rPr>
                        <a:t>HYPOTHESIS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23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04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A-24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ipsum assumption 24 with a longer description that wraps onto a second line in the table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₹40.8L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6A5B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Placeholder register, row 24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A-25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25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₹42.5L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7A4B0C"/>
                          </a:solidFill>
                        </a:rPr>
                        <a:t>ESTIMATE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25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42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2129"/>
                          </a:solidFill>
                        </a:rPr>
                        <a:t>A-26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Lorem assumption 26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₹44.2L </a:t>
                      </a:r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F5873"/>
                          </a:solidFill>
                        </a:rPr>
                        <a:t>HYPOTHESIS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129"/>
                          </a:solidFill>
                        </a:rPr>
                        <a:t>Dummy source 26</a:t>
                      </a:r>
                      <a:endParaRPr lang="en-US" sz="1200" dirty="0"/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4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b"/>
          <a:lstStyle>
            <a:lvl1pPr>
              <a:defRPr sz="900">
                <a:solidFill>
                  <a:srgbClr val="6B5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NA Aubergine">
  <a:themeElements>
    <a:clrScheme name="PNA Aubergine">
      <a:dk1>
        <a:srgbClr val="2B2129"/>
      </a:dk1>
      <a:lt1>
        <a:srgbClr val="FFFFFF"/>
      </a:lt1>
      <a:dk2>
        <a:srgbClr val="3D1A33"/>
      </a:dk2>
      <a:lt2>
        <a:srgbClr val="F8F4F1"/>
      </a:lt2>
      <a:accent1>
        <a:srgbClr val="5E2B52"/>
      </a:accent1>
      <a:accent2>
        <a:srgbClr val="C2705C"/>
      </a:accent2>
      <a:accent3>
        <a:srgbClr val="9C8794"/>
      </a:accent3>
      <a:accent4>
        <a:srgbClr val="2D6A5B"/>
      </a:accent4>
      <a:accent5>
        <a:srgbClr val="98600F"/>
      </a:accent5>
      <a:accent6>
        <a:srgbClr val="3F5873"/>
      </a:accent6>
      <a:hlink>
        <a:srgbClr val="A4513F"/>
      </a:hlink>
      <a:folHlink>
        <a:srgbClr val="6B5F67"/>
      </a:folHlink>
    </a:clrScheme>
    <a:fontScheme name="PNA Auberg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Priyanka Nanda Makeup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 demo (placeholder data)</dc:title>
  <dc:subject>PNA design system QA</dc:subject>
  <dc:creator>Priyanka Nanda Makeup Academy</dc:creator>
  <cp:lastModifiedBy>Priyanka Nanda Makeup Academy</cp:lastModifiedBy>
  <cp:revision>1</cp:revision>
  <dcterms:created xsi:type="dcterms:W3CDTF">2026-10-16T05:57:53Z</dcterms:created>
  <dcterms:modified xsi:type="dcterms:W3CDTF">2026-10-16T05:57:53Z</dcterms:modified>
</cp:coreProperties>
</file>