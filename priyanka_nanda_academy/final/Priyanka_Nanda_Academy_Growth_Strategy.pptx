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4a701f4e-90fd-eb37-c883-453456b1ddd3}">
          <p14:sldIdLst>
            <p14:sldId id="256"/>
            <p14:sldId id="257"/>
            <p14:sldId id="258"/>
          </p14:sldIdLst>
        </p14:section>
        <p14:section name="Opportunity" id="{d2556fc2-6d7b-a90f-5e21-6c3879ee1b78}">
          <p14:sldIdLst>
            <p14:sldId id="259"/>
            <p14:sldId id="260"/>
            <p14:sldId id="261"/>
            <p14:sldId id="262"/>
          </p14:sldIdLst>
        </p14:section>
        <p14:section name="Findings" id="{d3595d37-b3c7-f13b-fbec-7d88519a169f}">
          <p14:sldIdLst>
            <p14:sldId id="263"/>
            <p14:sldId id="264"/>
          </p14:sldIdLst>
        </p14:section>
        <p14:section name="Recommendation" id="{6951f7af-4447-2588-e345-1b7d64f70a5f}">
          <p14:sldIdLst>
            <p14:sldId id="265"/>
            <p14:sldId id="266"/>
            <p14:sldId id="267"/>
            <p14:sldId id="268"/>
            <p14:sldId id="269"/>
            <p14:sldId id="270"/>
            <p14:sldId id="271"/>
          </p14:sldIdLst>
        </p14:section>
        <p14:section name="Economics" id="{75525c9e-4139-5585-8eba-d2c4cdce51cc}">
          <p14:sldIdLst>
            <p14:sldId id="272"/>
            <p14:sldId id="273"/>
            <p14:sldId id="274"/>
            <p14:sldId id="275"/>
          </p14:sldIdLst>
        </p14:section>
        <p14:section name="Execution" id="{10547303-0514-0c9e-5bda-ece5aa272e33}">
          <p14:sldIdLst>
            <p14:sldId id="276"/>
            <p14:sldId id="277"/>
          </p14:sldIdLst>
        </p14:section>
        <p14:section name="Next steps" id="{5ec1ce41-9c83-fc31-a57a-d31cc07dba8f}">
          <p14:sldIdLst>
            <p14:sldId id="278"/>
            <p14:sldId id="279"/>
          </p14:sldIdLst>
        </p14:section>
        <p14:section name="Appendix" id="{2fb4cb2d-8dbe-f0ff-cd2c-29f017e49dd6}">
          <p14:sldIdLst>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Tricity market</c:v>
                </c:pt>
              </c:strCache>
            </c:strRef>
          </c:tx>
          <c:spPr>
            <a:solidFill>
              <a:srgbClr val="9C8794"/>
            </a:solidFill>
            <a:effectLst/>
          </c:spPr>
          <c:invertIfNegative val="0"/>
          <c:dLbls>
            <c:numFmt formatCode="0.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9C8794"/>
              </a:solidFill>
              <a:effectLst/>
            </c:spPr>
          </c:dPt>
          <c:dPt>
            <c:idx val="1"/>
            <c:invertIfNegative val="0"/>
            <c:bubble3D val="0"/>
            <c:spPr>
              <a:solidFill>
                <a:srgbClr val="5E2B52"/>
              </a:solidFill>
              <a:effectLst/>
            </c:spPr>
          </c:dPt>
          <c:dPt>
            <c:idx val="2"/>
            <c:invertIfNegative val="0"/>
            <c:bubble3D val="0"/>
            <c:spPr>
              <a:solidFill>
                <a:srgbClr val="9C8794"/>
              </a:solidFill>
              <a:effectLst/>
            </c:spPr>
          </c:dPt>
          <c:cat>
            <c:multiLvlStrRef>
              <c:f>Sheet1!$A$2:$A$4</c:f>
              <c:multiLvlStrCache>
                <c:ptCount val="3"/>
                <c:lvl>
                  <c:pt idx="0">
                    <c:v>Low</c:v>
                  </c:pt>
                  <c:pt idx="1">
                    <c:v>Base</c:v>
                  </c:pt>
                  <c:pt idx="2">
                    <c:v>High</c:v>
                  </c:pt>
                </c:lvl>
              </c:multiLvlStrCache>
            </c:multiLvlStrRef>
          </c:cat>
          <c:val>
            <c:numRef>
              <c:f>Sheet1!$B$2:$B$4</c:f>
              <c:numCache>
                <c:formatCode>General</c:formatCode>
                <c:ptCount val="3"/>
                <c:pt idx="0">
                  <c:v>1.45</c:v>
                </c:pt>
                <c:pt idx="1">
                  <c:v>3.27</c:v>
                </c:pt>
                <c:pt idx="2">
                  <c:v>5.28</c:v>
                </c:pt>
              </c:numCache>
            </c:numRef>
          </c:val>
        </c:ser>
        <c:dLbls>
          <c:numFmt formatCode="0.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1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8"/>
          <c:min val="0"/>
        </c:scaling>
        <c:delete val="1"/>
        <c:axPos val="l"/>
        <c:numFmt formatCode="0.00"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Founder share</c:v>
                </c:pt>
              </c:strCache>
            </c:strRef>
          </c:tx>
          <c:spPr>
            <a:solidFill>
              <a:srgbClr val="5E2B52"/>
            </a:solidFill>
            <a:effectLst/>
          </c:spPr>
          <c:invertIfNegative val="0"/>
          <c:dLbls>
            <c:numFmt formatCode="0&quot;%&quot;"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5E2B52"/>
              </a:solidFill>
              <a:effectLst/>
            </c:spPr>
          </c:dPt>
          <c:dPt>
            <c:idx val="1"/>
            <c:invertIfNegative val="0"/>
            <c:bubble3D val="0"/>
            <c:spPr>
              <a:solidFill>
                <a:srgbClr val="5E2B52"/>
              </a:solidFill>
              <a:effectLst/>
            </c:spPr>
          </c:dPt>
          <c:dPt>
            <c:idx val="2"/>
            <c:invertIfNegative val="0"/>
            <c:bubble3D val="0"/>
            <c:spPr>
              <a:solidFill>
                <a:srgbClr val="5E2B52"/>
              </a:solidFill>
              <a:effectLst/>
            </c:spPr>
          </c:dPt>
          <c:dPt>
            <c:idx val="3"/>
            <c:invertIfNegative val="0"/>
            <c:bubble3D val="0"/>
            <c:spPr>
              <a:solidFill>
                <a:srgbClr val="C2705C"/>
              </a:solidFill>
              <a:effectLst/>
            </c:spPr>
          </c:dPt>
          <c:dPt>
            <c:idx val="4"/>
            <c:invertIfNegative val="0"/>
            <c:bubble3D val="0"/>
            <c:spPr>
              <a:solidFill>
                <a:srgbClr val="C2705C"/>
              </a:solidFill>
              <a:effectLst/>
            </c:spPr>
          </c:dPt>
          <c:cat>
            <c:multiLvlStrRef>
              <c:f>Sheet1!$A$2:$A$6</c:f>
              <c:multiLvlStrCache>
                <c:ptCount val="5"/>
                <c:lvl>
                  <c:pt idx="0">
                    <c:v>M6</c:v>
                  </c:pt>
                  <c:pt idx="1">
                    <c:v>M12</c:v>
                  </c:pt>
                  <c:pt idx="2">
                    <c:v>M18</c:v>
                  </c:pt>
                  <c:pt idx="3">
                    <c:v>M24</c:v>
                  </c:pt>
                  <c:pt idx="4">
                    <c:v>M36</c:v>
                  </c:pt>
                </c:lvl>
              </c:multiLvlStrCache>
            </c:multiLvlStrRef>
          </c:cat>
          <c:val>
            <c:numRef>
              <c:f>Sheet1!$B$2:$B$6</c:f>
              <c:numCache>
                <c:formatCode>General</c:formatCode>
                <c:ptCount val="5"/>
                <c:pt idx="0">
                  <c:v>50</c:v>
                </c:pt>
                <c:pt idx="1">
                  <c:v>40</c:v>
                </c:pt>
                <c:pt idx="2">
                  <c:v>30</c:v>
                </c:pt>
                <c:pt idx="3">
                  <c:v>15</c:v>
                </c:pt>
                <c:pt idx="4">
                  <c:v>10</c:v>
                </c:pt>
              </c:numCache>
            </c:numRef>
          </c:val>
        </c:ser>
        <c:dLbls>
          <c:numFmt formatCode="0&quot;%&quot;"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1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l"/>
        <c:numFmt formatCode="0&quot;%&quot;"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All-in cost</c:v>
                </c:pt>
              </c:strCache>
            </c:strRef>
          </c:tx>
          <c:spPr>
            <a:solidFill>
              <a:srgbClr val="9C8794"/>
            </a:solidFill>
            <a:effectLst/>
          </c:spPr>
          <c:invertIfNegative val="0"/>
          <c:dLbls>
            <c:numFmt formatCode="0.00" sourceLinked="0"/>
            <c:txPr>
              <a:bodyPr/>
              <a:lstStyle/>
              <a:p>
                <a:pPr>
                  <a:defRPr b="0" i="0" strike="noStrike" sz="105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9C8794"/>
              </a:solidFill>
              <a:effectLst/>
            </c:spPr>
          </c:dPt>
          <c:dPt>
            <c:idx val="1"/>
            <c:invertIfNegative val="0"/>
            <c:bubble3D val="0"/>
            <c:spPr>
              <a:solidFill>
                <a:srgbClr val="5E2B52"/>
              </a:solidFill>
              <a:effectLst/>
            </c:spPr>
          </c:dPt>
          <c:dPt>
            <c:idx val="2"/>
            <c:invertIfNegative val="0"/>
            <c:bubble3D val="0"/>
            <c:spPr>
              <a:solidFill>
                <a:srgbClr val="5E2B52"/>
              </a:solidFill>
              <a:effectLst/>
            </c:spPr>
          </c:dPt>
          <c:dPt>
            <c:idx val="3"/>
            <c:invertIfNegative val="0"/>
            <c:bubble3D val="0"/>
            <c:spPr>
              <a:solidFill>
                <a:srgbClr val="5E2B52"/>
              </a:solidFill>
              <a:effectLst/>
            </c:spPr>
          </c:dPt>
          <c:dPt>
            <c:idx val="4"/>
            <c:invertIfNegative val="0"/>
            <c:bubble3D val="0"/>
            <c:spPr>
              <a:solidFill>
                <a:srgbClr val="C2705C"/>
              </a:solidFill>
              <a:effectLst/>
            </c:spPr>
          </c:dPt>
          <c:dPt>
            <c:idx val="5"/>
            <c:invertIfNegative val="0"/>
            <c:bubble3D val="0"/>
            <c:spPr>
              <a:solidFill>
                <a:srgbClr val="C2705C"/>
              </a:solidFill>
              <a:effectLst/>
            </c:spPr>
          </c:dPt>
          <c:cat>
            <c:multiLvlStrRef>
              <c:f>Sheet1!$A$2:$A$7</c:f>
              <c:multiLvlStrCache>
                <c:ptCount val="6"/>
                <c:lvl>
                  <c:pt idx="0">
                    <c:v>Today (fee incl. kit)</c:v>
                  </c:pt>
                  <c:pt idx="1">
                    <c:v>Step 1 (no kit)</c:v>
                  </c:pt>
                  <c:pt idx="2">
                    <c:v>Step 2 (no kit)</c:v>
                  </c:pt>
                  <c:pt idx="3">
                    <c:v>Step 2 (with kit)</c:v>
                  </c:pt>
                  <c:pt idx="4">
                    <c:v>Destination (no kit)</c:v>
                  </c:pt>
                  <c:pt idx="5">
                    <c:v>Destination (with kit)</c:v>
                  </c:pt>
                </c:lvl>
              </c:multiLvlStrCache>
            </c:multiLvlStrRef>
          </c:cat>
          <c:val>
            <c:numRef>
              <c:f>Sheet1!$B$2:$B$7</c:f>
              <c:numCache>
                <c:formatCode>General</c:formatCode>
                <c:ptCount val="6"/>
                <c:pt idx="0">
                  <c:v>0.67</c:v>
                </c:pt>
                <c:pt idx="1">
                  <c:v>0.82</c:v>
                </c:pt>
                <c:pt idx="2">
                  <c:v>0.97</c:v>
                </c:pt>
                <c:pt idx="3">
                  <c:v>1.17</c:v>
                </c:pt>
                <c:pt idx="4">
                  <c:v>1.13</c:v>
                </c:pt>
                <c:pt idx="5">
                  <c:v>1.33</c:v>
                </c:pt>
              </c:numCache>
            </c:numRef>
          </c:val>
        </c:ser>
        <c:dLbls>
          <c:numFmt formatCode="0.00" sourceLinked="0"/>
          <c:txPr>
            <a:bodyPr/>
            <a:lstStyle/>
            <a:p>
              <a:pPr>
                <a:defRPr b="0" i="0" strike="noStrike" sz="1050" u="none">
                  <a:solidFill>
                    <a:srgbClr val="2B2129"/>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low"/>
        <c:spPr>
          <a:ln w="12700" cap="flat">
            <a:solidFill>
              <a:srgbClr val="C9BCB5"/>
            </a:solidFill>
            <a:prstDash val="solid"/>
            <a:round/>
          </a:ln>
        </c:spPr>
        <c:txPr>
          <a:bodyPr/>
          <a:lstStyle/>
          <a:p>
            <a:pPr>
              <a:defRPr sz="10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b"/>
        <c:numFmt formatCode="0.00" sourceLinked="0"/>
        <c:majorTickMark val="out"/>
        <c:minorTickMark val="none"/>
        <c:tickLblPos val="low"/>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
          <c:w val="1"/>
          <c:h val="0.96"/>
        </c:manualLayout>
      </c:layout>
      <c:barChart>
        <c:barDir val="col"/>
        <c:grouping val="clustered"/>
        <c:varyColors val="0"/>
        <c:ser>
          <c:idx val="0"/>
          <c:order val="0"/>
          <c:tx>
            <c:strRef>
              <c:f>Sheet1!$B$1</c:f>
              <c:strCache>
                <c:ptCount val="1"/>
                <c:pt idx="0">
                  <c:v>Paid-media cap</c:v>
                </c:pt>
              </c:strCache>
            </c:strRef>
          </c:tx>
          <c:spPr>
            <a:solidFill>
              <a:srgbClr val="5E2B52"/>
            </a:solidFill>
            <a:effectLst/>
          </c:spPr>
          <c:invertIfNegative val="0"/>
          <c:dLbls>
            <c:numFmt formatCode="#,##0;&quot;−&quot;#,##0" sourceLinked="0"/>
            <c:txPr>
              <a:bodyPr/>
              <a:lstStyle/>
              <a:p>
                <a:pPr>
                  <a:defRPr b="0" i="0" strike="noStrike" sz="105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5E2B52"/>
              </a:solidFill>
              <a:effectLst/>
            </c:spPr>
          </c:dPt>
          <c:dPt>
            <c:idx val="1"/>
            <c:invertIfNegative val="0"/>
            <c:bubble3D val="0"/>
            <c:spPr>
              <a:solidFill>
                <a:srgbClr val="5E2B52"/>
              </a:solidFill>
              <a:effectLst/>
            </c:spPr>
          </c:dPt>
          <c:dPt>
            <c:idx val="2"/>
            <c:invertIfNegative val="0"/>
            <c:bubble3D val="0"/>
            <c:spPr>
              <a:solidFill>
                <a:srgbClr val="5E2B52"/>
              </a:solidFill>
              <a:effectLst/>
            </c:spPr>
          </c:dPt>
          <c:dPt>
            <c:idx val="3"/>
            <c:invertIfNegative val="0"/>
            <c:bubble3D val="0"/>
            <c:spPr>
              <a:solidFill>
                <a:srgbClr val="5E2B52"/>
              </a:solidFill>
              <a:effectLst/>
            </c:spPr>
          </c:dPt>
          <c:dPt>
            <c:idx val="4"/>
            <c:invertIfNegative val="0"/>
            <c:bubble3D val="0"/>
            <c:spPr>
              <a:solidFill>
                <a:srgbClr val="5E2B52"/>
              </a:solidFill>
              <a:effectLst/>
            </c:spPr>
          </c:dPt>
          <c:dPt>
            <c:idx val="5"/>
            <c:invertIfNegative val="0"/>
            <c:bubble3D val="0"/>
            <c:spPr>
              <a:solidFill>
                <a:srgbClr val="5E2B52"/>
              </a:solidFill>
              <a:effectLst/>
            </c:spPr>
          </c:dPt>
          <c:dPt>
            <c:idx val="6"/>
            <c:invertIfNegative val="0"/>
            <c:bubble3D val="0"/>
            <c:spPr>
              <a:solidFill>
                <a:srgbClr val="5E2B52"/>
              </a:solidFill>
              <a:effectLst/>
            </c:spPr>
          </c:dPt>
          <c:dPt>
            <c:idx val="7"/>
            <c:invertIfNegative val="0"/>
            <c:bubble3D val="0"/>
            <c:spPr>
              <a:solidFill>
                <a:srgbClr val="5E2B52"/>
              </a:solidFill>
              <a:effectLst/>
            </c:spPr>
          </c:dPt>
          <c:dPt>
            <c:idx val="8"/>
            <c:invertIfNegative val="0"/>
            <c:bubble3D val="0"/>
            <c:spPr>
              <a:solidFill>
                <a:srgbClr val="5E2B52"/>
              </a:solidFill>
              <a:effectLst/>
            </c:spPr>
          </c:dPt>
          <c:dPt>
            <c:idx val="9"/>
            <c:invertIfNegative val="0"/>
            <c:bubble3D val="0"/>
            <c:spPr>
              <a:solidFill>
                <a:srgbClr val="C2705C"/>
              </a:solidFill>
              <a:effectLst/>
            </c:spPr>
          </c:dPt>
          <c:dPt>
            <c:idx val="10"/>
            <c:invertIfNegative val="0"/>
            <c:bubble3D val="0"/>
            <c:spPr>
              <a:solidFill>
                <a:srgbClr val="C2705C"/>
              </a:solidFill>
              <a:effectLst/>
            </c:spPr>
          </c:dPt>
          <c:dPt>
            <c:idx val="11"/>
            <c:invertIfNegative val="0"/>
            <c:bubble3D val="0"/>
            <c:spPr>
              <a:solidFill>
                <a:srgbClr val="C2705C"/>
              </a:solidFill>
              <a:effectLst/>
            </c:spPr>
          </c:dPt>
          <c:cat>
            <c:multiLvlStrRef>
              <c:f>Sheet1!$A$2:$A$13</c:f>
              <c:multiLvlStrCache>
                <c:ptCount val="12"/>
                <c:lvl>
                  <c:pt idx="0">
                    <c:v>Nov</c:v>
                  </c:pt>
                  <c:pt idx="1">
                    <c:v>Dec</c:v>
                  </c:pt>
                  <c:pt idx="2">
                    <c:v>Jan</c:v>
                  </c:pt>
                  <c:pt idx="3">
                    <c:v>Feb</c:v>
                  </c:pt>
                  <c:pt idx="4">
                    <c:v>Mar</c:v>
                  </c:pt>
                  <c:pt idx="5">
                    <c:v>Apr</c:v>
                  </c:pt>
                  <c:pt idx="6">
                    <c:v>May</c:v>
                  </c:pt>
                  <c:pt idx="7">
                    <c:v>Jun</c:v>
                  </c:pt>
                  <c:pt idx="8">
                    <c:v>Jul</c:v>
                  </c:pt>
                  <c:pt idx="9">
                    <c:v>Aug</c:v>
                  </c:pt>
                  <c:pt idx="10">
                    <c:v>Sep</c:v>
                  </c:pt>
                  <c:pt idx="11">
                    <c:v>Oct</c:v>
                  </c:pt>
                </c:lvl>
              </c:multiLvlStrCache>
            </c:multiLvlStrRef>
          </c:cat>
          <c:val>
            <c:numRef>
              <c:f>Sheet1!$B$2:$B$13</c:f>
              <c:numCache>
                <c:formatCode>General</c:formatCode>
                <c:ptCount val="12"/>
                <c:pt idx="0">
                  <c:v>15</c:v>
                </c:pt>
                <c:pt idx="1">
                  <c:v>15</c:v>
                </c:pt>
                <c:pt idx="2">
                  <c:v>40</c:v>
                </c:pt>
                <c:pt idx="3">
                  <c:v>50</c:v>
                </c:pt>
                <c:pt idx="4">
                  <c:v>60</c:v>
                </c:pt>
                <c:pt idx="5">
                  <c:v>60</c:v>
                </c:pt>
                <c:pt idx="6">
                  <c:v>60</c:v>
                </c:pt>
                <c:pt idx="7">
                  <c:v>60</c:v>
                </c:pt>
                <c:pt idx="8">
                  <c:v>60</c:v>
                </c:pt>
                <c:pt idx="9">
                  <c:v>80</c:v>
                </c:pt>
                <c:pt idx="10">
                  <c:v>100</c:v>
                </c:pt>
                <c:pt idx="11">
                  <c:v>100</c:v>
                </c:pt>
              </c:numCache>
            </c:numRef>
          </c:val>
        </c:ser>
        <c:dLbls>
          <c:numFmt formatCode="#,##0;&quot;−&quot;#,##0" sourceLinked="0"/>
          <c:txPr>
            <a:bodyPr/>
            <a:lstStyle/>
            <a:p>
              <a:pPr>
                <a:defRPr b="0" i="0" strike="noStrike" sz="1050" u="none">
                  <a:solidFill>
                    <a:srgbClr val="2B2129"/>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1"/>
        <c:axPos val="b"/>
        <c:numFmt formatCode="General" sourceLinked="1"/>
        <c:majorTickMark val="none"/>
        <c:minorTickMark val="none"/>
        <c:tickLblPos val="low"/>
        <c:spPr>
          <a:ln w="12700" cap="flat">
            <a:solidFill>
              <a:srgbClr val="C9BCB5"/>
            </a:solidFill>
            <a:prstDash val="solid"/>
            <a:round/>
          </a:ln>
        </c:spPr>
        <c:txPr>
          <a:bodyPr/>
          <a:lstStyle/>
          <a:p>
            <a:pPr>
              <a:defRPr sz="11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175"/>
          <c:min val="0"/>
        </c:scaling>
        <c:delete val="1"/>
        <c:axPos val="l"/>
        <c:numFmt formatCode="#,##0;&quot;−&quot;#,##0"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Media CAC</c:v>
                </c:pt>
              </c:strCache>
            </c:strRef>
          </c:tx>
          <c:spPr>
            <a:solidFill>
              <a:srgbClr val="C2705C"/>
            </a:solidFill>
            <a:effectLst/>
          </c:spPr>
          <c:invertIfNegative val="0"/>
          <c:dLbls>
            <c:numFmt formatCode="#,##0.0;&quot;−&quot;#,##0.0" sourceLinked="0"/>
            <c:txPr>
              <a:bodyPr/>
              <a:lstStyle/>
              <a:p>
                <a:pPr>
                  <a:defRPr b="0" i="0" strike="noStrike" sz="1100" u="none">
                    <a:solidFill>
                      <a:srgbClr val="2B2129"/>
                    </a:solidFill>
                    <a:latin typeface="+mn-lt"/>
                  </a:defRPr>
                </a:pPr>
              </a:p>
            </c:txPr>
            <c:dLblPos val="outEnd"/>
            <c:showLegendKey val="0"/>
            <c:showVal val="1"/>
            <c:showCatName val="0"/>
            <c:showSerName val="0"/>
            <c:showPercent val="0"/>
            <c:showBubbleSize val="0"/>
            <c:showLeaderLines val="0"/>
          </c:dLbls>
          <c:dPt>
            <c:idx val="0"/>
            <c:invertIfNegative val="0"/>
            <c:bubble3D val="0"/>
            <c:spPr>
              <a:solidFill>
                <a:srgbClr val="C2705C"/>
              </a:solidFill>
              <a:effectLst/>
            </c:spPr>
          </c:dPt>
          <c:dPt>
            <c:idx val="1"/>
            <c:invertIfNegative val="0"/>
            <c:bubble3D val="0"/>
            <c:spPr>
              <a:solidFill>
                <a:srgbClr val="5E2B52"/>
              </a:solidFill>
              <a:effectLst/>
            </c:spPr>
          </c:dPt>
          <c:dPt>
            <c:idx val="2"/>
            <c:invertIfNegative val="0"/>
            <c:bubble3D val="0"/>
            <c:spPr>
              <a:solidFill>
                <a:srgbClr val="9C8794"/>
              </a:solidFill>
              <a:effectLst/>
            </c:spPr>
          </c:dPt>
          <c:cat>
            <c:multiLvlStrRef>
              <c:f>Sheet1!$A$2:$A$4</c:f>
              <c:multiLvlStrCache>
                <c:ptCount val="3"/>
                <c:lvl>
                  <c:pt idx="0">
                    <c:v>Aggressive</c:v>
                  </c:pt>
                  <c:pt idx="1">
                    <c:v>Base</c:v>
                  </c:pt>
                  <c:pt idx="2">
                    <c:v>Conservative</c:v>
                  </c:pt>
                </c:lvl>
              </c:multiLvlStrCache>
            </c:multiLvlStrRef>
          </c:cat>
          <c:val>
            <c:numRef>
              <c:f>Sheet1!$B$2:$B$4</c:f>
              <c:numCache>
                <c:formatCode>General</c:formatCode>
                <c:ptCount val="3"/>
                <c:pt idx="0">
                  <c:v>2.1</c:v>
                </c:pt>
                <c:pt idx="1">
                  <c:v>5.9</c:v>
                </c:pt>
                <c:pt idx="2">
                  <c:v>18.5</c:v>
                </c:pt>
              </c:numCache>
            </c:numRef>
          </c:val>
        </c:ser>
        <c:dLbls>
          <c:numFmt formatCode="#,##0.0;&quot;−&quot;#,##0.0" sourceLinked="0"/>
          <c:txPr>
            <a:bodyPr/>
            <a:lstStyle/>
            <a:p>
              <a:pPr>
                <a:defRPr b="0" i="0" strike="noStrike" sz="1100" u="none">
                  <a:solidFill>
                    <a:srgbClr val="2B2129"/>
                  </a:solidFill>
                  <a:latin typeface="+mn-lt"/>
                </a:defRPr>
              </a:pPr>
            </a:p>
          </c:txPr>
          <c:dLblPos val="outEnd"/>
          <c:showLegendKey val="0"/>
          <c:showVal val="1"/>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Planning case effective CAC</c:v>
                </c:pt>
              </c:strCache>
            </c:strRef>
          </c:tx>
          <c:spPr>
            <a:solidFill>
              <a:srgbClr val="98600F"/>
            </a:solidFill>
            <a:ln w="25400" cap="flat">
              <a:solidFill>
                <a:srgbClr val="98600F"/>
              </a:solidFill>
              <a:prstDash val="dash"/>
              <a:round/>
            </a:ln>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c:symbol val="none"/>
            <c:size val="6"/>
            <c:spPr>
              <a:solidFill>
                <a:srgbClr val="98600F"/>
              </a:solidFill>
              <a:ln w="9525" cap="flat">
                <a:solidFill>
                  <a:srgbClr val="98600F"/>
                </a:solidFill>
                <a:prstDash val="solid"/>
                <a:round/>
              </a:ln>
              <a:effectLst/>
            </c:spPr>
          </c:marker>
          <c:cat>
            <c:multiLvlStrRef>
              <c:f>Sheet1!$A$2:$A$4</c:f>
              <c:multiLvlStrCache>
                <c:ptCount val="3"/>
                <c:lvl>
                  <c:pt idx="0">
                    <c:v>Aggressive</c:v>
                  </c:pt>
                  <c:pt idx="1">
                    <c:v>Base</c:v>
                  </c:pt>
                  <c:pt idx="2">
                    <c:v>Conservative</c:v>
                  </c:pt>
                </c:lvl>
              </c:multiLvlStrCache>
            </c:multiLvlStrRef>
          </c:cat>
          <c:val>
            <c:numRef>
              <c:f>Sheet1!$C$2:$C$4</c:f>
              <c:numCache>
                <c:formatCode>General</c:formatCode>
                <c:ptCount val="3"/>
                <c:pt idx="0">
                  <c:v>11.7</c:v>
                </c:pt>
                <c:pt idx="1">
                  <c:v>11.7</c:v>
                </c:pt>
                <c:pt idx="2">
                  <c:v>11.7</c:v>
                </c:pt>
              </c:numCache>
            </c:numRef>
          </c:val>
          <c:smooth val="0"/>
        </c:ser>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1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22"/>
          <c:min val="0"/>
        </c:scaling>
        <c:delete val="1"/>
        <c:axPos val="l"/>
        <c:numFmt formatCode="#,##0.0;&quot;−&quot;#,##0.0"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Contribution before CAC</c:v>
                </c:pt>
              </c:strCache>
            </c:strRef>
          </c:tx>
          <c:spPr>
            <a:solidFill>
              <a:srgbClr val="5E2B52"/>
            </a:solidFill>
            <a:effectLst/>
          </c:spPr>
          <c:invertIfNegative val="0"/>
          <c:dLbls>
            <c:numFmt formatCode="#,##0.0;&quot;−&quot;#,##0.0;&quot;&quot;"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cat>
            <c:multiLvlStrRef>
              <c:f>Sheet1!$A$2:$A$4</c:f>
              <c:multiLvlStrCache>
                <c:ptCount val="3"/>
                <c:lvl>
                  <c:pt idx="0">
                    <c:v>Today ₹60k incl. kit</c:v>
                  </c:pt>
                  <c:pt idx="1">
                    <c:v>Step 1 ₹75k list</c:v>
                  </c:pt>
                  <c:pt idx="2">
                    <c:v>Step 2 ₹90k list</c:v>
                  </c:pt>
                </c:lvl>
              </c:multiLvlStrCache>
            </c:multiLvlStrRef>
          </c:cat>
          <c:val>
            <c:numRef>
              <c:f>Sheet1!$B$2:$B$4</c:f>
              <c:numCache>
                <c:formatCode>General</c:formatCode>
                <c:ptCount val="3"/>
                <c:pt idx="0">
                  <c:v>22.2</c:v>
                </c:pt>
                <c:pt idx="1">
                  <c:v>39.6</c:v>
                </c:pt>
                <c:pt idx="2">
                  <c:v>50.4</c:v>
                </c:pt>
              </c:numCache>
            </c:numRef>
          </c:val>
        </c:ser>
        <c:ser>
          <c:idx val="1"/>
          <c:order val="1"/>
          <c:tx>
            <c:strRef>
              <c:f>Sheet1!$C$1</c:f>
              <c:strCache>
                <c:ptCount val="1"/>
                <c:pt idx="0">
                  <c:v>After CAC</c:v>
                </c:pt>
              </c:strCache>
            </c:strRef>
          </c:tx>
          <c:spPr>
            <a:solidFill>
              <a:srgbClr val="C2705C"/>
            </a:solidFill>
            <a:effectLst/>
          </c:spPr>
          <c:invertIfNegative val="0"/>
          <c:dLbls>
            <c:numFmt formatCode="#,##0.0;&quot;−&quot;#,##0.0;&quot;&quot;"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cat>
            <c:multiLvlStrRef>
              <c:f>Sheet1!$A$2:$A$4</c:f>
              <c:multiLvlStrCache>
                <c:ptCount val="3"/>
                <c:lvl>
                  <c:pt idx="0">
                    <c:v>Today ₹60k incl. kit</c:v>
                  </c:pt>
                  <c:pt idx="1">
                    <c:v>Step 1 ₹75k list</c:v>
                  </c:pt>
                  <c:pt idx="2">
                    <c:v>Step 2 ₹90k list</c:v>
                  </c:pt>
                </c:lvl>
              </c:multiLvlStrCache>
            </c:multiLvlStrRef>
          </c:cat>
          <c:val>
            <c:numRef>
              <c:f>Sheet1!$C$2:$C$4</c:f>
              <c:numCache>
                <c:formatCode>General</c:formatCode>
                <c:ptCount val="3"/>
                <c:pt idx="0">
                  <c:v>0</c:v>
                </c:pt>
                <c:pt idx="1">
                  <c:v>32</c:v>
                </c:pt>
                <c:pt idx="2">
                  <c:v>42.8</c:v>
                </c:pt>
              </c:numCache>
            </c:numRef>
          </c:val>
        </c:ser>
        <c:dLbls>
          <c:numFmt formatCode="#,##0.0;&quot;−&quot;#,##0.0;&quot;&quot;"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1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l"/>
        <c:numFmt formatCode="#,##0.0;&quot;−&quot;#,##0.0;&quot;&quot;"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050">
              <a:solidFill>
                <a:srgbClr val="6B5F67"/>
              </a:solidFill>
              <a:latin typeface="+mn-lt"/>
              <a:cs typeface="+mn-lt"/>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5E2B52"/>
            </a:solidFill>
            <a:effectLst/>
          </c:spPr>
          <c:invertIfNegative val="0"/>
          <c:dLbls>
            <c:numFmt formatCode="#,##0.0;&quot;−&quot;#,##0.0" sourceLinked="0"/>
            <c:txPr>
              <a:bodyPr/>
              <a:lstStyle/>
              <a:p>
                <a:pPr>
                  <a:defRPr b="0" i="0" strike="noStrike" sz="1000" u="none">
                    <a:solidFill>
                      <a:srgbClr val="2B2129"/>
                    </a:solidFill>
                    <a:latin typeface="+mn-lt"/>
                  </a:defRPr>
                </a:pPr>
              </a:p>
            </c:txPr>
            <c:showLegendKey val="0"/>
            <c:showVal val="1"/>
            <c:showCatName val="0"/>
            <c:showSerName val="0"/>
            <c:showPercent val="0"/>
            <c:showBubbleSize val="0"/>
            <c:showLeaderLines val="0"/>
          </c:dLbls>
          <c:cat>
            <c:multiLvlStrRef>
              <c:f>Sheet1!$A$2:$A$5</c:f>
              <c:multiLvlStrCache>
                <c:ptCount val="4"/>
                <c:lvl>
                  <c:pt idx="0">
                    <c:v>Planning G1 M9 (81)</c:v>
                  </c:pt>
                  <c:pt idx="1">
                    <c:v>Upside G1 M6 (91)</c:v>
                  </c:pt>
                  <c:pt idx="2">
                    <c:v>Base bundle, ref. (89)</c:v>
                  </c:pt>
                  <c:pt idx="3">
                    <c:v>Conservative, ref. (33)</c:v>
                  </c:pt>
                </c:lvl>
              </c:multiLvlStrCache>
            </c:multiLvlStrRef>
          </c:cat>
          <c:val>
            <c:numRef>
              <c:f>Sheet1!$B$2:$B$5</c:f>
              <c:numCache>
                <c:formatCode>General</c:formatCode>
                <c:ptCount val="4"/>
                <c:pt idx="0">
                  <c:v>60.6</c:v>
                </c:pt>
                <c:pt idx="1">
                  <c:v>66.7</c:v>
                </c:pt>
                <c:pt idx="2">
                  <c:v>71</c:v>
                </c:pt>
                <c:pt idx="3">
                  <c:v>17.6</c:v>
                </c:pt>
              </c:numCache>
            </c:numRef>
          </c:val>
        </c:ser>
        <c:ser>
          <c:idx val="1"/>
          <c:order val="1"/>
          <c:tx>
            <c:strRef>
              <c:f>Sheet1!$C$1</c:f>
              <c:strCache>
                <c:ptCount val="1"/>
                <c:pt idx="0">
                  <c:v>EBITDA before founder salary</c:v>
                </c:pt>
              </c:strCache>
            </c:strRef>
          </c:tx>
          <c:spPr>
            <a:solidFill>
              <a:srgbClr val="C2705C"/>
            </a:solidFill>
            <a:effectLst/>
          </c:spPr>
          <c:invertIfNegative val="0"/>
          <c:dLbls>
            <c:numFmt formatCode="#,##0.0;&quot;−&quot;#,##0.0" sourceLinked="0"/>
            <c:txPr>
              <a:bodyPr/>
              <a:lstStyle/>
              <a:p>
                <a:pPr>
                  <a:defRPr b="0" i="0" strike="noStrike" sz="1000" u="none">
                    <a:solidFill>
                      <a:srgbClr val="2B2129"/>
                    </a:solidFill>
                    <a:latin typeface="+mn-lt"/>
                  </a:defRPr>
                </a:pPr>
              </a:p>
            </c:txPr>
            <c:showLegendKey val="0"/>
            <c:showVal val="1"/>
            <c:showCatName val="0"/>
            <c:showSerName val="0"/>
            <c:showPercent val="0"/>
            <c:showBubbleSize val="0"/>
            <c:showLeaderLines val="0"/>
          </c:dLbls>
          <c:cat>
            <c:multiLvlStrRef>
              <c:f>Sheet1!$A$2:$A$5</c:f>
              <c:multiLvlStrCache>
                <c:ptCount val="4"/>
                <c:lvl>
                  <c:pt idx="0">
                    <c:v>Planning G1 M9 (81)</c:v>
                  </c:pt>
                  <c:pt idx="1">
                    <c:v>Upside G1 M6 (91)</c:v>
                  </c:pt>
                  <c:pt idx="2">
                    <c:v>Base bundle, ref. (89)</c:v>
                  </c:pt>
                  <c:pt idx="3">
                    <c:v>Conservative, ref. (33)</c:v>
                  </c:pt>
                </c:lvl>
              </c:multiLvlStrCache>
            </c:multiLvlStrRef>
          </c:cat>
          <c:val>
            <c:numRef>
              <c:f>Sheet1!$C$2:$C$5</c:f>
              <c:numCache>
                <c:formatCode>General</c:formatCode>
                <c:ptCount val="4"/>
                <c:pt idx="0">
                  <c:v>-2.8</c:v>
                </c:pt>
                <c:pt idx="1">
                  <c:v>-0.8</c:v>
                </c:pt>
                <c:pt idx="2">
                  <c:v>6.8</c:v>
                </c:pt>
                <c:pt idx="3">
                  <c:v>-13</c:v>
                </c:pt>
              </c:numCache>
            </c:numRef>
          </c:val>
        </c:ser>
        <c:ser>
          <c:idx val="2"/>
          <c:order val="2"/>
          <c:tx>
            <c:strRef>
              <c:f>Sheet1!$D$1</c:f>
              <c:strCache>
                <c:ptCount val="1"/>
                <c:pt idx="0">
                  <c:v>Peak cash</c:v>
                </c:pt>
              </c:strCache>
            </c:strRef>
          </c:tx>
          <c:spPr>
            <a:solidFill>
              <a:srgbClr val="9C8794"/>
            </a:solidFill>
            <a:effectLst/>
          </c:spPr>
          <c:invertIfNegative val="0"/>
          <c:dLbls>
            <c:numFmt formatCode="#,##0.0;&quot;−&quot;#,##0.0" sourceLinked="0"/>
            <c:txPr>
              <a:bodyPr/>
              <a:lstStyle/>
              <a:p>
                <a:pPr>
                  <a:defRPr b="0" i="0" strike="noStrike" sz="1000" u="none">
                    <a:solidFill>
                      <a:srgbClr val="2B2129"/>
                    </a:solidFill>
                    <a:latin typeface="+mn-lt"/>
                  </a:defRPr>
                </a:pPr>
              </a:p>
            </c:txPr>
            <c:showLegendKey val="0"/>
            <c:showVal val="1"/>
            <c:showCatName val="0"/>
            <c:showSerName val="0"/>
            <c:showPercent val="0"/>
            <c:showBubbleSize val="0"/>
            <c:showLeaderLines val="0"/>
          </c:dLbls>
          <c:cat>
            <c:multiLvlStrRef>
              <c:f>Sheet1!$A$2:$A$5</c:f>
              <c:multiLvlStrCache>
                <c:ptCount val="4"/>
                <c:lvl>
                  <c:pt idx="0">
                    <c:v>Planning G1 M9 (81)</c:v>
                  </c:pt>
                  <c:pt idx="1">
                    <c:v>Upside G1 M6 (91)</c:v>
                  </c:pt>
                  <c:pt idx="2">
                    <c:v>Base bundle, ref. (89)</c:v>
                  </c:pt>
                  <c:pt idx="3">
                    <c:v>Conservative, ref. (33)</c:v>
                  </c:pt>
                </c:lvl>
              </c:multiLvlStrCache>
            </c:multiLvlStrRef>
          </c:cat>
          <c:val>
            <c:numRef>
              <c:f>Sheet1!$D$2:$D$5</c:f>
              <c:numCache>
                <c:formatCode>General</c:formatCode>
                <c:ptCount val="4"/>
                <c:pt idx="0">
                  <c:v>25.2</c:v>
                </c:pt>
                <c:pt idx="1">
                  <c:v>26.5</c:v>
                </c:pt>
                <c:pt idx="2">
                  <c:v>24.6</c:v>
                </c:pt>
                <c:pt idx="3">
                  <c:v>14.9</c:v>
                </c:pt>
              </c:numCache>
            </c:numRef>
          </c:val>
        </c:ser>
        <c:dLbls>
          <c:numFmt formatCode="#,##0.0;&quot;−&quot;#,##0.0" sourceLinked="0"/>
          <c:txPr>
            <a:bodyPr/>
            <a:lstStyle/>
            <a:p>
              <a:pPr>
                <a:defRPr b="0" i="0" strike="noStrike" sz="1000" u="none">
                  <a:solidFill>
                    <a:srgbClr val="2B2129"/>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0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80"/>
          <c:min val="-20"/>
        </c:scaling>
        <c:delete val="1"/>
        <c:axPos val="l"/>
        <c:numFmt formatCode="#,##0.0;&quot;−&quot;#,##0.0"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50">
              <a:solidFill>
                <a:srgbClr val="6B5F67"/>
              </a:solidFill>
              <a:latin typeface="+mn-lt"/>
              <a:cs typeface="+mn-lt"/>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9"/>
          <c:y val="0.05"/>
          <c:w val="0.6617718220733297"/>
          <c:h val="0.78"/>
        </c:manualLayout>
      </c:layout>
      <c:lineChart>
        <c:varyColors val="0"/>
        <c:ser>
          <c:idx val="0"/>
          <c:order val="0"/>
          <c:tx>
            <c:strRef>
              <c:f>Sheet1!$B$1</c:f>
              <c:strCache>
                <c:ptCount val="1"/>
                <c:pt idx="0">
                  <c:v>Cumulative cash</c:v>
                </c:pt>
              </c:strCache>
            </c:strRef>
          </c:tx>
          <c:spPr>
            <a:solidFill>
              <a:srgbClr val="5E2B52"/>
            </a:solidFill>
            <a:ln w="28575" cap="flat">
              <a:solidFill>
                <a:srgbClr val="5E2B52"/>
              </a:solidFill>
              <a:prstDash val="solid"/>
              <a:round/>
            </a:ln>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c:symbol val="circle"/>
            <c:size val="5"/>
            <c:spPr>
              <a:solidFill>
                <a:srgbClr val="5E2B52"/>
              </a:solidFill>
              <a:ln w="9525" cap="flat">
                <a:solidFill>
                  <a:srgbClr val="5E2B52"/>
                </a:solidFill>
                <a:prstDash val="solid"/>
                <a:round/>
              </a:ln>
              <a:effectLst/>
            </c:spPr>
          </c:marker>
          <c:cat>
            <c:multiLvlStrRef>
              <c:f>Sheet1!$A$2:$A$13</c:f>
              <c:multiLvlStrCache>
                <c:ptCount val="12"/>
                <c:lvl>
                  <c:pt idx="0">
                    <c:v>Nov</c:v>
                  </c:pt>
                  <c:pt idx="1">
                    <c:v>Dec</c:v>
                  </c:pt>
                  <c:pt idx="2">
                    <c:v>Jan</c:v>
                  </c:pt>
                  <c:pt idx="3">
                    <c:v>Feb</c:v>
                  </c:pt>
                  <c:pt idx="4">
                    <c:v>Mar</c:v>
                  </c:pt>
                  <c:pt idx="5">
                    <c:v>Apr</c:v>
                  </c:pt>
                  <c:pt idx="6">
                    <c:v>May</c:v>
                  </c:pt>
                  <c:pt idx="7">
                    <c:v>Jun</c:v>
                  </c:pt>
                  <c:pt idx="8">
                    <c:v>Jul</c:v>
                  </c:pt>
                  <c:pt idx="9">
                    <c:v>Aug</c:v>
                  </c:pt>
                  <c:pt idx="10">
                    <c:v>Sep</c:v>
                  </c:pt>
                  <c:pt idx="11">
                    <c:v>Oct</c:v>
                  </c:pt>
                </c:lvl>
              </c:multiLvlStrCache>
            </c:multiLvlStrRef>
          </c:cat>
          <c:val>
            <c:numRef>
              <c:f>Sheet1!$B$2:$B$13</c:f>
              <c:numCache>
                <c:formatCode>General</c:formatCode>
                <c:ptCount val="12"/>
                <c:pt idx="0">
                  <c:v>-3.93</c:v>
                </c:pt>
                <c:pt idx="1">
                  <c:v>-5.85</c:v>
                </c:pt>
                <c:pt idx="2">
                  <c:v>-9.97</c:v>
                </c:pt>
                <c:pt idx="3">
                  <c:v>-11</c:v>
                </c:pt>
                <c:pt idx="4">
                  <c:v>-11.71</c:v>
                </c:pt>
                <c:pt idx="5">
                  <c:v>-11.8</c:v>
                </c:pt>
                <c:pt idx="6">
                  <c:v>-11.43</c:v>
                </c:pt>
                <c:pt idx="7">
                  <c:v>-10.84</c:v>
                </c:pt>
                <c:pt idx="8">
                  <c:v>-25.18</c:v>
                </c:pt>
                <c:pt idx="9">
                  <c:v>-25.06</c:v>
                </c:pt>
                <c:pt idx="10">
                  <c:v>-23.79</c:v>
                </c:pt>
                <c:pt idx="11">
                  <c:v>-22.54</c:v>
                </c:pt>
              </c:numCache>
            </c:numRef>
          </c:val>
          <c:smooth val="0"/>
        </c:ser>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₹15L T1 cap</c:v>
                </c:pt>
              </c:strCache>
            </c:strRef>
          </c:tx>
          <c:spPr>
            <a:solidFill>
              <a:srgbClr val="98600F"/>
            </a:solidFill>
            <a:ln w="12700" cap="flat">
              <a:solidFill>
                <a:srgbClr val="98600F"/>
              </a:solidFill>
              <a:prstDash val="dash"/>
              <a:round/>
            </a:ln>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c:symbol val="none"/>
            <c:size val="6"/>
            <c:spPr>
              <a:solidFill>
                <a:srgbClr val="C2705C"/>
              </a:solidFill>
              <a:ln w="9525" cap="flat">
                <a:solidFill>
                  <a:srgbClr val="98600F"/>
                </a:solidFill>
                <a:prstDash val="solid"/>
                <a:round/>
              </a:ln>
              <a:effectLst/>
            </c:spPr>
          </c:marker>
          <c:cat>
            <c:multiLvlStrRef>
              <c:f>Sheet1!$A$2:$A$13</c:f>
              <c:multiLvlStrCache>
                <c:ptCount val="12"/>
                <c:lvl>
                  <c:pt idx="0">
                    <c:v>Nov</c:v>
                  </c:pt>
                  <c:pt idx="1">
                    <c:v>Dec</c:v>
                  </c:pt>
                  <c:pt idx="2">
                    <c:v>Jan</c:v>
                  </c:pt>
                  <c:pt idx="3">
                    <c:v>Feb</c:v>
                  </c:pt>
                  <c:pt idx="4">
                    <c:v>Mar</c:v>
                  </c:pt>
                  <c:pt idx="5">
                    <c:v>Apr</c:v>
                  </c:pt>
                  <c:pt idx="6">
                    <c:v>May</c:v>
                  </c:pt>
                  <c:pt idx="7">
                    <c:v>Jun</c:v>
                  </c:pt>
                  <c:pt idx="8">
                    <c:v>Jul</c:v>
                  </c:pt>
                  <c:pt idx="9">
                    <c:v>Aug</c:v>
                  </c:pt>
                  <c:pt idx="10">
                    <c:v>Sep</c:v>
                  </c:pt>
                  <c:pt idx="11">
                    <c:v>Oct</c:v>
                  </c:pt>
                </c:lvl>
              </c:multiLvlStrCache>
            </c:multiLvlStrRef>
          </c:cat>
          <c:val>
            <c:numRef>
              <c:f>Sheet1!$C$2:$C$13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ser>
        <c:ser>
          <c:idx val="2"/>
          <c:order val="2"/>
          <c:tx>
            <c:strRef>
              <c:f>Sheet1!$D$1</c:f>
              <c:strCache>
                <c:ptCount val="1"/>
                <c:pt idx="0">
                  <c:v>₹28L KT-11 warning</c:v>
                </c:pt>
              </c:strCache>
            </c:strRef>
          </c:tx>
          <c:spPr>
            <a:solidFill>
              <a:srgbClr val="C2705C"/>
            </a:solidFill>
            <a:ln w="12700" cap="flat">
              <a:solidFill>
                <a:srgbClr val="C2705C"/>
              </a:solidFill>
              <a:prstDash val="dash"/>
              <a:round/>
            </a:ln>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c:symbol val="none"/>
            <c:size val="6"/>
            <c:spPr>
              <a:solidFill>
                <a:srgbClr val="9C8794"/>
              </a:solidFill>
              <a:ln w="9525" cap="flat">
                <a:solidFill>
                  <a:srgbClr val="C2705C"/>
                </a:solidFill>
                <a:prstDash val="solid"/>
                <a:round/>
              </a:ln>
              <a:effectLst/>
            </c:spPr>
          </c:marker>
          <c:cat>
            <c:multiLvlStrRef>
              <c:f>Sheet1!$A$2:$A$13</c:f>
              <c:multiLvlStrCache>
                <c:ptCount val="12"/>
                <c:lvl>
                  <c:pt idx="0">
                    <c:v>Nov</c:v>
                  </c:pt>
                  <c:pt idx="1">
                    <c:v>Dec</c:v>
                  </c:pt>
                  <c:pt idx="2">
                    <c:v>Jan</c:v>
                  </c:pt>
                  <c:pt idx="3">
                    <c:v>Feb</c:v>
                  </c:pt>
                  <c:pt idx="4">
                    <c:v>Mar</c:v>
                  </c:pt>
                  <c:pt idx="5">
                    <c:v>Apr</c:v>
                  </c:pt>
                  <c:pt idx="6">
                    <c:v>May</c:v>
                  </c:pt>
                  <c:pt idx="7">
                    <c:v>Jun</c:v>
                  </c:pt>
                  <c:pt idx="8">
                    <c:v>Jul</c:v>
                  </c:pt>
                  <c:pt idx="9">
                    <c:v>Aug</c:v>
                  </c:pt>
                  <c:pt idx="10">
                    <c:v>Sep</c:v>
                  </c:pt>
                  <c:pt idx="11">
                    <c:v>Oct</c:v>
                  </c:pt>
                </c:lvl>
              </c:multiLvlStrCache>
            </c:multiLvlStrRef>
          </c:cat>
          <c:val>
            <c:numRef>
              <c:f>Sheet1!$D$2:$D$13</c:f>
              <c:numCache>
                <c:formatCode>General</c:formatCode>
                <c:ptCount val="12"/>
                <c:pt idx="0">
                  <c:v>-28</c:v>
                </c:pt>
                <c:pt idx="1">
                  <c:v>-28</c:v>
                </c:pt>
                <c:pt idx="2">
                  <c:v>-28</c:v>
                </c:pt>
                <c:pt idx="3">
                  <c:v>-28</c:v>
                </c:pt>
                <c:pt idx="4">
                  <c:v>-28</c:v>
                </c:pt>
                <c:pt idx="5">
                  <c:v>-28</c:v>
                </c:pt>
                <c:pt idx="6">
                  <c:v>-28</c:v>
                </c:pt>
                <c:pt idx="7">
                  <c:v>-28</c:v>
                </c:pt>
                <c:pt idx="8">
                  <c:v>-28</c:v>
                </c:pt>
                <c:pt idx="9">
                  <c:v>-28</c:v>
                </c:pt>
                <c:pt idx="10">
                  <c:v>-28</c:v>
                </c:pt>
                <c:pt idx="11">
                  <c:v>-28</c:v>
                </c:pt>
              </c:numCache>
            </c:numRef>
          </c:val>
          <c:smooth val="0"/>
        </c:ser>
        <c:ser>
          <c:idx val="3"/>
          <c:order val="3"/>
          <c:tx>
            <c:strRef>
              <c:f>Sheet1!$E$1</c:f>
              <c:strCache>
                <c:ptCount val="1"/>
                <c:pt idx="0">
                  <c:v>₹30L planned</c:v>
                </c:pt>
              </c:strCache>
            </c:strRef>
          </c:tx>
          <c:spPr>
            <a:solidFill>
              <a:srgbClr val="9C8794"/>
            </a:solidFill>
            <a:ln w="12700" cap="flat">
              <a:solidFill>
                <a:srgbClr val="9C8794"/>
              </a:solidFill>
              <a:prstDash val="dash"/>
              <a:round/>
            </a:ln>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c:symbol val="none"/>
            <c:size val="6"/>
            <c:spPr>
              <a:solidFill>
                <a:srgbClr val="3D1A33"/>
              </a:solidFill>
              <a:ln w="9525" cap="flat">
                <a:solidFill>
                  <a:srgbClr val="9C8794"/>
                </a:solidFill>
                <a:prstDash val="solid"/>
                <a:round/>
              </a:ln>
              <a:effectLst/>
            </c:spPr>
          </c:marker>
          <c:cat>
            <c:multiLvlStrRef>
              <c:f>Sheet1!$A$2:$A$13</c:f>
              <c:multiLvlStrCache>
                <c:ptCount val="12"/>
                <c:lvl>
                  <c:pt idx="0">
                    <c:v>Nov</c:v>
                  </c:pt>
                  <c:pt idx="1">
                    <c:v>Dec</c:v>
                  </c:pt>
                  <c:pt idx="2">
                    <c:v>Jan</c:v>
                  </c:pt>
                  <c:pt idx="3">
                    <c:v>Feb</c:v>
                  </c:pt>
                  <c:pt idx="4">
                    <c:v>Mar</c:v>
                  </c:pt>
                  <c:pt idx="5">
                    <c:v>Apr</c:v>
                  </c:pt>
                  <c:pt idx="6">
                    <c:v>May</c:v>
                  </c:pt>
                  <c:pt idx="7">
                    <c:v>Jun</c:v>
                  </c:pt>
                  <c:pt idx="8">
                    <c:v>Jul</c:v>
                  </c:pt>
                  <c:pt idx="9">
                    <c:v>Aug</c:v>
                  </c:pt>
                  <c:pt idx="10">
                    <c:v>Sep</c:v>
                  </c:pt>
                  <c:pt idx="11">
                    <c:v>Oct</c:v>
                  </c:pt>
                </c:lvl>
              </c:multiLvlStrCache>
            </c:multiLvlStrRef>
          </c:cat>
          <c:val>
            <c:numRef>
              <c:f>Sheet1!$E$2:$E$13</c:f>
              <c:numCache>
                <c:formatCode>General</c:formatCode>
                <c:ptCount val="12"/>
                <c:pt idx="0">
                  <c:v>-30</c:v>
                </c:pt>
                <c:pt idx="1">
                  <c:v>-30</c:v>
                </c:pt>
                <c:pt idx="2">
                  <c:v>-30</c:v>
                </c:pt>
                <c:pt idx="3">
                  <c:v>-30</c:v>
                </c:pt>
                <c:pt idx="4">
                  <c:v>-30</c:v>
                </c:pt>
                <c:pt idx="5">
                  <c:v>-30</c:v>
                </c:pt>
                <c:pt idx="6">
                  <c:v>-30</c:v>
                </c:pt>
                <c:pt idx="7">
                  <c:v>-30</c:v>
                </c:pt>
                <c:pt idx="8">
                  <c:v>-30</c:v>
                </c:pt>
                <c:pt idx="9">
                  <c:v>-30</c:v>
                </c:pt>
                <c:pt idx="10">
                  <c:v>-30</c:v>
                </c:pt>
                <c:pt idx="11">
                  <c:v>-30</c:v>
                </c:pt>
              </c:numCache>
            </c:numRef>
          </c:val>
          <c:smooth val="0"/>
        </c:ser>
        <c:ser>
          <c:idx val="4"/>
          <c:order val="4"/>
          <c:tx>
            <c:strRef>
              <c:f>Sheet1!$F$1</c:f>
              <c:strCache>
                <c:ptCount val="1"/>
                <c:pt idx="0">
                  <c:v>₹35L authorised</c:v>
                </c:pt>
              </c:strCache>
            </c:strRef>
          </c:tx>
          <c:spPr>
            <a:solidFill>
              <a:srgbClr val="3D1A33"/>
            </a:solidFill>
            <a:ln w="12700" cap="flat">
              <a:solidFill>
                <a:srgbClr val="3D1A33"/>
              </a:solidFill>
              <a:prstDash val="dash"/>
              <a:round/>
            </a:ln>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c:symbol val="none"/>
            <c:size val="6"/>
            <c:spPr>
              <a:solidFill>
                <a:srgbClr val="C2705C"/>
              </a:solidFill>
              <a:ln w="9525" cap="flat">
                <a:solidFill>
                  <a:srgbClr val="3D1A33"/>
                </a:solidFill>
                <a:prstDash val="solid"/>
                <a:round/>
              </a:ln>
              <a:effectLst/>
            </c:spPr>
          </c:marker>
          <c:cat>
            <c:multiLvlStrRef>
              <c:f>Sheet1!$A$2:$A$13</c:f>
              <c:multiLvlStrCache>
                <c:ptCount val="12"/>
                <c:lvl>
                  <c:pt idx="0">
                    <c:v>Nov</c:v>
                  </c:pt>
                  <c:pt idx="1">
                    <c:v>Dec</c:v>
                  </c:pt>
                  <c:pt idx="2">
                    <c:v>Jan</c:v>
                  </c:pt>
                  <c:pt idx="3">
                    <c:v>Feb</c:v>
                  </c:pt>
                  <c:pt idx="4">
                    <c:v>Mar</c:v>
                  </c:pt>
                  <c:pt idx="5">
                    <c:v>Apr</c:v>
                  </c:pt>
                  <c:pt idx="6">
                    <c:v>May</c:v>
                  </c:pt>
                  <c:pt idx="7">
                    <c:v>Jun</c:v>
                  </c:pt>
                  <c:pt idx="8">
                    <c:v>Jul</c:v>
                  </c:pt>
                  <c:pt idx="9">
                    <c:v>Aug</c:v>
                  </c:pt>
                  <c:pt idx="10">
                    <c:v>Sep</c:v>
                  </c:pt>
                  <c:pt idx="11">
                    <c:v>Oct</c:v>
                  </c:pt>
                </c:lvl>
              </c:multiLvlStrCache>
            </c:multiLvlStrRef>
          </c:cat>
          <c:val>
            <c:numRef>
              <c:f>Sheet1!$F$2:$F$13</c:f>
              <c:numCache>
                <c:formatCode>General</c:formatCode>
                <c:ptCount val="12"/>
                <c:pt idx="0">
                  <c:v>-35</c:v>
                </c:pt>
                <c:pt idx="1">
                  <c:v>-35</c:v>
                </c:pt>
                <c:pt idx="2">
                  <c:v>-35</c:v>
                </c:pt>
                <c:pt idx="3">
                  <c:v>-35</c:v>
                </c:pt>
                <c:pt idx="4">
                  <c:v>-35</c:v>
                </c:pt>
                <c:pt idx="5">
                  <c:v>-35</c:v>
                </c:pt>
                <c:pt idx="6">
                  <c:v>-35</c:v>
                </c:pt>
                <c:pt idx="7">
                  <c:v>-35</c:v>
                </c:pt>
                <c:pt idx="8">
                  <c:v>-35</c:v>
                </c:pt>
                <c:pt idx="9">
                  <c:v>-35</c:v>
                </c:pt>
                <c:pt idx="10">
                  <c:v>-35</c:v>
                </c:pt>
                <c:pt idx="11">
                  <c:v>-35</c:v>
                </c:pt>
              </c:numCache>
            </c:numRef>
          </c:val>
          <c:smooth val="0"/>
        </c:ser>
        <c:dLbls>
          <c:numFmt formatCode="#,##0.0;&quot;−&quot;#,##0.0" sourceLinked="0"/>
          <c:txPr>
            <a:bodyPr/>
            <a:lstStyle/>
            <a:p>
              <a:pPr>
                <a:defRPr b="0" i="0" strike="noStrike" sz="1100" u="none">
                  <a:solidFill>
                    <a:srgbClr val="2B2129"/>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0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0"/>
          <c:min val="-40"/>
        </c:scaling>
        <c:delete val="0"/>
        <c:axPos val="l"/>
        <c:majorGridlines>
          <c:spPr>
            <a:ln w="6350" cap="flat">
              <a:solidFill>
                <a:srgbClr val="E4DAD5"/>
              </a:solidFill>
              <a:prstDash val="solid"/>
              <a:round/>
            </a:ln>
          </c:spPr>
        </c:majorGridlines>
        <c:numFmt formatCode="#,##0;&quot;−&quot;#,##0"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majorUnit val="1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Year-3 revenue</c:v>
                </c:pt>
              </c:strCache>
            </c:strRef>
          </c:tx>
          <c:spPr>
            <a:solidFill>
              <a:srgbClr val="5E2B52"/>
            </a:solidFill>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5E2B52"/>
              </a:solidFill>
              <a:effectLst/>
            </c:spPr>
          </c:dPt>
          <c:dPt>
            <c:idx val="1"/>
            <c:invertIfNegative val="0"/>
            <c:bubble3D val="0"/>
            <c:spPr>
              <a:solidFill>
                <a:srgbClr val="C2705C"/>
              </a:solidFill>
              <a:effectLst/>
            </c:spPr>
          </c:dPt>
          <c:dPt>
            <c:idx val="2"/>
            <c:invertIfNegative val="0"/>
            <c:bubble3D val="0"/>
            <c:spPr>
              <a:solidFill>
                <a:srgbClr val="C2705C"/>
              </a:solidFill>
              <a:effectLst/>
            </c:spPr>
          </c:dPt>
          <c:dPt>
            <c:idx val="3"/>
            <c:invertIfNegative val="0"/>
            <c:bubble3D val="0"/>
            <c:spPr>
              <a:solidFill>
                <a:srgbClr val="C2705C"/>
              </a:solidFill>
              <a:effectLst/>
            </c:spPr>
          </c:dPt>
          <c:dPt>
            <c:idx val="4"/>
            <c:invertIfNegative val="0"/>
            <c:bubble3D val="0"/>
            <c:spPr>
              <a:solidFill>
                <a:srgbClr val="C2705C"/>
              </a:solidFill>
              <a:effectLst/>
            </c:spPr>
          </c:dPt>
          <c:cat>
            <c:multiLvlStrRef>
              <c:f>Sheet1!$A$2:$A$6</c:f>
              <c:multiLvlStrCache>
                <c:ptCount val="5"/>
                <c:lvl>
                  <c:pt idx="0">
                    <c:v>Base business</c:v>
                  </c:pt>
                  <c:pt idx="1">
                    <c:v>Price step 2</c:v>
                  </c:pt>
                  <c:pt idx="2">
                    <c:v>Destination (G2)</c:v>
                  </c:pt>
                  <c:pt idx="3">
                    <c:v>Online (audience gate)</c:v>
                  </c:pt>
                  <c:pt idx="4">
                    <c:v>Adjacents</c:v>
                  </c:pt>
                </c:lvl>
              </c:multiLvlStrCache>
            </c:multiLvlStrRef>
          </c:cat>
          <c:val>
            <c:numRef>
              <c:f>Sheet1!$B$2:$B$6</c:f>
              <c:numCache>
                <c:formatCode>General</c:formatCode>
                <c:ptCount val="5"/>
                <c:pt idx="0">
                  <c:v>108.8</c:v>
                </c:pt>
                <c:pt idx="1">
                  <c:v>15.2</c:v>
                </c:pt>
                <c:pt idx="2">
                  <c:v>21</c:v>
                </c:pt>
                <c:pt idx="3">
                  <c:v>11.4</c:v>
                </c:pt>
                <c:pt idx="4">
                  <c:v>6.5</c:v>
                </c:pt>
              </c:numCache>
            </c:numRef>
          </c:val>
        </c:ser>
        <c:dLbls>
          <c:numFmt formatCode="#,##0.0;&quot;−&quot;#,##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low"/>
        <c:spPr>
          <a:ln w="12700" cap="flat">
            <a:solidFill>
              <a:srgbClr val="C9BCB5"/>
            </a:solidFill>
            <a:prstDash val="solid"/>
            <a:round/>
          </a:ln>
        </c:spPr>
        <c:txPr>
          <a:bodyPr/>
          <a:lstStyle/>
          <a:p>
            <a:pPr>
              <a:defRPr sz="105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135"/>
          <c:min val="0"/>
        </c:scaling>
        <c:delete val="1"/>
        <c:axPos val="b"/>
        <c:numFmt formatCode="#,##0.0;&quot;−&quot;#,##0.0" sourceLinked="0"/>
        <c:majorTickMark val="out"/>
        <c:minorTickMark val="none"/>
        <c:tickLblPos val="low"/>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Cumulative cash</c:v>
                </c:pt>
              </c:strCache>
            </c:strRef>
          </c:tx>
          <c:spPr>
            <a:solidFill>
              <a:srgbClr val="9C8794"/>
            </a:solidFill>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9C8794"/>
              </a:solidFill>
              <a:effectLst/>
            </c:spPr>
          </c:dPt>
          <c:dPt>
            <c:idx val="1"/>
            <c:invertIfNegative val="0"/>
            <c:bubble3D val="0"/>
            <c:spPr>
              <a:solidFill>
                <a:srgbClr val="9C8794"/>
              </a:solidFill>
              <a:effectLst/>
            </c:spPr>
          </c:dPt>
          <c:dPt>
            <c:idx val="2"/>
            <c:invertIfNegative val="0"/>
            <c:bubble3D val="0"/>
            <c:spPr>
              <a:solidFill>
                <a:srgbClr val="5E2B52"/>
              </a:solidFill>
              <a:effectLst/>
            </c:spPr>
          </c:dPt>
          <c:cat>
            <c:multiLvlStrRef>
              <c:f>Sheet1!$A$2:$A$4</c:f>
              <c:multiLvlStrCache>
                <c:ptCount val="3"/>
                <c:lvl>
                  <c:pt idx="0">
                    <c:v>Y1</c:v>
                  </c:pt>
                  <c:pt idx="1">
                    <c:v>Y2</c:v>
                  </c:pt>
                  <c:pt idx="2">
                    <c:v>Y3</c:v>
                  </c:pt>
                </c:lvl>
              </c:multiLvlStrCache>
            </c:multiLvlStrRef>
          </c:cat>
          <c:val>
            <c:numRef>
              <c:f>Sheet1!$B$2:$B$4</c:f>
              <c:numCache>
                <c:formatCode>General</c:formatCode>
                <c:ptCount val="3"/>
                <c:pt idx="0">
                  <c:v>-22.5</c:v>
                </c:pt>
                <c:pt idx="1">
                  <c:v>-12.8</c:v>
                </c:pt>
                <c:pt idx="2">
                  <c:v>22.9</c:v>
                </c:pt>
              </c:numCache>
            </c:numRef>
          </c:val>
        </c:ser>
        <c:dLbls>
          <c:numFmt formatCode="#,##0.0;&quot;−&quot;#,##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1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35"/>
          <c:min val="-35"/>
        </c:scaling>
        <c:delete val="1"/>
        <c:axPos val="l"/>
        <c:numFmt formatCode="#,##0.0;&quot;−&quot;#,##0.0"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swing</c:v>
                </c:pt>
              </c:strCache>
            </c:strRef>
          </c:tx>
          <c:spPr>
            <a:solidFill>
              <a:srgbClr val="C2705C"/>
            </a:solidFill>
            <a:effectLst/>
          </c:spPr>
          <c:invertIfNegative val="0"/>
          <c:dLbls>
            <c:numFmt formatCode="#,##0.0;&quot;−&quot;#,##0.0" sourceLinked="0"/>
            <c:txPr>
              <a:bodyPr/>
              <a:lstStyle/>
              <a:p>
                <a:pPr>
                  <a:defRPr b="0" i="0" strike="noStrike" sz="100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C2705C"/>
              </a:solidFill>
              <a:effectLst/>
            </c:spPr>
          </c:dPt>
          <c:dPt>
            <c:idx val="1"/>
            <c:invertIfNegative val="0"/>
            <c:bubble3D val="0"/>
            <c:spPr>
              <a:solidFill>
                <a:srgbClr val="5E2B52"/>
              </a:solidFill>
              <a:effectLst/>
            </c:spPr>
          </c:dPt>
          <c:dPt>
            <c:idx val="2"/>
            <c:invertIfNegative val="0"/>
            <c:bubble3D val="0"/>
            <c:spPr>
              <a:solidFill>
                <a:srgbClr val="5E2B52"/>
              </a:solidFill>
              <a:effectLst/>
            </c:spPr>
          </c:dPt>
          <c:dPt>
            <c:idx val="3"/>
            <c:invertIfNegative val="0"/>
            <c:bubble3D val="0"/>
            <c:spPr>
              <a:solidFill>
                <a:srgbClr val="5E2B52"/>
              </a:solidFill>
              <a:effectLst/>
            </c:spPr>
          </c:dPt>
          <c:dPt>
            <c:idx val="4"/>
            <c:invertIfNegative val="0"/>
            <c:bubble3D val="0"/>
            <c:spPr>
              <a:solidFill>
                <a:srgbClr val="5E2B52"/>
              </a:solidFill>
              <a:effectLst/>
            </c:spPr>
          </c:dPt>
          <c:dPt>
            <c:idx val="5"/>
            <c:invertIfNegative val="0"/>
            <c:bubble3D val="0"/>
            <c:spPr>
              <a:solidFill>
                <a:srgbClr val="5E2B52"/>
              </a:solidFill>
              <a:effectLst/>
            </c:spPr>
          </c:dPt>
          <c:dPt>
            <c:idx val="6"/>
            <c:invertIfNegative val="0"/>
            <c:bubble3D val="0"/>
            <c:spPr>
              <a:solidFill>
                <a:srgbClr val="5E2B52"/>
              </a:solidFill>
              <a:effectLst/>
            </c:spPr>
          </c:dPt>
          <c:dPt>
            <c:idx val="7"/>
            <c:invertIfNegative val="0"/>
            <c:bubble3D val="0"/>
            <c:spPr>
              <a:solidFill>
                <a:srgbClr val="5E2B52"/>
              </a:solidFill>
              <a:effectLst/>
            </c:spPr>
          </c:dPt>
          <c:cat>
            <c:multiLvlStrRef>
              <c:f>Sheet1!$A$2:$A$9</c:f>
              <c:multiLvlStrCache>
                <c:ptCount val="8"/>
                <c:lvl>
                  <c:pt idx="0">
                    <c:v>Fees</c:v>
                  </c:pt>
                  <c:pt idx="1">
                    <c:v>Conv.</c:v>
                  </c:pt>
                  <c:pt idx="2">
                    <c:v>GST</c:v>
                  </c:pt>
                  <c:pt idx="3">
                    <c:v>Rent</c:v>
                  </c:pt>
                  <c:pt idx="4">
                    <c:v>Var.</c:v>
                  </c:pt>
                  <c:pt idx="5">
                    <c:v>CPL</c:v>
                  </c:pt>
                  <c:pt idx="6">
                    <c:v>Media</c:v>
                  </c:pt>
                  <c:pt idx="7">
                    <c:v>Fill</c:v>
                  </c:pt>
                </c:lvl>
              </c:multiLvlStrCache>
            </c:multiLvlStrRef>
          </c:cat>
          <c:val>
            <c:numRef>
              <c:f>Sheet1!$B$2:$B$9</c:f>
              <c:numCache>
                <c:formatCode>General</c:formatCode>
                <c:ptCount val="8"/>
                <c:pt idx="0">
                  <c:v>19.7</c:v>
                </c:pt>
                <c:pt idx="1">
                  <c:v>12.6</c:v>
                </c:pt>
                <c:pt idx="2">
                  <c:v>10.9</c:v>
                </c:pt>
                <c:pt idx="3">
                  <c:v>6.5</c:v>
                </c:pt>
                <c:pt idx="4">
                  <c:v>5.1</c:v>
                </c:pt>
                <c:pt idx="5">
                  <c:v>2.5</c:v>
                </c:pt>
                <c:pt idx="6">
                  <c:v>1.1</c:v>
                </c:pt>
                <c:pt idx="7">
                  <c:v>0.7</c:v>
                </c:pt>
              </c:numCache>
            </c:numRef>
          </c:val>
        </c:ser>
        <c:dLbls>
          <c:numFmt formatCode="#,##0.0;&quot;−&quot;#,##0.0" sourceLinked="0"/>
          <c:txPr>
            <a:bodyPr/>
            <a:lstStyle/>
            <a:p>
              <a:pPr>
                <a:defRPr b="0" i="0" strike="noStrike" sz="1000" u="none">
                  <a:solidFill>
                    <a:srgbClr val="2B2129"/>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0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0.0;&quot;−&quot;#,##0.0"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EBITDA swing</c:v>
                </c:pt>
              </c:strCache>
            </c:strRef>
          </c:tx>
          <c:spPr>
            <a:solidFill>
              <a:srgbClr val="C2705C"/>
            </a:solidFill>
            <a:effectLst/>
          </c:spPr>
          <c:invertIfNegative val="0"/>
          <c:dLbls>
            <c:numFmt formatCode="#,##0.0;&quot;−&quot;#,##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dPt>
            <c:idx val="0"/>
            <c:invertIfNegative val="0"/>
            <c:bubble3D val="0"/>
            <c:spPr>
              <a:solidFill>
                <a:srgbClr val="C2705C"/>
              </a:solidFill>
              <a:effectLst/>
            </c:spPr>
          </c:dPt>
          <c:dPt>
            <c:idx val="1"/>
            <c:invertIfNegative val="0"/>
            <c:bubble3D val="0"/>
            <c:spPr>
              <a:solidFill>
                <a:srgbClr val="C2705C"/>
              </a:solidFill>
              <a:effectLst/>
            </c:spPr>
          </c:dPt>
          <c:dPt>
            <c:idx val="2"/>
            <c:invertIfNegative val="0"/>
            <c:bubble3D val="0"/>
            <c:spPr>
              <a:solidFill>
                <a:srgbClr val="C2705C"/>
              </a:solidFill>
              <a:effectLst/>
            </c:spPr>
          </c:dPt>
          <c:dPt>
            <c:idx val="3"/>
            <c:invertIfNegative val="0"/>
            <c:bubble3D val="0"/>
            <c:spPr>
              <a:solidFill>
                <a:srgbClr val="5E2B52"/>
              </a:solidFill>
              <a:effectLst/>
            </c:spPr>
          </c:dPt>
          <c:dPt>
            <c:idx val="4"/>
            <c:invertIfNegative val="0"/>
            <c:bubble3D val="0"/>
            <c:spPr>
              <a:solidFill>
                <a:srgbClr val="5E2B52"/>
              </a:solidFill>
              <a:effectLst/>
            </c:spPr>
          </c:dPt>
          <c:dPt>
            <c:idx val="5"/>
            <c:invertIfNegative val="0"/>
            <c:bubble3D val="0"/>
            <c:spPr>
              <a:solidFill>
                <a:srgbClr val="5E2B52"/>
              </a:solidFill>
              <a:effectLst/>
            </c:spPr>
          </c:dPt>
          <c:dPt>
            <c:idx val="6"/>
            <c:invertIfNegative val="0"/>
            <c:bubble3D val="0"/>
            <c:spPr>
              <a:solidFill>
                <a:srgbClr val="5E2B52"/>
              </a:solidFill>
              <a:effectLst/>
            </c:spPr>
          </c:dPt>
          <c:dPt>
            <c:idx val="7"/>
            <c:invertIfNegative val="0"/>
            <c:bubble3D val="0"/>
            <c:spPr>
              <a:solidFill>
                <a:srgbClr val="5E2B52"/>
              </a:solidFill>
              <a:effectLst/>
            </c:spPr>
          </c:dPt>
          <c:cat>
            <c:multiLvlStrRef>
              <c:f>Sheet1!$A$2:$A$9</c:f>
              <c:multiLvlStrCache>
                <c:ptCount val="8"/>
                <c:lvl>
                  <c:pt idx="0">
                    <c:v>Fees ×0.8/×1.15 (₹33.3L)</c:v>
                  </c:pt>
                  <c:pt idx="1">
                    <c:v>Conversion ×0.8/×1.2 (₹29.7L)</c:v>
                  </c:pt>
                  <c:pt idx="2">
                    <c:v>GST on top vs absorbed (₹19.1L if on top)</c:v>
                  </c:pt>
                  <c:pt idx="3">
                    <c:v>Rent ₹130/₹47 per sq ft (₹29.6L)</c:v>
                  </c:pt>
                  <c:pt idx="4">
                    <c:v>Variable cost ×1.25/×0.75 (₹27.2L)</c:v>
                  </c:pt>
                  <c:pt idx="5">
                    <c:v>CPL ×1.3/×0.7 (₹26.0L)</c:v>
                  </c:pt>
                  <c:pt idx="6">
                    <c:v>Media ±30% (₹24.8L / ₹26.2L)</c:v>
                  </c:pt>
                  <c:pt idx="7">
                    <c:v>Cohort fill ×0.8/×1.2 (₹25.7L)</c:v>
                  </c:pt>
                </c:lvl>
              </c:multiLvlStrCache>
            </c:multiLvlStrRef>
          </c:cat>
          <c:val>
            <c:numRef>
              <c:f>Sheet1!$B$2:$B$9</c:f>
              <c:numCache>
                <c:formatCode>General</c:formatCode>
                <c:ptCount val="8"/>
                <c:pt idx="0">
                  <c:v>19.7</c:v>
                </c:pt>
                <c:pt idx="1">
                  <c:v>12.6</c:v>
                </c:pt>
                <c:pt idx="2">
                  <c:v>10.9</c:v>
                </c:pt>
                <c:pt idx="3">
                  <c:v>6.5</c:v>
                </c:pt>
                <c:pt idx="4">
                  <c:v>5.1</c:v>
                </c:pt>
                <c:pt idx="5">
                  <c:v>2.5</c:v>
                </c:pt>
                <c:pt idx="6">
                  <c:v>1.1</c:v>
                </c:pt>
                <c:pt idx="7">
                  <c:v>0.7</c:v>
                </c:pt>
              </c:numCache>
            </c:numRef>
          </c:val>
        </c:ser>
        <c:dLbls>
          <c:numFmt formatCode="#,##0.0;&quot;−&quot;#,##0.0" sourceLinked="0"/>
          <c:txPr>
            <a:bodyPr/>
            <a:lstStyle/>
            <a:p>
              <a:pPr>
                <a:defRPr b="0" i="0" strike="noStrike" sz="1100" u="none">
                  <a:solidFill>
                    <a:srgbClr val="2B2129"/>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low"/>
        <c:spPr>
          <a:ln w="12700" cap="flat">
            <a:solidFill>
              <a:srgbClr val="C9BCB5"/>
            </a:solidFill>
            <a:prstDash val="solid"/>
            <a:round/>
          </a:ln>
        </c:spPr>
        <c:txPr>
          <a:bodyPr/>
          <a:lstStyle/>
          <a:p>
            <a:pPr>
              <a:defRPr sz="105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24"/>
          <c:min val="0"/>
        </c:scaling>
        <c:delete val="1"/>
        <c:axPos val="b"/>
        <c:numFmt formatCode="#,##0.0;&quot;−&quot;#,##0.0" sourceLinked="0"/>
        <c:majorTickMark val="out"/>
        <c:minorTickMark val="none"/>
        <c:tickLblPos val="low"/>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5"/>
          <c:y val="0.1"/>
          <c:w val="0.93"/>
          <c:h val="0.72"/>
        </c:manualLayout>
      </c:layout>
      <c:barChart>
        <c:barDir val="col"/>
        <c:grouping val="clustered"/>
        <c:varyColors val="0"/>
        <c:ser>
          <c:idx val="0"/>
          <c:order val="0"/>
          <c:tx>
            <c:strRef>
              <c:f>Sheet1!$B$1</c:f>
              <c:strCache>
                <c:ptCount val="1"/>
                <c:pt idx="0">
                  <c:v>Adopted 8-weekly</c:v>
                </c:pt>
              </c:strCache>
            </c:strRef>
          </c:tx>
          <c:spPr>
            <a:solidFill>
              <a:srgbClr val="5E2B52"/>
            </a:solidFill>
            <a:effectLst/>
          </c:spPr>
          <c:invertIfNegative val="0"/>
          <c:dLbls>
            <c:numFmt formatCode="#,##0.0;&quot;−&quot;#,##0.0;&quot;&quot;"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Sheet1!$A$2:$A$11</c:f>
              <c:multiLvlStrCache>
                <c:ptCount val="10"/>
                <c:lvl>
                  <c:pt idx="0">
                    <c:v>4 Jan</c:v>
                  </c:pt>
                  <c:pt idx="1">
                    <c:v>1 Mar</c:v>
                  </c:pt>
                  <c:pt idx="2">
                    <c:v>12 Apr</c:v>
                  </c:pt>
                  <c:pt idx="3">
                    <c:v>26 Apr</c:v>
                  </c:pt>
                  <c:pt idx="4">
                    <c:v>24 May</c:v>
                  </c:pt>
                  <c:pt idx="5">
                    <c:v>21 Jun</c:v>
                  </c:pt>
                  <c:pt idx="6">
                    <c:v>5 Jul</c:v>
                  </c:pt>
                  <c:pt idx="7">
                    <c:v>16 Aug</c:v>
                  </c:pt>
                  <c:pt idx="8">
                    <c:v>27 Sep</c:v>
                  </c:pt>
                  <c:pt idx="9">
                    <c:v>11 Oct</c:v>
                  </c:pt>
                </c:lvl>
              </c:multiLvlStrCache>
            </c:multiLvlStrRef>
          </c:cat>
          <c:val>
            <c:numRef>
              <c:f>Sheet1!$B$2:$B$11</c:f>
              <c:numCache>
                <c:formatCode>General</c:formatCode>
                <c:ptCount val="10"/>
                <c:pt idx="0">
                  <c:v>3.2</c:v>
                </c:pt>
                <c:pt idx="1">
                  <c:v>5.6</c:v>
                </c:pt>
                <c:pt idx="2">
                  <c:v>0</c:v>
                </c:pt>
                <c:pt idx="3">
                  <c:v>8.7</c:v>
                </c:pt>
                <c:pt idx="4">
                  <c:v>0</c:v>
                </c:pt>
                <c:pt idx="5">
                  <c:v>9.4</c:v>
                </c:pt>
                <c:pt idx="6">
                  <c:v>0</c:v>
                </c:pt>
                <c:pt idx="7">
                  <c:v>9.1</c:v>
                </c:pt>
                <c:pt idx="8">
                  <c:v>0</c:v>
                </c:pt>
                <c:pt idx="9">
                  <c:v>10.1</c:v>
                </c:pt>
              </c:numCache>
            </c:numRef>
          </c:val>
        </c:ser>
        <c:ser>
          <c:idx val="1"/>
          <c:order val="1"/>
          <c:tx>
            <c:strRef>
              <c:f>Sheet1!$C$1</c:f>
              <c:strCache>
                <c:ptCount val="1"/>
                <c:pt idx="0">
                  <c:v>6-weekly alternative</c:v>
                </c:pt>
              </c:strCache>
            </c:strRef>
          </c:tx>
          <c:spPr>
            <a:solidFill>
              <a:srgbClr val="9C8794"/>
            </a:solidFill>
            <a:effectLst/>
          </c:spPr>
          <c:invertIfNegative val="0"/>
          <c:dLbls>
            <c:numFmt formatCode="#,##0.0;&quot;−&quot;#,##0.0;&quot;&quot;"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Sheet1!$A$2:$A$11</c:f>
              <c:multiLvlStrCache>
                <c:ptCount val="10"/>
                <c:lvl>
                  <c:pt idx="0">
                    <c:v>4 Jan</c:v>
                  </c:pt>
                  <c:pt idx="1">
                    <c:v>1 Mar</c:v>
                  </c:pt>
                  <c:pt idx="2">
                    <c:v>12 Apr</c:v>
                  </c:pt>
                  <c:pt idx="3">
                    <c:v>26 Apr</c:v>
                  </c:pt>
                  <c:pt idx="4">
                    <c:v>24 May</c:v>
                  </c:pt>
                  <c:pt idx="5">
                    <c:v>21 Jun</c:v>
                  </c:pt>
                  <c:pt idx="6">
                    <c:v>5 Jul</c:v>
                  </c:pt>
                  <c:pt idx="7">
                    <c:v>16 Aug</c:v>
                  </c:pt>
                  <c:pt idx="8">
                    <c:v>27 Sep</c:v>
                  </c:pt>
                  <c:pt idx="9">
                    <c:v>11 Oct</c:v>
                  </c:pt>
                </c:lvl>
              </c:multiLvlStrCache>
            </c:multiLvlStrRef>
          </c:cat>
          <c:val>
            <c:numRef>
              <c:f>Sheet1!$C$2:$C$11</c:f>
              <c:numCache>
                <c:formatCode>General</c:formatCode>
                <c:ptCount val="10"/>
                <c:pt idx="0">
                  <c:v>3.2</c:v>
                </c:pt>
                <c:pt idx="1">
                  <c:v>5.6</c:v>
                </c:pt>
                <c:pt idx="2">
                  <c:v>6.3</c:v>
                </c:pt>
                <c:pt idx="3">
                  <c:v>0</c:v>
                </c:pt>
                <c:pt idx="4">
                  <c:v>7.2</c:v>
                </c:pt>
                <c:pt idx="5">
                  <c:v>0</c:v>
                </c:pt>
                <c:pt idx="6">
                  <c:v>6.8</c:v>
                </c:pt>
                <c:pt idx="7">
                  <c:v>6.9</c:v>
                </c:pt>
                <c:pt idx="8">
                  <c:v>7.5</c:v>
                </c:pt>
                <c:pt idx="9">
                  <c:v>0</c:v>
                </c:pt>
              </c:numCache>
            </c:numRef>
          </c:val>
        </c:ser>
        <c:dLbls>
          <c:numFmt formatCode="#,##0.0;&quot;−&quot;#,##0.0;&quot;&quot;"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9BCB5"/>
            </a:solidFill>
            <a:prstDash val="solid"/>
            <a:round/>
          </a:ln>
        </c:spPr>
        <c:txPr>
          <a:bodyPr/>
          <a:lstStyle/>
          <a:p>
            <a:pPr>
              <a:defRPr sz="1000" b="0" i="0" u="none" strike="noStrike">
                <a:solidFill>
                  <a:srgbClr val="6B5F67"/>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l"/>
        <c:numFmt formatCode="#,##0.0;&quot;−&quot;#,##0.0;&quot;&quot;" sourceLinked="0"/>
        <c:majorTickMark val="out"/>
        <c:minorTickMark val="none"/>
        <c:tickLblPos val="nextTo"/>
        <c:spPr>
          <a:ln w="12700" cap="flat">
            <a:noFill/>
            <a:prstDash val="solid"/>
            <a:round/>
          </a:ln>
        </c:spPr>
        <c:txPr>
          <a:bodyPr/>
          <a:lstStyle/>
          <a:p>
            <a:pPr>
              <a:defRPr sz="1000" b="0" i="0" u="none" strike="noStrike">
                <a:solidFill>
                  <a:srgbClr val="6B5F67"/>
                </a:solidFill>
                <a:latin typeface="+mn-lt"/>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50">
              <a:solidFill>
                <a:srgbClr val="6B5F67"/>
              </a:solidFill>
              <a:latin typeface="+mn-lt"/>
              <a:cs typeface="+mn-lt"/>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answers six questions in order: how big the opportunity is, what we found, what PNA should do, why, what it takes, and what happens next. Everything is labelled by evidence strength. The final slide is a decision list, not a thank-you.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independent review confirmed the direction and corrected three things: the money, the gate timing and who owns execution. This slide states the corrected recommendation. The next slide shows what it earns, costs and can lose, so the founder sees the whole shape before any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shape of the institution path is a three-year payback on a key-person business with a lease, in exchange for a business that can run without the founder. Year 3 is a gated number, not a forecast: a third of it depends on a price step and a regional engine that are not yet evidenced. The founder must choose between the boutique and the institution with these numbers in front of her (decision D2 on slide 24).
Detail: Year-1 EBITDA is −₹2.8L before founder salary and −₹11.8L after ₹75k/month. Year 3: ₹162.9L / ₹39.3L, but ₹54.1L (33%) sits behind price step 2 and gate G2; without them ₹108.8L and roughly zero EBITDA. Payback M29 before her salary, M40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never saw PNA's own records, and our tools could not open Instagram, Google Maps or Justdial, so the "invisible" finding is tool-limited and must be checked by phone and app before the first meeting. If the founder has a real following or a strong Google rating, the proof timeline and price path move earlier. Everything downstream is a plan for a hypothetical academy until the data pull (D1)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17x width of the India band comes from unobserved fee mix and the share of beauty learners who choose makeup, not from learner counts. The tricity number replaces the research file's ₹5.7 cr, which counted makeup and beauty-artistry learners together. The SOM is a plan output checked against the market for plausibility, not a share-of-market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tricity is a strong, affluent base and a plausible destination hub, but too small to be the whole story at the plan's fee. The cheap test is to tag every lead by city from month 1 and run a six-student Destination pilot in the August–September 2027 intakes; regional spend waits for gate G2. In the first year the binding constraints are seats in the studio, visibility and the founder's hours, not market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segment order is about where proof and profit come from, not just size. S3 matters beyond its revenue: working artists are the warm audience for masterclasses and the pool from which PNA's trainers will come. Parents are treated as a decision unit with their own message track, because they hold the veto on the high-ticket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serious player runs the same machine: a lead form, a counsellor, a demo and financing, with discount anchoring on top. What none of them does is publish fees with inclusions or cohort outcomes. That is the gap PNA can occupy, and the next slide says how, and why it is only a head start, not a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positioning is deliberately the opposite of the Sector 34A institutes: depth not breadth, proof not claims, a stated batch cap and stated founder hours. The weak point is that the proof does not exist yet in any form we could verify. Every claim marked "build" stays off the advertising until the asset exists, which is why the first 90 days are about proof, not reach.
Trust moves from the founder to three owned assets: the PNA Method, PNA Certified Educators, published PNA Alumni outcomes. Keep the founder's name as masterbrand.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components like masterclasses score highest, which is expected: they are cheap and founder-aligned but have a small ceiling, so they are parts of the primary model rather than engines. Among models that can carry the business, the integrated flagship ranks first under all three weightings, and every physical-expansion, pure-digital, marketplace and government option stays in the bottom half. The rejections are rejected on numbers, not taste.
Also from the model: a franchise earns ≈₹2L a year per unit after support; destination students and a partner satellite are positive at small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workstream called this the "Hybrid Chandigarh Flagship"; we renamed it because in Year 1 the hybrid element is a feature, not the model, and the recorded library waits for Year 2. The studio stays a separate business: it is the academy's proof and practice engine and the default source of the founder's income in Year 1, not an academy revenue line. The step-back is paced by evidence that trainer-led cohorts match founder-led ones, not by the calendar.
Takeaway: a Destination format is the second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follows cost and reversibility: fix visibility and response first, grow regionally without fixed cost, add a site only when one city shows demand that converts but is blocked by distance. The empirical question is how much a local site lifts enrolment; only a lift of about 2.4x justifies a partner site and about 3x an owned one. The reference point is Mao Geping, which took 24 years to reach nine campuses.
Feeder roles: Ludhiana (priority feeder, first satellite candidate), Jalandhar, Amritsar (hybrid), Patiala and Ambala (commuters), Shimla/Solan (seasonal), Jammu (online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is the biggest lever in the model and the least tested: the plan assumes no loss of demand at a 45% higher all-in cost, and we have no willingness-to-pay evidence yet. That is why the price rises in two steps tied to proof, with a rollback rule if conversion falls more than 20% after a step, and why the V3 interviews now include a price-ladder question at ₹60k, ₹75k and ₹90k. The ladder itself is a hypothesis to publish and test, not a fact.
Families see the all-in cost on every fee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that WhatsApp beats a website-first funnel is right but incomplete: WhatsApp captures and nurtures, but a high-ticket course is closed at a visit with the parent in the room. Speed-to-lead discipline costs nothing, so it stays, but the "1.5x media" benefit is the output of a vendor benchmark we have not tested; the January–March SLA pilot decides. The organic and referral lines are the least evidenced part of this funnel and are re-based in February on real CRM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matters: it is mid-October, the wedding season starts now and fills the founder's calendar, so November to February is for foundations, real-bride content and masterclasses in the lean months, with paid tests from January. In the planning case the media ramp lands on the August–October pre-season window and the May–July student peak runs at test-level spend; that is the cost of waiting for evidence. Each gate turning amber freezes increases; red rolls spend back to the last green level. The Q4 ramp to ₹1.0L/month is not pre-approved: at G1 the founder decides whether to accept the planning case's 53% fully loaded reading (red) or take the ₹70k/month option.
Phases: 0 Foundations (19 Oct–22 Nov 2026) · 1 Test &amp; Prove (to 28 Feb 2027; tests T1–T8 from G0; Outcomes Report by 31 Jan) · 2 Scale the flagship (Mar–Jul, inside the T1 cap) · 3 Extend (Aug–Oct).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academy does not need an enterprise CRM; it needs one inbox, one record per person, timers that make the five-minute standard visible, and conversion events sent back to the ad platforms so paid media optimises on qualified leads and enrolments rather than clicks. Buy only what spend gates SG1 and SG2 require. The recorded pre-work library and LMS wait for Year 2; the Destination pilot runs its pre-work live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an investor will push on, so it says the uncomfortable thing first: the two workbooks agree by construction, not evidence, and the Year-1 plan is acquisition-inefficient by design because the growth team is hired ahead of volume to build proof. SG4's 40% line stays the gate; amber means a founder review, not a pass, and green is a Year-2 expectation. The January–March paid tests replace the calibration with measured cost per enrolment.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gate is an economic hinge, not a marketing milestone: at today's fee a 12-seat batch needs eight students to cover its trainer and occupancy cost, which is why the business cannot carry salaried trainers without the price step. The founder's unpaid teaching is today's margin; the step-back is affordable only at roughly six or more career enrolments a month after the full price step. A chartered accountant's opinion on GST is worth about ₹11 lakh a year and is decision D8.
Step 1: ₹39.6k before CAC, ₹32.0k after; break-even 38%. Step 2 (₹80k realised, ₹67.8k ex-GST): ₹50.4k (74%) / ₹42.8k; break-even 30% (3.6 of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T1 team is the proof engine and includes the execution owner, so we did not shrink it; its burn at adverse rates (about ₹2.3L a month) is governed by a mandatory cut at the March review, not by a smaller team. Even after the deep cut the business still burns about ₹0.9L a month at adverse rates, so a failed Tranche 1 means reverting to the boutique model, not waiting. Once the lease is signed the floor is ₹32–33L; the only protection is reading G1 on actual May–July results, never on a forecast of them.
Planning case: ₹60.6L revenue, −₹2.8L EBITDA, 81 enrolments, peak cash ₹25.2L (M9, fit-out month). The T1 cap and KT-1a are read on the academy's cash before any founder draw; the default (D6b) is that the studio pays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never shows the ₹163L case alone: the ₹109L base business sits beside it so that the founder and any investor can see how much depends on a price step and a regional engine that are not yet evidenced. Read the IRR as the return on the cash actually drawn, with no terminal value, so it understates a business still growing at month 36. If step 2 and G2 never land, the base business returns nothing within five years on this cost base, and the cost base would have to be re-sized.
Takeaway: payback M29 (IRR 46% to M36) before the founder's salary, M40 (−10%)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 days build the machine; they do not buy growth. The independent review found thirteen workstreams and about ten hires run by nobody, so the plan now has an owner (the Admissions &amp; Operations Lead, decision D5a, blocking) and a scope cut to the G0 criteria plus the first cohort; SEO pages beyond the first five, YouTube and the second interview wave move to February. The first cohort is expected to under-fill (about three students) and that is planned for.
Day 0–7: founder verifies her real footprint (D9), supplies her numbers (D1), posts the Operations Lead role (D5a), claims Google Business Profile, opens the academy Instagram, briefs the Lead Trainer search (two finalists), engages a CA on GST and counsel on the lease checklist. By end-January: B&amp;WSSC enquiry lodged; first Alumni Outcomes Report by 31 January; paid tests ≤₹15k/month until G0.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year has one job: prove the flagship on today's studio inside the Tranche-1 budget, then build it out at G1. The old gate test (two cohorts three-quarters full of twelve) is never met in Year 1 on any run, so G1 is now measured against the stations in the room, and the intake calendar runs eight-weekly from March, the only modelled calendar on which the studio cohorts pass and both post-move cohorts reach nine of twelve. The hidden constraint is founder hours, not share: on the planning case her teaching reaches 114 hours in August, and if she exceeds 110 hours for two months running the second trainer is pulled forward or takes more slots.
Planning case by quarter: revenue ₹5.5L / ₹13.4L / ₹16.6L / ₹25.0L; EBITDA −₹6.7L / −₹1.0L / +₹1.3L / +₹3.5L; career enrolments 8.0 / 18.7 / 21.9 / 32.4. Intakes: 21 Jun (≈9.4) is the first cohort to meet the station test ≥6 of 8 (M8); 16 Aug ≈9.1 of 12; 11 Oct ≈10.1 of 12. Space: heads of terms Jun–Jul subject to G1; lease, deposit and fit-out in the week of 26 Jul. Destination: partner search Mar, 2–3 partners Apr; pop-ups Ludhiana Sep, Patiala Oct, ≤₹2L.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independent review's five decisive assumptions are the price path, the enrolment ramp, the funnel rates, the trainer hire and the gate timing; each now has a test with a date and a trigger that acts on the result. The tornado is run on the recommended plan, not the unstaged Base, so the headroom it shows is the real one: fees 20% low would take peak cash to ₹33.3L, inside the ₹35L authorisation only because the contingency exists. None of these risks is new; what is new is that each has an owner who is not the founder doing the work.
Tornado (planning-case Year-1 EBITDA swing, ₹ lakh): fees 19.7 · conversion 12.6 · GST 10.9 · rent 6.5 · variable cost 5.1 · CPL 2.5 · media ±30% 1.1 · cohort fill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this plan starts until the Operations Lead is hired or the 90-day scope is cut to the G0 criteria plus cohort one; that is why D5a is marked blocking. The founder's day-0 job is a thirty-minute check of her real digital footprint by phone and app, because the "invisible" finding came from tools that could not open Instagram or Maps. We close on decisions, not thanks: the next meeting should open with D1's data and the D2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reconciliation explains 5.76x of the 10.5x learner gap between the two research streams by scope, inflow, workforce intensity and urban concentration; a 1.82x residual is kept as evidence that the tricity is a makeup-academy hot-spot. The scope guardrail matters for credibility: the education TAM is about 0.5% of the beauty-and-salon sector, so quoting the sector would overstate the opportunity about 200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downgraded H7 from "supported" to "plausible, untested" because its evidence was circular, and re-tagged two headline facts as commissioned surveys. Nothing in the plan depends on H7 being true, because the response-time standard costs nothing. The expensive bets, H2 and the price path, are gated behind pilots that cost almost nothing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G1 test could not be passed on the plan's own numbers, so it was restated against the stations in the room and moved to a reading on actual May–July results. Spend gates are separate from stage gates on purpose: media moves week to week on SG1–SG5, while leases, hires and price steps move only on G0–G3b. The SG4 amber band is not a pass; it triggers a founder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Appendix A3 · Gate definitions. The old G1 test could not be passed on the plan's own numbers, so it was restated against the stations in the room and moved to a reading on actual May–July results. Spend gates are separate from stage gates on purpose: media moves week to week on SG1–SG5, while leases, hires and price steps move only on G0–G3b. The SG4 amber band is not a pass; it triggers a founder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found the original triggers mis-timed against the plan they policed: KT-2 was half-tripped by the plan's own first cohort, KT-3 fired too late, and the old KT-10 assumed a pivot that is impossible once a lease is signed. The adopted set is ramp-aware before the move and a priced exit after it. KT-11 is a warning line, not a protection; the real protections are KT-1a before the lease and KT-10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Continuation of Appendix A4 · Kill and pivot triggers. The review found the original triggers mis-timed against the plan they policed: KT-2 was half-tripped by the plan's own first cohort, KT-3 fired too late, and the old KT-10 assumed a pivot that is impossible once a lease is signed. The adopted set is ramp-aware before the move and a priced exit after it. KT-11 is a warning line, not a protection; the real protections are KT-1a before the lease and KT-10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is the largest and least-tested lever, which is the reason for the two-step path and the willingness-to-pay block in the interviews. The masterclass line is the second-largest unevidenced volume: 153 seats in Year 1 assume a warm working-artist audience that we could not verify, so the ramp is tied to the first masterclass's sell-through in January. The non-paid engine's +60% lift is re-based in February on real CRM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conclusions were adopted: the T1 cap is a hard stop reviewed monthly from February with a mandatory deep cut in March; the ₹10L-plan cost base is not a resting state at adverse rates, so the stop-loss goes deeper and a failed Tranche 1 means reverting to the boutique model; and once Tranche 2 is spent the floor is ₹32–33L, protected only by the pre-lease evidence rule. The ₹28.7L figure belongs to a shallow cut and is not the adopted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Cohorts one and two are expected to under-fill and are exempt from the kill trigger. The six-weekly rhythm passes one cohort earlier but leaves the 16 August intake only a six-week enrolment window, so it cannot fill a twelve-station room; any post-move test would then fail on the plan's own path. The calendar changes which cohort a student joins, not how many enrol, so modelled revenue and trainer hours are unchanged until the deferred run.
Takeaway: only the 8-weekly calendar also fills a 12-station room after the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arbitration log is kept in the appendix on purpose: every overrule of a workstream recommendation is explained, modelled and traceable. The one question the deck still cannot answer is the first one, what PNA actually makes today, and that is decision D1.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deck's number discipline is its credibility: one source of numbers, assumption IDs on every input, superseded figures kept in an audit note. The outstanding runs refine the downside and the share test; none of them changes the recommendation, the ask or the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NA_CONTENT">
    <p:bg>
      <p:bgPr>
        <a:solidFill>
          <a:schemeClr val="bg2"/>
        </a:solidFill>
      </p:bgPr>
    </p:bg>
    <p:spTree>
      <p:nvGrpSpPr>
        <p:cNvPr id="1" name=""/>
        <p:cNvGrpSpPr/>
        <p:nvPr/>
      </p:nvGrpSpPr>
      <p:grpSpPr>
        <a:xfrm>
          <a:off x="0" y="0"/>
          <a:ext cx="0" cy="0"/>
          <a:chOff x="0" y="0"/>
          <a:chExt cx="0" cy="0"/>
        </a:xfrm>
      </p:grpSpPr>
      <p:sp>
        <p:nvSpPr>
          <p:cNvPr id="2" name="Brand label"/>
          <p:cNvSpPr/>
          <p:nvPr/>
        </p:nvSpPr>
        <p:spPr>
          <a:xfrm>
            <a:off x="7436815" y="329184"/>
            <a:ext cx="4206240" cy="256032"/>
          </a:xfrm>
          <a:prstGeom prst="rect">
            <a:avLst/>
          </a:prstGeom>
          <a:noFill/>
          <a:ln/>
        </p:spPr>
        <p:txBody>
          <a:bodyPr wrap="square" lIns="0" tIns="0" rIns="0" bIns="0" rtlCol="0" anchor="ctr"/>
          <a:lstStyle/>
          <a:p>
            <a:pPr algn="r" indent="0" marL="0">
              <a:buNone/>
            </a:pPr>
            <a:r>
              <a:rPr lang="en-US" sz="900" b="1" spc="150" kern="0" dirty="0">
                <a:solidFill>
                  <a:srgbClr val="6B5F67"/>
                </a:solidFill>
              </a:rPr>
              <a:t>PRIYANKA NANDA MAKEUP ACADEMY</a:t>
            </a:r>
            <a:endParaRPr lang="en-US" sz="900" dirty="0"/>
          </a:p>
        </p:txBody>
      </p:sp>
      <p:sp>
        <p:nvSpPr>
          <p:cNvPr id="3" name="Title"/>
          <p:cNvSpPr/>
          <p:nvPr>
            <p:ph type="title" hasCustomPrompt="1"/>
          </p:nvPr>
        </p:nvSpPr>
        <p:spPr>
          <a:xfrm>
            <a:off x="548640" y="621792"/>
            <a:ext cx="11094415" cy="868680"/>
          </a:xfrm>
          <a:prstGeom prst="rect">
            <a:avLst/>
          </a:prstGeom>
          <a:noFill/>
          <a:ln/>
        </p:spPr>
        <p:txBody>
          <a:bodyPr wrap="square" rtlCol="0"/>
          <a:lstStyle>
            <a:lvl1pPr algn="l" indent="0" marL="0">
              <a:buNone/>
              <a:defRPr lang="en-US" sz="2800"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NA_SECTION">
    <p:bg>
      <p:bgPr>
        <a:solidFill>
          <a:schemeClr val="tx2"/>
        </a:solidFill>
      </p:bgPr>
    </p:bg>
    <p:spTree>
      <p:nvGrpSpPr>
        <p:cNvPr id="1" name=""/>
        <p:cNvGrpSpPr/>
        <p:nvPr/>
      </p:nvGrpSpPr>
      <p:grpSpPr>
        <a:xfrm>
          <a:off x="0" y="0"/>
          <a:ext cx="0" cy="0"/>
          <a:chOff x="0" y="0"/>
          <a:chExt cx="0" cy="0"/>
        </a:xfrm>
      </p:grpSpPr>
      <p:sp>
        <p:nvSpPr>
          <p:cNvPr id="2" name="Motif disc"/>
          <p:cNvSpPr/>
          <p:nvPr/>
        </p:nvSpPr>
        <p:spPr>
          <a:xfrm>
            <a:off x="8138160" y="822960"/>
            <a:ext cx="5852160" cy="5852160"/>
          </a:xfrm>
          <a:prstGeom prst="ellipse">
            <a:avLst/>
          </a:prstGeom>
          <a:solidFill>
            <a:srgbClr val="C2705C">
              <a:alpha val="12000"/>
            </a:srgbClr>
          </a:solidFill>
          <a:ln/>
        </p:spPr>
        <p:txBody>
          <a:bodyPr wrap="square" rtlCol="0" anchor="ctr"/>
          <a:lstStyle/>
          <a:p>
            <a:pPr indent="0" marL="0">
              <a:buNone/>
            </a:pPr>
            <a:endParaRPr lang="en-US" dirty="0"/>
          </a:p>
        </p:txBody>
      </p:sp>
      <p:sp>
        <p:nvSpPr>
          <p:cNvPr id="3" name="Motif ring"/>
          <p:cNvSpPr/>
          <p:nvPr/>
        </p:nvSpPr>
        <p:spPr>
          <a:xfrm>
            <a:off x="8732520" y="1417320"/>
            <a:ext cx="4663440" cy="4663440"/>
          </a:xfrm>
          <a:prstGeom prst="ellipse">
            <a:avLst/>
          </a:prstGeom>
          <a:ln w="15875">
            <a:solidFill>
              <a:srgbClr val="C2705C"/>
            </a:solidFill>
          </a:ln>
        </p:spPr>
        <p:txBody>
          <a:bodyPr wrap="square" rtlCol="0" anchor="ctr"/>
          <a:lstStyle/>
          <a:p>
            <a:pPr indent="0" marL="0">
              <a:buNone/>
            </a:pPr>
            <a:endParaRPr lang="en-US" dirty="0"/>
          </a:p>
        </p:txBody>
      </p:sp>
      <p:sp>
        <p:nvSpPr>
          <p:cNvPr id="4" name="Brand label"/>
          <p:cNvSpPr/>
          <p:nvPr/>
        </p:nvSpPr>
        <p:spPr>
          <a:xfrm>
            <a:off x="548640" y="457200"/>
            <a:ext cx="5486400" cy="274320"/>
          </a:xfrm>
          <a:prstGeom prst="rect">
            <a:avLst/>
          </a:prstGeom>
          <a:noFill/>
          <a:ln/>
        </p:spPr>
        <p:txBody>
          <a:bodyPr wrap="square" lIns="0" tIns="0" rIns="0" bIns="0" rtlCol="0" anchor="ctr"/>
          <a:lstStyle/>
          <a:p>
            <a:pPr indent="0" marL="0">
              <a:buNone/>
            </a:pPr>
            <a:r>
              <a:rPr lang="en-US" sz="1000" b="1" spc="200" kern="0" dirty="0">
                <a:solidFill>
                  <a:srgbClr val="E7A995"/>
                </a:solidFill>
              </a:rPr>
              <a:t>PRIYANKA NANDA MAKEUP ACADEMY</a:t>
            </a:r>
            <a:endParaRPr lang="en-US" sz="1000" dirty="0"/>
          </a:p>
        </p:txBody>
      </p:sp>
      <p:sp>
        <p:nvSpPr>
          <p:cNvPr id="5" name="Section number"/>
          <p:cNvSpPr/>
          <p:nvPr>
            <p:ph idx="103" type="body" hasCustomPrompt="1"/>
          </p:nvPr>
        </p:nvSpPr>
        <p:spPr>
          <a:xfrm>
            <a:off x="548640" y="1874520"/>
            <a:ext cx="2743200" cy="914400"/>
          </a:xfrm>
          <a:prstGeom prst="rect">
            <a:avLst/>
          </a:prstGeom>
          <a:noFill/>
          <a:ln/>
        </p:spPr>
        <p:txBody>
          <a:bodyPr wrap="square" rtlCol="0"/>
          <a:lstStyle>
            <a:lvl1pPr algn="l" indent="0" marL="0">
              <a:buNone/>
              <a:defRPr lang="en-US" sz="5400" dirty="0">
                <a:solidFill>
                  <a:srgbClr val="E7A995"/>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6" name="Title"/>
          <p:cNvSpPr/>
          <p:nvPr>
            <p:ph type="title" hasCustomPrompt="1"/>
          </p:nvPr>
        </p:nvSpPr>
        <p:spPr>
          <a:xfrm>
            <a:off x="548640" y="2926080"/>
            <a:ext cx="7498080" cy="137160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D9C9D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NA_COVER">
    <p:bg>
      <p:bgPr>
        <a:solidFill>
          <a:schemeClr val="tx2"/>
        </a:solidFill>
      </p:bgPr>
    </p:bg>
    <p:spTree>
      <p:nvGrpSpPr>
        <p:cNvPr id="1" name=""/>
        <p:cNvGrpSpPr/>
        <p:nvPr/>
      </p:nvGrpSpPr>
      <p:grpSpPr>
        <a:xfrm>
          <a:off x="0" y="0"/>
          <a:ext cx="0" cy="0"/>
          <a:chOff x="0" y="0"/>
          <a:chExt cx="0" cy="0"/>
        </a:xfrm>
      </p:grpSpPr>
      <p:sp>
        <p:nvSpPr>
          <p:cNvPr id="2" name="Motif disc"/>
          <p:cNvSpPr/>
          <p:nvPr/>
        </p:nvSpPr>
        <p:spPr>
          <a:xfrm>
            <a:off x="7962595" y="691286"/>
            <a:ext cx="6554419" cy="6554419"/>
          </a:xfrm>
          <a:prstGeom prst="ellipse">
            <a:avLst/>
          </a:prstGeom>
          <a:solidFill>
            <a:srgbClr val="C2705C">
              <a:alpha val="12000"/>
            </a:srgbClr>
          </a:solidFill>
          <a:ln/>
        </p:spPr>
        <p:txBody>
          <a:bodyPr wrap="square" rtlCol="0" anchor="ctr"/>
          <a:lstStyle/>
          <a:p>
            <a:pPr indent="0" marL="0">
              <a:buNone/>
            </a:pPr>
            <a:endParaRPr lang="en-US" dirty="0"/>
          </a:p>
        </p:txBody>
      </p:sp>
      <p:sp>
        <p:nvSpPr>
          <p:cNvPr id="3" name="Motif ring"/>
          <p:cNvSpPr/>
          <p:nvPr/>
        </p:nvSpPr>
        <p:spPr>
          <a:xfrm>
            <a:off x="8556955" y="1285646"/>
            <a:ext cx="5223053" cy="5223053"/>
          </a:xfrm>
          <a:prstGeom prst="ellipse">
            <a:avLst/>
          </a:prstGeom>
          <a:ln w="15875">
            <a:solidFill>
              <a:srgbClr val="C2705C"/>
            </a:solidFill>
          </a:ln>
        </p:spPr>
        <p:txBody>
          <a:bodyPr wrap="square" rtlCol="0" anchor="ctr"/>
          <a:lstStyle/>
          <a:p>
            <a:pPr indent="0" marL="0">
              <a:buNone/>
            </a:pPr>
            <a:endParaRPr lang="en-US" dirty="0"/>
          </a:p>
        </p:txBody>
      </p:sp>
      <p:sp>
        <p:nvSpPr>
          <p:cNvPr id="4" name="Brand label"/>
          <p:cNvSpPr/>
          <p:nvPr/>
        </p:nvSpPr>
        <p:spPr>
          <a:xfrm>
            <a:off x="548640" y="548640"/>
            <a:ext cx="6400800" cy="292608"/>
          </a:xfrm>
          <a:prstGeom prst="rect">
            <a:avLst/>
          </a:prstGeom>
          <a:noFill/>
          <a:ln/>
        </p:spPr>
        <p:txBody>
          <a:bodyPr wrap="square" lIns="0" tIns="0" rIns="0" bIns="0" rtlCol="0" anchor="ctr"/>
          <a:lstStyle/>
          <a:p>
            <a:pPr indent="0" marL="0">
              <a:buNone/>
            </a:pPr>
            <a:r>
              <a:rPr lang="en-US" sz="1100" b="1" spc="250" kern="0" dirty="0">
                <a:solidFill>
                  <a:srgbClr val="E7A995"/>
                </a:solidFill>
              </a:rPr>
              <a:t>PRIYANKA NANDA MAKEUP ACADEMY</a:t>
            </a:r>
            <a:endParaRPr lang="en-US" sz="1100" dirty="0"/>
          </a:p>
        </p:txBody>
      </p:sp>
      <p:sp>
        <p:nvSpPr>
          <p:cNvPr id="5" name="Title"/>
          <p:cNvSpPr/>
          <p:nvPr>
            <p:ph type="title" hasCustomPrompt="1"/>
          </p:nvPr>
        </p:nvSpPr>
        <p:spPr>
          <a:xfrm>
            <a:off x="548640" y="1828800"/>
            <a:ext cx="7680960" cy="2011680"/>
          </a:xfrm>
          <a:prstGeom prst="rect">
            <a:avLst/>
          </a:prstGeom>
          <a:noFill/>
          <a:ln/>
        </p:spPr>
        <p:txBody>
          <a:bodyPr wrap="square" rtlCol="0"/>
          <a:lstStyle>
            <a:lvl1pPr algn="l" indent="0" marL="0">
              <a:buNone/>
              <a:defRPr lang="en-US" sz="4400" dirty="0">
                <a:solidFill>
                  <a:schemeClr val="bg1"/>
                </a:solidFill>
              </a:defRPr>
            </a:lvl1pPr>
          </a:lstStyle>
          <a:p>
            <a:pPr algn="l" indent="0" marL="0">
              <a:buNone/>
            </a:pPr>
            <a:endParaRPr lang="en-US" sz="4400" dirty="0"/>
          </a:p>
        </p:txBody>
      </p:sp>
      <p:sp>
        <p:nvSpPr>
          <p:cNvPr id="6" name="Subtitle"/>
          <p:cNvSpPr/>
          <p:nvPr>
            <p:ph idx="104" type="body" hasCustomPrompt="1"/>
          </p:nvPr>
        </p:nvSpPr>
        <p:spPr>
          <a:xfrm>
            <a:off x="548640" y="4023360"/>
            <a:ext cx="7132320" cy="822960"/>
          </a:xfrm>
          <a:prstGeom prst="rect">
            <a:avLst/>
          </a:prstGeom>
          <a:noFill/>
          <a:ln/>
        </p:spPr>
        <p:txBody>
          <a:bodyPr wrap="square" rtlCol="0"/>
          <a:lstStyle>
            <a:lvl1pPr algn="l" indent="0" marL="0">
              <a:buNone/>
              <a:defRPr lang="en-US" sz="1800" dirty="0">
                <a:solidFill>
                  <a:srgbClr val="E7A995"/>
                </a:solidFill>
              </a:defRPr>
            </a:lvl1pPr>
          </a:lstStyle>
          <a:p>
            <a:pPr algn="l" indent="0" marL="0">
              <a:buNone/>
            </a:pPr>
            <a:endParaRPr lang="en-US" sz="1800" dirty="0"/>
          </a:p>
        </p:txBody>
      </p:sp>
      <p:sp>
        <p:nvSpPr>
          <p:cNvPr id="7" name="Cover meta"/>
          <p:cNvSpPr/>
          <p:nvPr>
            <p:ph idx="105" type="body" hasCustomPrompt="1"/>
          </p:nvPr>
        </p:nvSpPr>
        <p:spPr>
          <a:xfrm>
            <a:off x="548640" y="5669280"/>
            <a:ext cx="7132320" cy="548640"/>
          </a:xfrm>
          <a:prstGeom prst="rect">
            <a:avLst/>
          </a:prstGeom>
          <a:noFill/>
          <a:ln/>
        </p:spPr>
        <p:txBody>
          <a:bodyPr wrap="square" rtlCol="0"/>
          <a:lstStyle>
            <a:lvl1pPr algn="l" indent="0" marL="0">
              <a:buNone/>
              <a:defRPr lang="en-US" sz="1200" dirty="0">
                <a:solidFill>
                  <a:srgbClr val="D9C9D3"/>
                </a:solidFill>
              </a:defRPr>
            </a:lvl1pPr>
          </a:lstStyle>
          <a:p>
            <a:pPr algn="l" indent="0" marL="0">
              <a:buNone/>
            </a:pP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p:nvPr>
            <p:ph type="title" hasCustomPrompt="1"/>
          </p:nvPr>
        </p:nvSpPr>
        <p:spPr>
          <a:xfrm>
            <a:off x="548640" y="1828800"/>
            <a:ext cx="7680960" cy="2011680"/>
          </a:xfrm>
          <a:prstGeom prst="rect">
            <a:avLst/>
          </a:prstGeom>
          <a:noFill/>
          <a:ln/>
        </p:spPr>
        <p:txBody>
          <a:bodyPr wrap="square" lIns="0" tIns="0" rIns="0" bIns="0" rtlCol="0" anchor="b"/>
          <a:lstStyle/>
          <a:p>
            <a:pPr algn="l" indent="0" marL="0">
              <a:buNone/>
            </a:pPr>
            <a:r>
              <a:rPr lang="en-US" sz="4400" dirty="0">
                <a:solidFill>
                  <a:schemeClr val="bg1"/>
                </a:solidFill>
                <a:latin typeface="+mj-lt" pitchFamily="34" charset="0"/>
                <a:ea typeface="+mj-lt" pitchFamily="34" charset="-122"/>
                <a:cs typeface="+mj-lt" pitchFamily="34" charset="-120"/>
              </a:rPr>
              <a:t>From founder-taught classes to a bridal academy that can run without her</a:t>
            </a:r>
            <a:endParaRPr lang="en-US" sz="4400" dirty="0"/>
          </a:p>
        </p:txBody>
      </p:sp>
      <p:sp>
        <p:nvSpPr>
          <p:cNvPr id="3" name="Subtitle"/>
          <p:cNvSpPr/>
          <p:nvPr>
            <p:ph idx="104" type="body" hasCustomPrompt="1"/>
          </p:nvPr>
        </p:nvSpPr>
        <p:spPr>
          <a:xfrm>
            <a:off x="548640" y="4023360"/>
            <a:ext cx="7132320" cy="822960"/>
          </a:xfrm>
          <a:prstGeom prst="rect">
            <a:avLst/>
          </a:prstGeom>
          <a:noFill/>
          <a:ln/>
        </p:spPr>
        <p:txBody>
          <a:bodyPr wrap="square" lIns="0" tIns="0" rIns="0" bIns="0" rtlCol="0" anchor="t"/>
          <a:lstStyle/>
          <a:p>
            <a:pPr algn="l" indent="0" marL="0">
              <a:buNone/>
            </a:pPr>
            <a:r>
              <a:rPr lang="en-US" sz="1800" dirty="0">
                <a:solidFill>
                  <a:srgbClr val="E7A995"/>
                </a:solidFill>
              </a:rPr>
              <a:t>Growth strategy, admissions engine and staged investment plan, 2026–2029</a:t>
            </a:r>
            <a:endParaRPr lang="en-US" sz="1800" dirty="0"/>
          </a:p>
        </p:txBody>
      </p:sp>
      <p:sp>
        <p:nvSpPr>
          <p:cNvPr id="4" name="Cover meta"/>
          <p:cNvSpPr/>
          <p:nvPr>
            <p:ph idx="105" type="body" hasCustomPrompt="1"/>
          </p:nvPr>
        </p:nvSpPr>
        <p:spPr>
          <a:xfrm>
            <a:off x="548640" y="5669280"/>
            <a:ext cx="7132320" cy="548640"/>
          </a:xfrm>
          <a:prstGeom prst="rect">
            <a:avLst/>
          </a:prstGeom>
          <a:noFill/>
          <a:ln/>
        </p:spPr>
        <p:txBody>
          <a:bodyPr wrap="square" lIns="0" tIns="0" rIns="0" bIns="0" rtlCol="0" anchor="b"/>
          <a:lstStyle/>
          <a:p>
            <a:pPr algn="l" indent="0" marL="0">
              <a:buNone/>
            </a:pPr>
            <a:r>
              <a:rPr lang="en-US" sz="1200" dirty="0">
                <a:solidFill>
                  <a:srgbClr val="D9C9D3"/>
                </a:solidFill>
              </a:rPr>
              <a:t>Growth strategy and investment case for PNA, Chandigarh  ·  Prepared for the founder  ·  October 2026</a:t>
            </a:r>
            <a:endParaRPr lang="en-US" sz="1200" dirty="0"/>
          </a:p>
        </p:txBody>
      </p:sp>
      <p:sp>
        <p:nvSpPr>
          <p:cNvPr id="6" name="Draft label"/>
          <p:cNvSpPr txBox="1"/>
          <p:nvPr/>
        </p:nvSpPr>
        <p:spPr>
          <a:xfrm>
            <a:off x="548640" y="987552"/>
            <a:ext cx="1889100" cy="274320"/>
          </a:xfrm>
          <a:prstGeom prst="roundRect">
            <a:avLst>
              <a:gd name="adj" fmla="val 50000"/>
            </a:avLst>
          </a:prstGeom>
          <a:solidFill>
            <a:schemeClr val="tx2"/>
          </a:solidFill>
          <a:ln w="9525">
            <a:solidFill>
              <a:srgbClr val="E7A995"/>
            </a:solidFill>
            <a:prstDash val="solid"/>
          </a:ln>
        </p:spPr>
        <p:txBody>
          <a:bodyPr wrap="square" lIns="0" tIns="0" rIns="0" bIns="0" rtlCol="0" anchor="ctr"/>
          <a:lstStyle/>
          <a:p>
            <a:pPr algn="ctr" indent="0" marL="0">
              <a:buNone/>
            </a:pPr>
            <a:r>
              <a:rPr lang="en-US" sz="1000" b="1" spc="150" kern="0" dirty="0">
                <a:solidFill>
                  <a:srgbClr val="E7A995"/>
                </a:solidFill>
              </a:rPr>
              <a:t>DRAFT FOR DISCUSSION</a:t>
            </a:r>
            <a:endParaRPr lang="en-US" sz="1000" dirty="0"/>
          </a:p>
        </p:txBody>
      </p:sp>
      <p:sp>
        <p:nvSpPr>
          <p:cNvPr id="7" name="Status line"/>
          <p:cNvSpPr txBox="1"/>
          <p:nvPr/>
        </p:nvSpPr>
        <p:spPr>
          <a:xfrm>
            <a:off x="548640" y="4828032"/>
            <a:ext cx="7132320" cy="384048"/>
          </a:xfrm>
          <a:prstGeom prst="rect">
            <a:avLst/>
          </a:prstGeom>
          <a:noFill/>
          <a:ln/>
        </p:spPr>
        <p:txBody>
          <a:bodyPr wrap="square" lIns="0" tIns="0" rIns="0" bIns="0" rtlCol="0" anchor="t"/>
          <a:lstStyle/>
          <a:p>
            <a:pPr algn="l" indent="0" marL="0">
              <a:buNone/>
            </a:pPr>
            <a:r>
              <a:rPr lang="en-US" sz="1200" dirty="0">
                <a:solidFill>
                  <a:srgbClr val="D9C9D3"/>
                </a:solidFill>
              </a:rPr>
              <a:t>Gate D recommendation, revised after independent review (Gate E: approve with conditions). 16 October 2026.</a:t>
            </a:r>
            <a:endParaRPr lang="en-US" sz="1200" dirty="0"/>
          </a:p>
        </p:txBody>
      </p:sp>
      <p:sp>
        <p:nvSpPr>
          <p:cNvPr id="8" name="Legend caption"/>
          <p:cNvSpPr txBox="1"/>
          <p:nvPr/>
        </p:nvSpPr>
        <p:spPr>
          <a:xfrm>
            <a:off x="548640" y="5285232"/>
            <a:ext cx="5486400" cy="201168"/>
          </a:xfrm>
          <a:prstGeom prst="rect">
            <a:avLst/>
          </a:prstGeom>
          <a:noFill/>
          <a:ln/>
        </p:spPr>
        <p:txBody>
          <a:bodyPr wrap="square" lIns="0" tIns="0" rIns="0" bIns="0" rtlCol="0" anchor="t"/>
          <a:lstStyle/>
          <a:p>
            <a:pPr algn="l" indent="0" marL="0">
              <a:buNone/>
            </a:pPr>
            <a:r>
              <a:rPr lang="en-US" sz="1000" dirty="0">
                <a:solidFill>
                  <a:srgbClr val="D9C9D3"/>
                </a:solidFill>
              </a:rPr>
              <a:t>Every number carries an evidence label:</a:t>
            </a:r>
            <a:endParaRPr lang="en-US" sz="1000" dirty="0"/>
          </a:p>
        </p:txBody>
      </p:sp>
      <p:sp>
        <p:nvSpPr>
          <p:cNvPr id="9" name="Badge VERIFIED"/>
          <p:cNvSpPr txBox="1"/>
          <p:nvPr/>
        </p:nvSpPr>
        <p:spPr>
          <a:xfrm>
            <a:off x="548640" y="5522976"/>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10" name="Badge CLAIM"/>
          <p:cNvSpPr txBox="1"/>
          <p:nvPr/>
        </p:nvSpPr>
        <p:spPr>
          <a:xfrm>
            <a:off x="1351439" y="5522976"/>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11" name="Badge FOUNDER"/>
          <p:cNvSpPr txBox="1"/>
          <p:nvPr/>
        </p:nvSpPr>
        <p:spPr>
          <a:xfrm>
            <a:off x="2003320" y="5522976"/>
            <a:ext cx="762406" cy="219456"/>
          </a:xfrm>
          <a:prstGeom prst="roundRect">
            <a:avLst>
              <a:gd name="adj" fmla="val 50000"/>
            </a:avLst>
          </a:prstGeom>
          <a:solidFill>
            <a:srgbClr val="EEE7EB"/>
          </a:solidFill>
          <a:ln w="9525">
            <a:solidFill>
              <a:schemeClr val="accent3"/>
            </a:solidFill>
            <a:prstDash val="solid"/>
          </a:ln>
        </p:spPr>
        <p:txBody>
          <a:bodyPr wrap="square" lIns="0" tIns="0" rIns="0" bIns="0" rtlCol="0" anchor="ctr"/>
          <a:lstStyle/>
          <a:p>
            <a:pPr algn="ctr" indent="0" marL="0">
              <a:buNone/>
            </a:pPr>
            <a:r>
              <a:rPr lang="en-US" sz="900" b="1" spc="80" kern="0" dirty="0">
                <a:solidFill>
                  <a:schemeClr val="tx2"/>
                </a:solidFill>
              </a:rPr>
              <a:t>FOUNDER</a:t>
            </a:r>
            <a:endParaRPr lang="en-US" sz="900" dirty="0"/>
          </a:p>
        </p:txBody>
      </p:sp>
      <p:sp>
        <p:nvSpPr>
          <p:cNvPr id="12" name="Badge ESTIMATE"/>
          <p:cNvSpPr txBox="1"/>
          <p:nvPr/>
        </p:nvSpPr>
        <p:spPr>
          <a:xfrm>
            <a:off x="2838878" y="552297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3" name="Badge HYPOTHESIS"/>
          <p:cNvSpPr txBox="1"/>
          <p:nvPr/>
        </p:nvSpPr>
        <p:spPr>
          <a:xfrm>
            <a:off x="3691123" y="5522976"/>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14" name="Badge RECOMMENDATION"/>
          <p:cNvSpPr txBox="1"/>
          <p:nvPr/>
        </p:nvSpPr>
        <p:spPr>
          <a:xfrm>
            <a:off x="4677942" y="5522976"/>
            <a:ext cx="1331417" cy="219456"/>
          </a:xfrm>
          <a:prstGeom prst="roundRect">
            <a:avLst>
              <a:gd name="adj" fmla="val 50000"/>
            </a:avLst>
          </a:prstGeom>
          <a:solidFill>
            <a:schemeClr val="tx2"/>
          </a:solidFill>
          <a:ln w="9525">
            <a:solidFill>
              <a:srgbClr val="E7A995"/>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1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D9C9D3"/>
                </a:solidFill>
              </a:rPr>
              <a:t>Note: </a:t>
            </a:r>
            <a:pPr algn="l" indent="0" marL="0">
              <a:buNone/>
            </a:pPr>
            <a:r>
              <a:rPr lang="en-US" sz="900" dirty="0">
                <a:solidFill>
                  <a:srgbClr val="D9C9D3"/>
                </a:solidFill>
              </a:rPr>
              <a:t>Every PNA-specific number is an assumption until the founder's records are supplied (D1). Financials ex-GST, planning case G1 at M9.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EXECUTIVE SUMMARY · 1 OF 2</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600" dirty="0">
                <a:solidFill>
                  <a:schemeClr val="tx2"/>
                </a:solidFill>
                <a:latin typeface="+mj-lt" pitchFamily="34" charset="0"/>
                <a:ea typeface="+mj-lt" pitchFamily="34" charset="-122"/>
                <a:cs typeface="+mj-lt" pitchFamily="34" charset="-120"/>
              </a:rPr>
              <a:t>Build one Chandigarh Flagship, prove it before pricing it, fund it in tranches</a:t>
            </a:r>
            <a:endParaRPr lang="en-US" sz="2800" dirty="0"/>
          </a:p>
        </p:txBody>
      </p:sp>
      <p:sp>
        <p:nvSpPr>
          <p:cNvPr id="4" name="Subtitle"/>
          <p:cNvSpPr txBox="1"/>
          <p:nvPr/>
        </p:nvSpPr>
        <p:spPr>
          <a:xfrm>
            <a:off x="548640" y="1092962"/>
            <a:ext cx="11094415" cy="269367"/>
          </a:xfrm>
          <a:prstGeom prst="rect">
            <a:avLst/>
          </a:prstGeom>
          <a:noFill/>
          <a:ln/>
        </p:spPr>
        <p:txBody>
          <a:bodyPr wrap="square" lIns="0" tIns="0" rIns="0" bIns="0" rtlCol="0" anchor="t"/>
          <a:lstStyle/>
          <a:p>
            <a:pPr algn="l" indent="0" marL="0">
              <a:buNone/>
            </a:pPr>
            <a:r>
              <a:rPr lang="en-US" sz="1500" dirty="0">
                <a:solidFill>
                  <a:srgbClr val="6B5F67"/>
                </a:solidFill>
              </a:rPr>
              <a:t>One academy, proof first, price second, money released only against evidence.</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§1 (1–7), §4.4; economics §1A (peak cash ₹25.2L), §1A.2 (downside)</a:t>
            </a:r>
            <a:pPr algn="l" indent="0" marL="0">
              <a:buNone/>
            </a:pPr>
            <a:r>
              <a:rPr lang="en-US" sz="900" b="1" dirty="0">
                <a:solidFill>
                  <a:srgbClr val="6B5F67"/>
                </a:solidFill>
              </a:rPr>
              <a:t>   Note: </a:t>
            </a:r>
            <a:pPr algn="l" indent="0" marL="0">
              <a:buNone/>
            </a:pPr>
            <a:r>
              <a:rPr lang="en-US" sz="900" dirty="0">
                <a:solidFill>
                  <a:srgbClr val="6B5F67"/>
                </a:solidFill>
              </a:rPr>
              <a:t>₹ lakh, Year 1 = Nov 2026–Oct 2027, planning case G1 at M9.</a:t>
            </a:r>
            <a:endParaRPr lang="en-US" sz="900" dirty="0"/>
          </a:p>
        </p:txBody>
      </p:sp>
      <p:sp>
        <p:nvSpPr>
          <p:cNvPr id="7" name="Recommendations card"/>
          <p:cNvSpPr/>
          <p:nvPr/>
        </p:nvSpPr>
        <p:spPr>
          <a:xfrm>
            <a:off x="548640" y="1920240"/>
            <a:ext cx="7223760" cy="4224528"/>
          </a:xfrm>
          <a:prstGeom prst="roundRect">
            <a:avLst>
              <a:gd name="adj" fmla="val 1732"/>
            </a:avLst>
          </a:prstGeom>
          <a:solidFill>
            <a:schemeClr val="bg1"/>
          </a:solidFill>
          <a:ln w="9525">
            <a:solidFill>
              <a:srgbClr val="E4DAD5"/>
            </a:solidFill>
            <a:prstDash val="solid"/>
          </a:ln>
        </p:spPr>
      </p:sp>
      <p:sp>
        <p:nvSpPr>
          <p:cNvPr id="8" name="Label"/>
          <p:cNvSpPr txBox="1"/>
          <p:nvPr/>
        </p:nvSpPr>
        <p:spPr>
          <a:xfrm>
            <a:off x="749808" y="2066544"/>
            <a:ext cx="3657600" cy="219456"/>
          </a:xfrm>
          <a:prstGeom prst="rect">
            <a:avLst/>
          </a:prstGeom>
          <a:noFill/>
          <a:ln/>
        </p:spPr>
        <p:txBody>
          <a:bodyPr wrap="square" lIns="0" tIns="0" rIns="0" bIns="0" rtlCol="0" anchor="ctr"/>
          <a:lstStyle/>
          <a:p>
            <a:pPr algn="l" indent="0" marL="0">
              <a:buNone/>
            </a:pPr>
            <a:r>
              <a:rPr lang="en-US" sz="1050" b="1" dirty="0">
                <a:solidFill>
                  <a:srgbClr val="A4513F"/>
                </a:solidFill>
              </a:rPr>
              <a:t>SIX RECOMMENDATIONS</a:t>
            </a:r>
            <a:endParaRPr lang="en-US" sz="1050" dirty="0"/>
          </a:p>
        </p:txBody>
      </p:sp>
      <p:sp>
        <p:nvSpPr>
          <p:cNvPr id="9" name="Badge RECOMMENDATION"/>
          <p:cNvSpPr txBox="1"/>
          <p:nvPr/>
        </p:nvSpPr>
        <p:spPr>
          <a:xfrm>
            <a:off x="6239815" y="2066544"/>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10" name="List number"/>
          <p:cNvSpPr txBox="1"/>
          <p:nvPr/>
        </p:nvSpPr>
        <p:spPr>
          <a:xfrm>
            <a:off x="749808" y="2476713"/>
            <a:ext cx="383621" cy="383621"/>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11" name="List text"/>
          <p:cNvSpPr txBox="1"/>
          <p:nvPr/>
        </p:nvSpPr>
        <p:spPr>
          <a:xfrm>
            <a:off x="1316309" y="2404872"/>
            <a:ext cx="4929043" cy="527304"/>
          </a:xfrm>
          <a:prstGeom prst="rect">
            <a:avLst/>
          </a:prstGeom>
          <a:noFill/>
          <a:ln/>
        </p:spPr>
        <p:txBody>
          <a:bodyPr wrap="square" lIns="0" tIns="0" rIns="0" bIns="0" rtlCol="0" anchor="ctr"/>
          <a:lstStyle/>
          <a:p>
            <a:pPr algn="l" indent="0" marL="0">
              <a:buNone/>
            </a:pPr>
            <a:r>
              <a:rPr lang="en-US" sz="1100" dirty="0">
                <a:solidFill>
                  <a:schemeClr val="tx1"/>
                </a:solidFill>
              </a:rPr>
              <a:t>Build one trainer-delivered, small-batch (≤12) bridal-specialist </a:t>
            </a:r>
            <a:pPr algn="l" indent="0" marL="0">
              <a:buNone/>
            </a:pPr>
            <a:r>
              <a:rPr lang="en-US" sz="1100" b="1" dirty="0">
                <a:solidFill>
                  <a:schemeClr val="tx1"/>
                </a:solidFill>
              </a:rPr>
              <a:t>Chandigarh Flagship</a:t>
            </a:r>
            <a:pPr algn="l" indent="0" marL="0">
              <a:buNone/>
            </a:pPr>
            <a:r>
              <a:rPr lang="en-US" sz="1100" dirty="0">
                <a:solidFill>
                  <a:schemeClr val="tx1"/>
                </a:solidFill>
              </a:rPr>
              <a:t> with a published course ladder, a counsellor-run WhatsApp funnel and published alumni outcomes.</a:t>
            </a:r>
            <a:endParaRPr lang="en-US" sz="1100" dirty="0"/>
          </a:p>
        </p:txBody>
      </p:sp>
      <p:sp>
        <p:nvSpPr>
          <p:cNvPr id="12" name="List rule"/>
          <p:cNvSpPr/>
          <p:nvPr/>
        </p:nvSpPr>
        <p:spPr>
          <a:xfrm>
            <a:off x="749808" y="2977896"/>
            <a:ext cx="6821424" cy="0"/>
          </a:xfrm>
          <a:prstGeom prst="line">
            <a:avLst/>
          </a:prstGeom>
          <a:noFill/>
          <a:ln w="9525">
            <a:solidFill>
              <a:srgbClr val="E4DAD5"/>
            </a:solidFill>
            <a:prstDash val="solid"/>
          </a:ln>
        </p:spPr>
      </p:sp>
      <p:sp>
        <p:nvSpPr>
          <p:cNvPr id="13" name="List number 2"/>
          <p:cNvSpPr txBox="1"/>
          <p:nvPr/>
        </p:nvSpPr>
        <p:spPr>
          <a:xfrm>
            <a:off x="749808" y="3095457"/>
            <a:ext cx="383621" cy="383621"/>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4" name="List text 2"/>
          <p:cNvSpPr txBox="1"/>
          <p:nvPr/>
        </p:nvSpPr>
        <p:spPr>
          <a:xfrm>
            <a:off x="1316309" y="3023616"/>
            <a:ext cx="4929043" cy="527304"/>
          </a:xfrm>
          <a:prstGeom prst="rect">
            <a:avLst/>
          </a:prstGeom>
          <a:noFill/>
          <a:ln/>
        </p:spPr>
        <p:txBody>
          <a:bodyPr wrap="square" lIns="0" tIns="0" rIns="0" bIns="0" rtlCol="0" anchor="ctr"/>
          <a:lstStyle/>
          <a:p>
            <a:pPr algn="l" indent="0" marL="0">
              <a:buNone/>
            </a:pPr>
            <a:r>
              <a:rPr lang="en-US" sz="1100" dirty="0">
                <a:solidFill>
                  <a:schemeClr val="tx1"/>
                </a:solidFill>
              </a:rPr>
              <a:t>First rupee buys </a:t>
            </a:r>
            <a:pPr algn="l" indent="0" marL="0">
              <a:buNone/>
            </a:pPr>
            <a:r>
              <a:rPr lang="en-US" sz="1100" b="1" dirty="0">
                <a:solidFill>
                  <a:schemeClr val="tx1"/>
                </a:solidFill>
              </a:rPr>
              <a:t>proof and response discipline</a:t>
            </a:r>
            <a:pPr algn="l" indent="0" marL="0">
              <a:buNone/>
            </a:pPr>
            <a:r>
              <a:rPr lang="en-US" sz="1100" dirty="0">
                <a:solidFill>
                  <a:schemeClr val="tx1"/>
                </a:solidFill>
              </a:rPr>
              <a:t>, not advertising.</a:t>
            </a:r>
            <a:endParaRPr lang="en-US" sz="1100" dirty="0"/>
          </a:p>
        </p:txBody>
      </p:sp>
      <p:sp>
        <p:nvSpPr>
          <p:cNvPr id="15" name="List rule 2"/>
          <p:cNvSpPr/>
          <p:nvPr/>
        </p:nvSpPr>
        <p:spPr>
          <a:xfrm>
            <a:off x="749808" y="3596640"/>
            <a:ext cx="6821424" cy="0"/>
          </a:xfrm>
          <a:prstGeom prst="line">
            <a:avLst/>
          </a:prstGeom>
          <a:noFill/>
          <a:ln w="9525">
            <a:solidFill>
              <a:srgbClr val="E4DAD5"/>
            </a:solidFill>
            <a:prstDash val="solid"/>
          </a:ln>
        </p:spPr>
      </p:sp>
      <p:sp>
        <p:nvSpPr>
          <p:cNvPr id="16" name="List number 3"/>
          <p:cNvSpPr txBox="1"/>
          <p:nvPr/>
        </p:nvSpPr>
        <p:spPr>
          <a:xfrm>
            <a:off x="749808" y="3714201"/>
            <a:ext cx="383621" cy="383621"/>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7" name="List text 3"/>
          <p:cNvSpPr txBox="1"/>
          <p:nvPr/>
        </p:nvSpPr>
        <p:spPr>
          <a:xfrm>
            <a:off x="1316309" y="3642360"/>
            <a:ext cx="4929043" cy="527304"/>
          </a:xfrm>
          <a:prstGeom prst="rect">
            <a:avLst/>
          </a:prstGeom>
          <a:noFill/>
          <a:ln/>
        </p:spPr>
        <p:txBody>
          <a:bodyPr wrap="square" lIns="0" tIns="0" rIns="0" bIns="0" rtlCol="0" anchor="ctr"/>
          <a:lstStyle/>
          <a:p>
            <a:pPr algn="l" indent="0" marL="0">
              <a:buNone/>
            </a:pPr>
            <a:r>
              <a:rPr lang="en-US" sz="1100" dirty="0">
                <a:solidFill>
                  <a:schemeClr val="tx1"/>
                </a:solidFill>
              </a:rPr>
              <a:t>Raise the flagship price </a:t>
            </a:r>
            <a:pPr algn="l" indent="0" marL="0">
              <a:buNone/>
            </a:pPr>
            <a:r>
              <a:rPr lang="en-US" sz="1100" b="1" dirty="0">
                <a:solidFill>
                  <a:schemeClr val="tx1"/>
                </a:solidFill>
              </a:rPr>
              <a:t>only after proof</a:t>
            </a:r>
            <a:pPr algn="l" indent="0" marL="0">
              <a:buNone/>
            </a:pPr>
            <a:r>
              <a:rPr lang="en-US" sz="1100" dirty="0">
                <a:solidFill>
                  <a:schemeClr val="tx1"/>
                </a:solidFill>
              </a:rPr>
              <a:t>, in two steps (₹75k list → ₹90k list; ₹80k realised).</a:t>
            </a:r>
            <a:endParaRPr lang="en-US" sz="1100" dirty="0"/>
          </a:p>
        </p:txBody>
      </p:sp>
      <p:sp>
        <p:nvSpPr>
          <p:cNvPr id="18" name="Badge HYPOTHESIS"/>
          <p:cNvSpPr txBox="1"/>
          <p:nvPr/>
        </p:nvSpPr>
        <p:spPr>
          <a:xfrm>
            <a:off x="6382512" y="3704844"/>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19" name="Badge note"/>
          <p:cNvSpPr txBox="1"/>
          <p:nvPr/>
        </p:nvSpPr>
        <p:spPr>
          <a:xfrm>
            <a:off x="6382512" y="3942588"/>
            <a:ext cx="1188720" cy="182880"/>
          </a:xfrm>
          <a:prstGeom prst="rect">
            <a:avLst/>
          </a:prstGeom>
          <a:noFill/>
          <a:ln/>
        </p:spPr>
        <p:txBody>
          <a:bodyPr wrap="square" lIns="0" tIns="0" rIns="0" bIns="0" rtlCol="0" anchor="t"/>
          <a:lstStyle/>
          <a:p>
            <a:pPr algn="l" indent="0" marL="0">
              <a:buNone/>
            </a:pPr>
            <a:r>
              <a:rPr lang="en-US" sz="900" dirty="0">
                <a:solidFill>
                  <a:srgbClr val="6B5F67"/>
                </a:solidFill>
              </a:rPr>
              <a:t>planning prices</a:t>
            </a:r>
            <a:endParaRPr lang="en-US" sz="900" dirty="0"/>
          </a:p>
        </p:txBody>
      </p:sp>
      <p:sp>
        <p:nvSpPr>
          <p:cNvPr id="20" name="List rule 3"/>
          <p:cNvSpPr/>
          <p:nvPr/>
        </p:nvSpPr>
        <p:spPr>
          <a:xfrm>
            <a:off x="749808" y="4215384"/>
            <a:ext cx="6821424" cy="0"/>
          </a:xfrm>
          <a:prstGeom prst="line">
            <a:avLst/>
          </a:prstGeom>
          <a:noFill/>
          <a:ln w="9525">
            <a:solidFill>
              <a:srgbClr val="E4DAD5"/>
            </a:solidFill>
            <a:prstDash val="solid"/>
          </a:ln>
        </p:spPr>
      </p:sp>
      <p:sp>
        <p:nvSpPr>
          <p:cNvPr id="21" name="List number 4"/>
          <p:cNvSpPr txBox="1"/>
          <p:nvPr/>
        </p:nvSpPr>
        <p:spPr>
          <a:xfrm>
            <a:off x="749808" y="4332945"/>
            <a:ext cx="383621" cy="383621"/>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2" name="List text 4"/>
          <p:cNvSpPr txBox="1"/>
          <p:nvPr/>
        </p:nvSpPr>
        <p:spPr>
          <a:xfrm>
            <a:off x="1316309" y="4261104"/>
            <a:ext cx="4929043" cy="527304"/>
          </a:xfrm>
          <a:prstGeom prst="rect">
            <a:avLst/>
          </a:prstGeom>
          <a:noFill/>
          <a:ln/>
        </p:spPr>
        <p:txBody>
          <a:bodyPr wrap="square" lIns="0" tIns="0" rIns="0" bIns="0" rtlCol="0" anchor="ctr"/>
          <a:lstStyle/>
          <a:p>
            <a:pPr algn="l" indent="0" marL="0">
              <a:buNone/>
            </a:pPr>
            <a:r>
              <a:rPr lang="en-US" sz="1100" b="1" dirty="0">
                <a:solidFill>
                  <a:schemeClr val="tx1"/>
                </a:solidFill>
              </a:rPr>
              <a:t>Plan ₹25L, authorise ₹35L, be ready to lose ₹33L.</a:t>
            </a:r>
            <a:endParaRPr lang="en-US" sz="1100" dirty="0"/>
          </a:p>
        </p:txBody>
      </p:sp>
      <p:sp>
        <p:nvSpPr>
          <p:cNvPr id="23" name="Badge ESTIMATE"/>
          <p:cNvSpPr txBox="1"/>
          <p:nvPr/>
        </p:nvSpPr>
        <p:spPr>
          <a:xfrm>
            <a:off x="6382512" y="4323588"/>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4" name="Badge note 2"/>
          <p:cNvSpPr txBox="1"/>
          <p:nvPr/>
        </p:nvSpPr>
        <p:spPr>
          <a:xfrm>
            <a:off x="6382512" y="4561332"/>
            <a:ext cx="1188720" cy="182880"/>
          </a:xfrm>
          <a:prstGeom prst="rect">
            <a:avLst/>
          </a:prstGeom>
          <a:noFill/>
          <a:ln/>
        </p:spPr>
        <p:txBody>
          <a:bodyPr wrap="square" lIns="0" tIns="0" rIns="0" bIns="0" rtlCol="0" anchor="t"/>
          <a:lstStyle/>
          <a:p>
            <a:pPr algn="l" indent="0" marL="0">
              <a:buNone/>
            </a:pPr>
            <a:r>
              <a:rPr lang="en-US" sz="900" dirty="0">
                <a:solidFill>
                  <a:srgbClr val="6B5F67"/>
                </a:solidFill>
              </a:rPr>
              <a:t>model output</a:t>
            </a:r>
            <a:endParaRPr lang="en-US" sz="900" dirty="0"/>
          </a:p>
        </p:txBody>
      </p:sp>
      <p:sp>
        <p:nvSpPr>
          <p:cNvPr id="25" name="List rule 4"/>
          <p:cNvSpPr/>
          <p:nvPr/>
        </p:nvSpPr>
        <p:spPr>
          <a:xfrm>
            <a:off x="749808" y="4834128"/>
            <a:ext cx="6821424" cy="0"/>
          </a:xfrm>
          <a:prstGeom prst="line">
            <a:avLst/>
          </a:prstGeom>
          <a:noFill/>
          <a:ln w="9525">
            <a:solidFill>
              <a:srgbClr val="E4DAD5"/>
            </a:solidFill>
            <a:prstDash val="solid"/>
          </a:ln>
        </p:spPr>
      </p:sp>
      <p:sp>
        <p:nvSpPr>
          <p:cNvPr id="26" name="List number 5"/>
          <p:cNvSpPr txBox="1"/>
          <p:nvPr/>
        </p:nvSpPr>
        <p:spPr>
          <a:xfrm>
            <a:off x="749808" y="4951689"/>
            <a:ext cx="383621" cy="383621"/>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7" name="List text 5"/>
          <p:cNvSpPr txBox="1"/>
          <p:nvPr/>
        </p:nvSpPr>
        <p:spPr>
          <a:xfrm>
            <a:off x="1316309" y="4879848"/>
            <a:ext cx="4929043" cy="527304"/>
          </a:xfrm>
          <a:prstGeom prst="rect">
            <a:avLst/>
          </a:prstGeom>
          <a:noFill/>
          <a:ln/>
        </p:spPr>
        <p:txBody>
          <a:bodyPr wrap="square" lIns="0" tIns="0" rIns="0" bIns="0" rtlCol="0" anchor="ctr"/>
          <a:lstStyle/>
          <a:p>
            <a:pPr algn="l" indent="0" marL="0">
              <a:buNone/>
            </a:pPr>
            <a:r>
              <a:rPr lang="en-US" sz="1100" dirty="0">
                <a:solidFill>
                  <a:schemeClr val="tx1"/>
                </a:solidFill>
              </a:rPr>
              <a:t>Someone other than the founder runs it (</a:t>
            </a:r>
            <a:pPr algn="l" indent="0" marL="0">
              <a:buNone/>
            </a:pPr>
            <a:r>
              <a:rPr lang="en-US" sz="1100" b="1" dirty="0">
                <a:solidFill>
                  <a:schemeClr val="tx1"/>
                </a:solidFill>
              </a:rPr>
              <a:t>Admissions &amp; Operations Lead</a:t>
            </a:r>
            <a:pPr algn="l" indent="0" marL="0">
              <a:buNone/>
            </a:pPr>
            <a:r>
              <a:rPr lang="en-US" sz="1100" dirty="0">
                <a:solidFill>
                  <a:schemeClr val="tx1"/>
                </a:solidFill>
              </a:rPr>
              <a:t>, month 1).</a:t>
            </a:r>
            <a:endParaRPr lang="en-US" sz="1100" dirty="0"/>
          </a:p>
        </p:txBody>
      </p:sp>
      <p:sp>
        <p:nvSpPr>
          <p:cNvPr id="28" name="List rule 5"/>
          <p:cNvSpPr/>
          <p:nvPr/>
        </p:nvSpPr>
        <p:spPr>
          <a:xfrm>
            <a:off x="749808" y="5452872"/>
            <a:ext cx="6821424" cy="0"/>
          </a:xfrm>
          <a:prstGeom prst="line">
            <a:avLst/>
          </a:prstGeom>
          <a:noFill/>
          <a:ln w="9525">
            <a:solidFill>
              <a:srgbClr val="E4DAD5"/>
            </a:solidFill>
            <a:prstDash val="solid"/>
          </a:ln>
        </p:spPr>
      </p:sp>
      <p:sp>
        <p:nvSpPr>
          <p:cNvPr id="29" name="List number 6"/>
          <p:cNvSpPr txBox="1"/>
          <p:nvPr/>
        </p:nvSpPr>
        <p:spPr>
          <a:xfrm>
            <a:off x="749808" y="5570433"/>
            <a:ext cx="383621" cy="383621"/>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30" name="List text 6"/>
          <p:cNvSpPr txBox="1"/>
          <p:nvPr/>
        </p:nvSpPr>
        <p:spPr>
          <a:xfrm>
            <a:off x="1316309" y="5498592"/>
            <a:ext cx="4929043" cy="527304"/>
          </a:xfrm>
          <a:prstGeom prst="rect">
            <a:avLst/>
          </a:prstGeom>
          <a:noFill/>
          <a:ln/>
        </p:spPr>
        <p:txBody>
          <a:bodyPr wrap="square" lIns="0" tIns="0" rIns="0" bIns="0" rtlCol="0" anchor="ctr"/>
          <a:lstStyle/>
          <a:p>
            <a:pPr algn="l" indent="0" marL="0">
              <a:buNone/>
            </a:pPr>
            <a:r>
              <a:rPr lang="en-US" sz="1100" dirty="0">
                <a:solidFill>
                  <a:schemeClr val="tx1"/>
                </a:solidFill>
              </a:rPr>
              <a:t>Second engine: out-of-town </a:t>
            </a:r>
            <a:pPr algn="l" indent="0" marL="0">
              <a:buNone/>
            </a:pPr>
            <a:r>
              <a:rPr lang="en-US" sz="1100" b="1" dirty="0">
                <a:solidFill>
                  <a:schemeClr val="tx1"/>
                </a:solidFill>
              </a:rPr>
              <a:t>"Destination"</a:t>
            </a:r>
            <a:pPr algn="l" indent="0" marL="0">
              <a:buNone/>
            </a:pPr>
            <a:r>
              <a:rPr lang="en-US" sz="1100" dirty="0">
                <a:solidFill>
                  <a:schemeClr val="tx1"/>
                </a:solidFill>
              </a:rPr>
              <a:t> students, piloted Aug–Sep 2027, scaled only at gate G2.</a:t>
            </a:r>
            <a:endParaRPr lang="en-US" sz="1100" dirty="0"/>
          </a:p>
        </p:txBody>
      </p:sp>
      <p:sp>
        <p:nvSpPr>
          <p:cNvPr id="31" name="Not doing card"/>
          <p:cNvSpPr/>
          <p:nvPr/>
        </p:nvSpPr>
        <p:spPr>
          <a:xfrm>
            <a:off x="8046720" y="1920240"/>
            <a:ext cx="3596335" cy="4224528"/>
          </a:xfrm>
          <a:prstGeom prst="roundRect">
            <a:avLst>
              <a:gd name="adj" fmla="val 2034"/>
            </a:avLst>
          </a:prstGeom>
          <a:solidFill>
            <a:srgbClr val="F1EAE5"/>
          </a:solidFill>
          <a:ln/>
        </p:spPr>
      </p:sp>
      <p:sp>
        <p:nvSpPr>
          <p:cNvPr id="32" name="Label 2"/>
          <p:cNvSpPr txBox="1"/>
          <p:nvPr/>
        </p:nvSpPr>
        <p:spPr>
          <a:xfrm>
            <a:off x="8275320" y="2066544"/>
            <a:ext cx="3139135" cy="219456"/>
          </a:xfrm>
          <a:prstGeom prst="rect">
            <a:avLst/>
          </a:prstGeom>
          <a:noFill/>
          <a:ln/>
        </p:spPr>
        <p:txBody>
          <a:bodyPr wrap="square" lIns="0" tIns="0" rIns="0" bIns="0" rtlCol="0" anchor="ctr"/>
          <a:lstStyle/>
          <a:p>
            <a:pPr algn="l" indent="0" marL="0">
              <a:buNone/>
            </a:pPr>
            <a:r>
              <a:rPr lang="en-US" sz="1050" b="1" dirty="0">
                <a:solidFill>
                  <a:srgbClr val="A4513F"/>
                </a:solidFill>
              </a:rPr>
              <a:t>WHAT WE ARE NOT DOING</a:t>
            </a:r>
            <a:endParaRPr lang="en-US" sz="1050" dirty="0"/>
          </a:p>
        </p:txBody>
      </p:sp>
      <p:sp>
        <p:nvSpPr>
          <p:cNvPr id="33" name="Not icon"/>
          <p:cNvSpPr txBox="1"/>
          <p:nvPr/>
        </p:nvSpPr>
        <p:spPr>
          <a:xfrm>
            <a:off x="8275320" y="2578608"/>
            <a:ext cx="310896" cy="310896"/>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34" name="Not item"/>
          <p:cNvSpPr txBox="1"/>
          <p:nvPr/>
        </p:nvSpPr>
        <p:spPr>
          <a:xfrm>
            <a:off x="8732520" y="2487168"/>
            <a:ext cx="2681935" cy="493776"/>
          </a:xfrm>
          <a:prstGeom prst="rect">
            <a:avLst/>
          </a:prstGeom>
          <a:noFill/>
          <a:ln/>
        </p:spPr>
        <p:txBody>
          <a:bodyPr wrap="square" lIns="0" tIns="0" rIns="0" bIns="0" rtlCol="0" anchor="ctr"/>
          <a:lstStyle/>
          <a:p>
            <a:pPr algn="l" indent="0" marL="0">
              <a:buNone/>
            </a:pPr>
            <a:r>
              <a:rPr lang="en-US" sz="1400" dirty="0">
                <a:solidFill>
                  <a:schemeClr val="tx1"/>
                </a:solidFill>
              </a:rPr>
              <a:t>Beauty-services marketplace</a:t>
            </a:r>
            <a:endParaRPr lang="en-US" sz="1400" dirty="0"/>
          </a:p>
        </p:txBody>
      </p:sp>
      <p:sp>
        <p:nvSpPr>
          <p:cNvPr id="35" name="Not icon 2"/>
          <p:cNvSpPr txBox="1"/>
          <p:nvPr/>
        </p:nvSpPr>
        <p:spPr>
          <a:xfrm>
            <a:off x="8275320" y="3145536"/>
            <a:ext cx="310896" cy="310896"/>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36" name="Not item 2"/>
          <p:cNvSpPr txBox="1"/>
          <p:nvPr/>
        </p:nvSpPr>
        <p:spPr>
          <a:xfrm>
            <a:off x="8732520" y="3054096"/>
            <a:ext cx="2681935" cy="493776"/>
          </a:xfrm>
          <a:prstGeom prst="rect">
            <a:avLst/>
          </a:prstGeom>
          <a:noFill/>
          <a:ln/>
        </p:spPr>
        <p:txBody>
          <a:bodyPr wrap="square" lIns="0" tIns="0" rIns="0" bIns="0" rtlCol="0" anchor="ctr"/>
          <a:lstStyle/>
          <a:p>
            <a:pPr algn="l" indent="0" marL="0">
              <a:buNone/>
            </a:pPr>
            <a:r>
              <a:rPr lang="en-US" sz="1400" dirty="0">
                <a:solidFill>
                  <a:schemeClr val="tx1"/>
                </a:solidFill>
              </a:rPr>
              <a:t>Owned Delhi NCR or Ludhiana centre</a:t>
            </a:r>
            <a:endParaRPr lang="en-US" sz="1400" dirty="0"/>
          </a:p>
        </p:txBody>
      </p:sp>
      <p:sp>
        <p:nvSpPr>
          <p:cNvPr id="37" name="Not icon 3"/>
          <p:cNvSpPr txBox="1"/>
          <p:nvPr/>
        </p:nvSpPr>
        <p:spPr>
          <a:xfrm>
            <a:off x="8275320" y="3712464"/>
            <a:ext cx="310896" cy="310896"/>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38" name="Not item 3"/>
          <p:cNvSpPr txBox="1"/>
          <p:nvPr/>
        </p:nvSpPr>
        <p:spPr>
          <a:xfrm>
            <a:off x="8732520" y="3621024"/>
            <a:ext cx="2681935" cy="493776"/>
          </a:xfrm>
          <a:prstGeom prst="rect">
            <a:avLst/>
          </a:prstGeom>
          <a:noFill/>
          <a:ln/>
        </p:spPr>
        <p:txBody>
          <a:bodyPr wrap="square" lIns="0" tIns="0" rIns="0" bIns="0" rtlCol="0" anchor="ctr"/>
          <a:lstStyle/>
          <a:p>
            <a:pPr algn="l" indent="0" marL="0">
              <a:buNone/>
            </a:pPr>
            <a:r>
              <a:rPr lang="en-US" sz="1400" dirty="0">
                <a:solidFill>
                  <a:schemeClr val="tx1"/>
                </a:solidFill>
              </a:rPr>
              <a:t>Franchising now</a:t>
            </a:r>
            <a:endParaRPr lang="en-US" sz="1400" dirty="0"/>
          </a:p>
        </p:txBody>
      </p:sp>
      <p:sp>
        <p:nvSpPr>
          <p:cNvPr id="39" name="Not icon 4"/>
          <p:cNvSpPr txBox="1"/>
          <p:nvPr/>
        </p:nvSpPr>
        <p:spPr>
          <a:xfrm>
            <a:off x="8275320" y="4279392"/>
            <a:ext cx="310896" cy="310896"/>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40" name="Not item 4"/>
          <p:cNvSpPr txBox="1"/>
          <p:nvPr/>
        </p:nvSpPr>
        <p:spPr>
          <a:xfrm>
            <a:off x="8732520" y="4187952"/>
            <a:ext cx="2681935" cy="493776"/>
          </a:xfrm>
          <a:prstGeom prst="rect">
            <a:avLst/>
          </a:prstGeom>
          <a:noFill/>
          <a:ln/>
        </p:spPr>
        <p:txBody>
          <a:bodyPr wrap="square" lIns="0" tIns="0" rIns="0" bIns="0" rtlCol="0" anchor="ctr"/>
          <a:lstStyle/>
          <a:p>
            <a:pPr algn="l" indent="0" marL="0">
              <a:buNone/>
            </a:pPr>
            <a:r>
              <a:rPr lang="en-US" sz="1400" dirty="0">
                <a:solidFill>
                  <a:schemeClr val="tx1"/>
                </a:solidFill>
              </a:rPr>
              <a:t>National online course now</a:t>
            </a:r>
            <a:endParaRPr lang="en-US" sz="1400" dirty="0"/>
          </a:p>
        </p:txBody>
      </p:sp>
      <p:sp>
        <p:nvSpPr>
          <p:cNvPr id="41" name="Not icon 5"/>
          <p:cNvSpPr txBox="1"/>
          <p:nvPr/>
        </p:nvSpPr>
        <p:spPr>
          <a:xfrm>
            <a:off x="8275320" y="4846320"/>
            <a:ext cx="310896" cy="310896"/>
          </a:xfrm>
          <a:prstGeom prst="ellipse">
            <a:avLst/>
          </a:prstGeom>
          <a:solidFill>
            <a:schemeClr val="bg1"/>
          </a:solidFill>
          <a:ln w="12700">
            <a:solidFill>
              <a:schemeClr val="accent3"/>
            </a:solid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42" name="Not item 5"/>
          <p:cNvSpPr txBox="1"/>
          <p:nvPr/>
        </p:nvSpPr>
        <p:spPr>
          <a:xfrm>
            <a:off x="8732520" y="4754880"/>
            <a:ext cx="2681935" cy="493776"/>
          </a:xfrm>
          <a:prstGeom prst="rect">
            <a:avLst/>
          </a:prstGeom>
          <a:noFill/>
          <a:ln/>
        </p:spPr>
        <p:txBody>
          <a:bodyPr wrap="square" lIns="0" tIns="0" rIns="0" bIns="0" rtlCol="0" anchor="ctr"/>
          <a:lstStyle/>
          <a:p>
            <a:pPr algn="l" indent="0" marL="0">
              <a:buNone/>
            </a:pPr>
            <a:r>
              <a:rPr lang="en-US" sz="1400" dirty="0">
                <a:solidFill>
                  <a:schemeClr val="tx1"/>
                </a:solidFill>
              </a:rPr>
              <a:t>₹50L plan in Year 1</a:t>
            </a:r>
            <a:endParaRPr lang="en-US" sz="1400" dirty="0"/>
          </a:p>
        </p:txBody>
      </p:sp>
      <p:sp>
        <p:nvSpPr>
          <p:cNvPr id="43" name="Not foot"/>
          <p:cNvSpPr txBox="1"/>
          <p:nvPr/>
        </p:nvSpPr>
        <p:spPr>
          <a:xfrm>
            <a:off x="8275320" y="5458968"/>
            <a:ext cx="3139135" cy="457200"/>
          </a:xfrm>
          <a:prstGeom prst="rect">
            <a:avLst/>
          </a:prstGeom>
          <a:noFill/>
          <a:ln/>
        </p:spPr>
        <p:txBody>
          <a:bodyPr wrap="square" lIns="0" tIns="0" rIns="0" bIns="0" rtlCol="0" anchor="t"/>
          <a:lstStyle/>
          <a:p>
            <a:pPr algn="l" indent="0" marL="0">
              <a:buNone/>
            </a:pPr>
            <a:r>
              <a:rPr lang="en-US" sz="1100" i="1" dirty="0">
                <a:solidFill>
                  <a:srgbClr val="6B5F67"/>
                </a:solidFill>
              </a:rPr>
              <a:t>Each is rejected on numbers, not taste: see slide 10.</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EXECUTIVE SUMMARY · 2 OF 2</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650" dirty="0">
                <a:solidFill>
                  <a:schemeClr val="tx2"/>
                </a:solidFill>
                <a:latin typeface="+mj-lt" pitchFamily="34" charset="0"/>
                <a:ea typeface="+mj-lt" pitchFamily="34" charset="-122"/>
                <a:cs typeface="+mj-lt" pitchFamily="34" charset="-120"/>
              </a:rPr>
              <a:t>Year 1 breaks roughly even before her salary; Year 3 pays only if gates pass</a:t>
            </a:r>
            <a:endParaRPr lang="en-US" sz="2800" dirty="0"/>
          </a:p>
        </p:txBody>
      </p:sp>
      <p:sp>
        <p:nvSpPr>
          <p:cNvPr id="4" name="Subtitle"/>
          <p:cNvSpPr txBox="1"/>
          <p:nvPr/>
        </p:nvSpPr>
        <p:spPr>
          <a:xfrm>
            <a:off x="548640" y="1100265"/>
            <a:ext cx="11094415" cy="269367"/>
          </a:xfrm>
          <a:prstGeom prst="rect">
            <a:avLst/>
          </a:prstGeom>
          <a:noFill/>
          <a:ln/>
        </p:spPr>
        <p:txBody>
          <a:bodyPr wrap="square" lIns="0" tIns="0" rIns="0" bIns="0" rtlCol="0" anchor="t"/>
          <a:lstStyle/>
          <a:p>
            <a:pPr algn="l" indent="0" marL="0">
              <a:buNone/>
            </a:pPr>
            <a:r>
              <a:rPr lang="en-US" sz="1500" dirty="0">
                <a:solidFill>
                  <a:srgbClr val="6B5F67"/>
                </a:solidFill>
              </a:rPr>
              <a:t>₹60.6L revenue and −₹2.8L EBITDA in Year 1; ₹162.9L and ₹39.3L in Year 3 only with every gate passed; cash back in month 29.</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§1A (planning table), §1A.3 (Year-3 decomposition), §1A.4 (Payback_IRR), §1B row 21 (₹10L plan); recommended_strategy.md §1 (8, 10)</a:t>
            </a:r>
            <a:pPr algn="l" indent="0" marL="0">
              <a:buNone/>
            </a:pPr>
            <a:r>
              <a:rPr lang="en-US" sz="900" b="1" dirty="0">
                <a:solidFill>
                  <a:srgbClr val="6B5F67"/>
                </a:solidFill>
              </a:rPr>
              <a:t>   Note: </a:t>
            </a:r>
            <a:pPr algn="l" indent="0" marL="0">
              <a:buNone/>
            </a:pPr>
            <a:r>
              <a:rPr lang="en-US" sz="900" dirty="0">
                <a:solidFill>
                  <a:srgbClr val="6B5F67"/>
                </a:solidFill>
              </a:rPr>
              <a:t>₹ lakh ex-GST; Year 1 Nov 2026–Oct 2027; Year 3 FY to Oct 2029; planning case G1 at M9.</a:t>
            </a:r>
            <a:endParaRPr lang="en-US" sz="900" dirty="0"/>
          </a:p>
        </p:txBody>
      </p:sp>
      <p:sp>
        <p:nvSpPr>
          <p:cNvPr id="7" name="Evidence key"/>
          <p:cNvSpPr txBox="1"/>
          <p:nvPr/>
        </p:nvSpPr>
        <p:spPr>
          <a:xfrm>
            <a:off x="548640" y="1920240"/>
            <a:ext cx="615302" cy="219456"/>
          </a:xfrm>
          <a:prstGeom prst="rect">
            <a:avLst/>
          </a:prstGeom>
          <a:noFill/>
          <a:ln/>
        </p:spPr>
        <p:txBody>
          <a:bodyPr wrap="square" lIns="0" tIns="0" rIns="0" bIns="0" rtlCol="0" anchor="ctr"/>
          <a:lstStyle/>
          <a:p>
            <a:pPr algn="l" indent="0" marL="0">
              <a:buNone/>
            </a:pPr>
            <a:r>
              <a:rPr lang="en-US" sz="1000" b="1" dirty="0">
                <a:solidFill>
                  <a:srgbClr val="6B5F67"/>
                </a:solidFill>
              </a:rPr>
              <a:t>Evidence:</a:t>
            </a:r>
            <a:endParaRPr lang="en-US" sz="1000" dirty="0"/>
          </a:p>
        </p:txBody>
      </p:sp>
      <p:sp>
        <p:nvSpPr>
          <p:cNvPr id="8" name="Badge ESTIMATE"/>
          <p:cNvSpPr txBox="1"/>
          <p:nvPr/>
        </p:nvSpPr>
        <p:spPr>
          <a:xfrm>
            <a:off x="1200518" y="192024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Evidence key text"/>
          <p:cNvSpPr txBox="1"/>
          <p:nvPr/>
        </p:nvSpPr>
        <p:spPr>
          <a:xfrm>
            <a:off x="2034475" y="1920240"/>
            <a:ext cx="4040688" cy="219456"/>
          </a:xfrm>
          <a:prstGeom prst="rect">
            <a:avLst/>
          </a:prstGeom>
          <a:noFill/>
          <a:ln/>
        </p:spPr>
        <p:txBody>
          <a:bodyPr wrap="square" lIns="0" tIns="0" rIns="0" bIns="0" rtlCol="0" anchor="ctr"/>
          <a:lstStyle/>
          <a:p>
            <a:pPr algn="l" indent="0" marL="0">
              <a:buNone/>
            </a:pPr>
            <a:r>
              <a:rPr lang="en-US" sz="1000" dirty="0">
                <a:solidFill>
                  <a:srgbClr val="6B5F67"/>
                </a:solidFill>
              </a:rPr>
              <a:t>Planning case (Staged_G1M9): G1 passed July 2027, all later gates passed</a:t>
            </a:r>
            <a:endParaRPr lang="en-US" sz="1000" dirty="0"/>
          </a:p>
        </p:txBody>
      </p:sp>
      <p:sp>
        <p:nvSpPr>
          <p:cNvPr id="10" name="KPI card"/>
          <p:cNvSpPr/>
          <p:nvPr/>
        </p:nvSpPr>
        <p:spPr>
          <a:xfrm>
            <a:off x="548640" y="2267712"/>
            <a:ext cx="1696669" cy="1783080"/>
          </a:xfrm>
          <a:prstGeom prst="roundRect">
            <a:avLst>
              <a:gd name="adj" fmla="val 4312"/>
            </a:avLst>
          </a:prstGeom>
          <a:solidFill>
            <a:schemeClr val="bg1"/>
          </a:solidFill>
          <a:ln w="9525">
            <a:solidFill>
              <a:srgbClr val="E4DAD5"/>
            </a:solidFill>
            <a:prstDash val="solid"/>
          </a:ln>
        </p:spPr>
      </p:sp>
      <p:sp>
        <p:nvSpPr>
          <p:cNvPr id="11" name="KPI label"/>
          <p:cNvSpPr txBox="1"/>
          <p:nvPr/>
        </p:nvSpPr>
        <p:spPr>
          <a:xfrm>
            <a:off x="749808" y="2468880"/>
            <a:ext cx="1294333" cy="420624"/>
          </a:xfrm>
          <a:prstGeom prst="rect">
            <a:avLst/>
          </a:prstGeom>
          <a:noFill/>
          <a:ln/>
        </p:spPr>
        <p:txBody>
          <a:bodyPr wrap="square" lIns="0" tIns="0" rIns="0" bIns="0" rtlCol="0" anchor="t"/>
          <a:lstStyle/>
          <a:p>
            <a:pPr algn="l" indent="0" marL="0">
              <a:buNone/>
            </a:pPr>
            <a:r>
              <a:rPr lang="en-US" sz="1300" b="1" dirty="0">
                <a:solidFill>
                  <a:schemeClr val="tx1"/>
                </a:solidFill>
              </a:rPr>
              <a:t>Y1 revenue</a:t>
            </a:r>
            <a:endParaRPr lang="en-US" sz="1300" dirty="0"/>
          </a:p>
        </p:txBody>
      </p:sp>
      <p:sp>
        <p:nvSpPr>
          <p:cNvPr id="12" name="KPI value"/>
          <p:cNvSpPr txBox="1"/>
          <p:nvPr/>
        </p:nvSpPr>
        <p:spPr>
          <a:xfrm>
            <a:off x="749808" y="3185897"/>
            <a:ext cx="1294333" cy="493014"/>
          </a:xfrm>
          <a:prstGeom prst="rect">
            <a:avLst/>
          </a:prstGeom>
          <a:noFill/>
          <a:ln/>
        </p:spPr>
        <p:txBody>
          <a:bodyPr wrap="square" lIns="0" tIns="0" rIns="0" bIns="0" rtlCol="0" anchor="b"/>
          <a:lstStyle/>
          <a:p>
            <a:pPr algn="l" indent="0" marL="0">
              <a:buNone/>
            </a:pPr>
            <a:r>
              <a:rPr lang="en-US" sz="3000" dirty="0">
                <a:solidFill>
                  <a:schemeClr val="tx2"/>
                </a:solidFill>
                <a:latin typeface="+mn-lt" pitchFamily="34" charset="0"/>
                <a:ea typeface="+mn-lt" pitchFamily="34" charset="-122"/>
                <a:cs typeface="+mn-lt" pitchFamily="34" charset="-120"/>
              </a:rPr>
              <a:t>₹</a:t>
            </a:r>
            <a:pPr algn="l" indent="0" marL="0">
              <a:buNone/>
            </a:pPr>
            <a:r>
              <a:rPr lang="en-US" sz="3000" dirty="0">
                <a:solidFill>
                  <a:schemeClr val="tx2"/>
                </a:solidFill>
                <a:latin typeface="+mj-lt" pitchFamily="34" charset="0"/>
                <a:ea typeface="+mj-lt" pitchFamily="34" charset="-122"/>
                <a:cs typeface="+mj-lt" pitchFamily="34" charset="-120"/>
              </a:rPr>
              <a:t>60.6</a:t>
            </a:r>
            <a:pPr algn="l" indent="0" marL="0">
              <a:buNone/>
            </a:pPr>
            <a:r>
              <a:rPr lang="en-US" sz="1500" dirty="0">
                <a:solidFill>
                  <a:srgbClr val="6B5F67"/>
                </a:solidFill>
                <a:latin typeface="+mn-lt" pitchFamily="34" charset="0"/>
                <a:ea typeface="+mn-lt" pitchFamily="34" charset="-122"/>
                <a:cs typeface="+mn-lt" pitchFamily="34" charset="-120"/>
              </a:rPr>
              <a:t>L</a:t>
            </a:r>
            <a:endParaRPr lang="en-US" sz="1200" dirty="0"/>
          </a:p>
        </p:txBody>
      </p:sp>
      <p:sp>
        <p:nvSpPr>
          <p:cNvPr id="13" name="KPI period"/>
          <p:cNvSpPr txBox="1"/>
          <p:nvPr/>
        </p:nvSpPr>
        <p:spPr>
          <a:xfrm>
            <a:off x="749808" y="3678911"/>
            <a:ext cx="1294333" cy="189001"/>
          </a:xfrm>
          <a:prstGeom prst="rect">
            <a:avLst/>
          </a:prstGeom>
          <a:noFill/>
          <a:ln/>
        </p:spPr>
        <p:txBody>
          <a:bodyPr wrap="square" lIns="0" tIns="0" rIns="0" bIns="0" rtlCol="0" anchor="t"/>
          <a:lstStyle/>
          <a:p>
            <a:pPr algn="l" indent="0" marL="0">
              <a:buNone/>
            </a:pPr>
            <a:r>
              <a:rPr lang="en-US" sz="1100" dirty="0">
                <a:solidFill>
                  <a:srgbClr val="6B5F67"/>
                </a:solidFill>
              </a:rPr>
              <a:t>Nov 2026–Oct 2027</a:t>
            </a:r>
            <a:endParaRPr lang="en-US" sz="1100" dirty="0"/>
          </a:p>
        </p:txBody>
      </p:sp>
      <p:sp>
        <p:nvSpPr>
          <p:cNvPr id="14" name="KPI card 2"/>
          <p:cNvSpPr/>
          <p:nvPr/>
        </p:nvSpPr>
        <p:spPr>
          <a:xfrm>
            <a:off x="2428189" y="2267712"/>
            <a:ext cx="1696669" cy="1783080"/>
          </a:xfrm>
          <a:prstGeom prst="roundRect">
            <a:avLst>
              <a:gd name="adj" fmla="val 4312"/>
            </a:avLst>
          </a:prstGeom>
          <a:solidFill>
            <a:schemeClr val="bg1"/>
          </a:solidFill>
          <a:ln w="9525">
            <a:solidFill>
              <a:srgbClr val="E4DAD5"/>
            </a:solidFill>
            <a:prstDash val="solid"/>
          </a:ln>
        </p:spPr>
      </p:sp>
      <p:sp>
        <p:nvSpPr>
          <p:cNvPr id="15" name="KPI label 2"/>
          <p:cNvSpPr txBox="1"/>
          <p:nvPr/>
        </p:nvSpPr>
        <p:spPr>
          <a:xfrm>
            <a:off x="2629357" y="2468880"/>
            <a:ext cx="1294333" cy="420624"/>
          </a:xfrm>
          <a:prstGeom prst="rect">
            <a:avLst/>
          </a:prstGeom>
          <a:noFill/>
          <a:ln/>
        </p:spPr>
        <p:txBody>
          <a:bodyPr wrap="square" lIns="0" tIns="0" rIns="0" bIns="0" rtlCol="0" anchor="t"/>
          <a:lstStyle/>
          <a:p>
            <a:pPr algn="l" indent="0" marL="0">
              <a:buNone/>
            </a:pPr>
            <a:r>
              <a:rPr lang="en-US" sz="1300" b="1" dirty="0">
                <a:solidFill>
                  <a:schemeClr val="tx1"/>
                </a:solidFill>
              </a:rPr>
              <a:t>Y1 EBITDA before founder salary</a:t>
            </a:r>
            <a:endParaRPr lang="en-US" sz="1300" dirty="0"/>
          </a:p>
        </p:txBody>
      </p:sp>
      <p:sp>
        <p:nvSpPr>
          <p:cNvPr id="16" name="KPI value 2"/>
          <p:cNvSpPr txBox="1"/>
          <p:nvPr/>
        </p:nvSpPr>
        <p:spPr>
          <a:xfrm>
            <a:off x="2629357" y="3015183"/>
            <a:ext cx="1294333" cy="493014"/>
          </a:xfrm>
          <a:prstGeom prst="rect">
            <a:avLst/>
          </a:prstGeom>
          <a:noFill/>
          <a:ln/>
        </p:spPr>
        <p:txBody>
          <a:bodyPr wrap="square" lIns="0" tIns="0" rIns="0" bIns="0" rtlCol="0" anchor="b"/>
          <a:lstStyle/>
          <a:p>
            <a:pPr algn="l" indent="0" marL="0">
              <a:buNone/>
            </a:pPr>
            <a:r>
              <a:rPr lang="en-US" sz="3000" dirty="0">
                <a:solidFill>
                  <a:schemeClr val="tx2"/>
                </a:solidFill>
                <a:latin typeface="+mn-lt" pitchFamily="34" charset="0"/>
                <a:ea typeface="+mn-lt" pitchFamily="34" charset="-122"/>
                <a:cs typeface="+mn-lt" pitchFamily="34" charset="-120"/>
              </a:rPr>
              <a:t>−₹</a:t>
            </a:r>
            <a:pPr algn="l" indent="0" marL="0">
              <a:buNone/>
            </a:pPr>
            <a:r>
              <a:rPr lang="en-US" sz="3000" dirty="0">
                <a:solidFill>
                  <a:schemeClr val="tx2"/>
                </a:solidFill>
                <a:latin typeface="+mj-lt" pitchFamily="34" charset="0"/>
                <a:ea typeface="+mj-lt" pitchFamily="34" charset="-122"/>
                <a:cs typeface="+mj-lt" pitchFamily="34" charset="-120"/>
              </a:rPr>
              <a:t>2.8</a:t>
            </a:r>
            <a:pPr algn="l" indent="0" marL="0">
              <a:buNone/>
            </a:pPr>
            <a:r>
              <a:rPr lang="en-US" sz="1500" dirty="0">
                <a:solidFill>
                  <a:srgbClr val="6B5F67"/>
                </a:solidFill>
                <a:latin typeface="+mn-lt" pitchFamily="34" charset="0"/>
                <a:ea typeface="+mn-lt" pitchFamily="34" charset="-122"/>
                <a:cs typeface="+mn-lt" pitchFamily="34" charset="-120"/>
              </a:rPr>
              <a:t>L</a:t>
            </a:r>
            <a:endParaRPr lang="en-US" sz="1200" dirty="0"/>
          </a:p>
        </p:txBody>
      </p:sp>
      <p:sp>
        <p:nvSpPr>
          <p:cNvPr id="17" name="KPI period 2"/>
          <p:cNvSpPr txBox="1"/>
          <p:nvPr/>
        </p:nvSpPr>
        <p:spPr>
          <a:xfrm>
            <a:off x="2629357" y="3508197"/>
            <a:ext cx="1294333" cy="359715"/>
          </a:xfrm>
          <a:prstGeom prst="rect">
            <a:avLst/>
          </a:prstGeom>
          <a:noFill/>
          <a:ln/>
        </p:spPr>
        <p:txBody>
          <a:bodyPr wrap="square" lIns="0" tIns="0" rIns="0" bIns="0" rtlCol="0" anchor="t"/>
          <a:lstStyle/>
          <a:p>
            <a:pPr algn="l" indent="0" marL="0">
              <a:buNone/>
            </a:pPr>
            <a:r>
              <a:rPr lang="en-US" sz="1100" dirty="0">
                <a:solidFill>
                  <a:srgbClr val="6B5F67"/>
                </a:solidFill>
              </a:rPr>
              <a:t>−₹11.8L after founder salary</a:t>
            </a:r>
            <a:endParaRPr lang="en-US" sz="1100" dirty="0"/>
          </a:p>
        </p:txBody>
      </p:sp>
      <p:sp>
        <p:nvSpPr>
          <p:cNvPr id="18" name="KPI card 3"/>
          <p:cNvSpPr/>
          <p:nvPr/>
        </p:nvSpPr>
        <p:spPr>
          <a:xfrm>
            <a:off x="4307738" y="2267712"/>
            <a:ext cx="1696669" cy="1783080"/>
          </a:xfrm>
          <a:prstGeom prst="roundRect">
            <a:avLst>
              <a:gd name="adj" fmla="val 4312"/>
            </a:avLst>
          </a:prstGeom>
          <a:solidFill>
            <a:schemeClr val="bg1"/>
          </a:solidFill>
          <a:ln w="9525">
            <a:solidFill>
              <a:srgbClr val="E4DAD5"/>
            </a:solidFill>
            <a:prstDash val="solid"/>
          </a:ln>
        </p:spPr>
      </p:sp>
      <p:sp>
        <p:nvSpPr>
          <p:cNvPr id="19" name="KPI label 3"/>
          <p:cNvSpPr txBox="1"/>
          <p:nvPr/>
        </p:nvSpPr>
        <p:spPr>
          <a:xfrm>
            <a:off x="4508906" y="2468880"/>
            <a:ext cx="1294333" cy="420624"/>
          </a:xfrm>
          <a:prstGeom prst="rect">
            <a:avLst/>
          </a:prstGeom>
          <a:noFill/>
          <a:ln/>
        </p:spPr>
        <p:txBody>
          <a:bodyPr wrap="square" lIns="0" tIns="0" rIns="0" bIns="0" rtlCol="0" anchor="t"/>
          <a:lstStyle/>
          <a:p>
            <a:pPr algn="l" indent="0" marL="0">
              <a:buNone/>
            </a:pPr>
            <a:r>
              <a:rPr lang="en-US" sz="1300" b="1" dirty="0">
                <a:solidFill>
                  <a:schemeClr val="tx1"/>
                </a:solidFill>
              </a:rPr>
              <a:t>Career enrolments, Y1</a:t>
            </a:r>
            <a:endParaRPr lang="en-US" sz="1300" dirty="0"/>
          </a:p>
        </p:txBody>
      </p:sp>
      <p:sp>
        <p:nvSpPr>
          <p:cNvPr id="20" name="KPI value 3"/>
          <p:cNvSpPr txBox="1"/>
          <p:nvPr/>
        </p:nvSpPr>
        <p:spPr>
          <a:xfrm>
            <a:off x="4508906" y="3185897"/>
            <a:ext cx="1294333" cy="493014"/>
          </a:xfrm>
          <a:prstGeom prst="rect">
            <a:avLst/>
          </a:prstGeom>
          <a:noFill/>
          <a:ln/>
        </p:spPr>
        <p:txBody>
          <a:bodyPr wrap="square" lIns="0" tIns="0" rIns="0" bIns="0" rtlCol="0" anchor="b"/>
          <a:lstStyle/>
          <a:p>
            <a:pPr algn="l" indent="0" marL="0">
              <a:buNone/>
            </a:pPr>
            <a:r>
              <a:rPr lang="en-US" sz="3000" dirty="0">
                <a:solidFill>
                  <a:schemeClr val="tx2"/>
                </a:solidFill>
                <a:latin typeface="+mj-lt" pitchFamily="34" charset="0"/>
                <a:ea typeface="+mj-lt" pitchFamily="34" charset="-122"/>
                <a:cs typeface="+mj-lt" pitchFamily="34" charset="-120"/>
              </a:rPr>
              <a:t>81</a:t>
            </a:r>
            <a:endParaRPr lang="en-US" sz="1200" dirty="0"/>
          </a:p>
        </p:txBody>
      </p:sp>
      <p:sp>
        <p:nvSpPr>
          <p:cNvPr id="21" name="KPI period 3"/>
          <p:cNvSpPr txBox="1"/>
          <p:nvPr/>
        </p:nvSpPr>
        <p:spPr>
          <a:xfrm>
            <a:off x="4508906" y="3678911"/>
            <a:ext cx="1294333" cy="189001"/>
          </a:xfrm>
          <a:prstGeom prst="rect">
            <a:avLst/>
          </a:prstGeom>
          <a:noFill/>
          <a:ln/>
        </p:spPr>
        <p:txBody>
          <a:bodyPr wrap="square" lIns="0" tIns="0" rIns="0" bIns="0" rtlCol="0" anchor="t"/>
          <a:lstStyle/>
          <a:p>
            <a:pPr algn="l" indent="0" marL="0">
              <a:buNone/>
            </a:pPr>
            <a:r>
              <a:rPr lang="en-US" sz="1100" dirty="0">
                <a:solidFill>
                  <a:srgbClr val="6B5F67"/>
                </a:solidFill>
              </a:rPr>
              <a:t>L2 + L3 new students</a:t>
            </a:r>
            <a:endParaRPr lang="en-US" sz="1100" dirty="0"/>
          </a:p>
        </p:txBody>
      </p:sp>
      <p:sp>
        <p:nvSpPr>
          <p:cNvPr id="22" name="KPI card 4"/>
          <p:cNvSpPr/>
          <p:nvPr/>
        </p:nvSpPr>
        <p:spPr>
          <a:xfrm>
            <a:off x="6187288" y="2267712"/>
            <a:ext cx="1696669" cy="1783080"/>
          </a:xfrm>
          <a:prstGeom prst="roundRect">
            <a:avLst>
              <a:gd name="adj" fmla="val 4312"/>
            </a:avLst>
          </a:prstGeom>
          <a:solidFill>
            <a:schemeClr val="bg1"/>
          </a:solidFill>
          <a:ln w="9525">
            <a:solidFill>
              <a:srgbClr val="E4DAD5"/>
            </a:solidFill>
            <a:prstDash val="solid"/>
          </a:ln>
        </p:spPr>
      </p:sp>
      <p:sp>
        <p:nvSpPr>
          <p:cNvPr id="23" name="KPI label 4"/>
          <p:cNvSpPr txBox="1"/>
          <p:nvPr/>
        </p:nvSpPr>
        <p:spPr>
          <a:xfrm>
            <a:off x="6388456" y="2468880"/>
            <a:ext cx="1294333" cy="420624"/>
          </a:xfrm>
          <a:prstGeom prst="rect">
            <a:avLst/>
          </a:prstGeom>
          <a:noFill/>
          <a:ln/>
        </p:spPr>
        <p:txBody>
          <a:bodyPr wrap="square" lIns="0" tIns="0" rIns="0" bIns="0" rtlCol="0" anchor="t"/>
          <a:lstStyle/>
          <a:p>
            <a:pPr algn="l" indent="0" marL="0">
              <a:buNone/>
            </a:pPr>
            <a:r>
              <a:rPr lang="en-US" sz="1300" b="1" dirty="0">
                <a:solidFill>
                  <a:schemeClr val="tx1"/>
                </a:solidFill>
              </a:rPr>
              <a:t>Peak cash</a:t>
            </a:r>
            <a:endParaRPr lang="en-US" sz="1300" dirty="0"/>
          </a:p>
        </p:txBody>
      </p:sp>
      <p:sp>
        <p:nvSpPr>
          <p:cNvPr id="24" name="KPI value 4"/>
          <p:cNvSpPr txBox="1"/>
          <p:nvPr/>
        </p:nvSpPr>
        <p:spPr>
          <a:xfrm>
            <a:off x="6388456" y="3185897"/>
            <a:ext cx="1294333" cy="493014"/>
          </a:xfrm>
          <a:prstGeom prst="rect">
            <a:avLst/>
          </a:prstGeom>
          <a:noFill/>
          <a:ln/>
        </p:spPr>
        <p:txBody>
          <a:bodyPr wrap="square" lIns="0" tIns="0" rIns="0" bIns="0" rtlCol="0" anchor="b"/>
          <a:lstStyle/>
          <a:p>
            <a:pPr algn="l" indent="0" marL="0">
              <a:buNone/>
            </a:pPr>
            <a:r>
              <a:rPr lang="en-US" sz="3000" dirty="0">
                <a:solidFill>
                  <a:schemeClr val="tx2"/>
                </a:solidFill>
                <a:latin typeface="+mn-lt" pitchFamily="34" charset="0"/>
                <a:ea typeface="+mn-lt" pitchFamily="34" charset="-122"/>
                <a:cs typeface="+mn-lt" pitchFamily="34" charset="-120"/>
              </a:rPr>
              <a:t>₹</a:t>
            </a:r>
            <a:pPr algn="l" indent="0" marL="0">
              <a:buNone/>
            </a:pPr>
            <a:r>
              <a:rPr lang="en-US" sz="3000" dirty="0">
                <a:solidFill>
                  <a:schemeClr val="tx2"/>
                </a:solidFill>
                <a:latin typeface="+mj-lt" pitchFamily="34" charset="0"/>
                <a:ea typeface="+mj-lt" pitchFamily="34" charset="-122"/>
                <a:cs typeface="+mj-lt" pitchFamily="34" charset="-120"/>
              </a:rPr>
              <a:t>25.2</a:t>
            </a:r>
            <a:pPr algn="l" indent="0" marL="0">
              <a:buNone/>
            </a:pPr>
            <a:r>
              <a:rPr lang="en-US" sz="1500" dirty="0">
                <a:solidFill>
                  <a:srgbClr val="6B5F67"/>
                </a:solidFill>
                <a:latin typeface="+mn-lt" pitchFamily="34" charset="0"/>
                <a:ea typeface="+mn-lt" pitchFamily="34" charset="-122"/>
                <a:cs typeface="+mn-lt" pitchFamily="34" charset="-120"/>
              </a:rPr>
              <a:t>L</a:t>
            </a:r>
            <a:endParaRPr lang="en-US" sz="1200" dirty="0"/>
          </a:p>
        </p:txBody>
      </p:sp>
      <p:sp>
        <p:nvSpPr>
          <p:cNvPr id="25" name="KPI period 4"/>
          <p:cNvSpPr txBox="1"/>
          <p:nvPr/>
        </p:nvSpPr>
        <p:spPr>
          <a:xfrm>
            <a:off x="6388456" y="3678911"/>
            <a:ext cx="1294333" cy="189001"/>
          </a:xfrm>
          <a:prstGeom prst="rect">
            <a:avLst/>
          </a:prstGeom>
          <a:noFill/>
          <a:ln/>
        </p:spPr>
        <p:txBody>
          <a:bodyPr wrap="square" lIns="0" tIns="0" rIns="0" bIns="0" rtlCol="0" anchor="t"/>
          <a:lstStyle/>
          <a:p>
            <a:pPr algn="l" indent="0" marL="0">
              <a:buNone/>
            </a:pPr>
            <a:r>
              <a:rPr lang="en-US" sz="1100" dirty="0">
                <a:solidFill>
                  <a:srgbClr val="6B5F67"/>
                </a:solidFill>
              </a:rPr>
              <a:t>M9, the fit-out month</a:t>
            </a:r>
            <a:endParaRPr lang="en-US" sz="1100" dirty="0"/>
          </a:p>
        </p:txBody>
      </p:sp>
      <p:sp>
        <p:nvSpPr>
          <p:cNvPr id="26" name="KPI card 5"/>
          <p:cNvSpPr/>
          <p:nvPr/>
        </p:nvSpPr>
        <p:spPr>
          <a:xfrm>
            <a:off x="8066837" y="2267712"/>
            <a:ext cx="1696669" cy="1783080"/>
          </a:xfrm>
          <a:prstGeom prst="roundRect">
            <a:avLst>
              <a:gd name="adj" fmla="val 4312"/>
            </a:avLst>
          </a:prstGeom>
          <a:solidFill>
            <a:schemeClr val="tx2"/>
          </a:solidFill>
          <a:ln/>
        </p:spPr>
      </p:sp>
      <p:sp>
        <p:nvSpPr>
          <p:cNvPr id="27" name="KPI label 5"/>
          <p:cNvSpPr txBox="1"/>
          <p:nvPr/>
        </p:nvSpPr>
        <p:spPr>
          <a:xfrm>
            <a:off x="8268005" y="2468880"/>
            <a:ext cx="1294333" cy="420624"/>
          </a:xfrm>
          <a:prstGeom prst="rect">
            <a:avLst/>
          </a:prstGeom>
          <a:noFill/>
          <a:ln/>
        </p:spPr>
        <p:txBody>
          <a:bodyPr wrap="square" lIns="0" tIns="0" rIns="0" bIns="0" rtlCol="0" anchor="t"/>
          <a:lstStyle/>
          <a:p>
            <a:pPr algn="l" indent="0" marL="0">
              <a:buNone/>
            </a:pPr>
            <a:r>
              <a:rPr lang="en-US" sz="1300" b="1" dirty="0">
                <a:solidFill>
                  <a:srgbClr val="FFFFFF"/>
                </a:solidFill>
              </a:rPr>
              <a:t>Y3 revenue, all gates</a:t>
            </a:r>
            <a:endParaRPr lang="en-US" sz="1300" dirty="0"/>
          </a:p>
        </p:txBody>
      </p:sp>
      <p:sp>
        <p:nvSpPr>
          <p:cNvPr id="28" name="KPI value 5"/>
          <p:cNvSpPr txBox="1"/>
          <p:nvPr/>
        </p:nvSpPr>
        <p:spPr>
          <a:xfrm>
            <a:off x="8268005" y="3015183"/>
            <a:ext cx="1294333" cy="493014"/>
          </a:xfrm>
          <a:prstGeom prst="rect">
            <a:avLst/>
          </a:prstGeom>
          <a:noFill/>
          <a:ln/>
        </p:spPr>
        <p:txBody>
          <a:bodyPr wrap="square" lIns="0" tIns="0" rIns="0" bIns="0" rtlCol="0" anchor="b"/>
          <a:lstStyle/>
          <a:p>
            <a:pPr algn="l" indent="0" marL="0">
              <a:buNone/>
            </a:pPr>
            <a:r>
              <a:rPr lang="en-US" sz="3000" dirty="0">
                <a:solidFill>
                  <a:srgbClr val="FFFFFF"/>
                </a:solidFill>
                <a:latin typeface="+mn-lt" pitchFamily="34" charset="0"/>
                <a:ea typeface="+mn-lt" pitchFamily="34" charset="-122"/>
                <a:cs typeface="+mn-lt" pitchFamily="34" charset="-120"/>
              </a:rPr>
              <a:t>₹</a:t>
            </a:r>
            <a:pPr algn="l" indent="0" marL="0">
              <a:buNone/>
            </a:pPr>
            <a:r>
              <a:rPr lang="en-US" sz="3000" dirty="0">
                <a:solidFill>
                  <a:srgbClr val="FFFFFF"/>
                </a:solidFill>
                <a:latin typeface="+mj-lt" pitchFamily="34" charset="0"/>
                <a:ea typeface="+mj-lt" pitchFamily="34" charset="-122"/>
                <a:cs typeface="+mj-lt" pitchFamily="34" charset="-120"/>
              </a:rPr>
              <a:t>162.9</a:t>
            </a:r>
            <a:pPr algn="l" indent="0" marL="0">
              <a:buNone/>
            </a:pPr>
            <a:r>
              <a:rPr lang="en-US" sz="1500" dirty="0">
                <a:solidFill>
                  <a:srgbClr val="E7A995"/>
                </a:solidFill>
                <a:latin typeface="+mn-lt" pitchFamily="34" charset="0"/>
                <a:ea typeface="+mn-lt" pitchFamily="34" charset="-122"/>
                <a:cs typeface="+mn-lt" pitchFamily="34" charset="-120"/>
              </a:rPr>
              <a:t>L</a:t>
            </a:r>
            <a:endParaRPr lang="en-US" sz="1200" dirty="0"/>
          </a:p>
        </p:txBody>
      </p:sp>
      <p:sp>
        <p:nvSpPr>
          <p:cNvPr id="29" name="KPI period 5"/>
          <p:cNvSpPr txBox="1"/>
          <p:nvPr/>
        </p:nvSpPr>
        <p:spPr>
          <a:xfrm>
            <a:off x="8268005" y="3508197"/>
            <a:ext cx="1294333" cy="359715"/>
          </a:xfrm>
          <a:prstGeom prst="rect">
            <a:avLst/>
          </a:prstGeom>
          <a:noFill/>
          <a:ln/>
        </p:spPr>
        <p:txBody>
          <a:bodyPr wrap="square" lIns="0" tIns="0" rIns="0" bIns="0" rtlCol="0" anchor="t"/>
          <a:lstStyle/>
          <a:p>
            <a:pPr algn="l" indent="0" marL="0">
              <a:buNone/>
            </a:pPr>
            <a:r>
              <a:rPr lang="en-US" sz="1100" dirty="0">
                <a:solidFill>
                  <a:srgbClr val="D9C9D3"/>
                </a:solidFill>
              </a:rPr>
              <a:t>₹108.8L base business</a:t>
            </a:r>
            <a:endParaRPr lang="en-US" sz="1100" dirty="0"/>
          </a:p>
        </p:txBody>
      </p:sp>
      <p:sp>
        <p:nvSpPr>
          <p:cNvPr id="30" name="KPI card 6"/>
          <p:cNvSpPr/>
          <p:nvPr/>
        </p:nvSpPr>
        <p:spPr>
          <a:xfrm>
            <a:off x="9946386" y="2267712"/>
            <a:ext cx="1696669" cy="1783080"/>
          </a:xfrm>
          <a:prstGeom prst="roundRect">
            <a:avLst>
              <a:gd name="adj" fmla="val 4312"/>
            </a:avLst>
          </a:prstGeom>
          <a:solidFill>
            <a:schemeClr val="bg1"/>
          </a:solidFill>
          <a:ln w="9525">
            <a:solidFill>
              <a:srgbClr val="E4DAD5"/>
            </a:solidFill>
            <a:prstDash val="solid"/>
          </a:ln>
        </p:spPr>
      </p:sp>
      <p:sp>
        <p:nvSpPr>
          <p:cNvPr id="31" name="KPI label 6"/>
          <p:cNvSpPr txBox="1"/>
          <p:nvPr/>
        </p:nvSpPr>
        <p:spPr>
          <a:xfrm>
            <a:off x="10147554" y="2468880"/>
            <a:ext cx="1294333" cy="420624"/>
          </a:xfrm>
          <a:prstGeom prst="rect">
            <a:avLst/>
          </a:prstGeom>
          <a:noFill/>
          <a:ln/>
        </p:spPr>
        <p:txBody>
          <a:bodyPr wrap="square" lIns="0" tIns="0" rIns="0" bIns="0" rtlCol="0" anchor="t"/>
          <a:lstStyle/>
          <a:p>
            <a:pPr algn="l" indent="0" marL="0">
              <a:buNone/>
            </a:pPr>
            <a:r>
              <a:rPr lang="en-US" sz="1300" b="1" dirty="0">
                <a:solidFill>
                  <a:schemeClr val="tx1"/>
                </a:solidFill>
              </a:rPr>
              <a:t>Payback before / after salary</a:t>
            </a:r>
            <a:endParaRPr lang="en-US" sz="1300" dirty="0"/>
          </a:p>
        </p:txBody>
      </p:sp>
      <p:sp>
        <p:nvSpPr>
          <p:cNvPr id="32" name="KPI value 6"/>
          <p:cNvSpPr txBox="1"/>
          <p:nvPr/>
        </p:nvSpPr>
        <p:spPr>
          <a:xfrm>
            <a:off x="10147554" y="3015183"/>
            <a:ext cx="1294333" cy="493014"/>
          </a:xfrm>
          <a:prstGeom prst="rect">
            <a:avLst/>
          </a:prstGeom>
          <a:noFill/>
          <a:ln/>
        </p:spPr>
        <p:txBody>
          <a:bodyPr wrap="square" lIns="0" tIns="0" rIns="0" bIns="0" rtlCol="0" anchor="b"/>
          <a:lstStyle/>
          <a:p>
            <a:pPr algn="l" indent="0" marL="0">
              <a:buNone/>
            </a:pPr>
            <a:r>
              <a:rPr lang="en-US" sz="3000" dirty="0">
                <a:solidFill>
                  <a:schemeClr val="tx2"/>
                </a:solidFill>
                <a:latin typeface="+mj-lt" pitchFamily="34" charset="0"/>
                <a:ea typeface="+mj-lt" pitchFamily="34" charset="-122"/>
                <a:cs typeface="+mj-lt" pitchFamily="34" charset="-120"/>
              </a:rPr>
              <a:t>M29</a:t>
            </a:r>
            <a:pPr algn="l" indent="0" marL="0">
              <a:buNone/>
            </a:pPr>
            <a:r>
              <a:rPr lang="en-US" sz="1500" dirty="0">
                <a:solidFill>
                  <a:srgbClr val="6B5F67"/>
                </a:solidFill>
                <a:latin typeface="+mn-lt" pitchFamily="34" charset="0"/>
                <a:ea typeface="+mn-lt" pitchFamily="34" charset="-122"/>
                <a:cs typeface="+mn-lt" pitchFamily="34" charset="-120"/>
              </a:rPr>
              <a:t> / M40</a:t>
            </a:r>
            <a:endParaRPr lang="en-US" sz="1200" dirty="0"/>
          </a:p>
        </p:txBody>
      </p:sp>
      <p:sp>
        <p:nvSpPr>
          <p:cNvPr id="33" name="KPI period 6"/>
          <p:cNvSpPr txBox="1"/>
          <p:nvPr/>
        </p:nvSpPr>
        <p:spPr>
          <a:xfrm>
            <a:off x="10147554" y="3508197"/>
            <a:ext cx="1294333" cy="359715"/>
          </a:xfrm>
          <a:prstGeom prst="rect">
            <a:avLst/>
          </a:prstGeom>
          <a:noFill/>
          <a:ln/>
        </p:spPr>
        <p:txBody>
          <a:bodyPr wrap="square" lIns="0" tIns="0" rIns="0" bIns="0" rtlCol="0" anchor="t"/>
          <a:lstStyle/>
          <a:p>
            <a:pPr algn="l" indent="0" marL="0">
              <a:buNone/>
            </a:pPr>
            <a:r>
              <a:rPr lang="en-US" sz="1100" dirty="0">
                <a:solidFill>
                  <a:srgbClr val="6B5F67"/>
                </a:solidFill>
              </a:rPr>
              <a:t>IRR to M36: 46% / −10%</a:t>
            </a:r>
            <a:endParaRPr lang="en-US" sz="1100" dirty="0"/>
          </a:p>
        </p:txBody>
      </p:sp>
      <p:sp>
        <p:nvSpPr>
          <p:cNvPr id="34" name="Label"/>
          <p:cNvSpPr txBox="1"/>
          <p:nvPr/>
        </p:nvSpPr>
        <p:spPr>
          <a:xfrm>
            <a:off x="548640" y="4306824"/>
            <a:ext cx="5486400" cy="219456"/>
          </a:xfrm>
          <a:prstGeom prst="rect">
            <a:avLst/>
          </a:prstGeom>
          <a:noFill/>
          <a:ln/>
        </p:spPr>
        <p:txBody>
          <a:bodyPr wrap="square" lIns="0" tIns="0" rIns="0" bIns="0" rtlCol="0" anchor="ctr"/>
          <a:lstStyle/>
          <a:p>
            <a:pPr algn="l" indent="0" marL="0">
              <a:buNone/>
            </a:pPr>
            <a:r>
              <a:rPr lang="en-US" sz="1050" b="1" dirty="0">
                <a:solidFill>
                  <a:srgbClr val="A4513F"/>
                </a:solidFill>
              </a:rPr>
              <a:t>THE FOUNDER'S CHOICE (DECISION D2)</a:t>
            </a:r>
            <a:endParaRPr lang="en-US" sz="1050" dirty="0"/>
          </a:p>
        </p:txBody>
      </p:sp>
      <p:sp>
        <p:nvSpPr>
          <p:cNvPr id="35" name="Badge RECOMMENDATION"/>
          <p:cNvSpPr txBox="1"/>
          <p:nvPr/>
        </p:nvSpPr>
        <p:spPr>
          <a:xfrm>
            <a:off x="10311638" y="4306824"/>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36" name="Option card"/>
          <p:cNvSpPr/>
          <p:nvPr/>
        </p:nvSpPr>
        <p:spPr>
          <a:xfrm>
            <a:off x="548640" y="4617720"/>
            <a:ext cx="5227168" cy="1527048"/>
          </a:xfrm>
          <a:prstGeom prst="roundRect">
            <a:avLst>
              <a:gd name="adj" fmla="val 4790"/>
            </a:avLst>
          </a:prstGeom>
          <a:solidFill>
            <a:srgbClr val="F2EAF0"/>
          </a:solidFill>
          <a:ln/>
        </p:spPr>
      </p:sp>
      <p:sp>
        <p:nvSpPr>
          <p:cNvPr id="37" name="Option name"/>
          <p:cNvSpPr txBox="1"/>
          <p:nvPr/>
        </p:nvSpPr>
        <p:spPr>
          <a:xfrm>
            <a:off x="777240" y="4764024"/>
            <a:ext cx="3764128" cy="384048"/>
          </a:xfrm>
          <a:prstGeom prst="rect">
            <a:avLst/>
          </a:prstGeom>
          <a:noFill/>
          <a:ln/>
        </p:spPr>
        <p:txBody>
          <a:bodyPr wrap="square" lIns="0" tIns="0" rIns="0" bIns="0" rtlCol="0" anchor="t"/>
          <a:lstStyle/>
          <a:p>
            <a:pPr algn="l" indent="0" marL="0">
              <a:buNone/>
            </a:pPr>
            <a:r>
              <a:rPr lang="en-US" sz="2000" dirty="0">
                <a:solidFill>
                  <a:schemeClr val="tx2"/>
                </a:solidFill>
                <a:latin typeface="+mj-lt" pitchFamily="34" charset="0"/>
                <a:ea typeface="+mj-lt" pitchFamily="34" charset="-122"/>
                <a:cs typeface="+mj-lt" pitchFamily="34" charset="-120"/>
              </a:rPr>
              <a:t>Boutique</a:t>
            </a:r>
            <a:endParaRPr lang="en-US" sz="2000" dirty="0"/>
          </a:p>
        </p:txBody>
      </p:sp>
      <p:sp>
        <p:nvSpPr>
          <p:cNvPr id="38" name="Option sub"/>
          <p:cNvSpPr txBox="1"/>
          <p:nvPr/>
        </p:nvSpPr>
        <p:spPr>
          <a:xfrm>
            <a:off x="777240" y="5148072"/>
            <a:ext cx="4769968" cy="237744"/>
          </a:xfrm>
          <a:prstGeom prst="rect">
            <a:avLst/>
          </a:prstGeom>
          <a:noFill/>
          <a:ln/>
        </p:spPr>
        <p:txBody>
          <a:bodyPr wrap="square" lIns="0" tIns="0" rIns="0" bIns="0" rtlCol="0" anchor="t"/>
          <a:lstStyle/>
          <a:p>
            <a:pPr algn="l" indent="0" marL="0">
              <a:buNone/>
            </a:pPr>
            <a:r>
              <a:rPr lang="en-US" sz="1200" dirty="0">
                <a:solidFill>
                  <a:srgbClr val="6B5F67"/>
                </a:solidFill>
              </a:rPr>
              <a:t>₹10L plan at Base rates</a:t>
            </a:r>
            <a:endParaRPr lang="en-US" sz="1200" dirty="0"/>
          </a:p>
        </p:txBody>
      </p:sp>
      <p:sp>
        <p:nvSpPr>
          <p:cNvPr id="39" name="Badge ESTIMATE 2"/>
          <p:cNvSpPr txBox="1"/>
          <p:nvPr/>
        </p:nvSpPr>
        <p:spPr>
          <a:xfrm>
            <a:off x="4795547" y="480060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40" name="Option text"/>
          <p:cNvSpPr txBox="1"/>
          <p:nvPr/>
        </p:nvSpPr>
        <p:spPr>
          <a:xfrm>
            <a:off x="777240" y="5440680"/>
            <a:ext cx="4769968" cy="594360"/>
          </a:xfrm>
          <a:prstGeom prst="rect">
            <a:avLst/>
          </a:prstGeom>
          <a:noFill/>
          <a:ln/>
        </p:spPr>
        <p:txBody>
          <a:bodyPr wrap="square" lIns="0" tIns="0" rIns="0" bIns="0" rtlCol="0" anchor="t"/>
          <a:lstStyle/>
          <a:p>
            <a:pPr algn="l" indent="0" marL="0">
              <a:buNone/>
            </a:pPr>
            <a:r>
              <a:rPr lang="en-US" sz="1400" dirty="0">
                <a:solidFill>
                  <a:schemeClr val="tx1"/>
                </a:solidFill>
              </a:rPr>
              <a:t>₹39.8L revenue, +₹10.8L EBITDA, peak cash ₹3.1L, ~52 career students, founder keeps teaching</a:t>
            </a:r>
            <a:endParaRPr lang="en-US" sz="1400" dirty="0"/>
          </a:p>
        </p:txBody>
      </p:sp>
      <p:sp>
        <p:nvSpPr>
          <p:cNvPr id="41" name="Option card 2"/>
          <p:cNvSpPr/>
          <p:nvPr/>
        </p:nvSpPr>
        <p:spPr>
          <a:xfrm>
            <a:off x="6415888" y="4617720"/>
            <a:ext cx="5227168" cy="1527048"/>
          </a:xfrm>
          <a:prstGeom prst="roundRect">
            <a:avLst>
              <a:gd name="adj" fmla="val 4790"/>
            </a:avLst>
          </a:prstGeom>
          <a:solidFill>
            <a:schemeClr val="bg1"/>
          </a:solidFill>
          <a:ln w="9525">
            <a:solidFill>
              <a:srgbClr val="E4DAD5"/>
            </a:solidFill>
            <a:prstDash val="solid"/>
          </a:ln>
        </p:spPr>
      </p:sp>
      <p:sp>
        <p:nvSpPr>
          <p:cNvPr id="42" name="Option name 2"/>
          <p:cNvSpPr txBox="1"/>
          <p:nvPr/>
        </p:nvSpPr>
        <p:spPr>
          <a:xfrm>
            <a:off x="6644488" y="4764024"/>
            <a:ext cx="3764128" cy="384048"/>
          </a:xfrm>
          <a:prstGeom prst="rect">
            <a:avLst/>
          </a:prstGeom>
          <a:noFill/>
          <a:ln/>
        </p:spPr>
        <p:txBody>
          <a:bodyPr wrap="square" lIns="0" tIns="0" rIns="0" bIns="0" rtlCol="0" anchor="t"/>
          <a:lstStyle/>
          <a:p>
            <a:pPr algn="l" indent="0" marL="0">
              <a:buNone/>
            </a:pPr>
            <a:r>
              <a:rPr lang="en-US" sz="2000" dirty="0">
                <a:solidFill>
                  <a:schemeClr val="tx2"/>
                </a:solidFill>
                <a:latin typeface="+mj-lt" pitchFamily="34" charset="0"/>
                <a:ea typeface="+mj-lt" pitchFamily="34" charset="-122"/>
                <a:cs typeface="+mj-lt" pitchFamily="34" charset="-120"/>
              </a:rPr>
              <a:t>Institution</a:t>
            </a:r>
            <a:endParaRPr lang="en-US" sz="2000" dirty="0"/>
          </a:p>
        </p:txBody>
      </p:sp>
      <p:sp>
        <p:nvSpPr>
          <p:cNvPr id="43" name="Option sub 2"/>
          <p:cNvSpPr txBox="1"/>
          <p:nvPr/>
        </p:nvSpPr>
        <p:spPr>
          <a:xfrm>
            <a:off x="6644488" y="5148072"/>
            <a:ext cx="4769968" cy="237744"/>
          </a:xfrm>
          <a:prstGeom prst="rect">
            <a:avLst/>
          </a:prstGeom>
          <a:noFill/>
          <a:ln/>
        </p:spPr>
        <p:txBody>
          <a:bodyPr wrap="square" lIns="0" tIns="0" rIns="0" bIns="0" rtlCol="0" anchor="t"/>
          <a:lstStyle/>
          <a:p>
            <a:pPr algn="l" indent="0" marL="0">
              <a:buNone/>
            </a:pPr>
            <a:r>
              <a:rPr lang="en-US" sz="1200" dirty="0">
                <a:solidFill>
                  <a:srgbClr val="6B5F67"/>
                </a:solidFill>
              </a:rPr>
              <a:t>₹35L authorised</a:t>
            </a:r>
            <a:endParaRPr lang="en-US" sz="1200" dirty="0"/>
          </a:p>
        </p:txBody>
      </p:sp>
      <p:sp>
        <p:nvSpPr>
          <p:cNvPr id="44" name="Badge ESTIMATE 3"/>
          <p:cNvSpPr txBox="1"/>
          <p:nvPr/>
        </p:nvSpPr>
        <p:spPr>
          <a:xfrm>
            <a:off x="10662794" y="480060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45" name="Option text 2"/>
          <p:cNvSpPr txBox="1"/>
          <p:nvPr/>
        </p:nvSpPr>
        <p:spPr>
          <a:xfrm>
            <a:off x="6644488" y="5440680"/>
            <a:ext cx="4769968" cy="594360"/>
          </a:xfrm>
          <a:prstGeom prst="rect">
            <a:avLst/>
          </a:prstGeom>
          <a:noFill/>
          <a:ln/>
        </p:spPr>
        <p:txBody>
          <a:bodyPr wrap="square" lIns="0" tIns="0" rIns="0" bIns="0" rtlCol="0" anchor="t"/>
          <a:lstStyle/>
          <a:p>
            <a:pPr algn="l" indent="0" marL="0">
              <a:buNone/>
            </a:pPr>
            <a:r>
              <a:rPr lang="en-US" sz="1400" dirty="0">
                <a:solidFill>
                  <a:schemeClr val="tx1"/>
                </a:solidFill>
              </a:rPr>
              <a:t>−₹12L after salary in Year 1, cash back Year 3, a bet on ₹90k pricing and out-of-town demand</a:t>
            </a:r>
            <a:endParaRPr lang="en-US" sz="1400" dirty="0"/>
          </a:p>
        </p:txBody>
      </p:sp>
      <p:sp>
        <p:nvSpPr>
          <p:cNvPr id="46" name="Versus disc"/>
          <p:cNvSpPr txBox="1"/>
          <p:nvPr/>
        </p:nvSpPr>
        <p:spPr>
          <a:xfrm>
            <a:off x="5867248" y="5152644"/>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vs</a:t>
            </a:r>
            <a:endParaRPr lang="en-US" sz="13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OPPORTUNITY · WHERE PNA STARTS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550" dirty="0">
                <a:solidFill>
                  <a:schemeClr val="tx2"/>
                </a:solidFill>
                <a:latin typeface="+mj-lt" pitchFamily="34" charset="0"/>
                <a:ea typeface="+mj-lt" pitchFamily="34" charset="-122"/>
                <a:cs typeface="+mj-lt" pitchFamily="34" charset="-120"/>
              </a:rPr>
              <a:t>PNA today is a studio with classes on the side, and every number is unverified</a:t>
            </a:r>
            <a:endParaRPr lang="en-US" sz="2800" dirty="0"/>
          </a:p>
        </p:txBody>
      </p:sp>
      <p:sp>
        <p:nvSpPr>
          <p:cNvPr id="4" name="Subtitle"/>
          <p:cNvSpPr txBox="1"/>
          <p:nvPr/>
        </p:nvSpPr>
        <p:spPr>
          <a:xfrm>
            <a:off x="548640" y="1085660"/>
            <a:ext cx="11094415" cy="269367"/>
          </a:xfrm>
          <a:prstGeom prst="rect">
            <a:avLst/>
          </a:prstGeom>
          <a:noFill/>
          <a:ln/>
        </p:spPr>
        <p:txBody>
          <a:bodyPr wrap="square" lIns="0" tIns="0" rIns="0" bIns="0" rtlCol="0" anchor="t"/>
          <a:lstStyle/>
          <a:p>
            <a:pPr algn="l" indent="0" marL="0">
              <a:buNone/>
            </a:pPr>
            <a:r>
              <a:rPr lang="en-US" sz="1500" dirty="0">
                <a:solidFill>
                  <a:srgbClr val="6B5F67"/>
                </a:solidFill>
              </a:rPr>
              <a:t>Fewer than 60 students a year, unknown fees, founder does everything, digital footprint not verifiable from our tools.</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assumptions_register.md CA-01, CA-02, CA-03, CA-04, CA-07; chandigarh_competitors.md §2.1–2.4 (S-LC-01/02/07/51/56); economics §1 note (illustrative revenue), §1C #5 (today's share)</a:t>
            </a:r>
            <a:pPr algn="l" indent="0" marL="0">
              <a:buNone/>
            </a:pPr>
            <a:r>
              <a:rPr lang="en-US" sz="900" b="1" dirty="0">
                <a:solidFill>
                  <a:srgbClr val="6B5F67"/>
                </a:solidFill>
              </a:rPr>
              <a:t>   Note: </a:t>
            </a:r>
            <a:pPr algn="l" indent="0" marL="0">
              <a:buNone/>
            </a:pPr>
            <a:r>
              <a:rPr lang="en-US" sz="900" dirty="0">
                <a:solidFill>
                  <a:srgbClr val="6B5F67"/>
                </a:solidFill>
              </a:rPr>
              <a:t>₹ per year, 2026. Footprint: VERIFIED as an absence in our searches, tool-limited (CLAIM for site contents).</a:t>
            </a:r>
            <a:endParaRPr lang="en-US" sz="900" dirty="0"/>
          </a:p>
        </p:txBody>
      </p:sp>
      <p:sp>
        <p:nvSpPr>
          <p:cNvPr id="7" name="Label"/>
          <p:cNvSpPr txBox="1"/>
          <p:nvPr/>
        </p:nvSpPr>
        <p:spPr>
          <a:xfrm>
            <a:off x="685800" y="1920240"/>
            <a:ext cx="2743200" cy="219456"/>
          </a:xfrm>
          <a:prstGeom prst="rect">
            <a:avLst/>
          </a:prstGeom>
          <a:noFill/>
          <a:ln/>
        </p:spPr>
        <p:txBody>
          <a:bodyPr wrap="square" lIns="0" tIns="0" rIns="0" bIns="0" rtlCol="0" anchor="ctr"/>
          <a:lstStyle/>
          <a:p>
            <a:pPr algn="l" indent="0" marL="0">
              <a:buNone/>
            </a:pPr>
            <a:r>
              <a:rPr lang="en-US" sz="1050" b="1" dirty="0">
                <a:solidFill>
                  <a:srgbClr val="A4513F"/>
                </a:solidFill>
              </a:rPr>
              <a:t>WHAT WE FOUND</a:t>
            </a:r>
            <a:endParaRPr lang="en-US" sz="1050" dirty="0"/>
          </a:p>
        </p:txBody>
      </p:sp>
      <p:sp>
        <p:nvSpPr>
          <p:cNvPr id="8" name="Label 2"/>
          <p:cNvSpPr txBox="1"/>
          <p:nvPr/>
        </p:nvSpPr>
        <p:spPr>
          <a:xfrm>
            <a:off x="8046720" y="1920240"/>
            <a:ext cx="1371600" cy="219456"/>
          </a:xfrm>
          <a:prstGeom prst="rect">
            <a:avLst/>
          </a:prstGeom>
          <a:noFill/>
          <a:ln/>
        </p:spPr>
        <p:txBody>
          <a:bodyPr wrap="square" lIns="0" tIns="0" rIns="0" bIns="0" rtlCol="0" anchor="ctr"/>
          <a:lstStyle/>
          <a:p>
            <a:pPr algn="l" indent="0" marL="0">
              <a:buNone/>
            </a:pPr>
            <a:r>
              <a:rPr lang="en-US" sz="1050" b="1" dirty="0">
                <a:solidFill>
                  <a:srgbClr val="A4513F"/>
                </a:solidFill>
              </a:rPr>
              <a:t>SO WHAT</a:t>
            </a:r>
            <a:endParaRPr lang="en-US" sz="1050" dirty="0"/>
          </a:p>
        </p:txBody>
      </p:sp>
      <p:sp>
        <p:nvSpPr>
          <p:cNvPr id="9" name="Callout chip"/>
          <p:cNvSpPr txBox="1"/>
          <p:nvPr/>
        </p:nvSpPr>
        <p:spPr>
          <a:xfrm>
            <a:off x="8750939" y="1901952"/>
            <a:ext cx="2892116"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050" b="1" dirty="0">
                <a:solidFill>
                  <a:schemeClr val="bg1"/>
                </a:solidFill>
              </a:rPr>
              <a:t>Founder verifies the real footprint on day 0 (D9)</a:t>
            </a:r>
            <a:endParaRPr lang="en-US" sz="1050" dirty="0"/>
          </a:p>
        </p:txBody>
      </p:sp>
      <p:sp>
        <p:nvSpPr>
          <p:cNvPr id="10" name="Found card"/>
          <p:cNvSpPr/>
          <p:nvPr/>
        </p:nvSpPr>
        <p:spPr>
          <a:xfrm>
            <a:off x="548640" y="2249424"/>
            <a:ext cx="6967728" cy="588264"/>
          </a:xfrm>
          <a:prstGeom prst="roundRect">
            <a:avLst>
              <a:gd name="adj" fmla="val 12435"/>
            </a:avLst>
          </a:prstGeom>
          <a:solidFill>
            <a:schemeClr val="bg1"/>
          </a:solidFill>
          <a:ln w="9525">
            <a:solidFill>
              <a:srgbClr val="E4DAD5"/>
            </a:solidFill>
            <a:prstDash val="solid"/>
          </a:ln>
        </p:spPr>
      </p:sp>
      <p:sp>
        <p:nvSpPr>
          <p:cNvPr id="11" name="Topic"/>
          <p:cNvSpPr txBox="1"/>
          <p:nvPr/>
        </p:nvSpPr>
        <p:spPr>
          <a:xfrm>
            <a:off x="685800" y="2313432"/>
            <a:ext cx="1691640" cy="219456"/>
          </a:xfrm>
          <a:prstGeom prst="rect">
            <a:avLst/>
          </a:prstGeom>
          <a:noFill/>
          <a:ln/>
        </p:spPr>
        <p:txBody>
          <a:bodyPr wrap="square" lIns="0" tIns="0" rIns="0" bIns="0" rtlCol="0" anchor="t"/>
          <a:lstStyle/>
          <a:p>
            <a:pPr algn="l" indent="0" marL="0">
              <a:buNone/>
            </a:pPr>
            <a:r>
              <a:rPr lang="en-US" sz="1200" b="1" dirty="0">
                <a:solidFill>
                  <a:schemeClr val="tx2"/>
                </a:solidFill>
              </a:rPr>
              <a:t>Business</a:t>
            </a:r>
            <a:endParaRPr lang="en-US" sz="1200" dirty="0"/>
          </a:p>
        </p:txBody>
      </p:sp>
      <p:sp>
        <p:nvSpPr>
          <p:cNvPr id="12" name="Badge CLAIM"/>
          <p:cNvSpPr txBox="1"/>
          <p:nvPr/>
        </p:nvSpPr>
        <p:spPr>
          <a:xfrm>
            <a:off x="685800" y="2545080"/>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13" name="Found text"/>
          <p:cNvSpPr txBox="1"/>
          <p:nvPr/>
        </p:nvSpPr>
        <p:spPr>
          <a:xfrm>
            <a:off x="2468880" y="2286000"/>
            <a:ext cx="4937760" cy="515112"/>
          </a:xfrm>
          <a:prstGeom prst="rect">
            <a:avLst/>
          </a:prstGeom>
          <a:noFill/>
          <a:ln/>
        </p:spPr>
        <p:txBody>
          <a:bodyPr wrap="square" lIns="0" tIns="0" rIns="0" bIns="0" rtlCol="0" anchor="ctr"/>
          <a:lstStyle/>
          <a:p>
            <a:pPr algn="l" indent="0" marL="0">
              <a:buNone/>
            </a:pPr>
            <a:r>
              <a:rPr lang="en-US" sz="1100" dirty="0">
                <a:solidFill>
                  <a:schemeClr val="tx1"/>
                </a:solidFill>
              </a:rPr>
              <a:t>Bridal/hair studio, Sector 8 Inner Market, with "on demand" pro makeup classes as a side line.</a:t>
            </a:r>
            <a:endParaRPr lang="en-US" sz="1100" dirty="0"/>
          </a:p>
        </p:txBody>
      </p:sp>
      <p:sp>
        <p:nvSpPr>
          <p:cNvPr id="14" name="Arrow"/>
          <p:cNvSpPr/>
          <p:nvPr/>
        </p:nvSpPr>
        <p:spPr>
          <a:xfrm>
            <a:off x="7607808" y="2424684"/>
            <a:ext cx="155448" cy="237744"/>
          </a:xfrm>
          <a:prstGeom prst="chevron">
            <a:avLst/>
          </a:prstGeom>
          <a:solidFill>
            <a:schemeClr val="accent2"/>
          </a:solidFill>
          <a:ln/>
        </p:spPr>
      </p:sp>
      <p:sp>
        <p:nvSpPr>
          <p:cNvPr id="15" name="So-what card"/>
          <p:cNvSpPr/>
          <p:nvPr/>
        </p:nvSpPr>
        <p:spPr>
          <a:xfrm>
            <a:off x="7882128" y="2249424"/>
            <a:ext cx="3760927" cy="588264"/>
          </a:xfrm>
          <a:prstGeom prst="roundRect">
            <a:avLst>
              <a:gd name="adj" fmla="val 12435"/>
            </a:avLst>
          </a:prstGeom>
          <a:solidFill>
            <a:srgbClr val="F2EAF0"/>
          </a:solidFill>
          <a:ln/>
        </p:spPr>
      </p:sp>
      <p:sp>
        <p:nvSpPr>
          <p:cNvPr id="16" name="So-what text"/>
          <p:cNvSpPr txBox="1"/>
          <p:nvPr/>
        </p:nvSpPr>
        <p:spPr>
          <a:xfrm>
            <a:off x="8046720" y="2286000"/>
            <a:ext cx="3431743" cy="515112"/>
          </a:xfrm>
          <a:prstGeom prst="rect">
            <a:avLst/>
          </a:prstGeom>
          <a:noFill/>
          <a:ln/>
        </p:spPr>
        <p:txBody>
          <a:bodyPr wrap="square" lIns="0" tIns="0" rIns="0" bIns="0" rtlCol="0" anchor="ctr"/>
          <a:lstStyle/>
          <a:p>
            <a:pPr algn="l" indent="0" marL="0">
              <a:buNone/>
            </a:pPr>
            <a:r>
              <a:rPr lang="en-US" sz="1100" dirty="0">
                <a:solidFill>
                  <a:schemeClr val="tx2"/>
                </a:solidFill>
              </a:rPr>
              <a:t>Build the academy as its own business; the studio stays a separate P&amp;L and the practice engine.</a:t>
            </a:r>
            <a:endParaRPr lang="en-US" sz="1100" dirty="0"/>
          </a:p>
        </p:txBody>
      </p:sp>
      <p:sp>
        <p:nvSpPr>
          <p:cNvPr id="17" name="Found card 2"/>
          <p:cNvSpPr/>
          <p:nvPr/>
        </p:nvSpPr>
        <p:spPr>
          <a:xfrm>
            <a:off x="548640" y="2910840"/>
            <a:ext cx="6967728" cy="588264"/>
          </a:xfrm>
          <a:prstGeom prst="roundRect">
            <a:avLst>
              <a:gd name="adj" fmla="val 12435"/>
            </a:avLst>
          </a:prstGeom>
          <a:solidFill>
            <a:schemeClr val="bg1"/>
          </a:solidFill>
          <a:ln w="9525">
            <a:solidFill>
              <a:srgbClr val="E4DAD5"/>
            </a:solidFill>
            <a:prstDash val="solid"/>
          </a:ln>
        </p:spPr>
      </p:sp>
      <p:sp>
        <p:nvSpPr>
          <p:cNvPr id="18" name="Topic 2"/>
          <p:cNvSpPr txBox="1"/>
          <p:nvPr/>
        </p:nvSpPr>
        <p:spPr>
          <a:xfrm>
            <a:off x="685800" y="2974848"/>
            <a:ext cx="1691640" cy="219456"/>
          </a:xfrm>
          <a:prstGeom prst="rect">
            <a:avLst/>
          </a:prstGeom>
          <a:noFill/>
          <a:ln/>
        </p:spPr>
        <p:txBody>
          <a:bodyPr wrap="square" lIns="0" tIns="0" rIns="0" bIns="0" rtlCol="0" anchor="t"/>
          <a:lstStyle/>
          <a:p>
            <a:pPr algn="l" indent="0" marL="0">
              <a:buNone/>
            </a:pPr>
            <a:r>
              <a:rPr lang="en-US" sz="1200" b="1" dirty="0">
                <a:solidFill>
                  <a:schemeClr val="tx2"/>
                </a:solidFill>
              </a:rPr>
              <a:t>Volume</a:t>
            </a:r>
            <a:endParaRPr lang="en-US" sz="1200" dirty="0"/>
          </a:p>
        </p:txBody>
      </p:sp>
      <p:sp>
        <p:nvSpPr>
          <p:cNvPr id="19" name="Badge FOUNDER"/>
          <p:cNvSpPr txBox="1"/>
          <p:nvPr/>
        </p:nvSpPr>
        <p:spPr>
          <a:xfrm>
            <a:off x="685800" y="3206496"/>
            <a:ext cx="762406" cy="219456"/>
          </a:xfrm>
          <a:prstGeom prst="roundRect">
            <a:avLst>
              <a:gd name="adj" fmla="val 50000"/>
            </a:avLst>
          </a:prstGeom>
          <a:solidFill>
            <a:srgbClr val="EEE7EB"/>
          </a:solidFill>
          <a:ln w="9525">
            <a:solidFill>
              <a:schemeClr val="accent3"/>
            </a:solidFill>
            <a:prstDash val="solid"/>
          </a:ln>
        </p:spPr>
        <p:txBody>
          <a:bodyPr wrap="square" lIns="0" tIns="0" rIns="0" bIns="0" rtlCol="0" anchor="ctr"/>
          <a:lstStyle/>
          <a:p>
            <a:pPr algn="ctr" indent="0" marL="0">
              <a:buNone/>
            </a:pPr>
            <a:r>
              <a:rPr lang="en-US" sz="900" b="1" spc="80" kern="0" dirty="0">
                <a:solidFill>
                  <a:schemeClr val="tx2"/>
                </a:solidFill>
              </a:rPr>
              <a:t>FOUNDER</a:t>
            </a:r>
            <a:endParaRPr lang="en-US" sz="900" dirty="0"/>
          </a:p>
        </p:txBody>
      </p:sp>
      <p:sp>
        <p:nvSpPr>
          <p:cNvPr id="20" name="Found text 2"/>
          <p:cNvSpPr txBox="1"/>
          <p:nvPr/>
        </p:nvSpPr>
        <p:spPr>
          <a:xfrm>
            <a:off x="2468880" y="2947416"/>
            <a:ext cx="4937760" cy="515112"/>
          </a:xfrm>
          <a:prstGeom prst="rect">
            <a:avLst/>
          </a:prstGeom>
          <a:noFill/>
          <a:ln/>
        </p:spPr>
        <p:txBody>
          <a:bodyPr wrap="square" lIns="0" tIns="0" rIns="0" bIns="0" rtlCol="0" anchor="ctr"/>
          <a:lstStyle/>
          <a:p>
            <a:pPr algn="l" indent="0" marL="0">
              <a:buNone/>
            </a:pPr>
            <a:r>
              <a:rPr lang="en-US" sz="1100" dirty="0">
                <a:solidFill>
                  <a:schemeClr val="tx1"/>
                </a:solidFill>
              </a:rPr>
              <a:t>&lt;60 paying students a year; founder-stated, not yet verified.</a:t>
            </a:r>
            <a:endParaRPr lang="en-US" sz="1100" dirty="0"/>
          </a:p>
        </p:txBody>
      </p:sp>
      <p:sp>
        <p:nvSpPr>
          <p:cNvPr id="21" name="Arrow 2"/>
          <p:cNvSpPr/>
          <p:nvPr/>
        </p:nvSpPr>
        <p:spPr>
          <a:xfrm>
            <a:off x="7607808" y="3086100"/>
            <a:ext cx="155448" cy="237744"/>
          </a:xfrm>
          <a:prstGeom prst="chevron">
            <a:avLst/>
          </a:prstGeom>
          <a:solidFill>
            <a:schemeClr val="accent2"/>
          </a:solidFill>
          <a:ln/>
        </p:spPr>
      </p:sp>
      <p:sp>
        <p:nvSpPr>
          <p:cNvPr id="22" name="So-what card 2"/>
          <p:cNvSpPr/>
          <p:nvPr/>
        </p:nvSpPr>
        <p:spPr>
          <a:xfrm>
            <a:off x="7882128" y="2910840"/>
            <a:ext cx="3760927" cy="588264"/>
          </a:xfrm>
          <a:prstGeom prst="roundRect">
            <a:avLst>
              <a:gd name="adj" fmla="val 12435"/>
            </a:avLst>
          </a:prstGeom>
          <a:solidFill>
            <a:srgbClr val="F2EAF0"/>
          </a:solidFill>
          <a:ln/>
        </p:spPr>
      </p:sp>
      <p:sp>
        <p:nvSpPr>
          <p:cNvPr id="23" name="So-what text 2"/>
          <p:cNvSpPr txBox="1"/>
          <p:nvPr/>
        </p:nvSpPr>
        <p:spPr>
          <a:xfrm>
            <a:off x="8046720" y="2947416"/>
            <a:ext cx="3431743" cy="515112"/>
          </a:xfrm>
          <a:prstGeom prst="rect">
            <a:avLst/>
          </a:prstGeom>
          <a:noFill/>
          <a:ln/>
        </p:spPr>
        <p:txBody>
          <a:bodyPr wrap="square" lIns="0" tIns="0" rIns="0" bIns="0" rtlCol="0" anchor="ctr"/>
          <a:lstStyle/>
          <a:p>
            <a:pPr algn="l" indent="0" marL="0">
              <a:buNone/>
            </a:pPr>
            <a:r>
              <a:rPr lang="en-US" sz="1100" dirty="0">
                <a:solidFill>
                  <a:schemeClr val="tx2"/>
                </a:solidFill>
              </a:rPr>
              <a:t>Too small for an outcomes record yet; proof has to be built cohort by cohort.</a:t>
            </a:r>
            <a:endParaRPr lang="en-US" sz="1100" dirty="0"/>
          </a:p>
        </p:txBody>
      </p:sp>
      <p:sp>
        <p:nvSpPr>
          <p:cNvPr id="24" name="Found card 3"/>
          <p:cNvSpPr/>
          <p:nvPr/>
        </p:nvSpPr>
        <p:spPr>
          <a:xfrm>
            <a:off x="548640" y="3572256"/>
            <a:ext cx="6967728" cy="588264"/>
          </a:xfrm>
          <a:prstGeom prst="roundRect">
            <a:avLst>
              <a:gd name="adj" fmla="val 12435"/>
            </a:avLst>
          </a:prstGeom>
          <a:solidFill>
            <a:schemeClr val="bg1"/>
          </a:solidFill>
          <a:ln w="9525">
            <a:solidFill>
              <a:srgbClr val="E4DAD5"/>
            </a:solidFill>
            <a:prstDash val="solid"/>
          </a:ln>
        </p:spPr>
      </p:sp>
      <p:sp>
        <p:nvSpPr>
          <p:cNvPr id="25" name="Topic 3"/>
          <p:cNvSpPr txBox="1"/>
          <p:nvPr/>
        </p:nvSpPr>
        <p:spPr>
          <a:xfrm>
            <a:off x="685800" y="3636264"/>
            <a:ext cx="1691640" cy="219456"/>
          </a:xfrm>
          <a:prstGeom prst="rect">
            <a:avLst/>
          </a:prstGeom>
          <a:noFill/>
          <a:ln/>
        </p:spPr>
        <p:txBody>
          <a:bodyPr wrap="square" lIns="0" tIns="0" rIns="0" bIns="0" rtlCol="0" anchor="t"/>
          <a:lstStyle/>
          <a:p>
            <a:pPr algn="l" indent="0" marL="0">
              <a:buNone/>
            </a:pPr>
            <a:r>
              <a:rPr lang="en-US" sz="1200" b="1" dirty="0">
                <a:solidFill>
                  <a:schemeClr val="tx2"/>
                </a:solidFill>
              </a:rPr>
              <a:t>Fee</a:t>
            </a:r>
            <a:endParaRPr lang="en-US" sz="1200" dirty="0"/>
          </a:p>
        </p:txBody>
      </p:sp>
      <p:sp>
        <p:nvSpPr>
          <p:cNvPr id="26" name="Badge HYPOTHESIS"/>
          <p:cNvSpPr txBox="1"/>
          <p:nvPr/>
        </p:nvSpPr>
        <p:spPr>
          <a:xfrm>
            <a:off x="685800" y="3867912"/>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27" name="Badge ESTIMATE"/>
          <p:cNvSpPr txBox="1"/>
          <p:nvPr/>
        </p:nvSpPr>
        <p:spPr>
          <a:xfrm>
            <a:off x="1672619" y="386791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8" name="Found text 3"/>
          <p:cNvSpPr txBox="1"/>
          <p:nvPr/>
        </p:nvSpPr>
        <p:spPr>
          <a:xfrm>
            <a:off x="2468880" y="3608832"/>
            <a:ext cx="4937760" cy="515112"/>
          </a:xfrm>
          <a:prstGeom prst="rect">
            <a:avLst/>
          </a:prstGeom>
          <a:noFill/>
          <a:ln/>
        </p:spPr>
        <p:txBody>
          <a:bodyPr wrap="square" lIns="0" tIns="0" rIns="0" bIns="0" rtlCol="0" anchor="ctr"/>
          <a:lstStyle/>
          <a:p>
            <a:pPr algn="l" indent="0" marL="0">
              <a:buNone/>
            </a:pPr>
            <a:r>
              <a:rPr lang="en-US" sz="1100" dirty="0">
                <a:solidFill>
                  <a:schemeClr val="tx1"/>
                </a:solidFill>
              </a:rPr>
              <a:t>Not supplied; modelled at ₹60k incl. kit vs a local diploma band of ₹35–75k.</a:t>
            </a:r>
            <a:endParaRPr lang="en-US" sz="1100" dirty="0"/>
          </a:p>
        </p:txBody>
      </p:sp>
      <p:sp>
        <p:nvSpPr>
          <p:cNvPr id="29" name="Arrow 3"/>
          <p:cNvSpPr/>
          <p:nvPr/>
        </p:nvSpPr>
        <p:spPr>
          <a:xfrm>
            <a:off x="7607808" y="3747516"/>
            <a:ext cx="155448" cy="237744"/>
          </a:xfrm>
          <a:prstGeom prst="chevron">
            <a:avLst/>
          </a:prstGeom>
          <a:solidFill>
            <a:schemeClr val="accent2"/>
          </a:solidFill>
          <a:ln/>
        </p:spPr>
      </p:sp>
      <p:sp>
        <p:nvSpPr>
          <p:cNvPr id="30" name="So-what card 3"/>
          <p:cNvSpPr/>
          <p:nvPr/>
        </p:nvSpPr>
        <p:spPr>
          <a:xfrm>
            <a:off x="7882128" y="3572256"/>
            <a:ext cx="3760927" cy="588264"/>
          </a:xfrm>
          <a:prstGeom prst="roundRect">
            <a:avLst>
              <a:gd name="adj" fmla="val 12435"/>
            </a:avLst>
          </a:prstGeom>
          <a:solidFill>
            <a:srgbClr val="F2EAF0"/>
          </a:solidFill>
          <a:ln/>
        </p:spPr>
      </p:sp>
      <p:sp>
        <p:nvSpPr>
          <p:cNvPr id="31" name="So-what text 3"/>
          <p:cNvSpPr txBox="1"/>
          <p:nvPr/>
        </p:nvSpPr>
        <p:spPr>
          <a:xfrm>
            <a:off x="8046720" y="3608832"/>
            <a:ext cx="3431743" cy="515112"/>
          </a:xfrm>
          <a:prstGeom prst="rect">
            <a:avLst/>
          </a:prstGeom>
          <a:noFill/>
          <a:ln/>
        </p:spPr>
        <p:txBody>
          <a:bodyPr wrap="square" lIns="0" tIns="0" rIns="0" bIns="0" rtlCol="0" anchor="ctr"/>
          <a:lstStyle/>
          <a:p>
            <a:pPr algn="l" indent="0" marL="0">
              <a:buNone/>
            </a:pPr>
            <a:r>
              <a:rPr lang="en-US" sz="1100" dirty="0">
                <a:solidFill>
                  <a:schemeClr val="tx2"/>
                </a:solidFill>
              </a:rPr>
              <a:t>Publish today's fee first; raise it only after proof.</a:t>
            </a:r>
            <a:endParaRPr lang="en-US" sz="1100" dirty="0"/>
          </a:p>
        </p:txBody>
      </p:sp>
      <p:sp>
        <p:nvSpPr>
          <p:cNvPr id="32" name="Found card 4"/>
          <p:cNvSpPr/>
          <p:nvPr/>
        </p:nvSpPr>
        <p:spPr>
          <a:xfrm>
            <a:off x="548640" y="4233672"/>
            <a:ext cx="6967728" cy="588264"/>
          </a:xfrm>
          <a:prstGeom prst="roundRect">
            <a:avLst>
              <a:gd name="adj" fmla="val 12435"/>
            </a:avLst>
          </a:prstGeom>
          <a:solidFill>
            <a:schemeClr val="bg1"/>
          </a:solidFill>
          <a:ln w="9525">
            <a:solidFill>
              <a:srgbClr val="E4DAD5"/>
            </a:solidFill>
            <a:prstDash val="solid"/>
          </a:ln>
        </p:spPr>
      </p:sp>
      <p:sp>
        <p:nvSpPr>
          <p:cNvPr id="33" name="Topic 4"/>
          <p:cNvSpPr txBox="1"/>
          <p:nvPr/>
        </p:nvSpPr>
        <p:spPr>
          <a:xfrm>
            <a:off x="685800" y="4297680"/>
            <a:ext cx="1691640" cy="219456"/>
          </a:xfrm>
          <a:prstGeom prst="rect">
            <a:avLst/>
          </a:prstGeom>
          <a:noFill/>
          <a:ln/>
        </p:spPr>
        <p:txBody>
          <a:bodyPr wrap="square" lIns="0" tIns="0" rIns="0" bIns="0" rtlCol="0" anchor="t"/>
          <a:lstStyle/>
          <a:p>
            <a:pPr algn="l" indent="0" marL="0">
              <a:buNone/>
            </a:pPr>
            <a:r>
              <a:rPr lang="en-US" sz="1200" b="1" dirty="0">
                <a:solidFill>
                  <a:schemeClr val="tx2"/>
                </a:solidFill>
              </a:rPr>
              <a:t>Illustrative revenue</a:t>
            </a:r>
            <a:endParaRPr lang="en-US" sz="1200" dirty="0"/>
          </a:p>
        </p:txBody>
      </p:sp>
      <p:sp>
        <p:nvSpPr>
          <p:cNvPr id="34" name="Badge ESTIMATE 2"/>
          <p:cNvSpPr txBox="1"/>
          <p:nvPr/>
        </p:nvSpPr>
        <p:spPr>
          <a:xfrm>
            <a:off x="685800" y="4529328"/>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35" name="Found text 4"/>
          <p:cNvSpPr txBox="1"/>
          <p:nvPr/>
        </p:nvSpPr>
        <p:spPr>
          <a:xfrm>
            <a:off x="2468880" y="4270248"/>
            <a:ext cx="4937760" cy="515112"/>
          </a:xfrm>
          <a:prstGeom prst="rect">
            <a:avLst/>
          </a:prstGeom>
          <a:noFill/>
          <a:ln/>
        </p:spPr>
        <p:txBody>
          <a:bodyPr wrap="square" lIns="0" tIns="0" rIns="0" bIns="0" rtlCol="0" anchor="ctr"/>
          <a:lstStyle/>
          <a:p>
            <a:pPr algn="l" indent="0" marL="0">
              <a:buNone/>
            </a:pPr>
            <a:r>
              <a:rPr lang="en-US" sz="1100" dirty="0">
                <a:solidFill>
                  <a:schemeClr val="tx1"/>
                </a:solidFill>
              </a:rPr>
              <a:t>₹19.6L quoted (₹16.6L ex-GST), </a:t>
            </a:r>
            <a:pPr algn="l" indent="0" marL="0">
              <a:buNone/>
            </a:pPr>
            <a:r>
              <a:rPr lang="en-US" sz="1100" b="1" dirty="0">
                <a:solidFill>
                  <a:schemeClr val="tx1"/>
                </a:solidFill>
              </a:rPr>
              <a:t>not reported</a:t>
            </a:r>
            <a:pPr algn="l" indent="0" marL="0">
              <a:buNone/>
            </a:pPr>
            <a:r>
              <a:rPr lang="en-US" sz="1100" dirty="0">
                <a:solidFill>
                  <a:schemeClr val="tx1"/>
                </a:solidFill>
              </a:rPr>
              <a:t>. About 7% of tricity makeup-led learners, illustrative (3–12%).</a:t>
            </a:r>
            <a:endParaRPr lang="en-US" sz="1100" dirty="0"/>
          </a:p>
        </p:txBody>
      </p:sp>
      <p:sp>
        <p:nvSpPr>
          <p:cNvPr id="36" name="Arrow 4"/>
          <p:cNvSpPr/>
          <p:nvPr/>
        </p:nvSpPr>
        <p:spPr>
          <a:xfrm>
            <a:off x="7607808" y="4408932"/>
            <a:ext cx="155448" cy="237744"/>
          </a:xfrm>
          <a:prstGeom prst="chevron">
            <a:avLst/>
          </a:prstGeom>
          <a:solidFill>
            <a:schemeClr val="accent2"/>
          </a:solidFill>
          <a:ln/>
        </p:spPr>
      </p:sp>
      <p:sp>
        <p:nvSpPr>
          <p:cNvPr id="37" name="So-what card 4"/>
          <p:cNvSpPr/>
          <p:nvPr/>
        </p:nvSpPr>
        <p:spPr>
          <a:xfrm>
            <a:off x="7882128" y="4233672"/>
            <a:ext cx="3760927" cy="588264"/>
          </a:xfrm>
          <a:prstGeom prst="roundRect">
            <a:avLst>
              <a:gd name="adj" fmla="val 12435"/>
            </a:avLst>
          </a:prstGeom>
          <a:solidFill>
            <a:srgbClr val="F2EAF0"/>
          </a:solidFill>
          <a:ln/>
        </p:spPr>
      </p:sp>
      <p:sp>
        <p:nvSpPr>
          <p:cNvPr id="38" name="So-what text 4"/>
          <p:cNvSpPr txBox="1"/>
          <p:nvPr/>
        </p:nvSpPr>
        <p:spPr>
          <a:xfrm>
            <a:off x="8046720" y="4270248"/>
            <a:ext cx="3431743" cy="515112"/>
          </a:xfrm>
          <a:prstGeom prst="rect">
            <a:avLst/>
          </a:prstGeom>
          <a:noFill/>
          <a:ln/>
        </p:spPr>
        <p:txBody>
          <a:bodyPr wrap="square" lIns="0" tIns="0" rIns="0" bIns="0" rtlCol="0" anchor="ctr"/>
          <a:lstStyle/>
          <a:p>
            <a:pPr algn="l" indent="0" marL="0">
              <a:buNone/>
            </a:pPr>
            <a:r>
              <a:rPr lang="en-US" sz="1100" dirty="0">
                <a:solidFill>
                  <a:schemeClr val="tx2"/>
                </a:solidFill>
              </a:rPr>
              <a:t>Everything downstream is a plan for a hypothetical academy until the data pull (D1).</a:t>
            </a:r>
            <a:endParaRPr lang="en-US" sz="1100" dirty="0"/>
          </a:p>
        </p:txBody>
      </p:sp>
      <p:sp>
        <p:nvSpPr>
          <p:cNvPr id="39" name="Found card 5"/>
          <p:cNvSpPr/>
          <p:nvPr/>
        </p:nvSpPr>
        <p:spPr>
          <a:xfrm>
            <a:off x="548640" y="4895088"/>
            <a:ext cx="6967728" cy="588264"/>
          </a:xfrm>
          <a:prstGeom prst="roundRect">
            <a:avLst>
              <a:gd name="adj" fmla="val 12435"/>
            </a:avLst>
          </a:prstGeom>
          <a:solidFill>
            <a:schemeClr val="bg1"/>
          </a:solidFill>
          <a:ln w="9525">
            <a:solidFill>
              <a:srgbClr val="E4DAD5"/>
            </a:solidFill>
            <a:prstDash val="solid"/>
          </a:ln>
        </p:spPr>
      </p:sp>
      <p:sp>
        <p:nvSpPr>
          <p:cNvPr id="40" name="Topic 5"/>
          <p:cNvSpPr txBox="1"/>
          <p:nvPr/>
        </p:nvSpPr>
        <p:spPr>
          <a:xfrm>
            <a:off x="685800" y="4959096"/>
            <a:ext cx="1691640" cy="219456"/>
          </a:xfrm>
          <a:prstGeom prst="rect">
            <a:avLst/>
          </a:prstGeom>
          <a:noFill/>
          <a:ln/>
        </p:spPr>
        <p:txBody>
          <a:bodyPr wrap="square" lIns="0" tIns="0" rIns="0" bIns="0" rtlCol="0" anchor="t"/>
          <a:lstStyle/>
          <a:p>
            <a:pPr algn="l" indent="0" marL="0">
              <a:buNone/>
            </a:pPr>
            <a:r>
              <a:rPr lang="en-US" sz="1200" b="1" dirty="0">
                <a:solidFill>
                  <a:schemeClr val="tx2"/>
                </a:solidFill>
              </a:rPr>
              <a:t>Digital footprint</a:t>
            </a:r>
            <a:endParaRPr lang="en-US" sz="1200" dirty="0"/>
          </a:p>
        </p:txBody>
      </p:sp>
      <p:sp>
        <p:nvSpPr>
          <p:cNvPr id="41" name="Badge VERIFIED"/>
          <p:cNvSpPr txBox="1"/>
          <p:nvPr/>
        </p:nvSpPr>
        <p:spPr>
          <a:xfrm>
            <a:off x="685800" y="5190744"/>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42" name="Badge ESTIMATE 3"/>
          <p:cNvSpPr txBox="1"/>
          <p:nvPr/>
        </p:nvSpPr>
        <p:spPr>
          <a:xfrm>
            <a:off x="1488599" y="5190744"/>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43" name="Found text 5"/>
          <p:cNvSpPr txBox="1"/>
          <p:nvPr/>
        </p:nvSpPr>
        <p:spPr>
          <a:xfrm>
            <a:off x="2468880" y="4931664"/>
            <a:ext cx="4937760" cy="515112"/>
          </a:xfrm>
          <a:prstGeom prst="rect">
            <a:avLst/>
          </a:prstGeom>
          <a:noFill/>
          <a:ln/>
        </p:spPr>
        <p:txBody>
          <a:bodyPr wrap="square" lIns="0" tIns="0" rIns="0" bIns="0" rtlCol="0" anchor="ctr"/>
          <a:lstStyle/>
          <a:p>
            <a:pPr algn="l" indent="0" marL="0">
              <a:buNone/>
            </a:pPr>
            <a:r>
              <a:rPr lang="en-US" sz="1100" dirty="0">
                <a:solidFill>
                  <a:schemeClr val="tx1"/>
                </a:solidFill>
              </a:rPr>
              <a:t>Website only; no rating, Instagram, reviews or listings found by our tools (Instagram/Maps/Justdial blocked; site refused our proxy). Maturity 3.0/10, provisional.</a:t>
            </a:r>
            <a:endParaRPr lang="en-US" sz="1100" dirty="0"/>
          </a:p>
        </p:txBody>
      </p:sp>
      <p:sp>
        <p:nvSpPr>
          <p:cNvPr id="44" name="Arrow 5"/>
          <p:cNvSpPr/>
          <p:nvPr/>
        </p:nvSpPr>
        <p:spPr>
          <a:xfrm>
            <a:off x="7607808" y="5070348"/>
            <a:ext cx="155448" cy="237744"/>
          </a:xfrm>
          <a:prstGeom prst="chevron">
            <a:avLst/>
          </a:prstGeom>
          <a:solidFill>
            <a:schemeClr val="accent2"/>
          </a:solidFill>
          <a:ln/>
        </p:spPr>
      </p:sp>
      <p:sp>
        <p:nvSpPr>
          <p:cNvPr id="45" name="So-what card 5"/>
          <p:cNvSpPr/>
          <p:nvPr/>
        </p:nvSpPr>
        <p:spPr>
          <a:xfrm>
            <a:off x="7882128" y="4895088"/>
            <a:ext cx="3760927" cy="588264"/>
          </a:xfrm>
          <a:prstGeom prst="roundRect">
            <a:avLst>
              <a:gd name="adj" fmla="val 12435"/>
            </a:avLst>
          </a:prstGeom>
          <a:solidFill>
            <a:srgbClr val="F2EAF0"/>
          </a:solidFill>
          <a:ln/>
        </p:spPr>
      </p:sp>
      <p:sp>
        <p:nvSpPr>
          <p:cNvPr id="46" name="So-what text 5"/>
          <p:cNvSpPr txBox="1"/>
          <p:nvPr/>
        </p:nvSpPr>
        <p:spPr>
          <a:xfrm>
            <a:off x="8046720" y="4931664"/>
            <a:ext cx="3431743" cy="515112"/>
          </a:xfrm>
          <a:prstGeom prst="rect">
            <a:avLst/>
          </a:prstGeom>
          <a:noFill/>
          <a:ln/>
        </p:spPr>
        <p:txBody>
          <a:bodyPr wrap="square" lIns="0" tIns="0" rIns="0" bIns="0" rtlCol="0" anchor="ctr"/>
          <a:lstStyle/>
          <a:p>
            <a:pPr algn="l" indent="0" marL="0">
              <a:buNone/>
            </a:pPr>
            <a:r>
              <a:rPr lang="en-US" sz="1100" dirty="0">
                <a:solidFill>
                  <a:schemeClr val="tx2"/>
                </a:solidFill>
              </a:rPr>
              <a:t>Tool-limited finding: if a real following or rating exists, the proof timeline and price path move earlier.</a:t>
            </a:r>
            <a:endParaRPr lang="en-US" sz="1100" dirty="0"/>
          </a:p>
        </p:txBody>
      </p:sp>
      <p:sp>
        <p:nvSpPr>
          <p:cNvPr id="47" name="Found card 6"/>
          <p:cNvSpPr/>
          <p:nvPr/>
        </p:nvSpPr>
        <p:spPr>
          <a:xfrm>
            <a:off x="548640" y="5556504"/>
            <a:ext cx="6967728" cy="588264"/>
          </a:xfrm>
          <a:prstGeom prst="roundRect">
            <a:avLst>
              <a:gd name="adj" fmla="val 12435"/>
            </a:avLst>
          </a:prstGeom>
          <a:solidFill>
            <a:schemeClr val="bg1"/>
          </a:solidFill>
          <a:ln w="9525">
            <a:solidFill>
              <a:srgbClr val="E4DAD5"/>
            </a:solidFill>
            <a:prstDash val="solid"/>
          </a:ln>
        </p:spPr>
      </p:sp>
      <p:sp>
        <p:nvSpPr>
          <p:cNvPr id="48" name="Topic 6"/>
          <p:cNvSpPr txBox="1"/>
          <p:nvPr/>
        </p:nvSpPr>
        <p:spPr>
          <a:xfrm>
            <a:off x="685800" y="5620512"/>
            <a:ext cx="1691640" cy="219456"/>
          </a:xfrm>
          <a:prstGeom prst="rect">
            <a:avLst/>
          </a:prstGeom>
          <a:noFill/>
          <a:ln/>
        </p:spPr>
        <p:txBody>
          <a:bodyPr wrap="square" lIns="0" tIns="0" rIns="0" bIns="0" rtlCol="0" anchor="t"/>
          <a:lstStyle/>
          <a:p>
            <a:pPr algn="l" indent="0" marL="0">
              <a:buNone/>
            </a:pPr>
            <a:r>
              <a:rPr lang="en-US" sz="1200" b="1" dirty="0">
                <a:solidFill>
                  <a:schemeClr val="tx2"/>
                </a:solidFill>
              </a:rPr>
              <a:t>Founder dependency</a:t>
            </a:r>
            <a:endParaRPr lang="en-US" sz="1200" dirty="0"/>
          </a:p>
        </p:txBody>
      </p:sp>
      <p:sp>
        <p:nvSpPr>
          <p:cNvPr id="49" name="Badge FOUNDER 2"/>
          <p:cNvSpPr txBox="1"/>
          <p:nvPr/>
        </p:nvSpPr>
        <p:spPr>
          <a:xfrm>
            <a:off x="685800" y="5852160"/>
            <a:ext cx="762406" cy="219456"/>
          </a:xfrm>
          <a:prstGeom prst="roundRect">
            <a:avLst>
              <a:gd name="adj" fmla="val 50000"/>
            </a:avLst>
          </a:prstGeom>
          <a:solidFill>
            <a:srgbClr val="EEE7EB"/>
          </a:solidFill>
          <a:ln w="9525">
            <a:solidFill>
              <a:schemeClr val="accent3"/>
            </a:solidFill>
            <a:prstDash val="solid"/>
          </a:ln>
        </p:spPr>
        <p:txBody>
          <a:bodyPr wrap="square" lIns="0" tIns="0" rIns="0" bIns="0" rtlCol="0" anchor="ctr"/>
          <a:lstStyle/>
          <a:p>
            <a:pPr algn="ctr" indent="0" marL="0">
              <a:buNone/>
            </a:pPr>
            <a:r>
              <a:rPr lang="en-US" sz="900" b="1" spc="80" kern="0" dirty="0">
                <a:solidFill>
                  <a:schemeClr val="tx2"/>
                </a:solidFill>
              </a:rPr>
              <a:t>FOUNDER</a:t>
            </a:r>
            <a:endParaRPr lang="en-US" sz="900" dirty="0"/>
          </a:p>
        </p:txBody>
      </p:sp>
      <p:sp>
        <p:nvSpPr>
          <p:cNvPr id="50" name="Found text 6"/>
          <p:cNvSpPr txBox="1"/>
          <p:nvPr/>
        </p:nvSpPr>
        <p:spPr>
          <a:xfrm>
            <a:off x="2468880" y="5593080"/>
            <a:ext cx="4937760" cy="515112"/>
          </a:xfrm>
          <a:prstGeom prst="rect">
            <a:avLst/>
          </a:prstGeom>
          <a:noFill/>
          <a:ln/>
        </p:spPr>
        <p:txBody>
          <a:bodyPr wrap="square" lIns="0" tIns="0" rIns="0" bIns="0" rtlCol="0" anchor="ctr"/>
          <a:lstStyle/>
          <a:p>
            <a:pPr algn="l" indent="0" marL="0">
              <a:buNone/>
            </a:pPr>
            <a:r>
              <a:rPr lang="en-US" sz="1100" dirty="0">
                <a:solidFill>
                  <a:schemeClr val="tx1"/>
                </a:solidFill>
              </a:rPr>
              <a:t>Founder ≈100% of teaching, counselling and brand; wants to step back within 24–36 months. Investment appetite ₹10–50L.</a:t>
            </a:r>
            <a:endParaRPr lang="en-US" sz="1100" dirty="0"/>
          </a:p>
        </p:txBody>
      </p:sp>
      <p:sp>
        <p:nvSpPr>
          <p:cNvPr id="51" name="Arrow 6"/>
          <p:cNvSpPr/>
          <p:nvPr/>
        </p:nvSpPr>
        <p:spPr>
          <a:xfrm>
            <a:off x="7607808" y="5731764"/>
            <a:ext cx="155448" cy="237744"/>
          </a:xfrm>
          <a:prstGeom prst="chevron">
            <a:avLst/>
          </a:prstGeom>
          <a:solidFill>
            <a:schemeClr val="accent2"/>
          </a:solidFill>
          <a:ln/>
        </p:spPr>
      </p:sp>
      <p:sp>
        <p:nvSpPr>
          <p:cNvPr id="52" name="So-what card 6"/>
          <p:cNvSpPr/>
          <p:nvPr/>
        </p:nvSpPr>
        <p:spPr>
          <a:xfrm>
            <a:off x="7882128" y="5556504"/>
            <a:ext cx="3760927" cy="588264"/>
          </a:xfrm>
          <a:prstGeom prst="roundRect">
            <a:avLst>
              <a:gd name="adj" fmla="val 12435"/>
            </a:avLst>
          </a:prstGeom>
          <a:solidFill>
            <a:srgbClr val="F2EAF0"/>
          </a:solidFill>
          <a:ln/>
        </p:spPr>
      </p:sp>
      <p:sp>
        <p:nvSpPr>
          <p:cNvPr id="53" name="So-what text 6"/>
          <p:cNvSpPr txBox="1"/>
          <p:nvPr/>
        </p:nvSpPr>
        <p:spPr>
          <a:xfrm>
            <a:off x="8046720" y="5593080"/>
            <a:ext cx="3431743" cy="515112"/>
          </a:xfrm>
          <a:prstGeom prst="rect">
            <a:avLst/>
          </a:prstGeom>
          <a:noFill/>
          <a:ln/>
        </p:spPr>
        <p:txBody>
          <a:bodyPr wrap="square" lIns="0" tIns="0" rIns="0" bIns="0" rtlCol="0" anchor="ctr"/>
          <a:lstStyle/>
          <a:p>
            <a:pPr algn="l" indent="0" marL="0">
              <a:buNone/>
            </a:pPr>
            <a:r>
              <a:rPr lang="en-US" sz="1100" dirty="0">
                <a:solidFill>
                  <a:schemeClr val="tx2"/>
                </a:solidFill>
              </a:rPr>
              <a:t>Hire an execution owner and a Lead Trainer; pace the step-back by evidence, not the calendar.</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OPPORTUNITY · MARKET SIZE</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India's paid makeup training is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388 cr; a Chandigarh academy can serve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7.8 cr</a:t>
            </a:r>
            <a:endParaRPr lang="en-US" sz="2800" dirty="0"/>
          </a:p>
        </p:txBody>
      </p:sp>
      <p:sp>
        <p:nvSpPr>
          <p:cNvPr id="4" name="Subtitle"/>
          <p:cNvSpPr txBox="1"/>
          <p:nvPr/>
        </p:nvSpPr>
        <p:spPr>
          <a:xfrm>
            <a:off x="548640" y="1531112"/>
            <a:ext cx="11094415" cy="261607"/>
          </a:xfrm>
          <a:prstGeom prst="rect">
            <a:avLst/>
          </a:prstGeom>
          <a:noFill/>
          <a:ln/>
        </p:spPr>
        <p:txBody>
          <a:bodyPr wrap="square" lIns="0" tIns="0" rIns="0" bIns="0" rtlCol="0" anchor="t"/>
          <a:lstStyle/>
          <a:p>
            <a:pPr algn="l" indent="0" marL="0">
              <a:buNone/>
            </a:pPr>
            <a:r>
              <a:rPr lang="en-US" sz="1450" dirty="0">
                <a:solidFill>
                  <a:srgbClr val="6B5F67"/>
                </a:solidFill>
              </a:rPr>
              <a:t>TAM ₹388 cr → SAM core ₹7.8 cr → PNA Year-3 SOM ₹1.88 cr (22% of SAM core); the education market, never the ₹76,141 cr beauty sector.</a:t>
            </a:r>
            <a:endParaRPr lang="en-US" sz="145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market_opportunity.md §2 rows 1–9, §3 tree; economics §1B rows 1–9 (sizing TAM_India, Tricity_Recon, SAM_North, SOM_PNA); S-IND-01</a:t>
            </a:r>
            <a:pPr algn="l" indent="0" marL="0">
              <a:buNone/>
            </a:pPr>
            <a:r>
              <a:rPr lang="en-US" sz="900" b="1" dirty="0">
                <a:solidFill>
                  <a:srgbClr val="6B5F67"/>
                </a:solidFill>
              </a:rPr>
              <a:t>   Note: </a:t>
            </a:r>
            <a:pPr algn="l" indent="0" marL="0">
              <a:buNone/>
            </a:pPr>
            <a:r>
              <a:rPr lang="en-US" sz="900" dirty="0">
                <a:solidFill>
                  <a:srgbClr val="6B5F67"/>
                </a:solidFill>
              </a:rPr>
              <a:t>₹ cr per year, run-rate, quoted fees (GST-inclusive); SOM = FY ending Oct 2029. SAM-5 low end 0.75 per economics §1B row 7.</a:t>
            </a:r>
            <a:endParaRPr lang="en-US" sz="900" dirty="0"/>
          </a:p>
        </p:txBody>
      </p:sp>
      <p:sp>
        <p:nvSpPr>
          <p:cNvPr id="7" name="Market box"/>
          <p:cNvSpPr/>
          <p:nvPr/>
        </p:nvSpPr>
        <p:spPr>
          <a:xfrm>
            <a:off x="548640" y="1920240"/>
            <a:ext cx="3063240" cy="2816352"/>
          </a:xfrm>
          <a:prstGeom prst="roundRect">
            <a:avLst>
              <a:gd name="adj" fmla="val 2597"/>
            </a:avLst>
          </a:prstGeom>
          <a:solidFill>
            <a:schemeClr val="bg1"/>
          </a:solidFill>
          <a:ln w="9525">
            <a:solidFill>
              <a:srgbClr val="E4DAD5"/>
            </a:solidFill>
            <a:prstDash val="solid"/>
          </a:ln>
        </p:spPr>
      </p:sp>
      <p:sp>
        <p:nvSpPr>
          <p:cNvPr id="8" name="Market code"/>
          <p:cNvSpPr txBox="1"/>
          <p:nvPr/>
        </p:nvSpPr>
        <p:spPr>
          <a:xfrm>
            <a:off x="731520" y="2066544"/>
            <a:ext cx="2697480" cy="201168"/>
          </a:xfrm>
          <a:prstGeom prst="rect">
            <a:avLst/>
          </a:prstGeom>
          <a:noFill/>
          <a:ln/>
        </p:spPr>
        <p:txBody>
          <a:bodyPr wrap="square" lIns="0" tIns="0" rIns="0" bIns="0" rtlCol="0" anchor="t"/>
          <a:lstStyle/>
          <a:p>
            <a:pPr algn="l" indent="0" marL="0">
              <a:buNone/>
            </a:pPr>
            <a:r>
              <a:rPr lang="en-US" sz="1050" b="1" dirty="0">
                <a:solidFill>
                  <a:srgbClr val="A4513F"/>
                </a:solidFill>
              </a:rPr>
              <a:t>TAM · INDIA</a:t>
            </a:r>
            <a:endParaRPr lang="en-US" sz="1050" dirty="0"/>
          </a:p>
        </p:txBody>
      </p:sp>
      <p:sp>
        <p:nvSpPr>
          <p:cNvPr id="9" name="Market title"/>
          <p:cNvSpPr txBox="1"/>
          <p:nvPr/>
        </p:nvSpPr>
        <p:spPr>
          <a:xfrm>
            <a:off x="731520" y="2304288"/>
            <a:ext cx="2697480" cy="219456"/>
          </a:xfrm>
          <a:prstGeom prst="rect">
            <a:avLst/>
          </a:prstGeom>
          <a:noFill/>
          <a:ln/>
        </p:spPr>
        <p:txBody>
          <a:bodyPr wrap="square" lIns="0" tIns="0" rIns="0" bIns="0" rtlCol="0" anchor="t"/>
          <a:lstStyle/>
          <a:p>
            <a:pPr algn="l" indent="0" marL="0">
              <a:buNone/>
            </a:pPr>
            <a:r>
              <a:rPr lang="en-US" sz="1250" b="1" dirty="0">
                <a:solidFill>
                  <a:schemeClr val="tx1"/>
                </a:solidFill>
              </a:rPr>
              <a:t>India paid makeup-led tuition</a:t>
            </a:r>
            <a:endParaRPr lang="en-US" sz="1250" dirty="0"/>
          </a:p>
        </p:txBody>
      </p:sp>
      <p:sp>
        <p:nvSpPr>
          <p:cNvPr id="10" name="Market value"/>
          <p:cNvSpPr txBox="1"/>
          <p:nvPr/>
        </p:nvSpPr>
        <p:spPr>
          <a:xfrm>
            <a:off x="731520" y="2551176"/>
            <a:ext cx="2697480" cy="475488"/>
          </a:xfrm>
          <a:prstGeom prst="rect">
            <a:avLst/>
          </a:prstGeom>
          <a:noFill/>
          <a:ln/>
        </p:spPr>
        <p:txBody>
          <a:bodyPr wrap="square" lIns="0" tIns="0" rIns="0" bIns="0" rtlCol="0" anchor="t"/>
          <a:lstStyle/>
          <a:p>
            <a:pPr algn="l" indent="0" marL="0">
              <a:buNone/>
            </a:pPr>
            <a:r>
              <a:rPr lang="en-US" sz="3000" dirty="0">
                <a:solidFill>
                  <a:schemeClr val="tx2"/>
                </a:solidFill>
                <a:latin typeface="+mn-lt" pitchFamily="34" charset="0"/>
                <a:ea typeface="+mn-lt" pitchFamily="34" charset="-122"/>
                <a:cs typeface="+mn-lt" pitchFamily="34" charset="-120"/>
              </a:rPr>
              <a:t>₹</a:t>
            </a:r>
            <a:pPr algn="l" indent="0" marL="0">
              <a:buNone/>
            </a:pPr>
            <a:r>
              <a:rPr lang="en-US" sz="3000" dirty="0">
                <a:solidFill>
                  <a:schemeClr val="tx2"/>
                </a:solidFill>
                <a:latin typeface="+mj-lt" pitchFamily="34" charset="0"/>
                <a:ea typeface="+mj-lt" pitchFamily="34" charset="-122"/>
                <a:cs typeface="+mj-lt" pitchFamily="34" charset="-120"/>
              </a:rPr>
              <a:t>388 cr</a:t>
            </a:r>
            <a:endParaRPr lang="en-US" sz="3000" dirty="0"/>
          </a:p>
        </p:txBody>
      </p:sp>
      <p:sp>
        <p:nvSpPr>
          <p:cNvPr id="11" name="Market range"/>
          <p:cNvSpPr txBox="1"/>
          <p:nvPr/>
        </p:nvSpPr>
        <p:spPr>
          <a:xfrm>
            <a:off x="731520" y="3044952"/>
            <a:ext cx="2697480" cy="344195"/>
          </a:xfrm>
          <a:prstGeom prst="rect">
            <a:avLst/>
          </a:prstGeom>
          <a:noFill/>
          <a:ln/>
        </p:spPr>
        <p:txBody>
          <a:bodyPr wrap="square" lIns="0" tIns="0" rIns="0" bIns="0" rtlCol="0" anchor="t"/>
          <a:lstStyle/>
          <a:p>
            <a:pPr algn="l" indent="0" marL="0">
              <a:buNone/>
            </a:pPr>
            <a:r>
              <a:rPr lang="en-US" sz="1050" dirty="0">
                <a:solidFill>
                  <a:srgbClr val="6B5F67"/>
                </a:solidFill>
              </a:rPr>
              <a:t>Range ₹80–1,373 cr · ≈56,800 learners (20,100–126,000)</a:t>
            </a:r>
            <a:endParaRPr lang="en-US" sz="1050" dirty="0"/>
          </a:p>
        </p:txBody>
      </p:sp>
      <p:sp>
        <p:nvSpPr>
          <p:cNvPr id="12" name="Market note"/>
          <p:cNvSpPr txBox="1"/>
          <p:nvPr/>
        </p:nvSpPr>
        <p:spPr>
          <a:xfrm>
            <a:off x="731520" y="3462299"/>
            <a:ext cx="2697480" cy="780517"/>
          </a:xfrm>
          <a:prstGeom prst="rect">
            <a:avLst/>
          </a:prstGeom>
          <a:noFill/>
          <a:ln/>
        </p:spPr>
        <p:txBody>
          <a:bodyPr wrap="square" lIns="0" tIns="0" rIns="0" bIns="0" rtlCol="0" anchor="t"/>
          <a:lstStyle/>
          <a:p>
            <a:pPr algn="l" indent="0" marL="0">
              <a:buNone/>
            </a:pPr>
            <a:r>
              <a:rPr lang="en-US" sz="1150" dirty="0">
                <a:solidFill>
                  <a:schemeClr val="tx1"/>
                </a:solidFill>
              </a:rPr>
              <a:t>No published figure exists; our bottom-up build from two methods. The tricity is ₹3.27 cr (≈730 learners), 0.84% of India.</a:t>
            </a:r>
            <a:endParaRPr lang="en-US" sz="1150" dirty="0"/>
          </a:p>
        </p:txBody>
      </p:sp>
      <p:sp>
        <p:nvSpPr>
          <p:cNvPr id="13" name="Badge ESTIMATE"/>
          <p:cNvSpPr txBox="1"/>
          <p:nvPr/>
        </p:nvSpPr>
        <p:spPr>
          <a:xfrm>
            <a:off x="731520" y="433425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4" name="Market connector"/>
          <p:cNvSpPr/>
          <p:nvPr/>
        </p:nvSpPr>
        <p:spPr>
          <a:xfrm>
            <a:off x="3703320" y="3328416"/>
            <a:ext cx="502920" cy="0"/>
          </a:xfrm>
          <a:prstGeom prst="line">
            <a:avLst/>
          </a:prstGeom>
          <a:noFill/>
          <a:ln w="22225">
            <a:solidFill>
              <a:schemeClr val="accent2"/>
            </a:solidFill>
            <a:prstDash val="solid"/>
            <a:tailEnd type="triangle"/>
          </a:ln>
        </p:spPr>
      </p:sp>
      <p:sp>
        <p:nvSpPr>
          <p:cNvPr id="15" name="Market box 2"/>
          <p:cNvSpPr/>
          <p:nvPr/>
        </p:nvSpPr>
        <p:spPr>
          <a:xfrm>
            <a:off x="4297680" y="1920240"/>
            <a:ext cx="3794760" cy="2816352"/>
          </a:xfrm>
          <a:prstGeom prst="roundRect">
            <a:avLst>
              <a:gd name="adj" fmla="val 2597"/>
            </a:avLst>
          </a:prstGeom>
          <a:solidFill>
            <a:srgbClr val="F2EAF0"/>
          </a:solidFill>
          <a:ln/>
        </p:spPr>
      </p:sp>
      <p:sp>
        <p:nvSpPr>
          <p:cNvPr id="16" name="Market code 2"/>
          <p:cNvSpPr txBox="1"/>
          <p:nvPr/>
        </p:nvSpPr>
        <p:spPr>
          <a:xfrm>
            <a:off x="4480560" y="2066544"/>
            <a:ext cx="3429000" cy="201168"/>
          </a:xfrm>
          <a:prstGeom prst="rect">
            <a:avLst/>
          </a:prstGeom>
          <a:noFill/>
          <a:ln/>
        </p:spPr>
        <p:txBody>
          <a:bodyPr wrap="square" lIns="0" tIns="0" rIns="0" bIns="0" rtlCol="0" anchor="t"/>
          <a:lstStyle/>
          <a:p>
            <a:pPr algn="l" indent="0" marL="0">
              <a:buNone/>
            </a:pPr>
            <a:r>
              <a:rPr lang="en-US" sz="1050" b="1" dirty="0">
                <a:solidFill>
                  <a:srgbClr val="A4513F"/>
                </a:solidFill>
              </a:rPr>
              <a:t>SAM CORE · NORTH</a:t>
            </a:r>
            <a:endParaRPr lang="en-US" sz="1050" dirty="0"/>
          </a:p>
        </p:txBody>
      </p:sp>
      <p:sp>
        <p:nvSpPr>
          <p:cNvPr id="17" name="Market title 2"/>
          <p:cNvSpPr txBox="1"/>
          <p:nvPr/>
        </p:nvSpPr>
        <p:spPr>
          <a:xfrm>
            <a:off x="4480560" y="2304288"/>
            <a:ext cx="3429000" cy="219456"/>
          </a:xfrm>
          <a:prstGeom prst="rect">
            <a:avLst/>
          </a:prstGeom>
          <a:noFill/>
          <a:ln/>
        </p:spPr>
        <p:txBody>
          <a:bodyPr wrap="square" lIns="0" tIns="0" rIns="0" bIns="0" rtlCol="0" anchor="t"/>
          <a:lstStyle/>
          <a:p>
            <a:pPr algn="l" indent="0" marL="0">
              <a:buNone/>
            </a:pPr>
            <a:r>
              <a:rPr lang="en-US" sz="1250" b="1" dirty="0">
                <a:solidFill>
                  <a:schemeClr val="tx1"/>
                </a:solidFill>
              </a:rPr>
              <a:t>Serviceable by a Chandigarh academy</a:t>
            </a:r>
            <a:endParaRPr lang="en-US" sz="1250" dirty="0"/>
          </a:p>
        </p:txBody>
      </p:sp>
      <p:sp>
        <p:nvSpPr>
          <p:cNvPr id="18" name="Market value 2"/>
          <p:cNvSpPr txBox="1"/>
          <p:nvPr/>
        </p:nvSpPr>
        <p:spPr>
          <a:xfrm>
            <a:off x="4480560" y="2551176"/>
            <a:ext cx="3429000" cy="475488"/>
          </a:xfrm>
          <a:prstGeom prst="rect">
            <a:avLst/>
          </a:prstGeom>
          <a:noFill/>
          <a:ln/>
        </p:spPr>
        <p:txBody>
          <a:bodyPr wrap="square" lIns="0" tIns="0" rIns="0" bIns="0" rtlCol="0" anchor="t"/>
          <a:lstStyle/>
          <a:p>
            <a:pPr algn="l" indent="0" marL="0">
              <a:buNone/>
            </a:pPr>
            <a:r>
              <a:rPr lang="en-US" sz="3000" dirty="0">
                <a:solidFill>
                  <a:schemeClr val="tx2"/>
                </a:solidFill>
                <a:latin typeface="+mn-lt" pitchFamily="34" charset="0"/>
                <a:ea typeface="+mn-lt" pitchFamily="34" charset="-122"/>
                <a:cs typeface="+mn-lt" pitchFamily="34" charset="-120"/>
              </a:rPr>
              <a:t>₹</a:t>
            </a:r>
            <a:pPr algn="l" indent="0" marL="0">
              <a:buNone/>
            </a:pPr>
            <a:r>
              <a:rPr lang="en-US" sz="3000" dirty="0">
                <a:solidFill>
                  <a:schemeClr val="tx2"/>
                </a:solidFill>
                <a:latin typeface="+mj-lt" pitchFamily="34" charset="0"/>
                <a:ea typeface="+mj-lt" pitchFamily="34" charset="-122"/>
                <a:cs typeface="+mj-lt" pitchFamily="34" charset="-120"/>
              </a:rPr>
              <a:t>7.8 cr</a:t>
            </a:r>
            <a:endParaRPr lang="en-US" sz="3000" dirty="0"/>
          </a:p>
        </p:txBody>
      </p:sp>
      <p:sp>
        <p:nvSpPr>
          <p:cNvPr id="19" name="Market range 2"/>
          <p:cNvSpPr txBox="1"/>
          <p:nvPr/>
        </p:nvSpPr>
        <p:spPr>
          <a:xfrm>
            <a:off x="4480560" y="3044952"/>
            <a:ext cx="3429000" cy="181242"/>
          </a:xfrm>
          <a:prstGeom prst="rect">
            <a:avLst/>
          </a:prstGeom>
          <a:noFill/>
          <a:ln/>
        </p:spPr>
        <p:txBody>
          <a:bodyPr wrap="square" lIns="0" tIns="0" rIns="0" bIns="0" rtlCol="0" anchor="t"/>
          <a:lstStyle/>
          <a:p>
            <a:pPr algn="l" indent="0" marL="0">
              <a:buNone/>
            </a:pPr>
            <a:r>
              <a:rPr lang="en-US" sz="1050" dirty="0">
                <a:solidFill>
                  <a:srgbClr val="6B5F67"/>
                </a:solidFill>
              </a:rPr>
              <a:t>Range ₹2.3–24.2 cr</a:t>
            </a:r>
            <a:endParaRPr lang="en-US" sz="1050" dirty="0"/>
          </a:p>
        </p:txBody>
      </p:sp>
      <p:sp>
        <p:nvSpPr>
          <p:cNvPr id="20" name="Market parts"/>
          <p:cNvSpPr txBox="1"/>
          <p:nvPr/>
        </p:nvSpPr>
        <p:spPr>
          <a:xfrm>
            <a:off x="4480560" y="3299346"/>
            <a:ext cx="3429000" cy="943470"/>
          </a:xfrm>
          <a:prstGeom prst="rect">
            <a:avLst/>
          </a:prstGeom>
          <a:noFill/>
          <a:ln/>
        </p:spPr>
        <p:txBody>
          <a:bodyPr wrap="square" lIns="0" tIns="0" rIns="0" bIns="0" rtlCol="0" anchor="t"/>
          <a:lstStyle/>
          <a:p>
            <a:pPr algn="l" indent="0" marL="0">
              <a:spcAft>
                <a:spcPts val="300"/>
              </a:spcAft>
              <a:buNone/>
            </a:pPr>
            <a:r>
              <a:rPr lang="en-US" sz="1150" dirty="0">
                <a:solidFill>
                  <a:schemeClr val="tx1"/>
                </a:solidFill>
              </a:rPr>
              <a:t>SAM-1 Tricity: </a:t>
            </a:r>
            <a:pPr algn="l" indent="0" marL="0">
              <a:buNone/>
            </a:pPr>
            <a:r>
              <a:rPr lang="en-US" sz="1150" b="1" dirty="0">
                <a:solidFill>
                  <a:schemeClr val="tx1"/>
                </a:solidFill>
              </a:rPr>
              <a:t>₹3.3 cr (1.5–5.3, ≈730 learners)</a:t>
            </a:r>
            <a:endParaRPr lang="en-US" sz="1150" dirty="0"/>
          </a:p>
          <a:p>
            <a:pPr algn="l" indent="0" marL="0">
              <a:spcAft>
                <a:spcPts val="300"/>
              </a:spcAft>
              <a:buNone/>
            </a:pPr>
            <a:r>
              <a:rPr lang="en-US" sz="1150" dirty="0">
                <a:solidFill>
                  <a:schemeClr val="tx1"/>
                </a:solidFill>
              </a:rPr>
              <a:t>SAM-2 Regional destination: </a:t>
            </a:r>
            <a:pPr algn="l" indent="0" marL="0">
              <a:buNone/>
            </a:pPr>
            <a:r>
              <a:rPr lang="en-US" sz="1150" b="1" dirty="0">
                <a:solidFill>
                  <a:schemeClr val="tx1"/>
                </a:solidFill>
              </a:rPr>
              <a:t>₹1.9 cr (0.2–10.6)</a:t>
            </a:r>
            <a:endParaRPr lang="en-US" sz="1150" dirty="0"/>
          </a:p>
          <a:p>
            <a:pPr algn="l" indent="0" marL="0">
              <a:spcAft>
                <a:spcPts val="300"/>
              </a:spcAft>
              <a:buNone/>
            </a:pPr>
            <a:r>
              <a:rPr lang="en-US" sz="1150" dirty="0">
                <a:solidFill>
                  <a:schemeClr val="tx1"/>
                </a:solidFill>
              </a:rPr>
              <a:t>SAM-3 Hybrid beyond reach: </a:t>
            </a:r>
            <a:pPr algn="l" indent="0" marL="0">
              <a:buNone/>
            </a:pPr>
            <a:r>
              <a:rPr lang="en-US" sz="1150" b="1" dirty="0">
                <a:solidFill>
                  <a:schemeClr val="tx1"/>
                </a:solidFill>
              </a:rPr>
              <a:t>₹1.4 cr (0.2–5.8)</a:t>
            </a:r>
            <a:endParaRPr lang="en-US" sz="1150" dirty="0"/>
          </a:p>
          <a:p>
            <a:pPr algn="l" indent="0" marL="0">
              <a:buNone/>
            </a:pPr>
            <a:r>
              <a:rPr lang="en-US" sz="1150" dirty="0">
                <a:solidFill>
                  <a:schemeClr val="tx1"/>
                </a:solidFill>
              </a:rPr>
              <a:t>SAM-4 Working-artist CPD: </a:t>
            </a:r>
            <a:pPr algn="l" indent="0" marL="0">
              <a:buNone/>
            </a:pPr>
            <a:r>
              <a:rPr lang="en-US" sz="1150" b="1" dirty="0">
                <a:solidFill>
                  <a:schemeClr val="tx1"/>
                </a:solidFill>
              </a:rPr>
              <a:t>₹1.2 cr (0.4–2.5)</a:t>
            </a:r>
            <a:endParaRPr lang="en-US" sz="1150" dirty="0"/>
          </a:p>
        </p:txBody>
      </p:sp>
      <p:sp>
        <p:nvSpPr>
          <p:cNvPr id="21" name="Badge ESTIMATE 2"/>
          <p:cNvSpPr txBox="1"/>
          <p:nvPr/>
        </p:nvSpPr>
        <p:spPr>
          <a:xfrm>
            <a:off x="4480560" y="433425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2" name="Market connector 2"/>
          <p:cNvSpPr/>
          <p:nvPr/>
        </p:nvSpPr>
        <p:spPr>
          <a:xfrm>
            <a:off x="8183880" y="3328416"/>
            <a:ext cx="502920" cy="0"/>
          </a:xfrm>
          <a:prstGeom prst="line">
            <a:avLst/>
          </a:prstGeom>
          <a:noFill/>
          <a:ln w="22225">
            <a:solidFill>
              <a:schemeClr val="accent2"/>
            </a:solidFill>
            <a:prstDash val="solid"/>
            <a:tailEnd type="triangle"/>
          </a:ln>
        </p:spPr>
      </p:sp>
      <p:sp>
        <p:nvSpPr>
          <p:cNvPr id="23" name="Market box 3"/>
          <p:cNvSpPr/>
          <p:nvPr/>
        </p:nvSpPr>
        <p:spPr>
          <a:xfrm>
            <a:off x="8778240" y="1920240"/>
            <a:ext cx="2864815" cy="2816352"/>
          </a:xfrm>
          <a:prstGeom prst="roundRect">
            <a:avLst>
              <a:gd name="adj" fmla="val 2597"/>
            </a:avLst>
          </a:prstGeom>
          <a:solidFill>
            <a:schemeClr val="tx2"/>
          </a:solidFill>
          <a:ln/>
        </p:spPr>
      </p:sp>
      <p:sp>
        <p:nvSpPr>
          <p:cNvPr id="24" name="Market code 3"/>
          <p:cNvSpPr txBox="1"/>
          <p:nvPr/>
        </p:nvSpPr>
        <p:spPr>
          <a:xfrm>
            <a:off x="8961120" y="2066544"/>
            <a:ext cx="2499055" cy="201168"/>
          </a:xfrm>
          <a:prstGeom prst="rect">
            <a:avLst/>
          </a:prstGeom>
          <a:noFill/>
          <a:ln/>
        </p:spPr>
        <p:txBody>
          <a:bodyPr wrap="square" lIns="0" tIns="0" rIns="0" bIns="0" rtlCol="0" anchor="t"/>
          <a:lstStyle/>
          <a:p>
            <a:pPr algn="l" indent="0" marL="0">
              <a:buNone/>
            </a:pPr>
            <a:r>
              <a:rPr lang="en-US" sz="1050" b="1" dirty="0">
                <a:solidFill>
                  <a:srgbClr val="E7A995"/>
                </a:solidFill>
              </a:rPr>
              <a:t>SOM · PNA YEAR 3</a:t>
            </a:r>
            <a:endParaRPr lang="en-US" sz="1050" dirty="0"/>
          </a:p>
        </p:txBody>
      </p:sp>
      <p:sp>
        <p:nvSpPr>
          <p:cNvPr id="25" name="Market title 3"/>
          <p:cNvSpPr txBox="1"/>
          <p:nvPr/>
        </p:nvSpPr>
        <p:spPr>
          <a:xfrm>
            <a:off x="8961120" y="2304288"/>
            <a:ext cx="2499055" cy="219456"/>
          </a:xfrm>
          <a:prstGeom prst="rect">
            <a:avLst/>
          </a:prstGeom>
          <a:noFill/>
          <a:ln/>
        </p:spPr>
        <p:txBody>
          <a:bodyPr wrap="square" lIns="0" tIns="0" rIns="0" bIns="0" rtlCol="0" anchor="t"/>
          <a:lstStyle/>
          <a:p>
            <a:pPr algn="l" indent="0" marL="0">
              <a:buNone/>
            </a:pPr>
            <a:r>
              <a:rPr lang="en-US" sz="1250" b="1" dirty="0">
                <a:solidFill>
                  <a:schemeClr val="bg1"/>
                </a:solidFill>
              </a:rPr>
              <a:t>PNA Year-3 training revenue</a:t>
            </a:r>
            <a:endParaRPr lang="en-US" sz="1250" dirty="0"/>
          </a:p>
        </p:txBody>
      </p:sp>
      <p:sp>
        <p:nvSpPr>
          <p:cNvPr id="26" name="Market value 3"/>
          <p:cNvSpPr txBox="1"/>
          <p:nvPr/>
        </p:nvSpPr>
        <p:spPr>
          <a:xfrm>
            <a:off x="8961120" y="2551176"/>
            <a:ext cx="2499055" cy="475488"/>
          </a:xfrm>
          <a:prstGeom prst="rect">
            <a:avLst/>
          </a:prstGeom>
          <a:noFill/>
          <a:ln/>
        </p:spPr>
        <p:txBody>
          <a:bodyPr wrap="square" lIns="0" tIns="0" rIns="0" bIns="0" rtlCol="0" anchor="t"/>
          <a:lstStyle/>
          <a:p>
            <a:pPr algn="l" indent="0" marL="0">
              <a:buNone/>
            </a:pPr>
            <a:r>
              <a:rPr lang="en-US" sz="3000" dirty="0">
                <a:solidFill>
                  <a:schemeClr val="bg1"/>
                </a:solidFill>
                <a:latin typeface="+mn-lt" pitchFamily="34" charset="0"/>
                <a:ea typeface="+mn-lt" pitchFamily="34" charset="-122"/>
                <a:cs typeface="+mn-lt" pitchFamily="34" charset="-120"/>
              </a:rPr>
              <a:t>₹</a:t>
            </a:r>
            <a:pPr algn="l" indent="0" marL="0">
              <a:buNone/>
            </a:pPr>
            <a:r>
              <a:rPr lang="en-US" sz="3000" dirty="0">
                <a:solidFill>
                  <a:schemeClr val="bg1"/>
                </a:solidFill>
                <a:latin typeface="+mj-lt" pitchFamily="34" charset="0"/>
                <a:ea typeface="+mj-lt" pitchFamily="34" charset="-122"/>
                <a:cs typeface="+mj-lt" pitchFamily="34" charset="-120"/>
              </a:rPr>
              <a:t>1.88 cr</a:t>
            </a:r>
            <a:endParaRPr lang="en-US" sz="3000" dirty="0"/>
          </a:p>
        </p:txBody>
      </p:sp>
      <p:sp>
        <p:nvSpPr>
          <p:cNvPr id="27" name="Market range 3"/>
          <p:cNvSpPr txBox="1"/>
          <p:nvPr/>
        </p:nvSpPr>
        <p:spPr>
          <a:xfrm>
            <a:off x="8961120" y="3044952"/>
            <a:ext cx="2499055" cy="344195"/>
          </a:xfrm>
          <a:prstGeom prst="rect">
            <a:avLst/>
          </a:prstGeom>
          <a:noFill/>
          <a:ln/>
        </p:spPr>
        <p:txBody>
          <a:bodyPr wrap="square" lIns="0" tIns="0" rIns="0" bIns="0" rtlCol="0" anchor="t"/>
          <a:lstStyle/>
          <a:p>
            <a:pPr algn="l" indent="0" marL="0">
              <a:buNone/>
            </a:pPr>
            <a:r>
              <a:rPr lang="en-US" sz="1050" dirty="0">
                <a:solidFill>
                  <a:srgbClr val="D9C9D3"/>
                </a:solidFill>
              </a:rPr>
              <a:t>Range ₹0.41–3.83 cr, incl. GST, all gates passed</a:t>
            </a:r>
            <a:endParaRPr lang="en-US" sz="1050" dirty="0"/>
          </a:p>
        </p:txBody>
      </p:sp>
      <p:sp>
        <p:nvSpPr>
          <p:cNvPr id="28" name="Market note 2"/>
          <p:cNvSpPr txBox="1"/>
          <p:nvPr/>
        </p:nvSpPr>
        <p:spPr>
          <a:xfrm>
            <a:off x="8961120" y="3462299"/>
            <a:ext cx="2499055" cy="780517"/>
          </a:xfrm>
          <a:prstGeom prst="rect">
            <a:avLst/>
          </a:prstGeom>
          <a:noFill/>
          <a:ln/>
        </p:spPr>
        <p:txBody>
          <a:bodyPr wrap="square" lIns="0" tIns="0" rIns="0" bIns="0" rtlCol="0" anchor="t"/>
          <a:lstStyle/>
          <a:p>
            <a:pPr algn="l" indent="0" marL="0">
              <a:buNone/>
            </a:pPr>
            <a:r>
              <a:rPr lang="en-US" sz="1150" dirty="0">
                <a:solidFill>
                  <a:schemeClr val="bg1"/>
                </a:solidFill>
              </a:rPr>
              <a:t>22% of SAM core; 13% of tricity learners; ≈20% of the professional tier (reviewer estimate; model line pending).</a:t>
            </a:r>
            <a:endParaRPr lang="en-US" sz="1150" dirty="0"/>
          </a:p>
        </p:txBody>
      </p:sp>
      <p:sp>
        <p:nvSpPr>
          <p:cNvPr id="29" name="Badge ESTIMATE 3"/>
          <p:cNvSpPr txBox="1"/>
          <p:nvPr/>
        </p:nvSpPr>
        <p:spPr>
          <a:xfrm>
            <a:off x="8961120" y="433425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30" name="Side box"/>
          <p:cNvSpPr/>
          <p:nvPr/>
        </p:nvSpPr>
        <p:spPr>
          <a:xfrm>
            <a:off x="548640" y="4882896"/>
            <a:ext cx="3063240" cy="530352"/>
          </a:xfrm>
          <a:prstGeom prst="roundRect">
            <a:avLst>
              <a:gd name="adj" fmla="val 13793"/>
            </a:avLst>
          </a:prstGeom>
          <a:solidFill>
            <a:schemeClr val="bg2"/>
          </a:solidFill>
          <a:ln w="9525">
            <a:solidFill>
              <a:schemeClr val="accent3"/>
            </a:solidFill>
            <a:prstDash val="dash"/>
          </a:ln>
        </p:spPr>
      </p:sp>
      <p:sp>
        <p:nvSpPr>
          <p:cNvPr id="31" name="Side text"/>
          <p:cNvSpPr txBox="1"/>
          <p:nvPr/>
        </p:nvSpPr>
        <p:spPr>
          <a:xfrm>
            <a:off x="694944" y="4919472"/>
            <a:ext cx="2770632" cy="457200"/>
          </a:xfrm>
          <a:prstGeom prst="rect">
            <a:avLst/>
          </a:prstGeom>
          <a:noFill/>
          <a:ln/>
        </p:spPr>
        <p:txBody>
          <a:bodyPr wrap="square" lIns="0" tIns="0" rIns="0" bIns="0" rtlCol="0" anchor="ctr"/>
          <a:lstStyle/>
          <a:p>
            <a:pPr algn="l" indent="0" marL="0">
              <a:buNone/>
            </a:pPr>
            <a:r>
              <a:rPr lang="en-US" sz="1100" b="1" dirty="0">
                <a:solidFill>
                  <a:srgbClr val="6B5F67"/>
                </a:solidFill>
              </a:rPr>
              <a:t>+ Online/short-course layer ₹22.5 cr</a:t>
            </a:r>
            <a:pPr algn="l" indent="0" marL="0">
              <a:buNone/>
            </a:pPr>
            <a:r>
              <a:rPr lang="en-US" sz="1100" dirty="0">
                <a:solidFill>
                  <a:srgbClr val="6B5F67"/>
                </a:solidFill>
              </a:rPr>
              <a:t> (3–120): shown beside the TAM, not in it</a:t>
            </a:r>
            <a:endParaRPr lang="en-US" sz="1100" dirty="0"/>
          </a:p>
        </p:txBody>
      </p:sp>
      <p:sp>
        <p:nvSpPr>
          <p:cNvPr id="32" name="Side box 2"/>
          <p:cNvSpPr/>
          <p:nvPr/>
        </p:nvSpPr>
        <p:spPr>
          <a:xfrm>
            <a:off x="4297680" y="4882896"/>
            <a:ext cx="3794760" cy="530352"/>
          </a:xfrm>
          <a:prstGeom prst="roundRect">
            <a:avLst>
              <a:gd name="adj" fmla="val 13793"/>
            </a:avLst>
          </a:prstGeom>
          <a:solidFill>
            <a:schemeClr val="bg2"/>
          </a:solidFill>
          <a:ln w="9525">
            <a:solidFill>
              <a:schemeClr val="accent3"/>
            </a:solidFill>
            <a:prstDash val="dash"/>
          </a:ln>
        </p:spPr>
      </p:sp>
      <p:sp>
        <p:nvSpPr>
          <p:cNvPr id="33" name="Side text 2"/>
          <p:cNvSpPr txBox="1"/>
          <p:nvPr/>
        </p:nvSpPr>
        <p:spPr>
          <a:xfrm>
            <a:off x="4443984" y="4919472"/>
            <a:ext cx="3502152" cy="457200"/>
          </a:xfrm>
          <a:prstGeom prst="rect">
            <a:avLst/>
          </a:prstGeom>
          <a:noFill/>
          <a:ln/>
        </p:spPr>
        <p:txBody>
          <a:bodyPr wrap="square" lIns="0" tIns="0" rIns="0" bIns="0" rtlCol="0" anchor="ctr"/>
          <a:lstStyle/>
          <a:p>
            <a:pPr algn="l" indent="0" marL="0">
              <a:buNone/>
            </a:pPr>
            <a:r>
              <a:rPr lang="en-US" sz="1100" b="1" dirty="0">
                <a:solidFill>
                  <a:srgbClr val="6B5F67"/>
                </a:solidFill>
              </a:rPr>
              <a:t>SAM-5 Online layer ₹7.9 cr</a:t>
            </a:r>
            <a:pPr algn="l" indent="0" marL="0">
              <a:buNone/>
            </a:pPr>
            <a:r>
              <a:rPr lang="en-US" sz="1100" dirty="0">
                <a:solidFill>
                  <a:srgbClr val="6B5F67"/>
                </a:solidFill>
              </a:rPr>
              <a:t> (0.75–54): deferred, out of plan</a:t>
            </a:r>
            <a:endParaRPr lang="en-US" sz="1100" dirty="0"/>
          </a:p>
        </p:txBody>
      </p:sp>
      <p:sp>
        <p:nvSpPr>
          <p:cNvPr id="34" name="Side box 3"/>
          <p:cNvSpPr/>
          <p:nvPr/>
        </p:nvSpPr>
        <p:spPr>
          <a:xfrm>
            <a:off x="8778240" y="4882896"/>
            <a:ext cx="2864815" cy="530352"/>
          </a:xfrm>
          <a:prstGeom prst="roundRect">
            <a:avLst>
              <a:gd name="adj" fmla="val 13793"/>
            </a:avLst>
          </a:prstGeom>
          <a:solidFill>
            <a:schemeClr val="bg2"/>
          </a:solidFill>
          <a:ln w="9525">
            <a:solidFill>
              <a:schemeClr val="accent2"/>
            </a:solidFill>
            <a:prstDash val="dash"/>
          </a:ln>
        </p:spPr>
      </p:sp>
      <p:sp>
        <p:nvSpPr>
          <p:cNvPr id="35" name="Side text 3"/>
          <p:cNvSpPr txBox="1"/>
          <p:nvPr/>
        </p:nvSpPr>
        <p:spPr>
          <a:xfrm>
            <a:off x="8924544" y="4919472"/>
            <a:ext cx="2572207" cy="457200"/>
          </a:xfrm>
          <a:prstGeom prst="rect">
            <a:avLst/>
          </a:prstGeom>
          <a:noFill/>
          <a:ln/>
        </p:spPr>
        <p:txBody>
          <a:bodyPr wrap="square" lIns="0" tIns="0" rIns="0" bIns="0" rtlCol="0" anchor="ctr"/>
          <a:lstStyle/>
          <a:p>
            <a:pPr algn="l" indent="0" marL="0">
              <a:buNone/>
            </a:pPr>
            <a:r>
              <a:rPr lang="en-US" sz="1100" b="1" dirty="0">
                <a:solidFill>
                  <a:srgbClr val="A4513F"/>
                </a:solidFill>
              </a:rPr>
              <a:t>Today, illustrative, NOT actual: ≈₹0.20 cr</a:t>
            </a:r>
            <a:endParaRPr lang="en-US" sz="1100" dirty="0"/>
          </a:p>
        </p:txBody>
      </p:sp>
      <p:sp>
        <p:nvSpPr>
          <p:cNvPr id="36" name="Context strip"/>
          <p:cNvSpPr/>
          <p:nvPr/>
        </p:nvSpPr>
        <p:spPr>
          <a:xfrm>
            <a:off x="548640" y="5559552"/>
            <a:ext cx="11094415" cy="585216"/>
          </a:xfrm>
          <a:prstGeom prst="roundRect">
            <a:avLst>
              <a:gd name="adj" fmla="val 12500"/>
            </a:avLst>
          </a:prstGeom>
          <a:solidFill>
            <a:srgbClr val="F1EAE5"/>
          </a:solidFill>
          <a:ln/>
        </p:spPr>
      </p:sp>
      <p:sp>
        <p:nvSpPr>
          <p:cNvPr id="37" name="Context text"/>
          <p:cNvSpPr txBox="1"/>
          <p:nvPr/>
        </p:nvSpPr>
        <p:spPr>
          <a:xfrm>
            <a:off x="731520" y="5586984"/>
            <a:ext cx="9816128" cy="530352"/>
          </a:xfrm>
          <a:prstGeom prst="rect">
            <a:avLst/>
          </a:prstGeom>
          <a:noFill/>
          <a:ln/>
        </p:spPr>
        <p:txBody>
          <a:bodyPr wrap="square" lIns="0" tIns="0" rIns="0" bIns="0" rtlCol="0" anchor="ctr"/>
          <a:lstStyle/>
          <a:p>
            <a:pPr algn="l" indent="0" marL="0">
              <a:buNone/>
            </a:pPr>
            <a:r>
              <a:rPr lang="en-US" sz="1150" b="1" dirty="0">
                <a:solidFill>
                  <a:schemeClr val="tx1"/>
                </a:solidFill>
              </a:rPr>
              <a:t>Beauty &amp; Salon sector ₹76,141 cr (2025P):</a:t>
            </a:r>
            <a:pPr algn="l" indent="0" marL="0">
              <a:buNone/>
            </a:pPr>
            <a:r>
              <a:rPr lang="en-US" sz="1150" dirty="0">
                <a:solidFill>
                  <a:schemeClr val="tx1"/>
                </a:solidFill>
              </a:rPr>
              <a:t> context only, ~200x the education TAM. Never the market for this plan.</a:t>
            </a:r>
            <a:endParaRPr lang="en-US" sz="1150" dirty="0"/>
          </a:p>
        </p:txBody>
      </p:sp>
      <p:sp>
        <p:nvSpPr>
          <p:cNvPr id="38" name="Badge VERIFIED"/>
          <p:cNvSpPr txBox="1"/>
          <p:nvPr/>
        </p:nvSpPr>
        <p:spPr>
          <a:xfrm>
            <a:off x="10730528" y="574243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OPPORTUNITY · TRICITY DEMAND</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600" dirty="0">
                <a:solidFill>
                  <a:schemeClr val="tx2"/>
                </a:solidFill>
                <a:latin typeface="+mj-lt" pitchFamily="34" charset="0"/>
                <a:ea typeface="+mj-lt" pitchFamily="34" charset="-122"/>
                <a:cs typeface="+mj-lt" pitchFamily="34" charset="-120"/>
              </a:rPr>
              <a:t>Chandigarh is enough to start, not to finish; capacity and visibility bind first</a:t>
            </a:r>
            <a:endParaRPr lang="en-US" sz="2800" dirty="0"/>
          </a:p>
        </p:txBody>
      </p:sp>
      <p:sp>
        <p:nvSpPr>
          <p:cNvPr id="4" name="Subtitle"/>
          <p:cNvSpPr txBox="1"/>
          <p:nvPr/>
        </p:nvSpPr>
        <p:spPr>
          <a:xfrm>
            <a:off x="548640" y="109296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15–25% of the tricity supports a ₹0.5–0.8 cr centre; by Year 3 the plan sits at about 20% of the professional tier (reviewer estimate; model line pending), so growth must come from students who travel.</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§3 Q1–Q2, §4.5 H1–H2; market_opportunity.md §7; economics §1A (seat capacity), §2; S-CHD-06/11/18/20; S-IND-01</a:t>
            </a:r>
            <a:pPr algn="l" indent="0" marL="0">
              <a:buNone/>
            </a:pPr>
            <a:r>
              <a:rPr lang="en-US" sz="900" b="1" dirty="0">
                <a:solidFill>
                  <a:srgbClr val="6B5F67"/>
                </a:solidFill>
              </a:rPr>
              <a:t>   Note: </a:t>
            </a:r>
            <a:pPr algn="l" indent="0" marL="0">
              <a:buNone/>
            </a:pPr>
            <a:r>
              <a:rPr lang="en-US" sz="900" dirty="0">
                <a:solidFill>
                  <a:srgbClr val="6B5F67"/>
                </a:solidFill>
              </a:rPr>
              <a:t>₹ cr per year; seat-fit = planning case 2027. ≈20% tier share: reviewer estimate, model line pending (economics §1A.8).</a:t>
            </a:r>
            <a:endParaRPr lang="en-US" sz="900" dirty="0"/>
          </a:p>
        </p:txBody>
      </p:sp>
      <p:sp>
        <p:nvSpPr>
          <p:cNvPr id="7" name="Chart card"/>
          <p:cNvSpPr/>
          <p:nvPr/>
        </p:nvSpPr>
        <p:spPr>
          <a:xfrm>
            <a:off x="548640" y="1920240"/>
            <a:ext cx="4160520" cy="2103120"/>
          </a:xfrm>
          <a:prstGeom prst="roundRect">
            <a:avLst>
              <a:gd name="adj" fmla="val 3478"/>
            </a:avLst>
          </a:prstGeom>
          <a:solidFill>
            <a:schemeClr val="bg1"/>
          </a:solidFill>
          <a:ln w="9525">
            <a:solidFill>
              <a:srgbClr val="E4DAD5"/>
            </a:solidFill>
            <a:prstDash val="solid"/>
          </a:ln>
        </p:spPr>
      </p:sp>
      <p:sp>
        <p:nvSpPr>
          <p:cNvPr id="8" name="Badge ESTIMATE"/>
          <p:cNvSpPr txBox="1"/>
          <p:nvPr/>
        </p:nvSpPr>
        <p:spPr>
          <a:xfrm>
            <a:off x="3765475" y="20848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Chart title"/>
          <p:cNvSpPr txBox="1"/>
          <p:nvPr/>
        </p:nvSpPr>
        <p:spPr>
          <a:xfrm>
            <a:off x="713232" y="2084832"/>
            <a:ext cx="2942515" cy="212281"/>
          </a:xfrm>
          <a:prstGeom prst="rect">
            <a:avLst/>
          </a:prstGeom>
          <a:noFill/>
          <a:ln/>
        </p:spPr>
        <p:txBody>
          <a:bodyPr wrap="square" lIns="0" tIns="0" rIns="0" bIns="0" rtlCol="0" anchor="t"/>
          <a:lstStyle/>
          <a:p>
            <a:pPr algn="l" indent="0" marL="0">
              <a:buNone/>
            </a:pPr>
            <a:r>
              <a:rPr lang="en-US" sz="1250" b="1" dirty="0">
                <a:solidFill>
                  <a:schemeClr val="tx1"/>
                </a:solidFill>
              </a:rPr>
              <a:t>Tricity makeup-led market, ₹ cr/yr</a:t>
            </a:r>
            <a:endParaRPr lang="en-US" sz="1250" dirty="0"/>
          </a:p>
        </p:txBody>
      </p:sp>
      <p:sp>
        <p:nvSpPr>
          <p:cNvPr id="10" name="Chart unit"/>
          <p:cNvSpPr txBox="1"/>
          <p:nvPr/>
        </p:nvSpPr>
        <p:spPr>
          <a:xfrm>
            <a:off x="713232" y="2331720"/>
            <a:ext cx="3831336" cy="181242"/>
          </a:xfrm>
          <a:prstGeom prst="rect">
            <a:avLst/>
          </a:prstGeom>
          <a:noFill/>
          <a:ln/>
        </p:spPr>
        <p:txBody>
          <a:bodyPr wrap="square" lIns="0" tIns="0" rIns="0" bIns="0" rtlCol="0" anchor="t"/>
          <a:lstStyle/>
          <a:p>
            <a:pPr algn="l" indent="0" marL="0">
              <a:buNone/>
            </a:pPr>
            <a:r>
              <a:rPr lang="en-US" sz="1050" dirty="0">
                <a:solidFill>
                  <a:srgbClr val="6B5F67"/>
                </a:solidFill>
              </a:rPr>
              <a:t>≈730 learners at Base (484–879)</a:t>
            </a:r>
            <a:endParaRPr lang="en-US" sz="1050" dirty="0"/>
          </a:p>
        </p:txBody>
      </p:sp>
      <p:graphicFrame>
        <p:nvGraphicFramePr>
          <p:cNvPr id="11" name="Tricity market chart" descr="Tricity market chart"/>
          <p:cNvGraphicFramePr/>
          <p:nvPr/>
        </p:nvGraphicFramePr>
        <p:xfrm>
          <a:off x="630936" y="2549538"/>
          <a:ext cx="3995928" cy="1391526"/>
        </p:xfrm>
        <a:graphic xmlns:a="http://schemas.openxmlformats.org/drawingml/2006/main">
          <a:graphicData uri="http://schemas.openxmlformats.org/drawingml/2006/chart">
            <c:chart xmlns:c="http://schemas.openxmlformats.org/drawingml/2006/chart" r:id="rId1"/>
          </a:graphicData>
        </a:graphic>
      </p:graphicFrame>
      <p:sp>
        <p:nvSpPr>
          <p:cNvPr id="12" name="Take card"/>
          <p:cNvSpPr/>
          <p:nvPr/>
        </p:nvSpPr>
        <p:spPr>
          <a:xfrm>
            <a:off x="548640" y="4160520"/>
            <a:ext cx="4160520" cy="1124712"/>
          </a:xfrm>
          <a:prstGeom prst="roundRect">
            <a:avLst>
              <a:gd name="adj" fmla="val 6504"/>
            </a:avLst>
          </a:prstGeom>
          <a:solidFill>
            <a:srgbClr val="F2EAF0"/>
          </a:solidFill>
          <a:ln/>
        </p:spPr>
      </p:sp>
      <p:sp>
        <p:nvSpPr>
          <p:cNvPr id="13" name="Take text"/>
          <p:cNvSpPr txBox="1"/>
          <p:nvPr/>
        </p:nvSpPr>
        <p:spPr>
          <a:xfrm>
            <a:off x="731520" y="4270248"/>
            <a:ext cx="3794760" cy="905256"/>
          </a:xfrm>
          <a:prstGeom prst="rect">
            <a:avLst/>
          </a:prstGeom>
          <a:noFill/>
          <a:ln/>
        </p:spPr>
        <p:txBody>
          <a:bodyPr wrap="square" lIns="0" tIns="0" rIns="0" bIns="0" rtlCol="0" anchor="t"/>
          <a:lstStyle/>
          <a:p>
            <a:pPr algn="l" indent="0" marL="0">
              <a:spcAft>
                <a:spcPts val="400"/>
              </a:spcAft>
              <a:buNone/>
            </a:pPr>
            <a:r>
              <a:rPr lang="en-US" sz="1100" b="1" dirty="0">
                <a:solidFill>
                  <a:schemeClr val="tx2"/>
                </a:solidFill>
              </a:rPr>
              <a:t>One-centre take at 15–25% share ≈ ₹0.5–0.8 cr</a:t>
            </a:r>
            <a:endParaRPr lang="en-US" sz="1100" dirty="0"/>
          </a:p>
          <a:p>
            <a:pPr algn="l" indent="0" marL="0">
              <a:buNone/>
            </a:pPr>
            <a:r>
              <a:rPr lang="en-US" sz="1100" dirty="0">
                <a:solidFill>
                  <a:schemeClr val="tx1"/>
                </a:solidFill>
              </a:rPr>
              <a:t>By Year 3 the plan reaches 13% of all tricity learners and ≈20% of the professional tier (reviewer estimate; model line pending), at ≈1.8x the tricity average fee: H1 binds unless out-of-town students arrive.</a:t>
            </a:r>
            <a:endParaRPr lang="en-US" sz="1100" dirty="0"/>
          </a:p>
        </p:txBody>
      </p:sp>
      <p:sp>
        <p:nvSpPr>
          <p:cNvPr id="14" name="Hub heading"/>
          <p:cNvSpPr txBox="1"/>
          <p:nvPr/>
        </p:nvSpPr>
        <p:spPr>
          <a:xfrm>
            <a:off x="4983480" y="1920240"/>
            <a:ext cx="6659575" cy="256032"/>
          </a:xfrm>
          <a:prstGeom prst="rect">
            <a:avLst/>
          </a:prstGeom>
          <a:noFill/>
          <a:ln/>
        </p:spPr>
        <p:txBody>
          <a:bodyPr wrap="square" lIns="0" tIns="0" rIns="0" bIns="0" rtlCol="0" anchor="t"/>
          <a:lstStyle/>
          <a:p>
            <a:pPr algn="l" indent="0" marL="0">
              <a:buNone/>
            </a:pPr>
            <a:r>
              <a:rPr lang="en-US" sz="1300" b="1" dirty="0">
                <a:solidFill>
                  <a:schemeClr val="tx2"/>
                </a:solidFill>
              </a:rPr>
              <a:t>Destination hub: plausible, unproven; test it for almost nothing</a:t>
            </a:r>
            <a:endParaRPr lang="en-US" sz="1300" dirty="0"/>
          </a:p>
        </p:txBody>
      </p:sp>
      <p:sp>
        <p:nvSpPr>
          <p:cNvPr id="15" name="For card"/>
          <p:cNvSpPr/>
          <p:nvPr/>
        </p:nvSpPr>
        <p:spPr>
          <a:xfrm>
            <a:off x="4983480" y="2267712"/>
            <a:ext cx="3215488" cy="3017520"/>
          </a:xfrm>
          <a:prstGeom prst="roundRect">
            <a:avLst>
              <a:gd name="adj" fmla="val 2424"/>
            </a:avLst>
          </a:prstGeom>
          <a:solidFill>
            <a:schemeClr val="bg1"/>
          </a:solidFill>
          <a:ln w="9525">
            <a:solidFill>
              <a:srgbClr val="E4DAD5"/>
            </a:solidFill>
            <a:prstDash val="solid"/>
          </a:ln>
        </p:spPr>
      </p:sp>
      <p:sp>
        <p:nvSpPr>
          <p:cNvPr id="16" name="Label"/>
          <p:cNvSpPr txBox="1"/>
          <p:nvPr/>
        </p:nvSpPr>
        <p:spPr>
          <a:xfrm>
            <a:off x="5166360" y="2395728"/>
            <a:ext cx="2849728" cy="219456"/>
          </a:xfrm>
          <a:prstGeom prst="rect">
            <a:avLst/>
          </a:prstGeom>
          <a:noFill/>
          <a:ln/>
        </p:spPr>
        <p:txBody>
          <a:bodyPr wrap="square" lIns="0" tIns="0" rIns="0" bIns="0" rtlCol="0" anchor="ctr"/>
          <a:lstStyle/>
          <a:p>
            <a:pPr algn="l" indent="0" marL="0">
              <a:buNone/>
            </a:pPr>
            <a:r>
              <a:rPr lang="en-US" sz="1050" b="1" dirty="0">
                <a:solidFill>
                  <a:srgbClr val="A4513F"/>
                </a:solidFill>
              </a:rPr>
              <a:t>FOR</a:t>
            </a:r>
            <a:endParaRPr lang="en-US" sz="1050" dirty="0"/>
          </a:p>
        </p:txBody>
      </p:sp>
      <p:sp>
        <p:nvSpPr>
          <p:cNvPr id="17" name="Badge VERIFIED"/>
          <p:cNvSpPr txBox="1"/>
          <p:nvPr/>
        </p:nvSpPr>
        <p:spPr>
          <a:xfrm>
            <a:off x="5166360" y="272491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18" name="Hub item"/>
          <p:cNvSpPr txBox="1"/>
          <p:nvPr/>
        </p:nvSpPr>
        <p:spPr>
          <a:xfrm>
            <a:off x="5166360" y="2990088"/>
            <a:ext cx="2849728" cy="390754"/>
          </a:xfrm>
          <a:prstGeom prst="rect">
            <a:avLst/>
          </a:prstGeom>
          <a:noFill/>
          <a:ln/>
        </p:spPr>
        <p:txBody>
          <a:bodyPr wrap="square" lIns="0" tIns="0" rIns="0" bIns="0" rtlCol="0" anchor="t"/>
          <a:lstStyle/>
          <a:p>
            <a:pPr algn="l" indent="0" marL="0">
              <a:buNone/>
            </a:pPr>
            <a:r>
              <a:rPr lang="en-US" sz="1200" dirty="0">
                <a:solidFill>
                  <a:schemeClr val="tx1"/>
                </a:solidFill>
              </a:rPr>
              <a:t>Female higher-education GER 75.4 (Chandigarh) vs 28.5 (India)</a:t>
            </a:r>
            <a:endParaRPr lang="en-US" sz="1200" dirty="0"/>
          </a:p>
        </p:txBody>
      </p:sp>
      <p:sp>
        <p:nvSpPr>
          <p:cNvPr id="19" name="Badge ESTIMATE 2"/>
          <p:cNvSpPr txBox="1"/>
          <p:nvPr/>
        </p:nvSpPr>
        <p:spPr>
          <a:xfrm>
            <a:off x="5166360" y="3603854"/>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0" name="Hub item 2"/>
          <p:cNvSpPr txBox="1"/>
          <p:nvPr/>
        </p:nvSpPr>
        <p:spPr>
          <a:xfrm>
            <a:off x="5166360" y="3869030"/>
            <a:ext cx="2849728" cy="390754"/>
          </a:xfrm>
          <a:prstGeom prst="rect">
            <a:avLst/>
          </a:prstGeom>
          <a:noFill/>
          <a:ln/>
        </p:spPr>
        <p:txBody>
          <a:bodyPr wrap="square" lIns="0" tIns="0" rIns="0" bIns="0" rtlCol="0" anchor="t"/>
          <a:lstStyle/>
          <a:p>
            <a:pPr algn="l" indent="0" marL="0">
              <a:buNone/>
            </a:pPr>
            <a:r>
              <a:rPr lang="en-US" sz="1200" dirty="0">
                <a:solidFill>
                  <a:schemeClr val="tx1"/>
                </a:solidFill>
              </a:rPr>
              <a:t>Four-state pool of women 17–35 is 26x the tricity</a:t>
            </a:r>
            <a:endParaRPr lang="en-US" sz="1200" dirty="0"/>
          </a:p>
        </p:txBody>
      </p:sp>
      <p:sp>
        <p:nvSpPr>
          <p:cNvPr id="21" name="Badge VERIFIED 2"/>
          <p:cNvSpPr txBox="1"/>
          <p:nvPr/>
        </p:nvSpPr>
        <p:spPr>
          <a:xfrm>
            <a:off x="5166360" y="4482795"/>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22" name="Hub item 3"/>
          <p:cNvSpPr txBox="1"/>
          <p:nvPr/>
        </p:nvSpPr>
        <p:spPr>
          <a:xfrm>
            <a:off x="5166360" y="4747971"/>
            <a:ext cx="2849728" cy="204521"/>
          </a:xfrm>
          <a:prstGeom prst="rect">
            <a:avLst/>
          </a:prstGeom>
          <a:noFill/>
          <a:ln/>
        </p:spPr>
        <p:txBody>
          <a:bodyPr wrap="square" lIns="0" tIns="0" rIns="0" bIns="0" rtlCol="0" anchor="t"/>
          <a:lstStyle/>
          <a:p>
            <a:pPr algn="l" indent="0" marL="0">
              <a:buNone/>
            </a:pPr>
            <a:r>
              <a:rPr lang="en-US" sz="1200" dirty="0">
                <a:solidFill>
                  <a:schemeClr val="tx1"/>
                </a:solidFill>
              </a:rPr>
              <a:t>NSDP per capita: Chandigarh 2.28x India</a:t>
            </a:r>
            <a:endParaRPr lang="en-US" sz="1200" dirty="0"/>
          </a:p>
        </p:txBody>
      </p:sp>
      <p:sp>
        <p:nvSpPr>
          <p:cNvPr id="23" name="Against card"/>
          <p:cNvSpPr/>
          <p:nvPr/>
        </p:nvSpPr>
        <p:spPr>
          <a:xfrm>
            <a:off x="8427568" y="2267712"/>
            <a:ext cx="3215488" cy="3017520"/>
          </a:xfrm>
          <a:prstGeom prst="roundRect">
            <a:avLst>
              <a:gd name="adj" fmla="val 2424"/>
            </a:avLst>
          </a:prstGeom>
          <a:solidFill>
            <a:schemeClr val="bg1"/>
          </a:solidFill>
          <a:ln w="9525">
            <a:solidFill>
              <a:srgbClr val="E4DAD5"/>
            </a:solidFill>
            <a:prstDash val="solid"/>
          </a:ln>
        </p:spPr>
      </p:sp>
      <p:sp>
        <p:nvSpPr>
          <p:cNvPr id="24" name="Label 2"/>
          <p:cNvSpPr txBox="1"/>
          <p:nvPr/>
        </p:nvSpPr>
        <p:spPr>
          <a:xfrm>
            <a:off x="8610448" y="2395728"/>
            <a:ext cx="2849728" cy="219456"/>
          </a:xfrm>
          <a:prstGeom prst="rect">
            <a:avLst/>
          </a:prstGeom>
          <a:noFill/>
          <a:ln/>
        </p:spPr>
        <p:txBody>
          <a:bodyPr wrap="square" lIns="0" tIns="0" rIns="0" bIns="0" rtlCol="0" anchor="ctr"/>
          <a:lstStyle/>
          <a:p>
            <a:pPr algn="l" indent="0" marL="0">
              <a:buNone/>
            </a:pPr>
            <a:r>
              <a:rPr lang="en-US" sz="1050" b="1" dirty="0">
                <a:solidFill>
                  <a:schemeClr val="accent3"/>
                </a:solidFill>
              </a:rPr>
              <a:t>AGAINST</a:t>
            </a:r>
            <a:endParaRPr lang="en-US" sz="1050" dirty="0"/>
          </a:p>
        </p:txBody>
      </p:sp>
      <p:sp>
        <p:nvSpPr>
          <p:cNvPr id="25" name="Badge VERIFIED 3"/>
          <p:cNvSpPr txBox="1"/>
          <p:nvPr/>
        </p:nvSpPr>
        <p:spPr>
          <a:xfrm>
            <a:off x="8610448" y="272491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26" name="Hub item 4"/>
          <p:cNvSpPr txBox="1"/>
          <p:nvPr/>
        </p:nvSpPr>
        <p:spPr>
          <a:xfrm>
            <a:off x="8610448" y="2990088"/>
            <a:ext cx="2849728" cy="204521"/>
          </a:xfrm>
          <a:prstGeom prst="rect">
            <a:avLst/>
          </a:prstGeom>
          <a:noFill/>
          <a:ln/>
        </p:spPr>
        <p:txBody>
          <a:bodyPr wrap="square" lIns="0" tIns="0" rIns="0" bIns="0" rtlCol="0" anchor="t"/>
          <a:lstStyle/>
          <a:p>
            <a:pPr algn="l" indent="0" marL="0">
              <a:buNone/>
            </a:pPr>
            <a:r>
              <a:rPr lang="en-US" sz="1200" dirty="0">
                <a:solidFill>
                  <a:schemeClr val="tx1"/>
                </a:solidFill>
              </a:rPr>
              <a:t>No origin data for beauty students</a:t>
            </a:r>
            <a:endParaRPr lang="en-US" sz="1200" dirty="0"/>
          </a:p>
        </p:txBody>
      </p:sp>
      <p:sp>
        <p:nvSpPr>
          <p:cNvPr id="27" name="Badge VERIFIED 4"/>
          <p:cNvSpPr txBox="1"/>
          <p:nvPr/>
        </p:nvSpPr>
        <p:spPr>
          <a:xfrm>
            <a:off x="8610448" y="329100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28" name="Hub item 5"/>
          <p:cNvSpPr txBox="1"/>
          <p:nvPr/>
        </p:nvSpPr>
        <p:spPr>
          <a:xfrm>
            <a:off x="8610448" y="3556178"/>
            <a:ext cx="2849728" cy="390754"/>
          </a:xfrm>
          <a:prstGeom prst="rect">
            <a:avLst/>
          </a:prstGeom>
          <a:noFill/>
          <a:ln/>
        </p:spPr>
        <p:txBody>
          <a:bodyPr wrap="square" lIns="0" tIns="0" rIns="0" bIns="0" rtlCol="0" anchor="t"/>
          <a:lstStyle/>
          <a:p>
            <a:pPr algn="l" indent="0" marL="0">
              <a:buNone/>
            </a:pPr>
            <a:r>
              <a:rPr lang="en-US" sz="1200" dirty="0">
                <a:solidFill>
                  <a:schemeClr val="tx1"/>
                </a:solidFill>
              </a:rPr>
              <a:t>PG ₹8–17.5k/month; 1 of 11 sampled PG listings girls-only</a:t>
            </a:r>
            <a:endParaRPr lang="en-US" sz="1200" dirty="0"/>
          </a:p>
        </p:txBody>
      </p:sp>
      <p:sp>
        <p:nvSpPr>
          <p:cNvPr id="29" name="Badge VERIFIED 5"/>
          <p:cNvSpPr txBox="1"/>
          <p:nvPr/>
        </p:nvSpPr>
        <p:spPr>
          <a:xfrm>
            <a:off x="8610448" y="4043324"/>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30" name="Hub item 6"/>
          <p:cNvSpPr txBox="1"/>
          <p:nvPr/>
        </p:nvSpPr>
        <p:spPr>
          <a:xfrm>
            <a:off x="8610448" y="4308500"/>
            <a:ext cx="2849728" cy="204521"/>
          </a:xfrm>
          <a:prstGeom prst="rect">
            <a:avLst/>
          </a:prstGeom>
          <a:noFill/>
          <a:ln/>
        </p:spPr>
        <p:txBody>
          <a:bodyPr wrap="square" lIns="0" tIns="0" rIns="0" bIns="0" rtlCol="0" anchor="t"/>
          <a:lstStyle/>
          <a:p>
            <a:pPr algn="l" indent="0" marL="0">
              <a:buNone/>
            </a:pPr>
            <a:r>
              <a:rPr lang="en-US" sz="1200" dirty="0">
                <a:solidFill>
                  <a:schemeClr val="tx1"/>
                </a:solidFill>
              </a:rPr>
              <a:t>"No centre nearby" a top barrier nationally</a:t>
            </a:r>
            <a:endParaRPr lang="en-US" sz="1200" dirty="0"/>
          </a:p>
        </p:txBody>
      </p:sp>
      <p:sp>
        <p:nvSpPr>
          <p:cNvPr id="31" name="Badge VERIFIED 6"/>
          <p:cNvSpPr txBox="1"/>
          <p:nvPr/>
        </p:nvSpPr>
        <p:spPr>
          <a:xfrm>
            <a:off x="8610448" y="4609414"/>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32" name="Hub item 7"/>
          <p:cNvSpPr txBox="1"/>
          <p:nvPr/>
        </p:nvSpPr>
        <p:spPr>
          <a:xfrm>
            <a:off x="8610448" y="4874590"/>
            <a:ext cx="2849728" cy="204521"/>
          </a:xfrm>
          <a:prstGeom prst="rect">
            <a:avLst/>
          </a:prstGeom>
          <a:noFill/>
          <a:ln/>
        </p:spPr>
        <p:txBody>
          <a:bodyPr wrap="square" lIns="0" tIns="0" rIns="0" bIns="0" rtlCol="0" anchor="t"/>
          <a:lstStyle/>
          <a:p>
            <a:pPr algn="l" indent="0" marL="0">
              <a:buNone/>
            </a:pPr>
            <a:r>
              <a:rPr lang="en-US" sz="1200" dirty="0">
                <a:solidFill>
                  <a:schemeClr val="tx1"/>
                </a:solidFill>
              </a:rPr>
              <a:t>Punjab 1.03x India income</a:t>
            </a:r>
            <a:endParaRPr lang="en-US" sz="1200" dirty="0"/>
          </a:p>
        </p:txBody>
      </p:sp>
      <p:sp>
        <p:nvSpPr>
          <p:cNvPr id="33" name="Seats strip"/>
          <p:cNvSpPr/>
          <p:nvPr/>
        </p:nvSpPr>
        <p:spPr>
          <a:xfrm>
            <a:off x="548640" y="5422392"/>
            <a:ext cx="11094415" cy="722376"/>
          </a:xfrm>
          <a:prstGeom prst="roundRect">
            <a:avLst>
              <a:gd name="adj" fmla="val 10127"/>
            </a:avLst>
          </a:prstGeom>
          <a:solidFill>
            <a:srgbClr val="F1EAE5"/>
          </a:solidFill>
          <a:ln/>
        </p:spPr>
      </p:sp>
      <p:sp>
        <p:nvSpPr>
          <p:cNvPr id="34" name="Seats label"/>
          <p:cNvSpPr txBox="1"/>
          <p:nvPr/>
        </p:nvSpPr>
        <p:spPr>
          <a:xfrm>
            <a:off x="731520" y="5477256"/>
            <a:ext cx="2651760" cy="612648"/>
          </a:xfrm>
          <a:prstGeom prst="rect">
            <a:avLst/>
          </a:prstGeom>
          <a:noFill/>
          <a:ln/>
        </p:spPr>
        <p:txBody>
          <a:bodyPr wrap="square" lIns="0" tIns="0" rIns="0" bIns="0" rtlCol="0" anchor="ctr"/>
          <a:lstStyle/>
          <a:p>
            <a:pPr algn="l" indent="0" marL="0">
              <a:buNone/>
            </a:pPr>
            <a:r>
              <a:rPr lang="en-US" sz="1100" b="1" dirty="0">
                <a:solidFill>
                  <a:schemeClr val="tx2"/>
                </a:solidFill>
              </a:rPr>
              <a:t>Studio seats, planning case 2027: share of demand that fits</a:t>
            </a:r>
            <a:endParaRPr lang="en-US" sz="1100" dirty="0"/>
          </a:p>
        </p:txBody>
      </p:sp>
      <p:sp>
        <p:nvSpPr>
          <p:cNvPr id="35" name="Seat tile"/>
          <p:cNvSpPr/>
          <p:nvPr/>
        </p:nvSpPr>
        <p:spPr>
          <a:xfrm>
            <a:off x="3520440" y="5532120"/>
            <a:ext cx="1024128" cy="502920"/>
          </a:xfrm>
          <a:prstGeom prst="roundRect">
            <a:avLst>
              <a:gd name="adj" fmla="val 10909"/>
            </a:avLst>
          </a:prstGeom>
          <a:solidFill>
            <a:schemeClr val="bg1"/>
          </a:solidFill>
          <a:ln/>
        </p:spPr>
      </p:sp>
      <p:sp>
        <p:nvSpPr>
          <p:cNvPr id="36" name="Seat value"/>
          <p:cNvSpPr txBox="1"/>
          <p:nvPr/>
        </p:nvSpPr>
        <p:spPr>
          <a:xfrm>
            <a:off x="3520440" y="5532120"/>
            <a:ext cx="1024128" cy="502920"/>
          </a:xfrm>
          <a:prstGeom prst="rect">
            <a:avLst/>
          </a:prstGeom>
          <a:noFill/>
          <a:ln/>
        </p:spPr>
        <p:txBody>
          <a:bodyPr wrap="square" lIns="0" tIns="0" rIns="0" bIns="0" rtlCol="0" anchor="ctr"/>
          <a:lstStyle/>
          <a:p>
            <a:pPr algn="ctr" indent="0" marL="0">
              <a:buNone/>
            </a:pPr>
            <a:r>
              <a:rPr lang="en-US" sz="1400" dirty="0">
                <a:solidFill>
                  <a:schemeClr val="tx2"/>
                </a:solidFill>
              </a:rPr>
              <a:t>May </a:t>
            </a:r>
            <a:pPr algn="ctr" indent="0" marL="0">
              <a:buNone/>
            </a:pPr>
            <a:r>
              <a:rPr lang="en-US" sz="1400" b="1" dirty="0">
                <a:solidFill>
                  <a:schemeClr val="tx2"/>
                </a:solidFill>
              </a:rPr>
              <a:t>78%</a:t>
            </a:r>
            <a:endParaRPr lang="en-US" sz="1400" dirty="0"/>
          </a:p>
        </p:txBody>
      </p:sp>
      <p:sp>
        <p:nvSpPr>
          <p:cNvPr id="37" name="Seat tile 2"/>
          <p:cNvSpPr/>
          <p:nvPr/>
        </p:nvSpPr>
        <p:spPr>
          <a:xfrm>
            <a:off x="4654296" y="5532120"/>
            <a:ext cx="1024128" cy="502920"/>
          </a:xfrm>
          <a:prstGeom prst="roundRect">
            <a:avLst>
              <a:gd name="adj" fmla="val 10909"/>
            </a:avLst>
          </a:prstGeom>
          <a:solidFill>
            <a:schemeClr val="bg1"/>
          </a:solidFill>
          <a:ln/>
        </p:spPr>
      </p:sp>
      <p:sp>
        <p:nvSpPr>
          <p:cNvPr id="38" name="Seat value 2"/>
          <p:cNvSpPr txBox="1"/>
          <p:nvPr/>
        </p:nvSpPr>
        <p:spPr>
          <a:xfrm>
            <a:off x="4654296" y="5532120"/>
            <a:ext cx="1024128" cy="502920"/>
          </a:xfrm>
          <a:prstGeom prst="rect">
            <a:avLst/>
          </a:prstGeom>
          <a:noFill/>
          <a:ln/>
        </p:spPr>
        <p:txBody>
          <a:bodyPr wrap="square" lIns="0" tIns="0" rIns="0" bIns="0" rtlCol="0" anchor="ctr"/>
          <a:lstStyle/>
          <a:p>
            <a:pPr algn="ctr" indent="0" marL="0">
              <a:buNone/>
            </a:pPr>
            <a:r>
              <a:rPr lang="en-US" sz="1400" dirty="0">
                <a:solidFill>
                  <a:schemeClr val="tx2"/>
                </a:solidFill>
              </a:rPr>
              <a:t>Jun </a:t>
            </a:r>
            <a:pPr algn="ctr" indent="0" marL="0">
              <a:buNone/>
            </a:pPr>
            <a:r>
              <a:rPr lang="en-US" sz="1400" b="1" dirty="0">
                <a:solidFill>
                  <a:schemeClr val="tx2"/>
                </a:solidFill>
              </a:rPr>
              <a:t>67%</a:t>
            </a:r>
            <a:endParaRPr lang="en-US" sz="1400" dirty="0"/>
          </a:p>
        </p:txBody>
      </p:sp>
      <p:sp>
        <p:nvSpPr>
          <p:cNvPr id="39" name="Seat tile 3"/>
          <p:cNvSpPr/>
          <p:nvPr/>
        </p:nvSpPr>
        <p:spPr>
          <a:xfrm>
            <a:off x="5788152" y="5532120"/>
            <a:ext cx="1024128" cy="502920"/>
          </a:xfrm>
          <a:prstGeom prst="roundRect">
            <a:avLst>
              <a:gd name="adj" fmla="val 10909"/>
            </a:avLst>
          </a:prstGeom>
          <a:solidFill>
            <a:schemeClr val="bg1"/>
          </a:solidFill>
          <a:ln/>
        </p:spPr>
      </p:sp>
      <p:sp>
        <p:nvSpPr>
          <p:cNvPr id="40" name="Seat value 3"/>
          <p:cNvSpPr txBox="1"/>
          <p:nvPr/>
        </p:nvSpPr>
        <p:spPr>
          <a:xfrm>
            <a:off x="5788152" y="5532120"/>
            <a:ext cx="1024128" cy="502920"/>
          </a:xfrm>
          <a:prstGeom prst="rect">
            <a:avLst/>
          </a:prstGeom>
          <a:noFill/>
          <a:ln/>
        </p:spPr>
        <p:txBody>
          <a:bodyPr wrap="square" lIns="0" tIns="0" rIns="0" bIns="0" rtlCol="0" anchor="ctr"/>
          <a:lstStyle/>
          <a:p>
            <a:pPr algn="ctr" indent="0" marL="0">
              <a:buNone/>
            </a:pPr>
            <a:r>
              <a:rPr lang="en-US" sz="1400" dirty="0">
                <a:solidFill>
                  <a:schemeClr val="tx2"/>
                </a:solidFill>
              </a:rPr>
              <a:t>Jul </a:t>
            </a:r>
            <a:pPr algn="ctr" indent="0" marL="0">
              <a:buNone/>
            </a:pPr>
            <a:r>
              <a:rPr lang="en-US" sz="1400" b="1" dirty="0">
                <a:solidFill>
                  <a:schemeClr val="tx2"/>
                </a:solidFill>
              </a:rPr>
              <a:t>77%</a:t>
            </a:r>
            <a:endParaRPr lang="en-US" sz="1400" dirty="0"/>
          </a:p>
        </p:txBody>
      </p:sp>
      <p:sp>
        <p:nvSpPr>
          <p:cNvPr id="41" name="Seat tile 4"/>
          <p:cNvSpPr/>
          <p:nvPr/>
        </p:nvSpPr>
        <p:spPr>
          <a:xfrm>
            <a:off x="6922008" y="5532120"/>
            <a:ext cx="1024128" cy="502920"/>
          </a:xfrm>
          <a:prstGeom prst="roundRect">
            <a:avLst>
              <a:gd name="adj" fmla="val 10909"/>
            </a:avLst>
          </a:prstGeom>
          <a:solidFill>
            <a:schemeClr val="bg1"/>
          </a:solidFill>
          <a:ln/>
        </p:spPr>
      </p:sp>
      <p:sp>
        <p:nvSpPr>
          <p:cNvPr id="42" name="Seat value 4"/>
          <p:cNvSpPr txBox="1"/>
          <p:nvPr/>
        </p:nvSpPr>
        <p:spPr>
          <a:xfrm>
            <a:off x="6922008" y="5532120"/>
            <a:ext cx="1024128" cy="502920"/>
          </a:xfrm>
          <a:prstGeom prst="rect">
            <a:avLst/>
          </a:prstGeom>
          <a:noFill/>
          <a:ln/>
        </p:spPr>
        <p:txBody>
          <a:bodyPr wrap="square" lIns="0" tIns="0" rIns="0" bIns="0" rtlCol="0" anchor="ctr"/>
          <a:lstStyle/>
          <a:p>
            <a:pPr algn="ctr" indent="0" marL="0">
              <a:buNone/>
            </a:pPr>
            <a:r>
              <a:rPr lang="en-US" sz="1400" dirty="0">
                <a:solidFill>
                  <a:schemeClr val="tx2"/>
                </a:solidFill>
              </a:rPr>
              <a:t>Sep </a:t>
            </a:r>
            <a:pPr algn="ctr" indent="0" marL="0">
              <a:buNone/>
            </a:pPr>
            <a:r>
              <a:rPr lang="en-US" sz="1400" b="1" dirty="0">
                <a:solidFill>
                  <a:schemeClr val="tx2"/>
                </a:solidFill>
              </a:rPr>
              <a:t>94%</a:t>
            </a:r>
            <a:endParaRPr lang="en-US" sz="1400" dirty="0"/>
          </a:p>
        </p:txBody>
      </p:sp>
      <p:sp>
        <p:nvSpPr>
          <p:cNvPr id="43" name="Seats text"/>
          <p:cNvSpPr txBox="1"/>
          <p:nvPr/>
        </p:nvSpPr>
        <p:spPr>
          <a:xfrm>
            <a:off x="8193024" y="5477256"/>
            <a:ext cx="2350898" cy="612648"/>
          </a:xfrm>
          <a:prstGeom prst="rect">
            <a:avLst/>
          </a:prstGeom>
          <a:noFill/>
          <a:ln/>
        </p:spPr>
        <p:txBody>
          <a:bodyPr wrap="square" lIns="0" tIns="0" rIns="0" bIns="0" rtlCol="0" anchor="ctr"/>
          <a:lstStyle/>
          <a:p>
            <a:pPr algn="l" indent="0" marL="0">
              <a:buNone/>
            </a:pPr>
            <a:r>
              <a:rPr lang="en-US" sz="1100" dirty="0">
                <a:solidFill>
                  <a:schemeClr val="tx1"/>
                </a:solidFill>
              </a:rPr>
              <a:t>For 12–18 months, seats, visibility and founder hours bind first, not market size.</a:t>
            </a:r>
            <a:endParaRPr lang="en-US" sz="1100" dirty="0"/>
          </a:p>
        </p:txBody>
      </p:sp>
      <p:sp>
        <p:nvSpPr>
          <p:cNvPr id="44" name="Badge ESTIMATE 3"/>
          <p:cNvSpPr txBox="1"/>
          <p:nvPr/>
        </p:nvSpPr>
        <p:spPr>
          <a:xfrm>
            <a:off x="10681082" y="567385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OPPORTUNITY · SEGMENTS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600" dirty="0">
                <a:solidFill>
                  <a:schemeClr val="tx2"/>
                </a:solidFill>
                <a:latin typeface="+mj-lt" pitchFamily="34" charset="0"/>
                <a:ea typeface="+mj-lt" pitchFamily="34" charset="-122"/>
                <a:cs typeface="+mj-lt" pitchFamily="34" charset="-120"/>
              </a:rPr>
              <a:t>Aspiring artists pay the bills, working artists make the profit, families decide</a:t>
            </a:r>
            <a:endParaRPr lang="en-US" sz="2800" dirty="0"/>
          </a:p>
        </p:txBody>
      </p:sp>
      <p:sp>
        <p:nvSpPr>
          <p:cNvPr id="4" name="Subtitle"/>
          <p:cNvSpPr txBox="1"/>
          <p:nvPr/>
        </p:nvSpPr>
        <p:spPr>
          <a:xfrm>
            <a:off x="548640" y="109296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S1 (18–25 aspiring pros) is core revenue; S3 (working artists) is the profit flywheel; S7 out-of-town and S2 switchers are the growth bets; parents and spouses are the decision unit.</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positioning_and_segments.md §1–§2; customer_segments.md §1 (2–3, 7), §3.3; admissions_funnel.md §1 (2), §3; S-CUS-45; S-CHD-12</a:t>
            </a:r>
            <a:pPr algn="l" indent="0" marL="0">
              <a:buNone/>
            </a:pPr>
            <a:r>
              <a:rPr lang="en-US" sz="900" b="1" dirty="0">
                <a:solidFill>
                  <a:srgbClr val="6B5F67"/>
                </a:solidFill>
              </a:rPr>
              <a:t>   Note: </a:t>
            </a:r>
            <a:pPr algn="l" indent="0" marL="0">
              <a:buNone/>
            </a:pPr>
            <a:r>
              <a:rPr lang="en-US" sz="900" dirty="0">
                <a:solidFill>
                  <a:srgbClr val="6B5F67"/>
                </a:solidFill>
              </a:rPr>
              <a:t>Prices in ₹, 2026 listings. Segment priorities and routes: RECOMMENDATION.</a:t>
            </a:r>
            <a:endParaRPr lang="en-US" sz="900" dirty="0"/>
          </a:p>
        </p:txBody>
      </p:sp>
      <p:sp>
        <p:nvSpPr>
          <p:cNvPr id="7" name="Evidence key"/>
          <p:cNvSpPr txBox="1"/>
          <p:nvPr/>
        </p:nvSpPr>
        <p:spPr>
          <a:xfrm>
            <a:off x="548640" y="1920240"/>
            <a:ext cx="615302" cy="219456"/>
          </a:xfrm>
          <a:prstGeom prst="rect">
            <a:avLst/>
          </a:prstGeom>
          <a:noFill/>
          <a:ln/>
        </p:spPr>
        <p:txBody>
          <a:bodyPr wrap="square" lIns="0" tIns="0" rIns="0" bIns="0" rtlCol="0" anchor="ctr"/>
          <a:lstStyle/>
          <a:p>
            <a:pPr algn="l" indent="0" marL="0">
              <a:buNone/>
            </a:pPr>
            <a:r>
              <a:rPr lang="en-US" sz="1000" b="1" dirty="0">
                <a:solidFill>
                  <a:srgbClr val="6B5F67"/>
                </a:solidFill>
              </a:rPr>
              <a:t>Evidence:</a:t>
            </a:r>
            <a:endParaRPr lang="en-US" sz="1000" dirty="0"/>
          </a:p>
        </p:txBody>
      </p:sp>
      <p:sp>
        <p:nvSpPr>
          <p:cNvPr id="8" name="Badge RECOMMENDATION"/>
          <p:cNvSpPr txBox="1"/>
          <p:nvPr/>
        </p:nvSpPr>
        <p:spPr>
          <a:xfrm>
            <a:off x="1200518" y="1920240"/>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9" name="Evidence key text"/>
          <p:cNvSpPr txBox="1"/>
          <p:nvPr/>
        </p:nvSpPr>
        <p:spPr>
          <a:xfrm>
            <a:off x="2586799" y="1920240"/>
            <a:ext cx="1674872" cy="219456"/>
          </a:xfrm>
          <a:prstGeom prst="rect">
            <a:avLst/>
          </a:prstGeom>
          <a:noFill/>
          <a:ln/>
        </p:spPr>
        <p:txBody>
          <a:bodyPr wrap="square" lIns="0" tIns="0" rIns="0" bIns="0" rtlCol="0" anchor="ctr"/>
          <a:lstStyle/>
          <a:p>
            <a:pPr algn="l" indent="0" marL="0">
              <a:buNone/>
            </a:pPr>
            <a:r>
              <a:rPr lang="en-US" sz="1000" dirty="0">
                <a:solidFill>
                  <a:srgbClr val="6B5F67"/>
                </a:solidFill>
              </a:rPr>
              <a:t>segment priorities and routes</a:t>
            </a:r>
            <a:endParaRPr lang="en-US" sz="1000" dirty="0"/>
          </a:p>
        </p:txBody>
      </p:sp>
      <p:graphicFrame>
        <p:nvGraphicFramePr>
          <p:cNvPr id="8" name="Segments table"/>
          <p:cNvGraphicFramePr>
            <a:graphicFrameLocks noGrp="1"/>
          </p:cNvGraphicFramePr>
          <p:nvPr>
            <p:extLst>
              <p:ext uri="{D42A27DB-BD31-4B8C-83A1-F6EECF244321}">
                <p14:modId xmlns:p14="http://schemas.microsoft.com/office/powerpoint/2010/main" val="1579011935"/>
              </p:ext>
            </p:extLst>
          </p:nvPr>
        </p:nvGraphicFramePr>
        <p:xfrm>
          <a:off x="548640" y="2249424"/>
          <a:ext cx="11094415" cy="914400"/>
        </p:xfrm>
        <a:graphic>
          <a:graphicData uri="http://schemas.openxmlformats.org/drawingml/2006/table">
            <a:tbl>
              <a:tblPr/>
              <a:tblGrid>
                <a:gridCol w="2332297"/>
                <a:gridCol w="1189014"/>
                <a:gridCol w="1829252"/>
                <a:gridCol w="3704236"/>
                <a:gridCol w="2039616"/>
              </a:tblGrid>
              <a:tr h="274066">
                <a:tc>
                  <a:txBody>
                    <a:bodyPr/>
                    <a:lstStyle/>
                    <a:p>
                      <a:pPr algn="l" indent="0" marL="0">
                        <a:buNone/>
                      </a:pPr>
                      <a:r>
                        <a:rPr lang="en-US" sz="1000" b="1" dirty="0">
                          <a:solidFill>
                            <a:srgbClr val="FFFFFF"/>
                          </a:solidFill>
                        </a:rPr>
                        <a:t>Segment</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Role</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Lead product → next</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Primary route</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Evidence note</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429260">
                <a:tc>
                  <a:txBody>
                    <a:bodyPr/>
                    <a:lstStyle/>
                    <a:p>
                      <a:pPr algn="l" indent="0" marL="0">
                        <a:buNone/>
                      </a:pPr>
                      <a:r>
                        <a:rPr lang="en-US" sz="1000" b="1" dirty="0">
                          <a:solidFill>
                            <a:srgbClr val="2B2129"/>
                          </a:solidFill>
                        </a:rPr>
                        <a:t>S1 Aspiring professional MUAs 18–25, tricity</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Core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L3 Pro → L4 → L5</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CTWA/Search → counsellor &lt;5 min → parent visit → EMI</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Highest ticket and LTV</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29260">
                <a:tc>
                  <a:txBody>
                    <a:bodyPr/>
                    <a:lstStyle/>
                    <a:p>
                      <a:pPr algn="l" indent="0" marL="0">
                        <a:buNone/>
                      </a:pPr>
                      <a:r>
                        <a:rPr lang="en-US" sz="1000" b="1" dirty="0">
                          <a:solidFill>
                            <a:srgbClr val="2B2129"/>
                          </a:solidFill>
                        </a:rPr>
                        <a:t>S3 Working artists / salon staff</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Flywheel</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L4 → L5</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Content → WhatsApp Community → self-serve launch</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Profit, repeat purchase, future trainers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29260">
                <a:tc>
                  <a:txBody>
                    <a:bodyPr/>
                    <a:lstStyle/>
                    <a:p>
                      <a:pPr algn="l" indent="0" marL="0">
                        <a:buNone/>
                      </a:pPr>
                      <a:r>
                        <a:rPr lang="en-US" sz="1000" b="1" dirty="0">
                          <a:solidFill>
                            <a:srgbClr val="2B2129"/>
                          </a:solidFill>
                        </a:rPr>
                        <a:t>S7 Out-of-town overlay (Punjab, HP, Haryana, J&amp;K)</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Growth bet</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L3 Destination</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Search/regional CTWA → online parents' session → video counselling</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Main lever past the tricity cap; unproven (H2)</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29260">
                <a:tc>
                  <a:txBody>
                    <a:bodyPr/>
                    <a:lstStyle/>
                    <a:p>
                      <a:pPr algn="l" indent="0" marL="0">
                        <a:buNone/>
                      </a:pPr>
                      <a:r>
                        <a:rPr lang="en-US" sz="1000" b="1" dirty="0">
                          <a:solidFill>
                            <a:srgbClr val="2B2129"/>
                          </a:solidFill>
                        </a:rPr>
                        <a:t>S2 Career-switchers / homemakers 25–40</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Growth bet</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L1 Taster → L3 Flex/L2</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₹999 paid taster → same-day counselling with spouse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Volume; needs a flexible format</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b="1" dirty="0">
                          <a:solidFill>
                            <a:srgbClr val="2B2129"/>
                          </a:solidFill>
                        </a:rPr>
                        <a:t>S5 Self-makeup learners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Top-of-funnel</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Self-Makeup Workshop</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Seasonal Reels → instant booking</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Seasonal cash</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b="1" dirty="0">
                          <a:solidFill>
                            <a:srgbClr val="2B2129"/>
                          </a:solidFill>
                        </a:rPr>
                        <a:t>S6 Creators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Top-of-funnel</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L4 Camera Makeup</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Direct outreach → collab content</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Reach</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b="1" dirty="0">
                          <a:solidFill>
                            <a:srgbClr val="2B2129"/>
                          </a:solidFill>
                        </a:rPr>
                        <a:t>S4 Government-scheme skilling</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Defer</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None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None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B2G model, compliance-heavy</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bl>
          </a:graphicData>
        </a:graphic>
      </p:graphicFrame>
      <p:sp>
        <p:nvSpPr>
          <p:cNvPr id="11" name="Decision unit strip"/>
          <p:cNvSpPr/>
          <p:nvPr/>
        </p:nvSpPr>
        <p:spPr>
          <a:xfrm>
            <a:off x="548640" y="5227320"/>
            <a:ext cx="11094415" cy="917448"/>
          </a:xfrm>
          <a:prstGeom prst="roundRect">
            <a:avLst>
              <a:gd name="adj" fmla="val 7973"/>
            </a:avLst>
          </a:prstGeom>
          <a:solidFill>
            <a:srgbClr val="F1EAE5"/>
          </a:solidFill>
          <a:ln/>
        </p:spPr>
      </p:sp>
      <p:sp>
        <p:nvSpPr>
          <p:cNvPr id="12" name="Label"/>
          <p:cNvSpPr txBox="1"/>
          <p:nvPr/>
        </p:nvSpPr>
        <p:spPr>
          <a:xfrm>
            <a:off x="731520" y="5355336"/>
            <a:ext cx="1417320" cy="219456"/>
          </a:xfrm>
          <a:prstGeom prst="rect">
            <a:avLst/>
          </a:prstGeom>
          <a:noFill/>
          <a:ln/>
        </p:spPr>
        <p:txBody>
          <a:bodyPr wrap="square" lIns="0" tIns="0" rIns="0" bIns="0" rtlCol="0" anchor="ctr"/>
          <a:lstStyle/>
          <a:p>
            <a:pPr algn="l" indent="0" marL="0">
              <a:buNone/>
            </a:pPr>
            <a:r>
              <a:rPr lang="en-US" sz="1050" b="1" dirty="0">
                <a:solidFill>
                  <a:srgbClr val="A4513F"/>
                </a:solidFill>
              </a:rPr>
              <a:t>DECISION UNIT</a:t>
            </a:r>
            <a:endParaRPr lang="en-US" sz="1050" dirty="0"/>
          </a:p>
        </p:txBody>
      </p:sp>
      <p:sp>
        <p:nvSpPr>
          <p:cNvPr id="13" name="Unit sub"/>
          <p:cNvSpPr txBox="1"/>
          <p:nvPr/>
        </p:nvSpPr>
        <p:spPr>
          <a:xfrm>
            <a:off x="731520" y="5593080"/>
            <a:ext cx="1371600" cy="460248"/>
          </a:xfrm>
          <a:prstGeom prst="rect">
            <a:avLst/>
          </a:prstGeom>
          <a:noFill/>
          <a:ln/>
        </p:spPr>
        <p:txBody>
          <a:bodyPr wrap="square" lIns="0" tIns="0" rIns="0" bIns="0" rtlCol="0" anchor="t"/>
          <a:lstStyle/>
          <a:p>
            <a:pPr algn="l" indent="0" marL="0">
              <a:buNone/>
            </a:pPr>
            <a:r>
              <a:rPr lang="en-US" sz="1400" b="1" dirty="0">
                <a:solidFill>
                  <a:schemeClr val="tx2"/>
                </a:solidFill>
              </a:rPr>
              <a:t>Parents and spouses</a:t>
            </a:r>
            <a:endParaRPr lang="en-US" sz="1400" dirty="0"/>
          </a:p>
        </p:txBody>
      </p:sp>
      <p:sp>
        <p:nvSpPr>
          <p:cNvPr id="14" name="Stat rule"/>
          <p:cNvSpPr/>
          <p:nvPr/>
        </p:nvSpPr>
        <p:spPr>
          <a:xfrm>
            <a:off x="2240280" y="5355336"/>
            <a:ext cx="0" cy="661416"/>
          </a:xfrm>
          <a:prstGeom prst="line">
            <a:avLst/>
          </a:prstGeom>
          <a:noFill/>
          <a:ln w="9525">
            <a:solidFill>
              <a:srgbClr val="C9BCB5"/>
            </a:solidFill>
            <a:prstDash val="solid"/>
          </a:ln>
        </p:spPr>
      </p:sp>
      <p:sp>
        <p:nvSpPr>
          <p:cNvPr id="15" name="Badge VERIFIED"/>
          <p:cNvSpPr txBox="1"/>
          <p:nvPr/>
        </p:nvSpPr>
        <p:spPr>
          <a:xfrm>
            <a:off x="3254028" y="5355336"/>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16" name="Stat value"/>
          <p:cNvSpPr txBox="1"/>
          <p:nvPr/>
        </p:nvSpPr>
        <p:spPr>
          <a:xfrm>
            <a:off x="2377440" y="5300472"/>
            <a:ext cx="849156" cy="329184"/>
          </a:xfrm>
          <a:prstGeom prst="rect">
            <a:avLst/>
          </a:prstGeom>
          <a:noFill/>
          <a:ln/>
        </p:spPr>
        <p:txBody>
          <a:bodyPr wrap="square" lIns="0" tIns="0" rIns="0" bIns="0" rtlCol="0" anchor="t"/>
          <a:lstStyle/>
          <a:p>
            <a:pPr algn="l" indent="0" marL="0">
              <a:buNone/>
            </a:pPr>
            <a:r>
              <a:rPr lang="en-US" sz="1900" dirty="0">
                <a:solidFill>
                  <a:schemeClr val="tx2"/>
                </a:solidFill>
                <a:latin typeface="+mj-lt" pitchFamily="34" charset="0"/>
                <a:ea typeface="+mj-lt" pitchFamily="34" charset="-122"/>
                <a:cs typeface="+mj-lt" pitchFamily="34" charset="-120"/>
              </a:rPr>
              <a:t>35%</a:t>
            </a:r>
            <a:endParaRPr lang="en-US" sz="1900" dirty="0"/>
          </a:p>
        </p:txBody>
      </p:sp>
      <p:sp>
        <p:nvSpPr>
          <p:cNvPr id="17" name="Stat label"/>
          <p:cNvSpPr txBox="1"/>
          <p:nvPr/>
        </p:nvSpPr>
        <p:spPr>
          <a:xfrm>
            <a:off x="2377440" y="5647944"/>
            <a:ext cx="1606235" cy="460248"/>
          </a:xfrm>
          <a:prstGeom prst="rect">
            <a:avLst/>
          </a:prstGeom>
          <a:noFill/>
          <a:ln/>
        </p:spPr>
        <p:txBody>
          <a:bodyPr wrap="square" lIns="0" tIns="0" rIns="0" bIns="0" rtlCol="0" anchor="t"/>
          <a:lstStyle/>
          <a:p>
            <a:pPr algn="l" indent="0" marL="0">
              <a:buNone/>
            </a:pPr>
            <a:r>
              <a:rPr lang="en-US" sz="1100" dirty="0">
                <a:solidFill>
                  <a:schemeClr val="tx1"/>
                </a:solidFill>
              </a:rPr>
              <a:t>of students name parents as their main advisor</a:t>
            </a:r>
            <a:endParaRPr lang="en-US" sz="1100" dirty="0"/>
          </a:p>
        </p:txBody>
      </p:sp>
      <p:sp>
        <p:nvSpPr>
          <p:cNvPr id="18" name="Stat rule 2"/>
          <p:cNvSpPr/>
          <p:nvPr/>
        </p:nvSpPr>
        <p:spPr>
          <a:xfrm>
            <a:off x="4093403" y="5355336"/>
            <a:ext cx="0" cy="661416"/>
          </a:xfrm>
          <a:prstGeom prst="line">
            <a:avLst/>
          </a:prstGeom>
          <a:noFill/>
          <a:ln w="9525">
            <a:solidFill>
              <a:srgbClr val="C9BCB5"/>
            </a:solidFill>
            <a:prstDash val="solid"/>
          </a:ln>
        </p:spPr>
      </p:sp>
      <p:sp>
        <p:nvSpPr>
          <p:cNvPr id="19" name="Badge HYPOTHESIS"/>
          <p:cNvSpPr txBox="1"/>
          <p:nvPr/>
        </p:nvSpPr>
        <p:spPr>
          <a:xfrm>
            <a:off x="4923131" y="5355336"/>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20" name="Stat value 2"/>
          <p:cNvSpPr txBox="1"/>
          <p:nvPr/>
        </p:nvSpPr>
        <p:spPr>
          <a:xfrm>
            <a:off x="4230563" y="5300472"/>
            <a:ext cx="665136" cy="329184"/>
          </a:xfrm>
          <a:prstGeom prst="rect">
            <a:avLst/>
          </a:prstGeom>
          <a:noFill/>
          <a:ln/>
        </p:spPr>
        <p:txBody>
          <a:bodyPr wrap="square" lIns="0" tIns="0" rIns="0" bIns="0" rtlCol="0" anchor="t"/>
          <a:lstStyle/>
          <a:p>
            <a:pPr algn="l" indent="0" marL="0">
              <a:buNone/>
            </a:pPr>
            <a:r>
              <a:rPr lang="en-US" sz="1900" dirty="0">
                <a:solidFill>
                  <a:schemeClr val="tx2"/>
                </a:solidFill>
                <a:latin typeface="+mj-lt" pitchFamily="34" charset="0"/>
                <a:ea typeface="+mj-lt" pitchFamily="34" charset="-122"/>
                <a:cs typeface="+mj-lt" pitchFamily="34" charset="-120"/>
              </a:rPr>
              <a:t>≥70%</a:t>
            </a:r>
            <a:endParaRPr lang="en-US" sz="1900" dirty="0"/>
          </a:p>
        </p:txBody>
      </p:sp>
      <p:sp>
        <p:nvSpPr>
          <p:cNvPr id="21" name="Stat label 2"/>
          <p:cNvSpPr txBox="1"/>
          <p:nvPr/>
        </p:nvSpPr>
        <p:spPr>
          <a:xfrm>
            <a:off x="4230563" y="5647944"/>
            <a:ext cx="1606235" cy="460248"/>
          </a:xfrm>
          <a:prstGeom prst="rect">
            <a:avLst/>
          </a:prstGeom>
          <a:noFill/>
          <a:ln/>
        </p:spPr>
        <p:txBody>
          <a:bodyPr wrap="square" lIns="0" tIns="0" rIns="0" bIns="0" rtlCol="0" anchor="t"/>
          <a:lstStyle/>
          <a:p>
            <a:pPr algn="l" indent="0" marL="0">
              <a:buNone/>
            </a:pPr>
            <a:r>
              <a:rPr lang="en-US" sz="1050" dirty="0">
                <a:solidFill>
                  <a:schemeClr val="tx1"/>
                </a:solidFill>
              </a:rPr>
              <a:t>of S1 cases: parents/spouses approve and pay</a:t>
            </a:r>
            <a:endParaRPr lang="en-US" sz="1050" dirty="0"/>
          </a:p>
        </p:txBody>
      </p:sp>
      <p:sp>
        <p:nvSpPr>
          <p:cNvPr id="22" name="Stat rule 3"/>
          <p:cNvSpPr/>
          <p:nvPr/>
        </p:nvSpPr>
        <p:spPr>
          <a:xfrm>
            <a:off x="5946526" y="5355336"/>
            <a:ext cx="0" cy="661416"/>
          </a:xfrm>
          <a:prstGeom prst="line">
            <a:avLst/>
          </a:prstGeom>
          <a:noFill/>
          <a:ln w="9525">
            <a:solidFill>
              <a:srgbClr val="C9BCB5"/>
            </a:solidFill>
            <a:prstDash val="solid"/>
          </a:ln>
        </p:spPr>
      </p:sp>
      <p:sp>
        <p:nvSpPr>
          <p:cNvPr id="23" name="Badge VERIFIED 2"/>
          <p:cNvSpPr txBox="1"/>
          <p:nvPr/>
        </p:nvSpPr>
        <p:spPr>
          <a:xfrm>
            <a:off x="6960274" y="5355336"/>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24" name="Stat value 3"/>
          <p:cNvSpPr txBox="1"/>
          <p:nvPr/>
        </p:nvSpPr>
        <p:spPr>
          <a:xfrm>
            <a:off x="6083686" y="5300472"/>
            <a:ext cx="849156" cy="329184"/>
          </a:xfrm>
          <a:prstGeom prst="rect">
            <a:avLst/>
          </a:prstGeom>
          <a:noFill/>
          <a:ln/>
        </p:spPr>
        <p:txBody>
          <a:bodyPr wrap="square" lIns="0" tIns="0" rIns="0" bIns="0" rtlCol="0" anchor="t"/>
          <a:lstStyle/>
          <a:p>
            <a:pPr algn="l" indent="0" marL="0">
              <a:buNone/>
            </a:pPr>
            <a:r>
              <a:rPr lang="en-US" sz="1900" dirty="0">
                <a:solidFill>
                  <a:schemeClr val="tx2"/>
                </a:solidFill>
                <a:latin typeface="+mn-lt" pitchFamily="34" charset="0"/>
                <a:ea typeface="+mn-lt" pitchFamily="34" charset="-122"/>
                <a:cs typeface="+mn-lt" pitchFamily="34" charset="-120"/>
              </a:rPr>
              <a:t>₹</a:t>
            </a:r>
            <a:pPr algn="l" indent="0" marL="0">
              <a:buNone/>
            </a:pPr>
            <a:r>
              <a:rPr lang="en-US" sz="1900" dirty="0">
                <a:solidFill>
                  <a:schemeClr val="tx2"/>
                </a:solidFill>
                <a:latin typeface="+mj-lt" pitchFamily="34" charset="0"/>
                <a:ea typeface="+mj-lt" pitchFamily="34" charset="-122"/>
                <a:cs typeface="+mj-lt" pitchFamily="34" charset="-120"/>
              </a:rPr>
              <a:t>14–45k</a:t>
            </a:r>
            <a:endParaRPr lang="en-US" sz="1900" dirty="0"/>
          </a:p>
        </p:txBody>
      </p:sp>
      <p:sp>
        <p:nvSpPr>
          <p:cNvPr id="25" name="Stat label 3"/>
          <p:cNvSpPr txBox="1"/>
          <p:nvPr/>
        </p:nvSpPr>
        <p:spPr>
          <a:xfrm>
            <a:off x="6083686" y="5647944"/>
            <a:ext cx="1606235" cy="460248"/>
          </a:xfrm>
          <a:prstGeom prst="rect">
            <a:avLst/>
          </a:prstGeom>
          <a:noFill/>
          <a:ln/>
        </p:spPr>
        <p:txBody>
          <a:bodyPr wrap="square" lIns="0" tIns="0" rIns="0" bIns="0" rtlCol="0" anchor="t"/>
          <a:lstStyle/>
          <a:p>
            <a:pPr algn="l" indent="0" marL="0">
              <a:buNone/>
            </a:pPr>
            <a:r>
              <a:rPr lang="en-US" sz="1100" dirty="0">
                <a:solidFill>
                  <a:schemeClr val="tx1"/>
                </a:solidFill>
              </a:rPr>
              <a:t>per function, tricity bridal MUAs (median ₹25k)</a:t>
            </a:r>
            <a:endParaRPr lang="en-US" sz="1100" dirty="0"/>
          </a:p>
        </p:txBody>
      </p:sp>
      <p:sp>
        <p:nvSpPr>
          <p:cNvPr id="26" name="Stat rule 4"/>
          <p:cNvSpPr/>
          <p:nvPr/>
        </p:nvSpPr>
        <p:spPr>
          <a:xfrm>
            <a:off x="7799649" y="5355336"/>
            <a:ext cx="0" cy="661416"/>
          </a:xfrm>
          <a:prstGeom prst="line">
            <a:avLst/>
          </a:prstGeom>
          <a:noFill/>
          <a:ln w="9525">
            <a:solidFill>
              <a:srgbClr val="C9BCB5"/>
            </a:solidFill>
            <a:prstDash val="solid"/>
          </a:ln>
        </p:spPr>
      </p:sp>
      <p:sp>
        <p:nvSpPr>
          <p:cNvPr id="27" name="Badge CLAIM"/>
          <p:cNvSpPr txBox="1"/>
          <p:nvPr/>
        </p:nvSpPr>
        <p:spPr>
          <a:xfrm>
            <a:off x="8964315" y="5355336"/>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28" name="Stat value 4"/>
          <p:cNvSpPr txBox="1"/>
          <p:nvPr/>
        </p:nvSpPr>
        <p:spPr>
          <a:xfrm>
            <a:off x="7936809" y="5300472"/>
            <a:ext cx="1000074" cy="329184"/>
          </a:xfrm>
          <a:prstGeom prst="rect">
            <a:avLst/>
          </a:prstGeom>
          <a:noFill/>
          <a:ln/>
        </p:spPr>
        <p:txBody>
          <a:bodyPr wrap="square" lIns="0" tIns="0" rIns="0" bIns="0" rtlCol="0" anchor="t"/>
          <a:lstStyle/>
          <a:p>
            <a:pPr algn="l" indent="0" marL="0">
              <a:buNone/>
            </a:pPr>
            <a:r>
              <a:rPr lang="en-US" sz="1500" dirty="0">
                <a:solidFill>
                  <a:schemeClr val="tx2"/>
                </a:solidFill>
                <a:latin typeface="+mn-lt" pitchFamily="34" charset="0"/>
                <a:ea typeface="+mn-lt" pitchFamily="34" charset="-122"/>
                <a:cs typeface="+mn-lt" pitchFamily="34" charset="-120"/>
              </a:rPr>
              <a:t>₹</a:t>
            </a:r>
            <a:pPr algn="l" indent="0" marL="0">
              <a:buNone/>
            </a:pPr>
            <a:r>
              <a:rPr lang="en-US" sz="1500" dirty="0">
                <a:solidFill>
                  <a:schemeClr val="tx2"/>
                </a:solidFill>
                <a:latin typeface="+mj-lt" pitchFamily="34" charset="0"/>
                <a:ea typeface="+mj-lt" pitchFamily="34" charset="-122"/>
                <a:cs typeface="+mj-lt" pitchFamily="34" charset="-120"/>
              </a:rPr>
              <a:t>1.2–6.2 LPA</a:t>
            </a:r>
            <a:endParaRPr lang="en-US" sz="1500" dirty="0"/>
          </a:p>
        </p:txBody>
      </p:sp>
      <p:sp>
        <p:nvSpPr>
          <p:cNvPr id="29" name="Stat label 4"/>
          <p:cNvSpPr txBox="1"/>
          <p:nvPr/>
        </p:nvSpPr>
        <p:spPr>
          <a:xfrm>
            <a:off x="7936809" y="5647944"/>
            <a:ext cx="1606235" cy="460248"/>
          </a:xfrm>
          <a:prstGeom prst="rect">
            <a:avLst/>
          </a:prstGeom>
          <a:noFill/>
          <a:ln/>
        </p:spPr>
        <p:txBody>
          <a:bodyPr wrap="square" lIns="0" tIns="0" rIns="0" bIns="0" rtlCol="0" anchor="t"/>
          <a:lstStyle/>
          <a:p>
            <a:pPr algn="l" indent="0" marL="0">
              <a:buNone/>
            </a:pPr>
            <a:r>
              <a:rPr lang="en-US" sz="1100" dirty="0">
                <a:solidFill>
                  <a:schemeClr val="tx1"/>
                </a:solidFill>
              </a:rPr>
              <a:t>salaried MUA pay: the ROI anchor families ask about</a:t>
            </a:r>
            <a:endParaRPr lang="en-US" sz="1100" dirty="0"/>
          </a:p>
        </p:txBody>
      </p:sp>
      <p:sp>
        <p:nvSpPr>
          <p:cNvPr id="30" name="Stat rule 5"/>
          <p:cNvSpPr/>
          <p:nvPr/>
        </p:nvSpPr>
        <p:spPr>
          <a:xfrm>
            <a:off x="9652772" y="5355336"/>
            <a:ext cx="0" cy="661416"/>
          </a:xfrm>
          <a:prstGeom prst="line">
            <a:avLst/>
          </a:prstGeom>
          <a:noFill/>
          <a:ln w="9525">
            <a:solidFill>
              <a:srgbClr val="C9BCB5"/>
            </a:solidFill>
            <a:prstDash val="solid"/>
          </a:ln>
        </p:spPr>
      </p:sp>
      <p:sp>
        <p:nvSpPr>
          <p:cNvPr id="31" name="Badge VERIFIED 3"/>
          <p:cNvSpPr txBox="1"/>
          <p:nvPr/>
        </p:nvSpPr>
        <p:spPr>
          <a:xfrm>
            <a:off x="10666520" y="5355336"/>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32" name="Stat label 5"/>
          <p:cNvSpPr txBox="1"/>
          <p:nvPr/>
        </p:nvSpPr>
        <p:spPr>
          <a:xfrm>
            <a:off x="9789932" y="5629656"/>
            <a:ext cx="1606235" cy="441960"/>
          </a:xfrm>
          <a:prstGeom prst="rect">
            <a:avLst/>
          </a:prstGeom>
          <a:noFill/>
          <a:ln/>
        </p:spPr>
        <p:txBody>
          <a:bodyPr wrap="square" lIns="0" tIns="0" rIns="0" bIns="0" rtlCol="0" anchor="t"/>
          <a:lstStyle/>
          <a:p>
            <a:pPr algn="l" indent="0" marL="0">
              <a:buNone/>
            </a:pPr>
            <a:r>
              <a:rPr lang="en-US" sz="1200" b="1" dirty="0">
                <a:solidFill>
                  <a:schemeClr val="tx2"/>
                </a:solidFill>
              </a:rPr>
              <a:t>No public data on time to first paid booking</a:t>
            </a:r>
            <a:endParaRPr lang="en-US" sz="12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FINDINGS · COMPETITIVE LANDSCAPE</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Chains sell breadth and certificates; nobody publishes fees or outcomes</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Five tiers compete for the same student; counsellor-led conversion with EMI is universal; fee opacity and "100% placement" claims are the norm.</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§3 Q3; chandigarh_competitors.md §1, §6; national_competitors.md §1, §5.1; S-LC-08..23, S-LC-13, S-LC-27..34; S-NC-01/02/04/07/09/13/15/17/22/26; S-BM-08</a:t>
            </a:r>
            <a:pPr algn="l" indent="0" marL="0">
              <a:buNone/>
            </a:pPr>
            <a:r>
              <a:rPr lang="en-US" sz="900" b="1" dirty="0">
                <a:solidFill>
                  <a:srgbClr val="6B5F67"/>
                </a:solidFill>
              </a:rPr>
              <a:t>   Note: </a:t>
            </a:r>
            <a:pPr algn="l" indent="0" marL="0">
              <a:buNone/>
            </a:pPr>
            <a:r>
              <a:rPr lang="en-US" sz="900" dirty="0">
                <a:solidFill>
                  <a:srgbClr val="6B5F67"/>
                </a:solidFill>
              </a:rPr>
              <a:t>₹ list prices, 2024–2026, GST treatment as published. Centre counts and franchise fees self-reported (CLAIM).</a:t>
            </a:r>
            <a:endParaRPr lang="en-US" sz="900" dirty="0"/>
          </a:p>
        </p:txBody>
      </p:sp>
      <p:graphicFrame>
        <p:nvGraphicFramePr>
          <p:cNvPr id="9" name="Competitor table"/>
          <p:cNvGraphicFramePr>
            <a:graphicFrameLocks noGrp="1"/>
          </p:cNvGraphicFramePr>
          <p:nvPr>
            <p:extLst>
              <p:ext uri="{D42A27DB-BD31-4B8C-83A1-F6EECF244321}">
                <p14:modId xmlns:p14="http://schemas.microsoft.com/office/powerpoint/2010/main" val="1579011935"/>
              </p:ext>
            </p:extLst>
          </p:nvPr>
        </p:nvGraphicFramePr>
        <p:xfrm>
          <a:off x="548640" y="1920240"/>
          <a:ext cx="6903720" cy="914400"/>
        </p:xfrm>
        <a:graphic>
          <a:graphicData uri="http://schemas.openxmlformats.org/drawingml/2006/table">
            <a:tbl>
              <a:tblPr/>
              <a:tblGrid>
                <a:gridCol w="1953026"/>
                <a:gridCol w="1544253"/>
                <a:gridCol w="1589672"/>
                <a:gridCol w="1816768"/>
              </a:tblGrid>
              <a:tr h="297345">
                <a:tc>
                  <a:txBody>
                    <a:bodyPr/>
                    <a:lstStyle/>
                    <a:p>
                      <a:pPr algn="l" indent="0" marL="0">
                        <a:buNone/>
                      </a:pPr>
                      <a:r>
                        <a:rPr lang="en-US" sz="1150" b="1" dirty="0">
                          <a:solidFill>
                            <a:srgbClr val="FFFFFF"/>
                          </a:solidFill>
                        </a:rPr>
                        <a:t>Who</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What they sell</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How they acquire</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Published price anchors</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654291">
                <a:tc>
                  <a:txBody>
                    <a:bodyPr/>
                    <a:lstStyle/>
                    <a:p>
                      <a:pPr algn="l" indent="0" marL="0">
                        <a:buNone/>
                      </a:pPr>
                      <a:r>
                        <a:rPr lang="en-US" sz="1150" b="1" dirty="0">
                          <a:solidFill>
                            <a:srgbClr val="2B2129"/>
                          </a:solidFill>
                        </a:rPr>
                        <a:t>Sector 34A cluster:</a:t>
                      </a:r>
                      <a:pPr algn="l" indent="0" marL="0">
                        <a:buNone/>
                      </a:pPr>
                      <a:r>
                        <a:rPr lang="en-US" sz="1150" dirty="0">
                          <a:solidFill>
                            <a:srgbClr val="2B2129"/>
                          </a:solidFill>
                        </a:rPr>
                        <a:t> Orane, Lakmé ×2, VLCC, Zuri, Cassia</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Broad cosmetology, certificates, "100% placement"</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Lead form → counsellor → free demo → EMI</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Local 3–6-month diploma ₹35–75k</a:t>
                      </a:r>
                      <a:pPr algn="l" indent="0" marL="0">
                        <a:buNone/>
                      </a:pPr>
                      <a:r>
                        <a:rPr lang="en-US" sz="950" b="1" dirty="0">
                          <a:solidFill>
                            <a:srgbClr val="7A4B0C"/>
                          </a:solidFill>
                        </a:rPr>
                        <a:t> ESTIMATE</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75818">
                <a:tc>
                  <a:txBody>
                    <a:bodyPr/>
                    <a:lstStyle/>
                    <a:p>
                      <a:pPr algn="l" indent="0" marL="0">
                        <a:buNone/>
                      </a:pPr>
                      <a:r>
                        <a:rPr lang="en-US" sz="1150" b="1" dirty="0">
                          <a:solidFill>
                            <a:srgbClr val="2B2129"/>
                          </a:solidFill>
                        </a:rPr>
                        <a:t>Founder-led peers:</a:t>
                      </a:r>
                      <a:pPr algn="l" indent="0" marL="0">
                        <a:buNone/>
                      </a:pPr>
                      <a:r>
                        <a:rPr lang="en-US" sz="1150" dirty="0">
                          <a:solidFill>
                            <a:srgbClr val="2B2129"/>
                          </a:solidFill>
                        </a:rPr>
                        <a:t> Nav Brar, Tanvi KG</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Small batches, short pro courses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WhatsApp-first, visible proof</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Proof, not price: Tanvi KG 4.9/125</a:t>
                      </a:r>
                      <a:pPr algn="l" indent="0" marL="0">
                        <a:buNone/>
                      </a:pPr>
                      <a:r>
                        <a:rPr lang="en-US" sz="950" b="1" dirty="0">
                          <a:solidFill>
                            <a:srgbClr val="6B5F67"/>
                          </a:solidFill>
                        </a:rPr>
                        <a:t> CLAIM</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75818">
                <a:tc>
                  <a:txBody>
                    <a:bodyPr/>
                    <a:lstStyle/>
                    <a:p>
                      <a:pPr algn="l" indent="0" marL="0">
                        <a:buNone/>
                      </a:pPr>
                      <a:r>
                        <a:rPr lang="en-US" sz="1150" b="1" dirty="0">
                          <a:solidFill>
                            <a:srgbClr val="2B2129"/>
                          </a:solidFill>
                        </a:rPr>
                        <a:t>Government diplomas:</a:t>
                      </a:r>
                      <a:pPr algn="l" indent="0" marL="0">
                        <a:buNone/>
                      </a:pPr>
                      <a:r>
                        <a:rPr lang="en-US" sz="1150" dirty="0">
                          <a:solidFill>
                            <a:srgbClr val="2B2129"/>
                          </a:solidFill>
                        </a:rPr>
                        <a:t> MCM DAV, HMV</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12-month diplomas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Admissions cycle</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₹3,730–35,000</a:t>
                      </a:r>
                      <a:pPr algn="l" indent="0" marL="0">
                        <a:buNone/>
                      </a:pPr>
                      <a:r>
                        <a:rPr lang="en-US" sz="950" b="1" dirty="0">
                          <a:solidFill>
                            <a:srgbClr val="2D6A5B"/>
                          </a:solidFill>
                        </a:rPr>
                        <a:t> VERIFIED</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654291">
                <a:tc>
                  <a:txBody>
                    <a:bodyPr/>
                    <a:lstStyle/>
                    <a:p>
                      <a:pPr algn="l" indent="0" marL="0">
                        <a:buNone/>
                      </a:pPr>
                      <a:r>
                        <a:rPr lang="en-US" sz="1150" b="1" dirty="0">
                          <a:solidFill>
                            <a:srgbClr val="2B2129"/>
                          </a:solidFill>
                        </a:rPr>
                        <a:t>National chains:</a:t>
                      </a:r>
                      <a:pPr algn="l" indent="0" marL="0">
                        <a:buNone/>
                      </a:pPr>
                      <a:r>
                        <a:rPr lang="en-US" sz="1150" dirty="0">
                          <a:solidFill>
                            <a:srgbClr val="2B2129"/>
                          </a:solidFill>
                        </a:rPr>
                        <a:t> Lakmé 140+, Orane 110+, VLCC 106+ centres (self-reported)</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Makeup courses; franchises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Counsellor-led, EMI partners, city microsites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₹35k–1.5L; Lakmé ₹1.3–1.5L; franchise ₹30–60L</a:t>
                      </a:r>
                      <a:pPr algn="l" indent="0" marL="0">
                        <a:buNone/>
                      </a:pPr>
                      <a:r>
                        <a:rPr lang="en-US" sz="950" b="1" dirty="0">
                          <a:solidFill>
                            <a:srgbClr val="6B5F67"/>
                          </a:solidFill>
                        </a:rPr>
                        <a:t> CLAIM</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654291">
                <a:tc>
                  <a:txBody>
                    <a:bodyPr/>
                    <a:lstStyle/>
                    <a:p>
                      <a:pPr algn="l" indent="0" marL="0">
                        <a:buNone/>
                      </a:pPr>
                      <a:r>
                        <a:rPr lang="en-US" sz="1150" b="1" dirty="0">
                          <a:solidFill>
                            <a:srgbClr val="2B2129"/>
                          </a:solidFill>
                        </a:rPr>
                        <a:t>Premium:</a:t>
                      </a:r>
                      <a:pPr algn="l" indent="0" marL="0">
                        <a:buNone/>
                      </a:pPr>
                      <a:r>
                        <a:rPr lang="en-US" sz="1150" dirty="0">
                          <a:solidFill>
                            <a:srgbClr val="2B2129"/>
                          </a:solidFill>
                        </a:rPr>
                        <a:t> Daniel Bauer, Pearl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Access, placements, brand halo</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Published prices, campus tours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DBA ₹2.25–5.95L ex GST; Pearl ₹4.45L incl. GST</a:t>
                      </a:r>
                      <a:pPr algn="l" indent="0" marL="0">
                        <a:buNone/>
                      </a:pPr>
                      <a:r>
                        <a:rPr lang="en-US" sz="950" b="1" dirty="0">
                          <a:solidFill>
                            <a:srgbClr val="2D6A5B"/>
                          </a:solidFill>
                        </a:rPr>
                        <a:t> VERIFIED</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75818">
                <a:tc>
                  <a:txBody>
                    <a:bodyPr/>
                    <a:lstStyle/>
                    <a:p>
                      <a:pPr algn="l" indent="0" marL="0">
                        <a:buNone/>
                      </a:pPr>
                      <a:r>
                        <a:rPr lang="en-US" sz="1150" b="1" dirty="0">
                          <a:solidFill>
                            <a:srgbClr val="2B2129"/>
                          </a:solidFill>
                        </a:rPr>
                        <a:t>Online:</a:t>
                      </a:r>
                      <a:pPr algn="l" indent="0" marL="0">
                        <a:buNone/>
                      </a:pPr>
                      <a:r>
                        <a:rPr lang="en-US" sz="1150" dirty="0">
                          <a:solidFill>
                            <a:srgbClr val="2B2129"/>
                          </a:solidFill>
                        </a:rPr>
                        <a:t> Orane Online, AAFT</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Micro-courses, online diplomas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Celebrity masterclass funnels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₹499 masterclass → ₹80k diploma</a:t>
                      </a:r>
                      <a:pPr algn="l" indent="0" marL="0">
                        <a:buNone/>
                      </a:pPr>
                      <a:r>
                        <a:rPr lang="en-US" sz="950" b="1" dirty="0">
                          <a:solidFill>
                            <a:srgbClr val="6B5F67"/>
                          </a:solidFill>
                        </a:rPr>
                        <a:t> CLAIM</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8" name="Ladder card"/>
          <p:cNvSpPr/>
          <p:nvPr/>
        </p:nvSpPr>
        <p:spPr>
          <a:xfrm>
            <a:off x="7726680" y="1920240"/>
            <a:ext cx="3916375" cy="2011680"/>
          </a:xfrm>
          <a:prstGeom prst="roundRect">
            <a:avLst>
              <a:gd name="adj" fmla="val 3636"/>
            </a:avLst>
          </a:prstGeom>
          <a:solidFill>
            <a:schemeClr val="bg1"/>
          </a:solidFill>
          <a:ln w="9525">
            <a:solidFill>
              <a:srgbClr val="E4DAD5"/>
            </a:solidFill>
            <a:prstDash val="solid"/>
          </a:ln>
        </p:spPr>
      </p:sp>
      <p:sp>
        <p:nvSpPr>
          <p:cNvPr id="9" name="Ladder title"/>
          <p:cNvSpPr txBox="1"/>
          <p:nvPr/>
        </p:nvSpPr>
        <p:spPr>
          <a:xfrm>
            <a:off x="7891272" y="2048256"/>
            <a:ext cx="3587191" cy="219456"/>
          </a:xfrm>
          <a:prstGeom prst="rect">
            <a:avLst/>
          </a:prstGeom>
          <a:noFill/>
          <a:ln/>
        </p:spPr>
        <p:txBody>
          <a:bodyPr wrap="square" lIns="0" tIns="0" rIns="0" bIns="0" rtlCol="0" anchor="t"/>
          <a:lstStyle/>
          <a:p>
            <a:pPr algn="l" indent="0" marL="0">
              <a:buNone/>
            </a:pPr>
            <a:r>
              <a:rPr lang="en-US" sz="1200" b="1" dirty="0">
                <a:solidFill>
                  <a:schemeClr val="tx1"/>
                </a:solidFill>
              </a:rPr>
              <a:t>Price ladder, ₹ list price (log scale)</a:t>
            </a:r>
            <a:endParaRPr lang="en-US" sz="1200" dirty="0"/>
          </a:p>
        </p:txBody>
      </p:sp>
      <p:sp>
        <p:nvSpPr>
          <p:cNvPr id="10" name="Ladder grid"/>
          <p:cNvSpPr/>
          <p:nvPr/>
        </p:nvSpPr>
        <p:spPr>
          <a:xfrm>
            <a:off x="9675713" y="2322576"/>
            <a:ext cx="0" cy="1335024"/>
          </a:xfrm>
          <a:prstGeom prst="line">
            <a:avLst/>
          </a:prstGeom>
          <a:noFill/>
          <a:ln w="6350">
            <a:solidFill>
              <a:srgbClr val="E4DAD5"/>
            </a:solidFill>
            <a:prstDash val="solid"/>
          </a:ln>
        </p:spPr>
      </p:sp>
      <p:sp>
        <p:nvSpPr>
          <p:cNvPr id="11" name="Ladder tick"/>
          <p:cNvSpPr txBox="1"/>
          <p:nvPr/>
        </p:nvSpPr>
        <p:spPr>
          <a:xfrm>
            <a:off x="9401393" y="3675888"/>
            <a:ext cx="548640" cy="182880"/>
          </a:xfrm>
          <a:prstGeom prst="rect">
            <a:avLst/>
          </a:prstGeom>
          <a:noFill/>
          <a:ln/>
        </p:spPr>
        <p:txBody>
          <a:bodyPr wrap="square" lIns="0" tIns="0" rIns="0" bIns="0" rtlCol="0" anchor="t"/>
          <a:lstStyle/>
          <a:p>
            <a:pPr algn="ctr" indent="0" marL="0">
              <a:buNone/>
            </a:pPr>
            <a:r>
              <a:rPr lang="en-US" sz="1000" dirty="0">
                <a:solidFill>
                  <a:srgbClr val="6B5F67"/>
                </a:solidFill>
              </a:rPr>
              <a:t>₹1k</a:t>
            </a:r>
            <a:endParaRPr lang="en-US" sz="1000" dirty="0"/>
          </a:p>
        </p:txBody>
      </p:sp>
      <p:sp>
        <p:nvSpPr>
          <p:cNvPr id="12" name="Ladder grid 2"/>
          <p:cNvSpPr/>
          <p:nvPr/>
        </p:nvSpPr>
        <p:spPr>
          <a:xfrm>
            <a:off x="10290390" y="2322576"/>
            <a:ext cx="0" cy="1335024"/>
          </a:xfrm>
          <a:prstGeom prst="line">
            <a:avLst/>
          </a:prstGeom>
          <a:noFill/>
          <a:ln w="6350">
            <a:solidFill>
              <a:srgbClr val="E4DAD5"/>
            </a:solidFill>
            <a:prstDash val="solid"/>
          </a:ln>
        </p:spPr>
      </p:sp>
      <p:sp>
        <p:nvSpPr>
          <p:cNvPr id="13" name="Ladder tick 2"/>
          <p:cNvSpPr txBox="1"/>
          <p:nvPr/>
        </p:nvSpPr>
        <p:spPr>
          <a:xfrm>
            <a:off x="10016070" y="3675888"/>
            <a:ext cx="548640" cy="182880"/>
          </a:xfrm>
          <a:prstGeom prst="rect">
            <a:avLst/>
          </a:prstGeom>
          <a:noFill/>
          <a:ln/>
        </p:spPr>
        <p:txBody>
          <a:bodyPr wrap="square" lIns="0" tIns="0" rIns="0" bIns="0" rtlCol="0" anchor="t"/>
          <a:lstStyle/>
          <a:p>
            <a:pPr algn="ctr" indent="0" marL="0">
              <a:buNone/>
            </a:pPr>
            <a:r>
              <a:rPr lang="en-US" sz="1000" dirty="0">
                <a:solidFill>
                  <a:srgbClr val="6B5F67"/>
                </a:solidFill>
              </a:rPr>
              <a:t>₹10k</a:t>
            </a:r>
            <a:endParaRPr lang="en-US" sz="1000" dirty="0"/>
          </a:p>
        </p:txBody>
      </p:sp>
      <p:sp>
        <p:nvSpPr>
          <p:cNvPr id="14" name="Ladder grid 3"/>
          <p:cNvSpPr/>
          <p:nvPr/>
        </p:nvSpPr>
        <p:spPr>
          <a:xfrm>
            <a:off x="10905067" y="2322576"/>
            <a:ext cx="0" cy="1335024"/>
          </a:xfrm>
          <a:prstGeom prst="line">
            <a:avLst/>
          </a:prstGeom>
          <a:noFill/>
          <a:ln w="6350">
            <a:solidFill>
              <a:srgbClr val="E4DAD5"/>
            </a:solidFill>
            <a:prstDash val="solid"/>
          </a:ln>
        </p:spPr>
      </p:sp>
      <p:sp>
        <p:nvSpPr>
          <p:cNvPr id="15" name="Ladder tick 3"/>
          <p:cNvSpPr txBox="1"/>
          <p:nvPr/>
        </p:nvSpPr>
        <p:spPr>
          <a:xfrm>
            <a:off x="10630747" y="3675888"/>
            <a:ext cx="548640" cy="182880"/>
          </a:xfrm>
          <a:prstGeom prst="rect">
            <a:avLst/>
          </a:prstGeom>
          <a:noFill/>
          <a:ln/>
        </p:spPr>
        <p:txBody>
          <a:bodyPr wrap="square" lIns="0" tIns="0" rIns="0" bIns="0" rtlCol="0" anchor="t"/>
          <a:lstStyle/>
          <a:p>
            <a:pPr algn="ctr" indent="0" marL="0">
              <a:buNone/>
            </a:pPr>
            <a:r>
              <a:rPr lang="en-US" sz="1000" dirty="0">
                <a:solidFill>
                  <a:srgbClr val="6B5F67"/>
                </a:solidFill>
              </a:rPr>
              <a:t>₹1L</a:t>
            </a:r>
            <a:endParaRPr lang="en-US" sz="1000" dirty="0"/>
          </a:p>
        </p:txBody>
      </p:sp>
      <p:sp>
        <p:nvSpPr>
          <p:cNvPr id="16" name="Ladder axis"/>
          <p:cNvSpPr/>
          <p:nvPr/>
        </p:nvSpPr>
        <p:spPr>
          <a:xfrm>
            <a:off x="9354312" y="3657600"/>
            <a:ext cx="2105863" cy="0"/>
          </a:xfrm>
          <a:prstGeom prst="line">
            <a:avLst/>
          </a:prstGeom>
          <a:noFill/>
          <a:ln w="9525">
            <a:solidFill>
              <a:srgbClr val="C9BCB5"/>
            </a:solidFill>
            <a:prstDash val="solid"/>
          </a:ln>
        </p:spPr>
      </p:sp>
      <p:sp>
        <p:nvSpPr>
          <p:cNvPr id="17" name="Ladder label"/>
          <p:cNvSpPr txBox="1"/>
          <p:nvPr/>
        </p:nvSpPr>
        <p:spPr>
          <a:xfrm>
            <a:off x="7891272" y="2340864"/>
            <a:ext cx="1417320" cy="256032"/>
          </a:xfrm>
          <a:prstGeom prst="rect">
            <a:avLst/>
          </a:prstGeom>
          <a:noFill/>
          <a:ln/>
        </p:spPr>
        <p:txBody>
          <a:bodyPr wrap="square" lIns="0" tIns="0" rIns="0" bIns="0" rtlCol="0" anchor="ctr"/>
          <a:lstStyle/>
          <a:p>
            <a:pPr algn="l" indent="0" marL="0">
              <a:buNone/>
            </a:pPr>
            <a:r>
              <a:rPr lang="en-US" sz="1000" dirty="0">
                <a:solidFill>
                  <a:schemeClr val="tx1"/>
                </a:solidFill>
              </a:rPr>
              <a:t>T0 digital</a:t>
            </a:r>
            <a:endParaRPr lang="en-US" sz="1000" dirty="0"/>
          </a:p>
        </p:txBody>
      </p:sp>
      <p:sp>
        <p:nvSpPr>
          <p:cNvPr id="18" name="Ladder bar"/>
          <p:cNvSpPr/>
          <p:nvPr/>
        </p:nvSpPr>
        <p:spPr>
          <a:xfrm>
            <a:off x="9490143" y="2404872"/>
            <a:ext cx="478757" cy="128016"/>
          </a:xfrm>
          <a:prstGeom prst="roundRect">
            <a:avLst>
              <a:gd name="adj" fmla="val 50000"/>
            </a:avLst>
          </a:prstGeom>
          <a:solidFill>
            <a:schemeClr val="accent1"/>
          </a:solidFill>
          <a:ln/>
        </p:spPr>
      </p:sp>
      <p:sp>
        <p:nvSpPr>
          <p:cNvPr id="19" name="Ladder value"/>
          <p:cNvSpPr txBox="1"/>
          <p:nvPr/>
        </p:nvSpPr>
        <p:spPr>
          <a:xfrm>
            <a:off x="10023764" y="2340864"/>
            <a:ext cx="665759" cy="256032"/>
          </a:xfrm>
          <a:prstGeom prst="rect">
            <a:avLst/>
          </a:prstGeom>
          <a:noFill/>
          <a:ln/>
        </p:spPr>
        <p:txBody>
          <a:bodyPr wrap="square" lIns="0" tIns="0" rIns="0" bIns="0" rtlCol="0" anchor="ctr"/>
          <a:lstStyle/>
          <a:p>
            <a:pPr algn="l" indent="0" marL="0">
              <a:buNone/>
            </a:pPr>
            <a:r>
              <a:rPr lang="en-US" sz="1000" b="1" dirty="0">
                <a:solidFill>
                  <a:schemeClr val="tx2"/>
                </a:solidFill>
              </a:rPr>
              <a:t>₹499–2,999</a:t>
            </a:r>
            <a:endParaRPr lang="en-US" sz="1000" dirty="0"/>
          </a:p>
        </p:txBody>
      </p:sp>
      <p:sp>
        <p:nvSpPr>
          <p:cNvPr id="20" name="Ladder label 2"/>
          <p:cNvSpPr txBox="1"/>
          <p:nvPr/>
        </p:nvSpPr>
        <p:spPr>
          <a:xfrm>
            <a:off x="7891272" y="2596896"/>
            <a:ext cx="1417320" cy="256032"/>
          </a:xfrm>
          <a:prstGeom prst="rect">
            <a:avLst/>
          </a:prstGeom>
          <a:noFill/>
          <a:ln/>
        </p:spPr>
        <p:txBody>
          <a:bodyPr wrap="square" lIns="0" tIns="0" rIns="0" bIns="0" rtlCol="0" anchor="ctr"/>
          <a:lstStyle/>
          <a:p>
            <a:pPr algn="l" indent="0" marL="0">
              <a:buNone/>
            </a:pPr>
            <a:r>
              <a:rPr lang="en-US" sz="1000" dirty="0">
                <a:solidFill>
                  <a:schemeClr val="tx1"/>
                </a:solidFill>
              </a:rPr>
              <a:t>T1 short module</a:t>
            </a:r>
            <a:endParaRPr lang="en-US" sz="1000" dirty="0"/>
          </a:p>
        </p:txBody>
      </p:sp>
      <p:sp>
        <p:nvSpPr>
          <p:cNvPr id="21" name="Ladder bar 2"/>
          <p:cNvSpPr/>
          <p:nvPr/>
        </p:nvSpPr>
        <p:spPr>
          <a:xfrm>
            <a:off x="10624816" y="2660904"/>
            <a:ext cx="95215" cy="128016"/>
          </a:xfrm>
          <a:prstGeom prst="roundRect">
            <a:avLst>
              <a:gd name="adj" fmla="val 67225"/>
            </a:avLst>
          </a:prstGeom>
          <a:solidFill>
            <a:schemeClr val="accent1"/>
          </a:solidFill>
          <a:ln/>
        </p:spPr>
      </p:sp>
      <p:sp>
        <p:nvSpPr>
          <p:cNvPr id="22" name="Ladder value 2"/>
          <p:cNvSpPr txBox="1"/>
          <p:nvPr/>
        </p:nvSpPr>
        <p:spPr>
          <a:xfrm>
            <a:off x="10774895" y="2596896"/>
            <a:ext cx="561848" cy="256032"/>
          </a:xfrm>
          <a:prstGeom prst="rect">
            <a:avLst/>
          </a:prstGeom>
          <a:noFill/>
          <a:ln/>
        </p:spPr>
        <p:txBody>
          <a:bodyPr wrap="square" lIns="0" tIns="0" rIns="0" bIns="0" rtlCol="0" anchor="ctr"/>
          <a:lstStyle/>
          <a:p>
            <a:pPr algn="l" indent="0" marL="0">
              <a:buNone/>
            </a:pPr>
            <a:r>
              <a:rPr lang="en-US" sz="1000" b="1" dirty="0">
                <a:solidFill>
                  <a:schemeClr val="tx2"/>
                </a:solidFill>
              </a:rPr>
              <a:t>₹35k–50k</a:t>
            </a:r>
            <a:endParaRPr lang="en-US" sz="1000" dirty="0"/>
          </a:p>
        </p:txBody>
      </p:sp>
      <p:sp>
        <p:nvSpPr>
          <p:cNvPr id="23" name="Ladder label 3"/>
          <p:cNvSpPr txBox="1"/>
          <p:nvPr/>
        </p:nvSpPr>
        <p:spPr>
          <a:xfrm>
            <a:off x="7891272" y="2852928"/>
            <a:ext cx="1417320" cy="256032"/>
          </a:xfrm>
          <a:prstGeom prst="rect">
            <a:avLst/>
          </a:prstGeom>
          <a:noFill/>
          <a:ln/>
        </p:spPr>
        <p:txBody>
          <a:bodyPr wrap="square" lIns="0" tIns="0" rIns="0" bIns="0" rtlCol="0" anchor="ctr"/>
          <a:lstStyle/>
          <a:p>
            <a:pPr algn="l" indent="0" marL="0">
              <a:buNone/>
            </a:pPr>
            <a:r>
              <a:rPr lang="en-US" sz="1000" dirty="0">
                <a:solidFill>
                  <a:schemeClr val="tx1"/>
                </a:solidFill>
              </a:rPr>
              <a:t>Local 3–6-month diploma</a:t>
            </a:r>
            <a:endParaRPr lang="en-US" sz="1000" dirty="0"/>
          </a:p>
        </p:txBody>
      </p:sp>
      <p:sp>
        <p:nvSpPr>
          <p:cNvPr id="24" name="Ladder bar 3"/>
          <p:cNvSpPr/>
          <p:nvPr/>
        </p:nvSpPr>
        <p:spPr>
          <a:xfrm>
            <a:off x="10624816" y="2916936"/>
            <a:ext cx="203454" cy="128016"/>
          </a:xfrm>
          <a:prstGeom prst="roundRect">
            <a:avLst>
              <a:gd name="adj" fmla="val 50000"/>
            </a:avLst>
          </a:prstGeom>
          <a:solidFill>
            <a:schemeClr val="accent2"/>
          </a:solidFill>
          <a:ln/>
        </p:spPr>
      </p:sp>
      <p:sp>
        <p:nvSpPr>
          <p:cNvPr id="25" name="Ladder value 3"/>
          <p:cNvSpPr txBox="1"/>
          <p:nvPr/>
        </p:nvSpPr>
        <p:spPr>
          <a:xfrm>
            <a:off x="10883134" y="2852928"/>
            <a:ext cx="561848" cy="256032"/>
          </a:xfrm>
          <a:prstGeom prst="rect">
            <a:avLst/>
          </a:prstGeom>
          <a:noFill/>
          <a:ln/>
        </p:spPr>
        <p:txBody>
          <a:bodyPr wrap="square" lIns="0" tIns="0" rIns="0" bIns="0" rtlCol="0" anchor="ctr"/>
          <a:lstStyle/>
          <a:p>
            <a:pPr algn="l" indent="0" marL="0">
              <a:buNone/>
            </a:pPr>
            <a:r>
              <a:rPr lang="en-US" sz="1000" b="1" dirty="0">
                <a:solidFill>
                  <a:schemeClr val="tx2"/>
                </a:solidFill>
              </a:rPr>
              <a:t>₹35k–75k</a:t>
            </a:r>
            <a:endParaRPr lang="en-US" sz="1000" dirty="0"/>
          </a:p>
        </p:txBody>
      </p:sp>
      <p:sp>
        <p:nvSpPr>
          <p:cNvPr id="26" name="Ladder label 4"/>
          <p:cNvSpPr txBox="1"/>
          <p:nvPr/>
        </p:nvSpPr>
        <p:spPr>
          <a:xfrm>
            <a:off x="7891272" y="3108960"/>
            <a:ext cx="1417320" cy="256032"/>
          </a:xfrm>
          <a:prstGeom prst="rect">
            <a:avLst/>
          </a:prstGeom>
          <a:noFill/>
          <a:ln/>
        </p:spPr>
        <p:txBody>
          <a:bodyPr wrap="square" lIns="0" tIns="0" rIns="0" bIns="0" rtlCol="0" anchor="ctr"/>
          <a:lstStyle/>
          <a:p>
            <a:pPr algn="l" indent="0" marL="0">
              <a:buNone/>
            </a:pPr>
            <a:r>
              <a:rPr lang="en-US" sz="1000" dirty="0">
                <a:solidFill>
                  <a:schemeClr val="tx1"/>
                </a:solidFill>
              </a:rPr>
              <a:t>T2 core programme</a:t>
            </a:r>
            <a:endParaRPr lang="en-US" sz="1000" dirty="0"/>
          </a:p>
        </p:txBody>
      </p:sp>
      <p:sp>
        <p:nvSpPr>
          <p:cNvPr id="27" name="Ladder bar 4"/>
          <p:cNvSpPr/>
          <p:nvPr/>
        </p:nvSpPr>
        <p:spPr>
          <a:xfrm>
            <a:off x="10845498" y="3172968"/>
            <a:ext cx="167808" cy="128016"/>
          </a:xfrm>
          <a:prstGeom prst="roundRect">
            <a:avLst>
              <a:gd name="adj" fmla="val 50000"/>
            </a:avLst>
          </a:prstGeom>
          <a:solidFill>
            <a:schemeClr val="accent1"/>
          </a:solidFill>
          <a:ln/>
        </p:spPr>
      </p:sp>
      <p:sp>
        <p:nvSpPr>
          <p:cNvPr id="28" name="Ladder value 4"/>
          <p:cNvSpPr txBox="1"/>
          <p:nvPr/>
        </p:nvSpPr>
        <p:spPr>
          <a:xfrm>
            <a:off x="10202116" y="3108960"/>
            <a:ext cx="588518" cy="256032"/>
          </a:xfrm>
          <a:prstGeom prst="rect">
            <a:avLst/>
          </a:prstGeom>
          <a:noFill/>
          <a:ln/>
        </p:spPr>
        <p:txBody>
          <a:bodyPr wrap="square" lIns="0" tIns="0" rIns="0" bIns="0" rtlCol="0" anchor="ctr"/>
          <a:lstStyle/>
          <a:p>
            <a:pPr algn="r" indent="0" marL="0">
              <a:buNone/>
            </a:pPr>
            <a:r>
              <a:rPr lang="en-US" sz="1000" b="1" dirty="0">
                <a:solidFill>
                  <a:schemeClr val="tx2"/>
                </a:solidFill>
              </a:rPr>
              <a:t>₹80k–1.5L</a:t>
            </a:r>
            <a:endParaRPr lang="en-US" sz="1000" dirty="0"/>
          </a:p>
        </p:txBody>
      </p:sp>
      <p:sp>
        <p:nvSpPr>
          <p:cNvPr id="29" name="Ladder label 5"/>
          <p:cNvSpPr txBox="1"/>
          <p:nvPr/>
        </p:nvSpPr>
        <p:spPr>
          <a:xfrm>
            <a:off x="7891272" y="3364992"/>
            <a:ext cx="1417320" cy="256032"/>
          </a:xfrm>
          <a:prstGeom prst="rect">
            <a:avLst/>
          </a:prstGeom>
          <a:noFill/>
          <a:ln/>
        </p:spPr>
        <p:txBody>
          <a:bodyPr wrap="square" lIns="0" tIns="0" rIns="0" bIns="0" rtlCol="0" anchor="ctr"/>
          <a:lstStyle/>
          <a:p>
            <a:pPr algn="l" indent="0" marL="0">
              <a:buNone/>
            </a:pPr>
            <a:r>
              <a:rPr lang="en-US" sz="1000" dirty="0">
                <a:solidFill>
                  <a:schemeClr val="tx1"/>
                </a:solidFill>
              </a:rPr>
              <a:t>T3 premium</a:t>
            </a:r>
            <a:endParaRPr lang="en-US" sz="1000" dirty="0"/>
          </a:p>
        </p:txBody>
      </p:sp>
      <p:sp>
        <p:nvSpPr>
          <p:cNvPr id="30" name="Ladder bar 5"/>
          <p:cNvSpPr/>
          <p:nvPr/>
        </p:nvSpPr>
        <p:spPr>
          <a:xfrm>
            <a:off x="11121545" y="3429000"/>
            <a:ext cx="259599" cy="128016"/>
          </a:xfrm>
          <a:prstGeom prst="roundRect">
            <a:avLst>
              <a:gd name="adj" fmla="val 50000"/>
            </a:avLst>
          </a:prstGeom>
          <a:solidFill>
            <a:schemeClr val="accent1"/>
          </a:solidFill>
          <a:ln/>
        </p:spPr>
      </p:sp>
      <p:sp>
        <p:nvSpPr>
          <p:cNvPr id="31" name="Ladder value 5"/>
          <p:cNvSpPr txBox="1"/>
          <p:nvPr/>
        </p:nvSpPr>
        <p:spPr>
          <a:xfrm>
            <a:off x="10376474" y="3364992"/>
            <a:ext cx="690207" cy="256032"/>
          </a:xfrm>
          <a:prstGeom prst="rect">
            <a:avLst/>
          </a:prstGeom>
          <a:noFill/>
          <a:ln/>
        </p:spPr>
        <p:txBody>
          <a:bodyPr wrap="square" lIns="0" tIns="0" rIns="0" bIns="0" rtlCol="0" anchor="ctr"/>
          <a:lstStyle/>
          <a:p>
            <a:pPr algn="r" indent="0" marL="0">
              <a:buNone/>
            </a:pPr>
            <a:r>
              <a:rPr lang="en-US" sz="1000" b="1" dirty="0">
                <a:solidFill>
                  <a:schemeClr val="tx2"/>
                </a:solidFill>
              </a:rPr>
              <a:t>₹2.25–5.95L</a:t>
            </a:r>
            <a:endParaRPr lang="en-US" sz="1000" dirty="0"/>
          </a:p>
        </p:txBody>
      </p:sp>
      <p:sp>
        <p:nvSpPr>
          <p:cNvPr id="32" name="Callout card"/>
          <p:cNvSpPr/>
          <p:nvPr/>
        </p:nvSpPr>
        <p:spPr>
          <a:xfrm>
            <a:off x="7726680" y="4096512"/>
            <a:ext cx="3916375" cy="609600"/>
          </a:xfrm>
          <a:prstGeom prst="roundRect">
            <a:avLst>
              <a:gd name="adj" fmla="val 12000"/>
            </a:avLst>
          </a:prstGeom>
          <a:solidFill>
            <a:srgbClr val="F2EAF0"/>
          </a:solidFill>
          <a:ln/>
        </p:spPr>
      </p:sp>
      <p:sp>
        <p:nvSpPr>
          <p:cNvPr id="33" name="Badge VERIFIED"/>
          <p:cNvSpPr txBox="1"/>
          <p:nvPr/>
        </p:nvSpPr>
        <p:spPr>
          <a:xfrm>
            <a:off x="7872984" y="4291584"/>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34" name="Callout text"/>
          <p:cNvSpPr txBox="1"/>
          <p:nvPr/>
        </p:nvSpPr>
        <p:spPr>
          <a:xfrm>
            <a:off x="8730647" y="4142232"/>
            <a:ext cx="2766104" cy="518160"/>
          </a:xfrm>
          <a:prstGeom prst="rect">
            <a:avLst/>
          </a:prstGeom>
          <a:noFill/>
          <a:ln/>
        </p:spPr>
        <p:txBody>
          <a:bodyPr wrap="square" lIns="0" tIns="0" rIns="0" bIns="0" rtlCol="0" anchor="ctr"/>
          <a:lstStyle/>
          <a:p>
            <a:pPr algn="l" indent="0" marL="0">
              <a:buNone/>
            </a:pPr>
            <a:r>
              <a:rPr lang="en-US" sz="1150" dirty="0">
                <a:solidFill>
                  <a:schemeClr val="tx2"/>
                </a:solidFill>
              </a:rPr>
              <a:t>Only Zuri publishes a fee ladder locally; 4 of 10 nationally</a:t>
            </a:r>
            <a:endParaRPr lang="en-US" sz="1150" dirty="0"/>
          </a:p>
        </p:txBody>
      </p:sp>
      <p:sp>
        <p:nvSpPr>
          <p:cNvPr id="35" name="Callout card 2"/>
          <p:cNvSpPr/>
          <p:nvPr/>
        </p:nvSpPr>
        <p:spPr>
          <a:xfrm>
            <a:off x="7726680" y="4815840"/>
            <a:ext cx="3916375" cy="609600"/>
          </a:xfrm>
          <a:prstGeom prst="roundRect">
            <a:avLst>
              <a:gd name="adj" fmla="val 12000"/>
            </a:avLst>
          </a:prstGeom>
          <a:solidFill>
            <a:srgbClr val="F2EAF0"/>
          </a:solidFill>
          <a:ln/>
        </p:spPr>
      </p:sp>
      <p:sp>
        <p:nvSpPr>
          <p:cNvPr id="36" name="Badge VERIFIED 2"/>
          <p:cNvSpPr txBox="1"/>
          <p:nvPr/>
        </p:nvSpPr>
        <p:spPr>
          <a:xfrm>
            <a:off x="7872984" y="501091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37" name="Callout text 2"/>
          <p:cNvSpPr txBox="1"/>
          <p:nvPr/>
        </p:nvSpPr>
        <p:spPr>
          <a:xfrm>
            <a:off x="8730647" y="4861560"/>
            <a:ext cx="2766104" cy="518160"/>
          </a:xfrm>
          <a:prstGeom prst="rect">
            <a:avLst/>
          </a:prstGeom>
          <a:noFill/>
          <a:ln/>
        </p:spPr>
        <p:txBody>
          <a:bodyPr wrap="square" lIns="0" tIns="0" rIns="0" bIns="0" rtlCol="0" anchor="ctr"/>
          <a:lstStyle/>
          <a:p>
            <a:pPr algn="l" indent="0" marL="0">
              <a:buNone/>
            </a:pPr>
            <a:r>
              <a:rPr lang="en-US" sz="1100" dirty="0">
                <a:solidFill>
                  <a:schemeClr val="tx2"/>
                </a:solidFill>
              </a:rPr>
              <a:t>"100% placement" asserted by VLCC, Orane, Jawed Habib, Meribindiya with no cohort data</a:t>
            </a:r>
            <a:endParaRPr lang="en-US" sz="1100" dirty="0"/>
          </a:p>
        </p:txBody>
      </p:sp>
      <p:sp>
        <p:nvSpPr>
          <p:cNvPr id="38" name="Callout card 3"/>
          <p:cNvSpPr/>
          <p:nvPr/>
        </p:nvSpPr>
        <p:spPr>
          <a:xfrm>
            <a:off x="7726680" y="5535168"/>
            <a:ext cx="3916375" cy="609600"/>
          </a:xfrm>
          <a:prstGeom prst="roundRect">
            <a:avLst>
              <a:gd name="adj" fmla="val 12000"/>
            </a:avLst>
          </a:prstGeom>
          <a:solidFill>
            <a:srgbClr val="F2EAF0"/>
          </a:solidFill>
          <a:ln/>
        </p:spPr>
      </p:sp>
      <p:sp>
        <p:nvSpPr>
          <p:cNvPr id="39" name="Badge VERIFIED 3"/>
          <p:cNvSpPr txBox="1"/>
          <p:nvPr/>
        </p:nvSpPr>
        <p:spPr>
          <a:xfrm>
            <a:off x="7872984" y="5730240"/>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40" name="Callout text 3"/>
          <p:cNvSpPr txBox="1"/>
          <p:nvPr/>
        </p:nvSpPr>
        <p:spPr>
          <a:xfrm>
            <a:off x="8730647" y="5580888"/>
            <a:ext cx="2766104" cy="518160"/>
          </a:xfrm>
          <a:prstGeom prst="rect">
            <a:avLst/>
          </a:prstGeom>
          <a:noFill/>
          <a:ln/>
        </p:spPr>
        <p:txBody>
          <a:bodyPr wrap="square" lIns="0" tIns="0" rIns="0" bIns="0" rtlCol="0" anchor="ctr"/>
          <a:lstStyle/>
          <a:p>
            <a:pPr algn="l" indent="0" marL="0">
              <a:buNone/>
            </a:pPr>
            <a:r>
              <a:rPr lang="en-US" sz="1150" dirty="0">
                <a:solidFill>
                  <a:schemeClr val="tx2"/>
                </a:solidFill>
              </a:rPr>
              <a:t>Orane Chandigarh is CIDESCO-listed (IN543); 0% EMI via Bajaj/LoanTap/SaveIN</a:t>
            </a:r>
            <a:endParaRPr lang="en-US" sz="11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FINDINGS · WHITE SPACE</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700" dirty="0">
                <a:solidFill>
                  <a:schemeClr val="tx2"/>
                </a:solidFill>
                <a:latin typeface="+mj-lt" pitchFamily="34" charset="0"/>
                <a:ea typeface="+mj-lt" pitchFamily="34" charset="-122"/>
                <a:cs typeface="+mj-lt" pitchFamily="34" charset="-120"/>
              </a:rPr>
              <a:t>Published fees, verifiable outcomes and small batches in a working studio</a:t>
            </a:r>
            <a:endParaRPr lang="en-US" sz="2800" dirty="0"/>
          </a:p>
        </p:txBody>
      </p:sp>
      <p:sp>
        <p:nvSpPr>
          <p:cNvPr id="4" name="Subtitle"/>
          <p:cNvSpPr txBox="1"/>
          <p:nvPr/>
        </p:nvSpPr>
        <p:spPr>
          <a:xfrm>
            <a:off x="548640" y="1107567"/>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PNA's white space is contestable in a week on fees, but a working bridal studio and an outcomes record cannot be copied quickly, so proof comes before price.</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§3 Q3, Q5; positioning_and_segments.md §3.1–3.2, §4.2, §5; chandigarh_competitors.md §7; S-LC-13; S-NC §5.4, §6</a:t>
            </a:r>
            <a:pPr algn="l" indent="0" marL="0">
              <a:buNone/>
            </a:pPr>
            <a:r>
              <a:rPr lang="en-US" sz="900" b="1" dirty="0">
                <a:solidFill>
                  <a:srgbClr val="6B5F67"/>
                </a:solidFill>
              </a:rPr>
              <a:t>   Note: </a:t>
            </a:r>
            <a:pPr algn="l" indent="0" marL="0">
              <a:buNone/>
            </a:pPr>
            <a:r>
              <a:rPr lang="en-US" sz="900" dirty="0">
                <a:solidFill>
                  <a:srgbClr val="6B5F67"/>
                </a:solidFill>
              </a:rPr>
              <a:t>2026. Studio capacity to host live practice: CLAIM, unverified. Do not compete on discount depth, copy unverifiable credentials, or promise placement or income.</a:t>
            </a:r>
            <a:endParaRPr lang="en-US" sz="900" dirty="0"/>
          </a:p>
        </p:txBody>
      </p:sp>
      <p:sp>
        <p:nvSpPr>
          <p:cNvPr id="7" name="Position strip"/>
          <p:cNvSpPr/>
          <p:nvPr/>
        </p:nvSpPr>
        <p:spPr>
          <a:xfrm>
            <a:off x="548640" y="1920240"/>
            <a:ext cx="11094415" cy="457200"/>
          </a:xfrm>
          <a:prstGeom prst="roundRect">
            <a:avLst>
              <a:gd name="adj" fmla="val 16000"/>
            </a:avLst>
          </a:prstGeom>
          <a:solidFill>
            <a:schemeClr val="tx2"/>
          </a:solidFill>
          <a:ln/>
        </p:spPr>
      </p:sp>
      <p:sp>
        <p:nvSpPr>
          <p:cNvPr id="8" name="Label"/>
          <p:cNvSpPr txBox="1"/>
          <p:nvPr/>
        </p:nvSpPr>
        <p:spPr>
          <a:xfrm>
            <a:off x="731520" y="2039112"/>
            <a:ext cx="1005840" cy="219456"/>
          </a:xfrm>
          <a:prstGeom prst="rect">
            <a:avLst/>
          </a:prstGeom>
          <a:noFill/>
          <a:ln/>
        </p:spPr>
        <p:txBody>
          <a:bodyPr wrap="square" lIns="0" tIns="0" rIns="0" bIns="0" rtlCol="0" anchor="ctr"/>
          <a:lstStyle/>
          <a:p>
            <a:pPr algn="l" indent="0" marL="0">
              <a:buNone/>
            </a:pPr>
            <a:r>
              <a:rPr lang="en-US" sz="1050" b="1" dirty="0">
                <a:solidFill>
                  <a:srgbClr val="E7A995"/>
                </a:solidFill>
              </a:rPr>
              <a:t>POSITION</a:t>
            </a:r>
            <a:endParaRPr lang="en-US" sz="1050" dirty="0"/>
          </a:p>
        </p:txBody>
      </p:sp>
      <p:sp>
        <p:nvSpPr>
          <p:cNvPr id="9" name="Position text"/>
          <p:cNvSpPr txBox="1"/>
          <p:nvPr/>
        </p:nvSpPr>
        <p:spPr>
          <a:xfrm>
            <a:off x="1737360" y="1956816"/>
            <a:ext cx="9722815" cy="384048"/>
          </a:xfrm>
          <a:prstGeom prst="rect">
            <a:avLst/>
          </a:prstGeom>
          <a:noFill/>
          <a:ln/>
        </p:spPr>
        <p:txBody>
          <a:bodyPr wrap="square" lIns="0" tIns="0" rIns="0" bIns="0" rtlCol="0" anchor="ctr"/>
          <a:lstStyle/>
          <a:p>
            <a:pPr algn="l" indent="0" marL="0">
              <a:buNone/>
            </a:pPr>
            <a:r>
              <a:rPr lang="en-US" sz="1200" dirty="0">
                <a:solidFill>
                  <a:schemeClr val="bg1"/>
                </a:solidFill>
              </a:rPr>
              <a:t>The small-batch bridal makeup academy inside a working bridal studio. Students learn the PNA Method on real faces, assist on real bridal bookings in season and leave with a portfolio.</a:t>
            </a:r>
            <a:endParaRPr lang="en-US" sz="1200" dirty="0"/>
          </a:p>
        </p:txBody>
      </p:sp>
      <p:sp>
        <p:nvSpPr>
          <p:cNvPr id="10" name="Label 2"/>
          <p:cNvSpPr txBox="1"/>
          <p:nvPr/>
        </p:nvSpPr>
        <p:spPr>
          <a:xfrm>
            <a:off x="548640" y="2560320"/>
            <a:ext cx="5295748" cy="219456"/>
          </a:xfrm>
          <a:prstGeom prst="rect">
            <a:avLst/>
          </a:prstGeom>
          <a:noFill/>
          <a:ln/>
        </p:spPr>
        <p:txBody>
          <a:bodyPr wrap="square" lIns="0" tIns="0" rIns="0" bIns="0" rtlCol="0" anchor="ctr"/>
          <a:lstStyle/>
          <a:p>
            <a:pPr algn="l" indent="0" marL="0">
              <a:buNone/>
            </a:pPr>
            <a:r>
              <a:rPr lang="en-US" sz="1050" b="1" dirty="0">
                <a:solidFill>
                  <a:srgbClr val="A4513F"/>
                </a:solidFill>
              </a:rPr>
              <a:t>WHAT THE MARKET DOES</a:t>
            </a:r>
            <a:endParaRPr lang="en-US" sz="1050" dirty="0"/>
          </a:p>
        </p:txBody>
      </p:sp>
      <p:sp>
        <p:nvSpPr>
          <p:cNvPr id="11" name="Label 3"/>
          <p:cNvSpPr txBox="1"/>
          <p:nvPr/>
        </p:nvSpPr>
        <p:spPr>
          <a:xfrm>
            <a:off x="6347308" y="2560320"/>
            <a:ext cx="5295748" cy="219456"/>
          </a:xfrm>
          <a:prstGeom prst="rect">
            <a:avLst/>
          </a:prstGeom>
          <a:noFill/>
          <a:ln/>
        </p:spPr>
        <p:txBody>
          <a:bodyPr wrap="square" lIns="0" tIns="0" rIns="0" bIns="0" rtlCol="0" anchor="ctr"/>
          <a:lstStyle/>
          <a:p>
            <a:pPr algn="l" indent="0" marL="0">
              <a:buNone/>
            </a:pPr>
            <a:r>
              <a:rPr lang="en-US" sz="1050" b="1" dirty="0">
                <a:solidFill>
                  <a:srgbClr val="A4513F"/>
                </a:solidFill>
              </a:rPr>
              <a:t>WHAT PNA WILL DO</a:t>
            </a:r>
            <a:endParaRPr lang="en-US" sz="1050" dirty="0"/>
          </a:p>
        </p:txBody>
      </p:sp>
      <p:sp>
        <p:nvSpPr>
          <p:cNvPr id="12" name="Finding card"/>
          <p:cNvSpPr/>
          <p:nvPr/>
        </p:nvSpPr>
        <p:spPr>
          <a:xfrm>
            <a:off x="548640" y="2852928"/>
            <a:ext cx="5295748" cy="612648"/>
          </a:xfrm>
          <a:prstGeom prst="roundRect">
            <a:avLst>
              <a:gd name="adj" fmla="val 11940"/>
            </a:avLst>
          </a:prstGeom>
          <a:solidFill>
            <a:schemeClr val="bg1"/>
          </a:solidFill>
          <a:ln w="9525">
            <a:solidFill>
              <a:srgbClr val="E4DAD5"/>
            </a:solidFill>
            <a:prstDash val="solid"/>
          </a:ln>
        </p:spPr>
      </p:sp>
      <p:sp>
        <p:nvSpPr>
          <p:cNvPr id="13" name="Badge VERIFIED"/>
          <p:cNvSpPr txBox="1"/>
          <p:nvPr/>
        </p:nvSpPr>
        <p:spPr>
          <a:xfrm>
            <a:off x="713232" y="3049524"/>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14" name="Finding text"/>
          <p:cNvSpPr txBox="1"/>
          <p:nvPr/>
        </p:nvSpPr>
        <p:spPr>
          <a:xfrm>
            <a:off x="2157984" y="2898648"/>
            <a:ext cx="3521812" cy="521208"/>
          </a:xfrm>
          <a:prstGeom prst="rect">
            <a:avLst/>
          </a:prstGeom>
          <a:noFill/>
          <a:ln/>
        </p:spPr>
        <p:txBody>
          <a:bodyPr wrap="square" lIns="0" tIns="0" rIns="0" bIns="0" rtlCol="0" anchor="ctr"/>
          <a:lstStyle/>
          <a:p>
            <a:pPr algn="l" indent="0" marL="0">
              <a:buNone/>
            </a:pPr>
            <a:r>
              <a:rPr lang="en-US" sz="1300" dirty="0">
                <a:solidFill>
                  <a:schemeClr val="tx1"/>
                </a:solidFill>
              </a:rPr>
              <a:t>Hidden fees: only Zuri publishes a fee ladder locally.</a:t>
            </a:r>
            <a:endParaRPr lang="en-US" sz="1300" dirty="0"/>
          </a:p>
        </p:txBody>
      </p:sp>
      <p:sp>
        <p:nvSpPr>
          <p:cNvPr id="15" name="So-what card"/>
          <p:cNvSpPr/>
          <p:nvPr/>
        </p:nvSpPr>
        <p:spPr>
          <a:xfrm>
            <a:off x="6347308" y="2852928"/>
            <a:ext cx="5295748" cy="612648"/>
          </a:xfrm>
          <a:prstGeom prst="roundRect">
            <a:avLst>
              <a:gd name="adj" fmla="val 11940"/>
            </a:avLst>
          </a:prstGeom>
          <a:solidFill>
            <a:srgbClr val="F2EAF0"/>
          </a:solidFill>
          <a:ln/>
        </p:spPr>
      </p:sp>
      <p:sp>
        <p:nvSpPr>
          <p:cNvPr id="16" name="Badge RECOMMENDATION"/>
          <p:cNvSpPr txBox="1"/>
          <p:nvPr/>
        </p:nvSpPr>
        <p:spPr>
          <a:xfrm>
            <a:off x="6511900" y="3049524"/>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17" name="Finding text 2"/>
          <p:cNvSpPr txBox="1"/>
          <p:nvPr/>
        </p:nvSpPr>
        <p:spPr>
          <a:xfrm>
            <a:off x="7956652" y="2898648"/>
            <a:ext cx="3521812" cy="521208"/>
          </a:xfrm>
          <a:prstGeom prst="rect">
            <a:avLst/>
          </a:prstGeom>
          <a:noFill/>
          <a:ln/>
        </p:spPr>
        <p:txBody>
          <a:bodyPr wrap="square" lIns="0" tIns="0" rIns="0" bIns="0" rtlCol="0" anchor="ctr"/>
          <a:lstStyle/>
          <a:p>
            <a:pPr algn="l" indent="0" marL="0">
              <a:buNone/>
            </a:pPr>
            <a:r>
              <a:rPr lang="en-US" sz="1300" dirty="0">
                <a:solidFill>
                  <a:schemeClr val="tx2"/>
                </a:solidFill>
              </a:rPr>
              <a:t>Publish the ladder with all-in cost, EMI and refund terms.</a:t>
            </a:r>
            <a:endParaRPr lang="en-US" sz="1300" dirty="0"/>
          </a:p>
        </p:txBody>
      </p:sp>
      <p:sp>
        <p:nvSpPr>
          <p:cNvPr id="18" name="Findings arrow"/>
          <p:cNvSpPr/>
          <p:nvPr/>
        </p:nvSpPr>
        <p:spPr>
          <a:xfrm>
            <a:off x="6013552" y="3031236"/>
            <a:ext cx="164592" cy="256032"/>
          </a:xfrm>
          <a:prstGeom prst="chevron">
            <a:avLst/>
          </a:prstGeom>
          <a:solidFill>
            <a:schemeClr val="accent2"/>
          </a:solidFill>
          <a:ln/>
        </p:spPr>
      </p:sp>
      <p:sp>
        <p:nvSpPr>
          <p:cNvPr id="19" name="Finding card 2"/>
          <p:cNvSpPr/>
          <p:nvPr/>
        </p:nvSpPr>
        <p:spPr>
          <a:xfrm>
            <a:off x="548640" y="3575304"/>
            <a:ext cx="5295748" cy="612648"/>
          </a:xfrm>
          <a:prstGeom prst="roundRect">
            <a:avLst>
              <a:gd name="adj" fmla="val 11940"/>
            </a:avLst>
          </a:prstGeom>
          <a:solidFill>
            <a:schemeClr val="bg1"/>
          </a:solidFill>
          <a:ln w="9525">
            <a:solidFill>
              <a:srgbClr val="E4DAD5"/>
            </a:solidFill>
            <a:prstDash val="solid"/>
          </a:ln>
        </p:spPr>
      </p:sp>
      <p:sp>
        <p:nvSpPr>
          <p:cNvPr id="20" name="Badge VERIFIED 2"/>
          <p:cNvSpPr txBox="1"/>
          <p:nvPr/>
        </p:nvSpPr>
        <p:spPr>
          <a:xfrm>
            <a:off x="713232" y="3771900"/>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21" name="Finding text 3"/>
          <p:cNvSpPr txBox="1"/>
          <p:nvPr/>
        </p:nvSpPr>
        <p:spPr>
          <a:xfrm>
            <a:off x="2157984" y="3621024"/>
            <a:ext cx="3521812" cy="521208"/>
          </a:xfrm>
          <a:prstGeom prst="rect">
            <a:avLst/>
          </a:prstGeom>
          <a:noFill/>
          <a:ln/>
        </p:spPr>
        <p:txBody>
          <a:bodyPr wrap="square" lIns="0" tIns="0" rIns="0" bIns="0" rtlCol="0" anchor="ctr"/>
          <a:lstStyle/>
          <a:p>
            <a:pPr algn="l" indent="0" marL="0">
              <a:buNone/>
            </a:pPr>
            <a:r>
              <a:rPr lang="en-US" sz="1300" dirty="0">
                <a:solidFill>
                  <a:schemeClr val="tx1"/>
                </a:solidFill>
              </a:rPr>
              <a:t>"100% placement" everywhere, with no cohort data.</a:t>
            </a:r>
            <a:endParaRPr lang="en-US" sz="1300" dirty="0"/>
          </a:p>
        </p:txBody>
      </p:sp>
      <p:sp>
        <p:nvSpPr>
          <p:cNvPr id="22" name="So-what card 2"/>
          <p:cNvSpPr/>
          <p:nvPr/>
        </p:nvSpPr>
        <p:spPr>
          <a:xfrm>
            <a:off x="6347308" y="3575304"/>
            <a:ext cx="5295748" cy="612648"/>
          </a:xfrm>
          <a:prstGeom prst="roundRect">
            <a:avLst>
              <a:gd name="adj" fmla="val 11940"/>
            </a:avLst>
          </a:prstGeom>
          <a:solidFill>
            <a:srgbClr val="F2EAF0"/>
          </a:solidFill>
          <a:ln/>
        </p:spPr>
      </p:sp>
      <p:sp>
        <p:nvSpPr>
          <p:cNvPr id="23" name="Badge RECOMMENDATION 2"/>
          <p:cNvSpPr txBox="1"/>
          <p:nvPr/>
        </p:nvSpPr>
        <p:spPr>
          <a:xfrm>
            <a:off x="6511900" y="3771900"/>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24" name="Finding text 4"/>
          <p:cNvSpPr txBox="1"/>
          <p:nvPr/>
        </p:nvSpPr>
        <p:spPr>
          <a:xfrm>
            <a:off x="7956652" y="3621024"/>
            <a:ext cx="3521812" cy="521208"/>
          </a:xfrm>
          <a:prstGeom prst="rect">
            <a:avLst/>
          </a:prstGeom>
          <a:noFill/>
          <a:ln/>
        </p:spPr>
        <p:txBody>
          <a:bodyPr wrap="square" lIns="0" tIns="0" rIns="0" bIns="0" rtlCol="0" anchor="ctr"/>
          <a:lstStyle/>
          <a:p>
            <a:pPr algn="l" indent="0" marL="0">
              <a:buNone/>
            </a:pPr>
            <a:r>
              <a:rPr lang="en-US" sz="1300" dirty="0">
                <a:solidFill>
                  <a:schemeClr val="tx2"/>
                </a:solidFill>
              </a:rPr>
              <a:t>Alumni Outcomes Report: n, dates, % with a paid booking ≤90 days.</a:t>
            </a:r>
            <a:endParaRPr lang="en-US" sz="1300" dirty="0"/>
          </a:p>
        </p:txBody>
      </p:sp>
      <p:sp>
        <p:nvSpPr>
          <p:cNvPr id="25" name="Findings arrow 2"/>
          <p:cNvSpPr/>
          <p:nvPr/>
        </p:nvSpPr>
        <p:spPr>
          <a:xfrm>
            <a:off x="6013552" y="3753612"/>
            <a:ext cx="164592" cy="256032"/>
          </a:xfrm>
          <a:prstGeom prst="chevron">
            <a:avLst/>
          </a:prstGeom>
          <a:solidFill>
            <a:schemeClr val="accent2"/>
          </a:solidFill>
          <a:ln/>
        </p:spPr>
      </p:sp>
      <p:sp>
        <p:nvSpPr>
          <p:cNvPr id="26" name="Finding card 3"/>
          <p:cNvSpPr/>
          <p:nvPr/>
        </p:nvSpPr>
        <p:spPr>
          <a:xfrm>
            <a:off x="548640" y="4297680"/>
            <a:ext cx="5295748" cy="612648"/>
          </a:xfrm>
          <a:prstGeom prst="roundRect">
            <a:avLst>
              <a:gd name="adj" fmla="val 11940"/>
            </a:avLst>
          </a:prstGeom>
          <a:solidFill>
            <a:schemeClr val="bg1"/>
          </a:solidFill>
          <a:ln w="9525">
            <a:solidFill>
              <a:srgbClr val="E4DAD5"/>
            </a:solidFill>
            <a:prstDash val="solid"/>
          </a:ln>
        </p:spPr>
      </p:sp>
      <p:sp>
        <p:nvSpPr>
          <p:cNvPr id="27" name="Badge CLAIM"/>
          <p:cNvSpPr txBox="1"/>
          <p:nvPr/>
        </p:nvSpPr>
        <p:spPr>
          <a:xfrm>
            <a:off x="713232" y="4494276"/>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28" name="Finding text 5"/>
          <p:cNvSpPr txBox="1"/>
          <p:nvPr/>
        </p:nvSpPr>
        <p:spPr>
          <a:xfrm>
            <a:off x="2157984" y="4343400"/>
            <a:ext cx="3521812" cy="521208"/>
          </a:xfrm>
          <a:prstGeom prst="rect">
            <a:avLst/>
          </a:prstGeom>
          <a:noFill/>
          <a:ln/>
        </p:spPr>
        <p:txBody>
          <a:bodyPr wrap="square" lIns="0" tIns="0" rIns="0" bIns="0" rtlCol="0" anchor="ctr"/>
          <a:lstStyle/>
          <a:p>
            <a:pPr algn="l" indent="0" marL="0">
              <a:buNone/>
            </a:pPr>
            <a:r>
              <a:rPr lang="en-US" sz="1300" dirty="0">
                <a:solidFill>
                  <a:schemeClr val="tx1"/>
                </a:solidFill>
              </a:rPr>
              <a:t>Classroom institutes: breadth over bridal depth (chain hours 120–260 h).</a:t>
            </a:r>
            <a:endParaRPr lang="en-US" sz="1300" dirty="0"/>
          </a:p>
        </p:txBody>
      </p:sp>
      <p:sp>
        <p:nvSpPr>
          <p:cNvPr id="29" name="So-what card 3"/>
          <p:cNvSpPr/>
          <p:nvPr/>
        </p:nvSpPr>
        <p:spPr>
          <a:xfrm>
            <a:off x="6347308" y="4297680"/>
            <a:ext cx="5295748" cy="612648"/>
          </a:xfrm>
          <a:prstGeom prst="roundRect">
            <a:avLst>
              <a:gd name="adj" fmla="val 11940"/>
            </a:avLst>
          </a:prstGeom>
          <a:solidFill>
            <a:srgbClr val="F2EAF0"/>
          </a:solidFill>
          <a:ln/>
        </p:spPr>
      </p:sp>
      <p:sp>
        <p:nvSpPr>
          <p:cNvPr id="30" name="Badge HYPOTHESIS"/>
          <p:cNvSpPr txBox="1"/>
          <p:nvPr/>
        </p:nvSpPr>
        <p:spPr>
          <a:xfrm>
            <a:off x="6511900" y="4494276"/>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31" name="Finding text 6"/>
          <p:cNvSpPr txBox="1"/>
          <p:nvPr/>
        </p:nvSpPr>
        <p:spPr>
          <a:xfrm>
            <a:off x="7956652" y="4343400"/>
            <a:ext cx="3521812" cy="521208"/>
          </a:xfrm>
          <a:prstGeom prst="rect">
            <a:avLst/>
          </a:prstGeom>
          <a:noFill/>
          <a:ln/>
        </p:spPr>
        <p:txBody>
          <a:bodyPr wrap="square" lIns="0" tIns="0" rIns="0" bIns="0" rtlCol="0" anchor="ctr"/>
          <a:lstStyle/>
          <a:p>
            <a:pPr algn="l" indent="0" marL="0">
              <a:buNone/>
            </a:pPr>
            <a:r>
              <a:rPr lang="en-US" sz="1300" dirty="0">
                <a:solidFill>
                  <a:schemeClr val="tx2"/>
                </a:solidFill>
              </a:rPr>
              <a:t>≤12-seat batches, ~280–300 practice hours, live brides.</a:t>
            </a:r>
            <a:endParaRPr lang="en-US" sz="1300" dirty="0"/>
          </a:p>
        </p:txBody>
      </p:sp>
      <p:sp>
        <p:nvSpPr>
          <p:cNvPr id="32" name="Findings arrow 3"/>
          <p:cNvSpPr/>
          <p:nvPr/>
        </p:nvSpPr>
        <p:spPr>
          <a:xfrm>
            <a:off x="6013552" y="4475988"/>
            <a:ext cx="164592" cy="256032"/>
          </a:xfrm>
          <a:prstGeom prst="chevron">
            <a:avLst/>
          </a:prstGeom>
          <a:solidFill>
            <a:schemeClr val="accent2"/>
          </a:solidFill>
          <a:ln/>
        </p:spPr>
      </p:sp>
      <p:sp>
        <p:nvSpPr>
          <p:cNvPr id="33" name="Finding card 4"/>
          <p:cNvSpPr/>
          <p:nvPr/>
        </p:nvSpPr>
        <p:spPr>
          <a:xfrm>
            <a:off x="548640" y="5020056"/>
            <a:ext cx="5295748" cy="612648"/>
          </a:xfrm>
          <a:prstGeom prst="roundRect">
            <a:avLst>
              <a:gd name="adj" fmla="val 11940"/>
            </a:avLst>
          </a:prstGeom>
          <a:solidFill>
            <a:schemeClr val="bg1"/>
          </a:solidFill>
          <a:ln w="9525">
            <a:solidFill>
              <a:srgbClr val="E4DAD5"/>
            </a:solidFill>
            <a:prstDash val="solid"/>
          </a:ln>
        </p:spPr>
      </p:sp>
      <p:sp>
        <p:nvSpPr>
          <p:cNvPr id="34" name="Badge CLAIM 2"/>
          <p:cNvSpPr txBox="1"/>
          <p:nvPr/>
        </p:nvSpPr>
        <p:spPr>
          <a:xfrm>
            <a:off x="713232" y="5216652"/>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35" name="Finding text 7"/>
          <p:cNvSpPr txBox="1"/>
          <p:nvPr/>
        </p:nvSpPr>
        <p:spPr>
          <a:xfrm>
            <a:off x="2157984" y="5065776"/>
            <a:ext cx="3521812" cy="521208"/>
          </a:xfrm>
          <a:prstGeom prst="rect">
            <a:avLst/>
          </a:prstGeom>
          <a:noFill/>
          <a:ln/>
        </p:spPr>
        <p:txBody>
          <a:bodyPr wrap="square" lIns="0" tIns="0" rIns="0" bIns="0" rtlCol="0" anchor="ctr"/>
          <a:lstStyle/>
          <a:p>
            <a:pPr algn="l" indent="0" marL="0">
              <a:buNone/>
            </a:pPr>
            <a:r>
              <a:rPr lang="en-US" sz="1300" dirty="0">
                <a:solidFill>
                  <a:schemeClr val="tx1"/>
                </a:solidFill>
              </a:rPr>
              <a:t>Founder-led peers sell proof they can show.</a:t>
            </a:r>
            <a:endParaRPr lang="en-US" sz="1300" dirty="0"/>
          </a:p>
        </p:txBody>
      </p:sp>
      <p:sp>
        <p:nvSpPr>
          <p:cNvPr id="36" name="So-what card 4"/>
          <p:cNvSpPr/>
          <p:nvPr/>
        </p:nvSpPr>
        <p:spPr>
          <a:xfrm>
            <a:off x="6347308" y="5020056"/>
            <a:ext cx="5295748" cy="612648"/>
          </a:xfrm>
          <a:prstGeom prst="roundRect">
            <a:avLst>
              <a:gd name="adj" fmla="val 11940"/>
            </a:avLst>
          </a:prstGeom>
          <a:solidFill>
            <a:srgbClr val="F2EAF0"/>
          </a:solidFill>
          <a:ln/>
        </p:spPr>
      </p:sp>
      <p:sp>
        <p:nvSpPr>
          <p:cNvPr id="37" name="Badge RECOMMENDATION 3"/>
          <p:cNvSpPr txBox="1"/>
          <p:nvPr/>
        </p:nvSpPr>
        <p:spPr>
          <a:xfrm>
            <a:off x="6511900" y="5216652"/>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38" name="Finding text 8"/>
          <p:cNvSpPr txBox="1"/>
          <p:nvPr/>
        </p:nvSpPr>
        <p:spPr>
          <a:xfrm>
            <a:off x="7956652" y="5065776"/>
            <a:ext cx="3521812" cy="521208"/>
          </a:xfrm>
          <a:prstGeom prst="rect">
            <a:avLst/>
          </a:prstGeom>
          <a:noFill/>
          <a:ln/>
        </p:spPr>
        <p:txBody>
          <a:bodyPr wrap="square" lIns="0" tIns="0" rIns="0" bIns="0" rtlCol="0" anchor="ctr"/>
          <a:lstStyle/>
          <a:p>
            <a:pPr algn="l" indent="0" marL="0">
              <a:buNone/>
            </a:pPr>
            <a:r>
              <a:rPr lang="en-US" sz="1300" dirty="0">
                <a:solidFill>
                  <a:schemeClr val="tx2"/>
                </a:solidFill>
              </a:rPr>
              <a:t>Trainers made visible (PNA Certified Educator); founder hours stated per course.</a:t>
            </a:r>
            <a:endParaRPr lang="en-US" sz="1300" dirty="0"/>
          </a:p>
        </p:txBody>
      </p:sp>
      <p:sp>
        <p:nvSpPr>
          <p:cNvPr id="39" name="Findings arrow 4"/>
          <p:cNvSpPr/>
          <p:nvPr/>
        </p:nvSpPr>
        <p:spPr>
          <a:xfrm>
            <a:off x="6013552" y="5198364"/>
            <a:ext cx="164592" cy="256032"/>
          </a:xfrm>
          <a:prstGeom prst="chevron">
            <a:avLst/>
          </a:prstGeom>
          <a:solidFill>
            <a:schemeClr val="accent2"/>
          </a:solidFill>
          <a:ln/>
        </p:spPr>
      </p:sp>
      <p:sp>
        <p:nvSpPr>
          <p:cNvPr id="40" name="Moat chip"/>
          <p:cNvSpPr txBox="1"/>
          <p:nvPr/>
        </p:nvSpPr>
        <p:spPr>
          <a:xfrm>
            <a:off x="548640" y="5815584"/>
            <a:ext cx="5410048" cy="329184"/>
          </a:xfrm>
          <a:prstGeom prst="roundRect">
            <a:avLst>
              <a:gd name="adj" fmla="val 50000"/>
            </a:avLst>
          </a:prstGeom>
          <a:solidFill>
            <a:srgbClr val="EEE7EB"/>
          </a:solidFill>
          <a:ln/>
        </p:spPr>
        <p:txBody>
          <a:bodyPr wrap="square" lIns="0" tIns="0" rIns="0" bIns="0" rtlCol="0" anchor="ctr"/>
          <a:lstStyle/>
          <a:p>
            <a:pPr algn="ctr" indent="0" marL="0">
              <a:buNone/>
            </a:pPr>
            <a:r>
              <a:rPr lang="en-US" sz="1100" b="1" dirty="0">
                <a:solidFill>
                  <a:schemeClr val="tx2"/>
                </a:solidFill>
              </a:rPr>
              <a:t>CONTESTABLE</a:t>
            </a:r>
            <a:pPr algn="ctr" indent="0" marL="0">
              <a:buNone/>
            </a:pPr>
            <a:r>
              <a:rPr lang="en-US" sz="1100" dirty="0">
                <a:solidFill>
                  <a:schemeClr val="tx2"/>
                </a:solidFill>
              </a:rPr>
              <a:t>   A chain can publish a fee ladder in a week.</a:t>
            </a:r>
            <a:endParaRPr lang="en-US" sz="1100" dirty="0"/>
          </a:p>
        </p:txBody>
      </p:sp>
      <p:sp>
        <p:nvSpPr>
          <p:cNvPr id="41" name="Moat chip 2"/>
          <p:cNvSpPr txBox="1"/>
          <p:nvPr/>
        </p:nvSpPr>
        <p:spPr>
          <a:xfrm>
            <a:off x="6233008" y="5815584"/>
            <a:ext cx="5410048" cy="329184"/>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NOT QUICKLY COPYABLE</a:t>
            </a:r>
            <a:pPr algn="ctr" indent="0" marL="0">
              <a:buNone/>
            </a:pPr>
            <a:r>
              <a:rPr lang="en-US" sz="1100" dirty="0">
                <a:solidFill>
                  <a:schemeClr val="bg1"/>
                </a:solidFill>
              </a:rPr>
              <a:t>   A working bridal studio and an outcomes record.</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RECOMMENDATION · OPTIONS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The integrated flagship scores highest under every weighting; five options are rejected</a:t>
            </a:r>
            <a:endParaRPr lang="en-US" sz="2800" dirty="0"/>
          </a:p>
        </p:txBody>
      </p:sp>
      <p:sp>
        <p:nvSpPr>
          <p:cNvPr id="4" name="Subtitle"/>
          <p:cNvSpPr txBox="1"/>
          <p:nvPr/>
        </p:nvSpPr>
        <p:spPr>
          <a:xfrm>
            <a:off x="548640" y="1531112"/>
            <a:ext cx="11094415" cy="261607"/>
          </a:xfrm>
          <a:prstGeom prst="rect">
            <a:avLst/>
          </a:prstGeom>
          <a:noFill/>
          <a:ln/>
        </p:spPr>
        <p:txBody>
          <a:bodyPr wrap="square" lIns="0" tIns="0" rIns="0" bIns="0" rtlCol="0" anchor="t"/>
          <a:lstStyle/>
          <a:p>
            <a:pPr algn="l" indent="0" marL="0">
              <a:buNone/>
            </a:pPr>
            <a:r>
              <a:rPr lang="en-US" sz="1450" dirty="0">
                <a:solidFill>
                  <a:srgbClr val="6B5F67"/>
                </a:solidFill>
              </a:rPr>
              <a:t>Flagship + destination learning ranks first (3.85 / 3.90 / 3.85); marketplace, owned NCR or Ludhiana centre, franchising and the ₹50L plan fail.</a:t>
            </a:r>
            <a:endParaRPr lang="en-US" sz="145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business_model_evaluation.md §4 scorecard, §6.4; recommended_strategy.md §3 Q4, §4.4; economics §3 #9, §5 #5, #8 (BM_Unit_Economics, Plan50L_BaseRates); S-INT-11/12/25; S-CHD-12/22; S-NC-07; S-BM-08</a:t>
            </a:r>
            <a:pPr algn="l" indent="0" marL="0">
              <a:buNone/>
            </a:pPr>
            <a:r>
              <a:rPr lang="en-US" sz="900" b="1" dirty="0">
                <a:solidFill>
                  <a:srgbClr val="6B5F67"/>
                </a:solidFill>
              </a:rPr>
              <a:t>   Note: </a:t>
            </a:r>
            <a:pPr algn="l" indent="0" marL="0">
              <a:buNone/>
            </a:pPr>
            <a:r>
              <a:rPr lang="en-US" sz="900" dirty="0">
                <a:solidFill>
                  <a:srgbClr val="6B5F67"/>
                </a:solidFill>
              </a:rPr>
              <a:t>₹ lakh per year at Base rates, directional. Scores: HYPOTHESIS (judgements on thin evidence).</a:t>
            </a:r>
            <a:endParaRPr lang="en-US" sz="900" dirty="0"/>
          </a:p>
        </p:txBody>
      </p:sp>
      <p:sp>
        <p:nvSpPr>
          <p:cNvPr id="7" name="Score table"/>
          <p:cNvSpPr/>
          <p:nvPr/>
        </p:nvSpPr>
        <p:spPr>
          <a:xfrm>
            <a:off x="548640" y="1920240"/>
            <a:ext cx="6172200" cy="3814877"/>
          </a:xfrm>
          <a:prstGeom prst="roundRect">
            <a:avLst>
              <a:gd name="adj" fmla="val 959"/>
            </a:avLst>
          </a:prstGeom>
          <a:solidFill>
            <a:schemeClr val="bg1"/>
          </a:solidFill>
          <a:ln w="9525">
            <a:solidFill>
              <a:srgbClr val="E4DAD5"/>
            </a:solidFill>
            <a:prstDash val="solid"/>
          </a:ln>
        </p:spPr>
      </p:sp>
      <p:sp>
        <p:nvSpPr>
          <p:cNvPr id="8" name="Score header"/>
          <p:cNvSpPr txBox="1"/>
          <p:nvPr/>
        </p:nvSpPr>
        <p:spPr>
          <a:xfrm>
            <a:off x="658368" y="1956816"/>
            <a:ext cx="731520" cy="329184"/>
          </a:xfrm>
          <a:prstGeom prst="rect">
            <a:avLst/>
          </a:prstGeom>
          <a:noFill/>
          <a:ln/>
        </p:spPr>
        <p:txBody>
          <a:bodyPr wrap="square" lIns="0" tIns="0" rIns="0" bIns="0" rtlCol="0" anchor="b"/>
          <a:lstStyle/>
          <a:p>
            <a:pPr algn="l" indent="0" marL="0">
              <a:buNone/>
            </a:pPr>
            <a:r>
              <a:rPr lang="en-US" sz="1050" b="1" dirty="0">
                <a:solidFill>
                  <a:schemeClr val="tx1"/>
                </a:solidFill>
              </a:rPr>
              <a:t>Option</a:t>
            </a:r>
            <a:endParaRPr lang="en-US" sz="1050" dirty="0"/>
          </a:p>
        </p:txBody>
      </p:sp>
      <p:sp>
        <p:nvSpPr>
          <p:cNvPr id="9" name="Badge HYPOTHESIS"/>
          <p:cNvSpPr txBox="1"/>
          <p:nvPr/>
        </p:nvSpPr>
        <p:spPr>
          <a:xfrm>
            <a:off x="1325880" y="2048256"/>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10" name="Score header 2"/>
          <p:cNvSpPr txBox="1"/>
          <p:nvPr/>
        </p:nvSpPr>
        <p:spPr>
          <a:xfrm>
            <a:off x="3474720" y="1956816"/>
            <a:ext cx="731520" cy="329184"/>
          </a:xfrm>
          <a:prstGeom prst="rect">
            <a:avLst/>
          </a:prstGeom>
          <a:noFill/>
          <a:ln/>
        </p:spPr>
        <p:txBody>
          <a:bodyPr wrap="square" lIns="0" tIns="0" rIns="0" bIns="0" rtlCol="0" anchor="b"/>
          <a:lstStyle/>
          <a:p>
            <a:pPr algn="ctr" indent="0" marL="0">
              <a:buNone/>
            </a:pPr>
            <a:r>
              <a:rPr lang="en-US" sz="1000" b="1" dirty="0">
                <a:solidFill>
                  <a:schemeClr val="tx1"/>
                </a:solidFill>
              </a:rPr>
              <a:t>Base-</a:t>
            </a:r>
            <a:endParaRPr lang="en-US" sz="1000" dirty="0"/>
          </a:p>
          <a:p>
            <a:pPr algn="ctr" indent="0" marL="0">
              <a:buNone/>
            </a:pPr>
            <a:r>
              <a:rPr lang="en-US" sz="1000" b="1" dirty="0">
                <a:solidFill>
                  <a:schemeClr val="tx1"/>
                </a:solidFill>
              </a:rPr>
              <a:t>weighted</a:t>
            </a:r>
            <a:endParaRPr lang="en-US" sz="1000" dirty="0"/>
          </a:p>
        </p:txBody>
      </p:sp>
      <p:sp>
        <p:nvSpPr>
          <p:cNvPr id="11" name="Score header 3"/>
          <p:cNvSpPr txBox="1"/>
          <p:nvPr/>
        </p:nvSpPr>
        <p:spPr>
          <a:xfrm>
            <a:off x="4206240" y="1956816"/>
            <a:ext cx="731520" cy="329184"/>
          </a:xfrm>
          <a:prstGeom prst="rect">
            <a:avLst/>
          </a:prstGeom>
          <a:noFill/>
          <a:ln/>
        </p:spPr>
        <p:txBody>
          <a:bodyPr wrap="square" lIns="0" tIns="0" rIns="0" bIns="0" rtlCol="0" anchor="b"/>
          <a:lstStyle/>
          <a:p>
            <a:pPr algn="ctr" indent="0" marL="0">
              <a:buNone/>
            </a:pPr>
            <a:r>
              <a:rPr lang="en-US" sz="1000" b="1" dirty="0">
                <a:solidFill>
                  <a:schemeClr val="tx1"/>
                </a:solidFill>
              </a:rPr>
              <a:t>Growth-</a:t>
            </a:r>
            <a:endParaRPr lang="en-US" sz="1000" dirty="0"/>
          </a:p>
          <a:p>
            <a:pPr algn="ctr" indent="0" marL="0">
              <a:buNone/>
            </a:pPr>
            <a:r>
              <a:rPr lang="en-US" sz="1000" b="1" dirty="0">
                <a:solidFill>
                  <a:schemeClr val="tx1"/>
                </a:solidFill>
              </a:rPr>
              <a:t>weighted</a:t>
            </a:r>
            <a:endParaRPr lang="en-US" sz="1000" dirty="0"/>
          </a:p>
        </p:txBody>
      </p:sp>
      <p:sp>
        <p:nvSpPr>
          <p:cNvPr id="12" name="Score header 4"/>
          <p:cNvSpPr txBox="1"/>
          <p:nvPr/>
        </p:nvSpPr>
        <p:spPr>
          <a:xfrm>
            <a:off x="4937760" y="1956816"/>
            <a:ext cx="731520" cy="329184"/>
          </a:xfrm>
          <a:prstGeom prst="rect">
            <a:avLst/>
          </a:prstGeom>
          <a:noFill/>
          <a:ln/>
        </p:spPr>
        <p:txBody>
          <a:bodyPr wrap="square" lIns="0" tIns="0" rIns="0" bIns="0" rtlCol="0" anchor="b"/>
          <a:lstStyle/>
          <a:p>
            <a:pPr algn="ctr" indent="0" marL="0">
              <a:buNone/>
            </a:pPr>
            <a:r>
              <a:rPr lang="en-US" sz="1000" b="1" dirty="0">
                <a:solidFill>
                  <a:schemeClr val="tx1"/>
                </a:solidFill>
              </a:rPr>
              <a:t>Founder-</a:t>
            </a:r>
            <a:endParaRPr lang="en-US" sz="1000" dirty="0"/>
          </a:p>
          <a:p>
            <a:pPr algn="ctr" indent="0" marL="0">
              <a:buNone/>
            </a:pPr>
            <a:r>
              <a:rPr lang="en-US" sz="1000" b="1" dirty="0">
                <a:solidFill>
                  <a:schemeClr val="tx1"/>
                </a:solidFill>
              </a:rPr>
              <a:t>weighted</a:t>
            </a:r>
            <a:endParaRPr lang="en-US" sz="1000" dirty="0"/>
          </a:p>
        </p:txBody>
      </p:sp>
      <p:sp>
        <p:nvSpPr>
          <p:cNvPr id="13" name="Score header 5"/>
          <p:cNvSpPr txBox="1"/>
          <p:nvPr/>
        </p:nvSpPr>
        <p:spPr>
          <a:xfrm>
            <a:off x="5669280" y="1956816"/>
            <a:ext cx="1051560" cy="329184"/>
          </a:xfrm>
          <a:prstGeom prst="rect">
            <a:avLst/>
          </a:prstGeom>
          <a:noFill/>
          <a:ln/>
        </p:spPr>
        <p:txBody>
          <a:bodyPr wrap="square" lIns="0" tIns="0" rIns="0" bIns="0" rtlCol="0" anchor="b"/>
          <a:lstStyle/>
          <a:p>
            <a:pPr algn="ctr" indent="0" marL="0">
              <a:buNone/>
            </a:pPr>
            <a:r>
              <a:rPr lang="en-US" sz="1000" b="1" dirty="0">
                <a:solidFill>
                  <a:schemeClr val="tx1"/>
                </a:solidFill>
              </a:rPr>
              <a:t>Knock-</a:t>
            </a:r>
            <a:endParaRPr lang="en-US" sz="1000" dirty="0"/>
          </a:p>
          <a:p>
            <a:pPr algn="ctr" indent="0" marL="0">
              <a:buNone/>
            </a:pPr>
            <a:r>
              <a:rPr lang="en-US" sz="1000" b="1" dirty="0">
                <a:solidFill>
                  <a:schemeClr val="tx1"/>
                </a:solidFill>
              </a:rPr>
              <a:t>out</a:t>
            </a:r>
            <a:endParaRPr lang="en-US" sz="1000" dirty="0"/>
          </a:p>
        </p:txBody>
      </p:sp>
      <p:sp>
        <p:nvSpPr>
          <p:cNvPr id="14" name="Score header rule"/>
          <p:cNvSpPr/>
          <p:nvPr/>
        </p:nvSpPr>
        <p:spPr>
          <a:xfrm>
            <a:off x="621792" y="2322576"/>
            <a:ext cx="6025896" cy="0"/>
          </a:xfrm>
          <a:prstGeom prst="line">
            <a:avLst/>
          </a:prstGeom>
          <a:noFill/>
          <a:ln w="12700">
            <a:solidFill>
              <a:srgbClr val="C9BCB5"/>
            </a:solidFill>
            <a:prstDash val="solid"/>
          </a:ln>
        </p:spPr>
      </p:sp>
      <p:sp>
        <p:nvSpPr>
          <p:cNvPr id="15" name="Score highlight"/>
          <p:cNvSpPr/>
          <p:nvPr/>
        </p:nvSpPr>
        <p:spPr>
          <a:xfrm>
            <a:off x="576072" y="2336292"/>
            <a:ext cx="6117336" cy="484632"/>
          </a:xfrm>
          <a:prstGeom prst="rect">
            <a:avLst/>
          </a:prstGeom>
          <a:solidFill>
            <a:srgbClr val="F2EAF0"/>
          </a:solidFill>
          <a:ln/>
        </p:spPr>
      </p:sp>
      <p:sp>
        <p:nvSpPr>
          <p:cNvPr id="16" name="Score option"/>
          <p:cNvSpPr txBox="1"/>
          <p:nvPr/>
        </p:nvSpPr>
        <p:spPr>
          <a:xfrm>
            <a:off x="658368" y="2331720"/>
            <a:ext cx="2779776" cy="493776"/>
          </a:xfrm>
          <a:prstGeom prst="rect">
            <a:avLst/>
          </a:prstGeom>
          <a:noFill/>
          <a:ln/>
        </p:spPr>
        <p:txBody>
          <a:bodyPr wrap="square" lIns="0" tIns="0" rIns="0" bIns="0" rtlCol="0" anchor="ctr"/>
          <a:lstStyle/>
          <a:p>
            <a:pPr algn="l" indent="0" marL="0">
              <a:buNone/>
            </a:pPr>
            <a:r>
              <a:rPr lang="en-US" sz="1050" b="1" dirty="0">
                <a:solidFill>
                  <a:schemeClr val="tx1"/>
                </a:solidFill>
              </a:rPr>
              <a:t>Integrated primary</a:t>
            </a:r>
            <a:endParaRPr lang="en-US" sz="1050" dirty="0"/>
          </a:p>
          <a:p>
            <a:pPr algn="l" indent="0" marL="0">
              <a:buNone/>
            </a:pPr>
            <a:r>
              <a:rPr lang="en-US" sz="1000" dirty="0">
                <a:solidFill>
                  <a:srgbClr val="6B5F67"/>
                </a:solidFill>
              </a:rPr>
              <a:t>flagship + hybrid layer + masterclasses + studio + alumni desk + credential</a:t>
            </a:r>
            <a:endParaRPr lang="en-US" sz="1050" dirty="0"/>
          </a:p>
        </p:txBody>
      </p:sp>
      <p:sp>
        <p:nvSpPr>
          <p:cNvPr id="17" name="Score value"/>
          <p:cNvSpPr txBox="1"/>
          <p:nvPr/>
        </p:nvSpPr>
        <p:spPr>
          <a:xfrm>
            <a:off x="3474720" y="2322576"/>
            <a:ext cx="731520" cy="512064"/>
          </a:xfrm>
          <a:prstGeom prst="rect">
            <a:avLst/>
          </a:prstGeom>
          <a:noFill/>
          <a:ln/>
        </p:spPr>
        <p:txBody>
          <a:bodyPr wrap="square" lIns="0" tIns="0" rIns="0" bIns="0" rtlCol="0" anchor="ctr"/>
          <a:lstStyle/>
          <a:p>
            <a:pPr algn="ctr" indent="0" marL="0">
              <a:buNone/>
            </a:pPr>
            <a:r>
              <a:rPr lang="en-US" sz="1050" b="1" dirty="0">
                <a:solidFill>
                  <a:schemeClr val="tx2"/>
                </a:solidFill>
              </a:rPr>
              <a:t>3.85</a:t>
            </a:r>
            <a:endParaRPr lang="en-US" sz="1050" dirty="0"/>
          </a:p>
        </p:txBody>
      </p:sp>
      <p:sp>
        <p:nvSpPr>
          <p:cNvPr id="18" name="Score value 2"/>
          <p:cNvSpPr txBox="1"/>
          <p:nvPr/>
        </p:nvSpPr>
        <p:spPr>
          <a:xfrm>
            <a:off x="4206240" y="2322576"/>
            <a:ext cx="731520" cy="512064"/>
          </a:xfrm>
          <a:prstGeom prst="rect">
            <a:avLst/>
          </a:prstGeom>
          <a:noFill/>
          <a:ln/>
        </p:spPr>
        <p:txBody>
          <a:bodyPr wrap="square" lIns="0" tIns="0" rIns="0" bIns="0" rtlCol="0" anchor="ctr"/>
          <a:lstStyle/>
          <a:p>
            <a:pPr algn="ctr" indent="0" marL="0">
              <a:buNone/>
            </a:pPr>
            <a:r>
              <a:rPr lang="en-US" sz="1050" b="1" dirty="0">
                <a:solidFill>
                  <a:schemeClr val="tx2"/>
                </a:solidFill>
              </a:rPr>
              <a:t>3.90</a:t>
            </a:r>
            <a:endParaRPr lang="en-US" sz="1050" dirty="0"/>
          </a:p>
        </p:txBody>
      </p:sp>
      <p:sp>
        <p:nvSpPr>
          <p:cNvPr id="19" name="Score value 3"/>
          <p:cNvSpPr txBox="1"/>
          <p:nvPr/>
        </p:nvSpPr>
        <p:spPr>
          <a:xfrm>
            <a:off x="4937760" y="2322576"/>
            <a:ext cx="731520" cy="512064"/>
          </a:xfrm>
          <a:prstGeom prst="rect">
            <a:avLst/>
          </a:prstGeom>
          <a:noFill/>
          <a:ln/>
        </p:spPr>
        <p:txBody>
          <a:bodyPr wrap="square" lIns="0" tIns="0" rIns="0" bIns="0" rtlCol="0" anchor="ctr"/>
          <a:lstStyle/>
          <a:p>
            <a:pPr algn="ctr" indent="0" marL="0">
              <a:buNone/>
            </a:pPr>
            <a:r>
              <a:rPr lang="en-US" sz="1050" b="1" dirty="0">
                <a:solidFill>
                  <a:schemeClr val="tx2"/>
                </a:solidFill>
              </a:rPr>
              <a:t>3.85</a:t>
            </a:r>
            <a:endParaRPr lang="en-US" sz="1050" dirty="0"/>
          </a:p>
        </p:txBody>
      </p:sp>
      <p:sp>
        <p:nvSpPr>
          <p:cNvPr id="20" name="Score highlight 2"/>
          <p:cNvSpPr/>
          <p:nvPr/>
        </p:nvSpPr>
        <p:spPr>
          <a:xfrm>
            <a:off x="576072" y="2848356"/>
            <a:ext cx="6117336" cy="195682"/>
          </a:xfrm>
          <a:prstGeom prst="rect">
            <a:avLst/>
          </a:prstGeom>
          <a:solidFill>
            <a:srgbClr val="F2EAF0"/>
          </a:solidFill>
          <a:ln/>
        </p:spPr>
      </p:sp>
      <p:sp>
        <p:nvSpPr>
          <p:cNvPr id="21" name="Score rule"/>
          <p:cNvSpPr/>
          <p:nvPr/>
        </p:nvSpPr>
        <p:spPr>
          <a:xfrm>
            <a:off x="621792" y="2834640"/>
            <a:ext cx="6025896" cy="0"/>
          </a:xfrm>
          <a:prstGeom prst="line">
            <a:avLst/>
          </a:prstGeom>
          <a:noFill/>
          <a:ln w="6350">
            <a:solidFill>
              <a:srgbClr val="E4DAD5"/>
            </a:solidFill>
            <a:prstDash val="solid"/>
          </a:ln>
        </p:spPr>
      </p:sp>
      <p:sp>
        <p:nvSpPr>
          <p:cNvPr id="22" name="Score option 2"/>
          <p:cNvSpPr txBox="1"/>
          <p:nvPr/>
        </p:nvSpPr>
        <p:spPr>
          <a:xfrm>
            <a:off x="658368" y="2843784"/>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G Regional destination + pop-ups</a:t>
            </a:r>
            <a:endParaRPr lang="en-US" sz="1050" dirty="0"/>
          </a:p>
        </p:txBody>
      </p:sp>
      <p:sp>
        <p:nvSpPr>
          <p:cNvPr id="23" name="Score value 4"/>
          <p:cNvSpPr txBox="1"/>
          <p:nvPr/>
        </p:nvSpPr>
        <p:spPr>
          <a:xfrm>
            <a:off x="3474720" y="2834640"/>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3.55</a:t>
            </a:r>
            <a:endParaRPr lang="en-US" sz="1050" dirty="0"/>
          </a:p>
        </p:txBody>
      </p:sp>
      <p:sp>
        <p:nvSpPr>
          <p:cNvPr id="24" name="Score value 5"/>
          <p:cNvSpPr txBox="1"/>
          <p:nvPr/>
        </p:nvSpPr>
        <p:spPr>
          <a:xfrm>
            <a:off x="4206240" y="2834640"/>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3.70</a:t>
            </a:r>
            <a:endParaRPr lang="en-US" sz="1050" dirty="0"/>
          </a:p>
        </p:txBody>
      </p:sp>
      <p:sp>
        <p:nvSpPr>
          <p:cNvPr id="25" name="Score value 6"/>
          <p:cNvSpPr txBox="1"/>
          <p:nvPr/>
        </p:nvSpPr>
        <p:spPr>
          <a:xfrm>
            <a:off x="4937760" y="2834640"/>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3.55</a:t>
            </a:r>
            <a:endParaRPr lang="en-US" sz="1050" dirty="0"/>
          </a:p>
        </p:txBody>
      </p:sp>
      <p:sp>
        <p:nvSpPr>
          <p:cNvPr id="26" name="Score rule 2"/>
          <p:cNvSpPr/>
          <p:nvPr/>
        </p:nvSpPr>
        <p:spPr>
          <a:xfrm>
            <a:off x="621792" y="3057754"/>
            <a:ext cx="6025896" cy="0"/>
          </a:xfrm>
          <a:prstGeom prst="line">
            <a:avLst/>
          </a:prstGeom>
          <a:noFill/>
          <a:ln w="6350">
            <a:solidFill>
              <a:srgbClr val="E4DAD5"/>
            </a:solidFill>
            <a:prstDash val="solid"/>
          </a:ln>
        </p:spPr>
      </p:sp>
      <p:sp>
        <p:nvSpPr>
          <p:cNvPr id="27" name="Score option 3"/>
          <p:cNvSpPr txBox="1"/>
          <p:nvPr/>
        </p:nvSpPr>
        <p:spPr>
          <a:xfrm>
            <a:off x="658368" y="3066898"/>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A Chandigarh flagship alone</a:t>
            </a:r>
            <a:endParaRPr lang="en-US" sz="1050" dirty="0"/>
          </a:p>
        </p:txBody>
      </p:sp>
      <p:sp>
        <p:nvSpPr>
          <p:cNvPr id="28" name="Score value 7"/>
          <p:cNvSpPr txBox="1"/>
          <p:nvPr/>
        </p:nvSpPr>
        <p:spPr>
          <a:xfrm>
            <a:off x="3474720" y="3057754"/>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3.75</a:t>
            </a:r>
            <a:endParaRPr lang="en-US" sz="1050" dirty="0"/>
          </a:p>
        </p:txBody>
      </p:sp>
      <p:sp>
        <p:nvSpPr>
          <p:cNvPr id="29" name="Score value 8"/>
          <p:cNvSpPr txBox="1"/>
          <p:nvPr/>
        </p:nvSpPr>
        <p:spPr>
          <a:xfrm>
            <a:off x="4206240" y="3057754"/>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3.65</a:t>
            </a:r>
            <a:endParaRPr lang="en-US" sz="1050" dirty="0"/>
          </a:p>
        </p:txBody>
      </p:sp>
      <p:sp>
        <p:nvSpPr>
          <p:cNvPr id="30" name="Score value 9"/>
          <p:cNvSpPr txBox="1"/>
          <p:nvPr/>
        </p:nvSpPr>
        <p:spPr>
          <a:xfrm>
            <a:off x="4937760" y="3057754"/>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3.80</a:t>
            </a:r>
            <a:endParaRPr lang="en-US" sz="1050" dirty="0"/>
          </a:p>
        </p:txBody>
      </p:sp>
      <p:sp>
        <p:nvSpPr>
          <p:cNvPr id="31" name="Score rule 3"/>
          <p:cNvSpPr/>
          <p:nvPr/>
        </p:nvSpPr>
        <p:spPr>
          <a:xfrm>
            <a:off x="621792" y="3280867"/>
            <a:ext cx="6025896" cy="0"/>
          </a:xfrm>
          <a:prstGeom prst="line">
            <a:avLst/>
          </a:prstGeom>
          <a:noFill/>
          <a:ln w="6350">
            <a:solidFill>
              <a:srgbClr val="E4DAD5"/>
            </a:solidFill>
            <a:prstDash val="solid"/>
          </a:ln>
        </p:spPr>
      </p:sp>
      <p:sp>
        <p:nvSpPr>
          <p:cNvPr id="32" name="Score option 4"/>
          <p:cNvSpPr txBox="1"/>
          <p:nvPr/>
        </p:nvSpPr>
        <p:spPr>
          <a:xfrm>
            <a:off x="658368" y="3290011"/>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D Hybrid layer</a:t>
            </a:r>
            <a:endParaRPr lang="en-US" sz="1050" dirty="0"/>
          </a:p>
        </p:txBody>
      </p:sp>
      <p:sp>
        <p:nvSpPr>
          <p:cNvPr id="33" name="Score value 10"/>
          <p:cNvSpPr txBox="1"/>
          <p:nvPr/>
        </p:nvSpPr>
        <p:spPr>
          <a:xfrm>
            <a:off x="3474720" y="3280867"/>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3.70</a:t>
            </a:r>
            <a:endParaRPr lang="en-US" sz="1050" dirty="0"/>
          </a:p>
        </p:txBody>
      </p:sp>
      <p:sp>
        <p:nvSpPr>
          <p:cNvPr id="34" name="Score value 11"/>
          <p:cNvSpPr txBox="1"/>
          <p:nvPr/>
        </p:nvSpPr>
        <p:spPr>
          <a:xfrm>
            <a:off x="4206240" y="3280867"/>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3.75</a:t>
            </a:r>
            <a:endParaRPr lang="en-US" sz="1050" dirty="0"/>
          </a:p>
        </p:txBody>
      </p:sp>
      <p:sp>
        <p:nvSpPr>
          <p:cNvPr id="35" name="Score value 12"/>
          <p:cNvSpPr txBox="1"/>
          <p:nvPr/>
        </p:nvSpPr>
        <p:spPr>
          <a:xfrm>
            <a:off x="4937760" y="3280867"/>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3.70</a:t>
            </a:r>
            <a:endParaRPr lang="en-US" sz="1050" dirty="0"/>
          </a:p>
        </p:txBody>
      </p:sp>
      <p:sp>
        <p:nvSpPr>
          <p:cNvPr id="36" name="Score rule 4"/>
          <p:cNvSpPr/>
          <p:nvPr/>
        </p:nvSpPr>
        <p:spPr>
          <a:xfrm>
            <a:off x="621792" y="3503981"/>
            <a:ext cx="6025896" cy="0"/>
          </a:xfrm>
          <a:prstGeom prst="line">
            <a:avLst/>
          </a:prstGeom>
          <a:noFill/>
          <a:ln w="6350">
            <a:solidFill>
              <a:srgbClr val="E4DAD5"/>
            </a:solidFill>
            <a:prstDash val="solid"/>
          </a:ln>
        </p:spPr>
      </p:sp>
      <p:sp>
        <p:nvSpPr>
          <p:cNvPr id="37" name="Score option 5"/>
          <p:cNvSpPr txBox="1"/>
          <p:nvPr/>
        </p:nvSpPr>
        <p:spPr>
          <a:xfrm>
            <a:off x="658368" y="3513125"/>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F1 Masterclasses (component, small ceiling)</a:t>
            </a:r>
            <a:endParaRPr lang="en-US" sz="1050" dirty="0"/>
          </a:p>
        </p:txBody>
      </p:sp>
      <p:sp>
        <p:nvSpPr>
          <p:cNvPr id="38" name="Score value 13"/>
          <p:cNvSpPr txBox="1"/>
          <p:nvPr/>
        </p:nvSpPr>
        <p:spPr>
          <a:xfrm>
            <a:off x="3474720" y="3503981"/>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4.10</a:t>
            </a:r>
            <a:endParaRPr lang="en-US" sz="1050" dirty="0"/>
          </a:p>
        </p:txBody>
      </p:sp>
      <p:sp>
        <p:nvSpPr>
          <p:cNvPr id="39" name="Score value 14"/>
          <p:cNvSpPr txBox="1"/>
          <p:nvPr/>
        </p:nvSpPr>
        <p:spPr>
          <a:xfrm>
            <a:off x="4206240" y="3503981"/>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3.80</a:t>
            </a:r>
            <a:endParaRPr lang="en-US" sz="1050" dirty="0"/>
          </a:p>
        </p:txBody>
      </p:sp>
      <p:sp>
        <p:nvSpPr>
          <p:cNvPr id="40" name="Score value 15"/>
          <p:cNvSpPr txBox="1"/>
          <p:nvPr/>
        </p:nvSpPr>
        <p:spPr>
          <a:xfrm>
            <a:off x="4937760" y="3503981"/>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4.15</a:t>
            </a:r>
            <a:endParaRPr lang="en-US" sz="1050" dirty="0"/>
          </a:p>
        </p:txBody>
      </p:sp>
      <p:sp>
        <p:nvSpPr>
          <p:cNvPr id="41" name="Score rule 5"/>
          <p:cNvSpPr/>
          <p:nvPr/>
        </p:nvSpPr>
        <p:spPr>
          <a:xfrm>
            <a:off x="621792" y="3727094"/>
            <a:ext cx="6025896" cy="0"/>
          </a:xfrm>
          <a:prstGeom prst="line">
            <a:avLst/>
          </a:prstGeom>
          <a:noFill/>
          <a:ln w="6350">
            <a:solidFill>
              <a:srgbClr val="E4DAD5"/>
            </a:solidFill>
            <a:prstDash val="solid"/>
          </a:ln>
        </p:spPr>
      </p:sp>
      <p:sp>
        <p:nvSpPr>
          <p:cNvPr id="42" name="Score option 6"/>
          <p:cNvSpPr txBox="1"/>
          <p:nvPr/>
        </p:nvSpPr>
        <p:spPr>
          <a:xfrm>
            <a:off x="658368" y="3736238"/>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Baseline status quo</a:t>
            </a:r>
            <a:endParaRPr lang="en-US" sz="1050" dirty="0"/>
          </a:p>
        </p:txBody>
      </p:sp>
      <p:sp>
        <p:nvSpPr>
          <p:cNvPr id="43" name="Score value 16"/>
          <p:cNvSpPr txBox="1"/>
          <p:nvPr/>
        </p:nvSpPr>
        <p:spPr>
          <a:xfrm>
            <a:off x="3474720" y="3727094"/>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2.95</a:t>
            </a:r>
            <a:endParaRPr lang="en-US" sz="1050" dirty="0"/>
          </a:p>
        </p:txBody>
      </p:sp>
      <p:sp>
        <p:nvSpPr>
          <p:cNvPr id="44" name="Score value 17"/>
          <p:cNvSpPr txBox="1"/>
          <p:nvPr/>
        </p:nvSpPr>
        <p:spPr>
          <a:xfrm>
            <a:off x="4206240" y="3727094"/>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2.60</a:t>
            </a:r>
            <a:endParaRPr lang="en-US" sz="1050" dirty="0"/>
          </a:p>
        </p:txBody>
      </p:sp>
      <p:sp>
        <p:nvSpPr>
          <p:cNvPr id="45" name="Score value 18"/>
          <p:cNvSpPr txBox="1"/>
          <p:nvPr/>
        </p:nvSpPr>
        <p:spPr>
          <a:xfrm>
            <a:off x="4937760" y="3727094"/>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2.90</a:t>
            </a:r>
            <a:endParaRPr lang="en-US" sz="1050" dirty="0"/>
          </a:p>
        </p:txBody>
      </p:sp>
      <p:sp>
        <p:nvSpPr>
          <p:cNvPr id="46" name="Score KO"/>
          <p:cNvSpPr txBox="1"/>
          <p:nvPr/>
        </p:nvSpPr>
        <p:spPr>
          <a:xfrm>
            <a:off x="5705856" y="3727094"/>
            <a:ext cx="978408" cy="223114"/>
          </a:xfrm>
          <a:prstGeom prst="rect">
            <a:avLst/>
          </a:prstGeom>
          <a:noFill/>
          <a:ln/>
        </p:spPr>
        <p:txBody>
          <a:bodyPr wrap="square" lIns="0" tIns="0" rIns="0" bIns="0" rtlCol="0" anchor="ctr"/>
          <a:lstStyle/>
          <a:p>
            <a:pPr algn="ctr" indent="0" marL="0">
              <a:buNone/>
            </a:pPr>
            <a:r>
              <a:rPr lang="en-US" sz="1000" b="1" dirty="0">
                <a:solidFill>
                  <a:srgbClr val="A4513F"/>
                </a:solidFill>
              </a:rPr>
              <a:t>KO-2</a:t>
            </a:r>
            <a:endParaRPr lang="en-US" sz="1000" dirty="0"/>
          </a:p>
        </p:txBody>
      </p:sp>
      <p:sp>
        <p:nvSpPr>
          <p:cNvPr id="47" name="Score rule 6"/>
          <p:cNvSpPr/>
          <p:nvPr/>
        </p:nvSpPr>
        <p:spPr>
          <a:xfrm>
            <a:off x="621792" y="3950208"/>
            <a:ext cx="6025896" cy="0"/>
          </a:xfrm>
          <a:prstGeom prst="line">
            <a:avLst/>
          </a:prstGeom>
          <a:noFill/>
          <a:ln w="6350">
            <a:solidFill>
              <a:srgbClr val="E4DAD5"/>
            </a:solidFill>
            <a:prstDash val="solid"/>
          </a:ln>
        </p:spPr>
      </p:sp>
      <p:sp>
        <p:nvSpPr>
          <p:cNvPr id="48" name="Score option 7"/>
          <p:cNvSpPr txBox="1"/>
          <p:nvPr/>
        </p:nvSpPr>
        <p:spPr>
          <a:xfrm>
            <a:off x="658368" y="3959352"/>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B4 Franchise now</a:t>
            </a:r>
            <a:endParaRPr lang="en-US" sz="1050" dirty="0"/>
          </a:p>
        </p:txBody>
      </p:sp>
      <p:sp>
        <p:nvSpPr>
          <p:cNvPr id="49" name="Score value 19"/>
          <p:cNvSpPr txBox="1"/>
          <p:nvPr/>
        </p:nvSpPr>
        <p:spPr>
          <a:xfrm>
            <a:off x="3474720" y="3950208"/>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2.60</a:t>
            </a:r>
            <a:endParaRPr lang="en-US" sz="1050" dirty="0"/>
          </a:p>
        </p:txBody>
      </p:sp>
      <p:sp>
        <p:nvSpPr>
          <p:cNvPr id="50" name="Score value 20"/>
          <p:cNvSpPr txBox="1"/>
          <p:nvPr/>
        </p:nvSpPr>
        <p:spPr>
          <a:xfrm>
            <a:off x="4206240" y="3950208"/>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2.80</a:t>
            </a:r>
            <a:endParaRPr lang="en-US" sz="1050" dirty="0"/>
          </a:p>
        </p:txBody>
      </p:sp>
      <p:sp>
        <p:nvSpPr>
          <p:cNvPr id="51" name="Score value 21"/>
          <p:cNvSpPr txBox="1"/>
          <p:nvPr/>
        </p:nvSpPr>
        <p:spPr>
          <a:xfrm>
            <a:off x="4937760" y="3950208"/>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2.55</a:t>
            </a:r>
            <a:endParaRPr lang="en-US" sz="1050" dirty="0"/>
          </a:p>
        </p:txBody>
      </p:sp>
      <p:sp>
        <p:nvSpPr>
          <p:cNvPr id="52" name="Score rule 7"/>
          <p:cNvSpPr/>
          <p:nvPr/>
        </p:nvSpPr>
        <p:spPr>
          <a:xfrm>
            <a:off x="621792" y="4173322"/>
            <a:ext cx="6025896" cy="0"/>
          </a:xfrm>
          <a:prstGeom prst="line">
            <a:avLst/>
          </a:prstGeom>
          <a:noFill/>
          <a:ln w="6350">
            <a:solidFill>
              <a:srgbClr val="E4DAD5"/>
            </a:solidFill>
            <a:prstDash val="solid"/>
          </a:ln>
        </p:spPr>
      </p:sp>
      <p:sp>
        <p:nvSpPr>
          <p:cNvPr id="53" name="Score option 8"/>
          <p:cNvSpPr txBox="1"/>
          <p:nvPr/>
        </p:nvSpPr>
        <p:spPr>
          <a:xfrm>
            <a:off x="658368" y="4182466"/>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C Pure digital</a:t>
            </a:r>
            <a:endParaRPr lang="en-US" sz="1050" dirty="0"/>
          </a:p>
        </p:txBody>
      </p:sp>
      <p:sp>
        <p:nvSpPr>
          <p:cNvPr id="54" name="Score value 22"/>
          <p:cNvSpPr txBox="1"/>
          <p:nvPr/>
        </p:nvSpPr>
        <p:spPr>
          <a:xfrm>
            <a:off x="3474720" y="4173322"/>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2.55</a:t>
            </a:r>
            <a:endParaRPr lang="en-US" sz="1050" dirty="0"/>
          </a:p>
        </p:txBody>
      </p:sp>
      <p:sp>
        <p:nvSpPr>
          <p:cNvPr id="55" name="Score value 23"/>
          <p:cNvSpPr txBox="1"/>
          <p:nvPr/>
        </p:nvSpPr>
        <p:spPr>
          <a:xfrm>
            <a:off x="4206240" y="4173322"/>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2.75</a:t>
            </a:r>
            <a:endParaRPr lang="en-US" sz="1050" dirty="0"/>
          </a:p>
        </p:txBody>
      </p:sp>
      <p:sp>
        <p:nvSpPr>
          <p:cNvPr id="56" name="Score value 24"/>
          <p:cNvSpPr txBox="1"/>
          <p:nvPr/>
        </p:nvSpPr>
        <p:spPr>
          <a:xfrm>
            <a:off x="4937760" y="4173322"/>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2.50</a:t>
            </a:r>
            <a:endParaRPr lang="en-US" sz="1050" dirty="0"/>
          </a:p>
        </p:txBody>
      </p:sp>
      <p:sp>
        <p:nvSpPr>
          <p:cNvPr id="57" name="Score rule 8"/>
          <p:cNvSpPr/>
          <p:nvPr/>
        </p:nvSpPr>
        <p:spPr>
          <a:xfrm>
            <a:off x="621792" y="4396435"/>
            <a:ext cx="6025896" cy="0"/>
          </a:xfrm>
          <a:prstGeom prst="line">
            <a:avLst/>
          </a:prstGeom>
          <a:noFill/>
          <a:ln w="6350">
            <a:solidFill>
              <a:srgbClr val="E4DAD5"/>
            </a:solidFill>
            <a:prstDash val="solid"/>
          </a:ln>
        </p:spPr>
      </p:sp>
      <p:sp>
        <p:nvSpPr>
          <p:cNvPr id="58" name="Score option 9"/>
          <p:cNvSpPr txBox="1"/>
          <p:nvPr/>
        </p:nvSpPr>
        <p:spPr>
          <a:xfrm>
            <a:off x="658368" y="4405579"/>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H Franchisee of a chain</a:t>
            </a:r>
            <a:endParaRPr lang="en-US" sz="1050" dirty="0"/>
          </a:p>
        </p:txBody>
      </p:sp>
      <p:sp>
        <p:nvSpPr>
          <p:cNvPr id="59" name="Score value 25"/>
          <p:cNvSpPr txBox="1"/>
          <p:nvPr/>
        </p:nvSpPr>
        <p:spPr>
          <a:xfrm>
            <a:off x="3474720" y="4396435"/>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2.45</a:t>
            </a:r>
            <a:endParaRPr lang="en-US" sz="1050" dirty="0"/>
          </a:p>
        </p:txBody>
      </p:sp>
      <p:sp>
        <p:nvSpPr>
          <p:cNvPr id="60" name="Score value 26"/>
          <p:cNvSpPr txBox="1"/>
          <p:nvPr/>
        </p:nvSpPr>
        <p:spPr>
          <a:xfrm>
            <a:off x="4206240" y="4396435"/>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2.55</a:t>
            </a:r>
            <a:endParaRPr lang="en-US" sz="1050" dirty="0"/>
          </a:p>
        </p:txBody>
      </p:sp>
      <p:sp>
        <p:nvSpPr>
          <p:cNvPr id="61" name="Score value 27"/>
          <p:cNvSpPr txBox="1"/>
          <p:nvPr/>
        </p:nvSpPr>
        <p:spPr>
          <a:xfrm>
            <a:off x="4937760" y="4396435"/>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2.40</a:t>
            </a:r>
            <a:endParaRPr lang="en-US" sz="1050" dirty="0"/>
          </a:p>
        </p:txBody>
      </p:sp>
      <p:sp>
        <p:nvSpPr>
          <p:cNvPr id="62" name="Score KO 2"/>
          <p:cNvSpPr txBox="1"/>
          <p:nvPr/>
        </p:nvSpPr>
        <p:spPr>
          <a:xfrm>
            <a:off x="5705856" y="4396435"/>
            <a:ext cx="978408" cy="223114"/>
          </a:xfrm>
          <a:prstGeom prst="rect">
            <a:avLst/>
          </a:prstGeom>
          <a:noFill/>
          <a:ln/>
        </p:spPr>
        <p:txBody>
          <a:bodyPr wrap="square" lIns="0" tIns="0" rIns="0" bIns="0" rtlCol="0" anchor="ctr"/>
          <a:lstStyle/>
          <a:p>
            <a:pPr algn="ctr" indent="0" marL="0">
              <a:buNone/>
            </a:pPr>
            <a:r>
              <a:rPr lang="en-US" sz="1000" b="1" dirty="0">
                <a:solidFill>
                  <a:srgbClr val="A4513F"/>
                </a:solidFill>
              </a:rPr>
              <a:t>KO-1</a:t>
            </a:r>
            <a:endParaRPr lang="en-US" sz="1000" dirty="0"/>
          </a:p>
        </p:txBody>
      </p:sp>
      <p:sp>
        <p:nvSpPr>
          <p:cNvPr id="63" name="Score rule 9"/>
          <p:cNvSpPr/>
          <p:nvPr/>
        </p:nvSpPr>
        <p:spPr>
          <a:xfrm>
            <a:off x="621792" y="4619549"/>
            <a:ext cx="6025896" cy="0"/>
          </a:xfrm>
          <a:prstGeom prst="line">
            <a:avLst/>
          </a:prstGeom>
          <a:noFill/>
          <a:ln w="6350">
            <a:solidFill>
              <a:srgbClr val="E4DAD5"/>
            </a:solidFill>
            <a:prstDash val="solid"/>
          </a:ln>
        </p:spPr>
      </p:sp>
      <p:sp>
        <p:nvSpPr>
          <p:cNvPr id="64" name="Score option 10"/>
          <p:cNvSpPr txBox="1"/>
          <p:nvPr/>
        </p:nvSpPr>
        <p:spPr>
          <a:xfrm>
            <a:off x="658368" y="4628693"/>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B1 Owned tricity satellite</a:t>
            </a:r>
            <a:endParaRPr lang="en-US" sz="1050" dirty="0"/>
          </a:p>
        </p:txBody>
      </p:sp>
      <p:sp>
        <p:nvSpPr>
          <p:cNvPr id="65" name="Score value 28"/>
          <p:cNvSpPr txBox="1"/>
          <p:nvPr/>
        </p:nvSpPr>
        <p:spPr>
          <a:xfrm>
            <a:off x="3474720" y="4619549"/>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2.40</a:t>
            </a:r>
            <a:endParaRPr lang="en-US" sz="1050" dirty="0"/>
          </a:p>
        </p:txBody>
      </p:sp>
      <p:sp>
        <p:nvSpPr>
          <p:cNvPr id="66" name="Score value 29"/>
          <p:cNvSpPr txBox="1"/>
          <p:nvPr/>
        </p:nvSpPr>
        <p:spPr>
          <a:xfrm>
            <a:off x="4206240" y="4619549"/>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2.35</a:t>
            </a:r>
            <a:endParaRPr lang="en-US" sz="1050" dirty="0"/>
          </a:p>
        </p:txBody>
      </p:sp>
      <p:sp>
        <p:nvSpPr>
          <p:cNvPr id="67" name="Score value 30"/>
          <p:cNvSpPr txBox="1"/>
          <p:nvPr/>
        </p:nvSpPr>
        <p:spPr>
          <a:xfrm>
            <a:off x="4937760" y="4619549"/>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2.45</a:t>
            </a:r>
            <a:endParaRPr lang="en-US" sz="1050" dirty="0"/>
          </a:p>
        </p:txBody>
      </p:sp>
      <p:sp>
        <p:nvSpPr>
          <p:cNvPr id="68" name="Score rule 10"/>
          <p:cNvSpPr/>
          <p:nvPr/>
        </p:nvSpPr>
        <p:spPr>
          <a:xfrm>
            <a:off x="621792" y="4842662"/>
            <a:ext cx="6025896" cy="0"/>
          </a:xfrm>
          <a:prstGeom prst="line">
            <a:avLst/>
          </a:prstGeom>
          <a:noFill/>
          <a:ln w="6350">
            <a:solidFill>
              <a:srgbClr val="E4DAD5"/>
            </a:solidFill>
            <a:prstDash val="solid"/>
          </a:ln>
        </p:spPr>
      </p:sp>
      <p:sp>
        <p:nvSpPr>
          <p:cNvPr id="69" name="Score option 11"/>
          <p:cNvSpPr txBox="1"/>
          <p:nvPr/>
        </p:nvSpPr>
        <p:spPr>
          <a:xfrm>
            <a:off x="658368" y="4851806"/>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B2 Owned Ludhiana</a:t>
            </a:r>
            <a:endParaRPr lang="en-US" sz="1050" dirty="0"/>
          </a:p>
        </p:txBody>
      </p:sp>
      <p:sp>
        <p:nvSpPr>
          <p:cNvPr id="70" name="Score value 31"/>
          <p:cNvSpPr txBox="1"/>
          <p:nvPr/>
        </p:nvSpPr>
        <p:spPr>
          <a:xfrm>
            <a:off x="3474720" y="4842662"/>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2.25</a:t>
            </a:r>
            <a:endParaRPr lang="en-US" sz="1050" dirty="0"/>
          </a:p>
        </p:txBody>
      </p:sp>
      <p:sp>
        <p:nvSpPr>
          <p:cNvPr id="71" name="Score value 32"/>
          <p:cNvSpPr txBox="1"/>
          <p:nvPr/>
        </p:nvSpPr>
        <p:spPr>
          <a:xfrm>
            <a:off x="4206240" y="4842662"/>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2.45</a:t>
            </a:r>
            <a:endParaRPr lang="en-US" sz="1050" dirty="0"/>
          </a:p>
        </p:txBody>
      </p:sp>
      <p:sp>
        <p:nvSpPr>
          <p:cNvPr id="72" name="Score value 33"/>
          <p:cNvSpPr txBox="1"/>
          <p:nvPr/>
        </p:nvSpPr>
        <p:spPr>
          <a:xfrm>
            <a:off x="4937760" y="4842662"/>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2.15</a:t>
            </a:r>
            <a:endParaRPr lang="en-US" sz="1050" dirty="0"/>
          </a:p>
        </p:txBody>
      </p:sp>
      <p:sp>
        <p:nvSpPr>
          <p:cNvPr id="73" name="Score KO 3"/>
          <p:cNvSpPr txBox="1"/>
          <p:nvPr/>
        </p:nvSpPr>
        <p:spPr>
          <a:xfrm>
            <a:off x="5705856" y="4842662"/>
            <a:ext cx="978408" cy="223114"/>
          </a:xfrm>
          <a:prstGeom prst="rect">
            <a:avLst/>
          </a:prstGeom>
          <a:noFill/>
          <a:ln/>
        </p:spPr>
        <p:txBody>
          <a:bodyPr wrap="square" lIns="0" tIns="0" rIns="0" bIns="0" rtlCol="0" anchor="ctr"/>
          <a:lstStyle/>
          <a:p>
            <a:pPr algn="ctr" indent="0" marL="0">
              <a:buNone/>
            </a:pPr>
            <a:r>
              <a:rPr lang="en-US" sz="1000" b="1" dirty="0">
                <a:solidFill>
                  <a:srgbClr val="A4513F"/>
                </a:solidFill>
              </a:rPr>
              <a:t>borderline KO-1</a:t>
            </a:r>
            <a:endParaRPr lang="en-US" sz="1000" dirty="0"/>
          </a:p>
        </p:txBody>
      </p:sp>
      <p:sp>
        <p:nvSpPr>
          <p:cNvPr id="74" name="Score rule 11"/>
          <p:cNvSpPr/>
          <p:nvPr/>
        </p:nvSpPr>
        <p:spPr>
          <a:xfrm>
            <a:off x="621792" y="5065776"/>
            <a:ext cx="6025896" cy="0"/>
          </a:xfrm>
          <a:prstGeom prst="line">
            <a:avLst/>
          </a:prstGeom>
          <a:noFill/>
          <a:ln w="6350">
            <a:solidFill>
              <a:srgbClr val="E4DAD5"/>
            </a:solidFill>
            <a:prstDash val="solid"/>
          </a:ln>
        </p:spPr>
      </p:sp>
      <p:sp>
        <p:nvSpPr>
          <p:cNvPr id="75" name="Score option 12"/>
          <p:cNvSpPr txBox="1"/>
          <p:nvPr/>
        </p:nvSpPr>
        <p:spPr>
          <a:xfrm>
            <a:off x="658368" y="5074920"/>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I Government-scheme</a:t>
            </a:r>
            <a:endParaRPr lang="en-US" sz="1050" dirty="0"/>
          </a:p>
        </p:txBody>
      </p:sp>
      <p:sp>
        <p:nvSpPr>
          <p:cNvPr id="76" name="Score value 34"/>
          <p:cNvSpPr txBox="1"/>
          <p:nvPr/>
        </p:nvSpPr>
        <p:spPr>
          <a:xfrm>
            <a:off x="3474720" y="5065776"/>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1.90</a:t>
            </a:r>
            <a:endParaRPr lang="en-US" sz="1050" dirty="0"/>
          </a:p>
        </p:txBody>
      </p:sp>
      <p:sp>
        <p:nvSpPr>
          <p:cNvPr id="77" name="Score value 35"/>
          <p:cNvSpPr txBox="1"/>
          <p:nvPr/>
        </p:nvSpPr>
        <p:spPr>
          <a:xfrm>
            <a:off x="4206240" y="5065776"/>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2.00</a:t>
            </a:r>
            <a:endParaRPr lang="en-US" sz="1050" dirty="0"/>
          </a:p>
        </p:txBody>
      </p:sp>
      <p:sp>
        <p:nvSpPr>
          <p:cNvPr id="78" name="Score value 36"/>
          <p:cNvSpPr txBox="1"/>
          <p:nvPr/>
        </p:nvSpPr>
        <p:spPr>
          <a:xfrm>
            <a:off x="4937760" y="5065776"/>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1.90</a:t>
            </a:r>
            <a:endParaRPr lang="en-US" sz="1050" dirty="0"/>
          </a:p>
        </p:txBody>
      </p:sp>
      <p:sp>
        <p:nvSpPr>
          <p:cNvPr id="79" name="Score rule 12"/>
          <p:cNvSpPr/>
          <p:nvPr/>
        </p:nvSpPr>
        <p:spPr>
          <a:xfrm>
            <a:off x="621792" y="5288890"/>
            <a:ext cx="6025896" cy="0"/>
          </a:xfrm>
          <a:prstGeom prst="line">
            <a:avLst/>
          </a:prstGeom>
          <a:noFill/>
          <a:ln w="6350">
            <a:solidFill>
              <a:srgbClr val="E4DAD5"/>
            </a:solidFill>
            <a:prstDash val="solid"/>
          </a:ln>
        </p:spPr>
      </p:sp>
      <p:sp>
        <p:nvSpPr>
          <p:cNvPr id="80" name="Score option 13"/>
          <p:cNvSpPr txBox="1"/>
          <p:nvPr/>
        </p:nvSpPr>
        <p:spPr>
          <a:xfrm>
            <a:off x="658368" y="5298034"/>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B3 Owned Delhi NCR</a:t>
            </a:r>
            <a:endParaRPr lang="en-US" sz="1050" dirty="0"/>
          </a:p>
        </p:txBody>
      </p:sp>
      <p:sp>
        <p:nvSpPr>
          <p:cNvPr id="81" name="Score value 37"/>
          <p:cNvSpPr txBox="1"/>
          <p:nvPr/>
        </p:nvSpPr>
        <p:spPr>
          <a:xfrm>
            <a:off x="3474720" y="5288890"/>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1.70</a:t>
            </a:r>
            <a:endParaRPr lang="en-US" sz="1050" dirty="0"/>
          </a:p>
        </p:txBody>
      </p:sp>
      <p:sp>
        <p:nvSpPr>
          <p:cNvPr id="82" name="Score value 38"/>
          <p:cNvSpPr txBox="1"/>
          <p:nvPr/>
        </p:nvSpPr>
        <p:spPr>
          <a:xfrm>
            <a:off x="4206240" y="5288890"/>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2.40</a:t>
            </a:r>
            <a:endParaRPr lang="en-US" sz="1050" dirty="0"/>
          </a:p>
        </p:txBody>
      </p:sp>
      <p:sp>
        <p:nvSpPr>
          <p:cNvPr id="83" name="Score value 39"/>
          <p:cNvSpPr txBox="1"/>
          <p:nvPr/>
        </p:nvSpPr>
        <p:spPr>
          <a:xfrm>
            <a:off x="4937760" y="5288890"/>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1.40</a:t>
            </a:r>
            <a:endParaRPr lang="en-US" sz="1050" dirty="0"/>
          </a:p>
        </p:txBody>
      </p:sp>
      <p:sp>
        <p:nvSpPr>
          <p:cNvPr id="84" name="Score KO 4"/>
          <p:cNvSpPr txBox="1"/>
          <p:nvPr/>
        </p:nvSpPr>
        <p:spPr>
          <a:xfrm>
            <a:off x="5705856" y="5288890"/>
            <a:ext cx="978408" cy="223114"/>
          </a:xfrm>
          <a:prstGeom prst="rect">
            <a:avLst/>
          </a:prstGeom>
          <a:noFill/>
          <a:ln/>
        </p:spPr>
        <p:txBody>
          <a:bodyPr wrap="square" lIns="0" tIns="0" rIns="0" bIns="0" rtlCol="0" anchor="ctr"/>
          <a:lstStyle/>
          <a:p>
            <a:pPr algn="ctr" indent="0" marL="0">
              <a:buNone/>
            </a:pPr>
            <a:r>
              <a:rPr lang="en-US" sz="1000" b="1" dirty="0">
                <a:solidFill>
                  <a:srgbClr val="A4513F"/>
                </a:solidFill>
              </a:rPr>
              <a:t>KO-1, KO-2</a:t>
            </a:r>
            <a:endParaRPr lang="en-US" sz="1000" dirty="0"/>
          </a:p>
        </p:txBody>
      </p:sp>
      <p:sp>
        <p:nvSpPr>
          <p:cNvPr id="85" name="Score rule 13"/>
          <p:cNvSpPr/>
          <p:nvPr/>
        </p:nvSpPr>
        <p:spPr>
          <a:xfrm>
            <a:off x="621792" y="5512003"/>
            <a:ext cx="6025896" cy="0"/>
          </a:xfrm>
          <a:prstGeom prst="line">
            <a:avLst/>
          </a:prstGeom>
          <a:noFill/>
          <a:ln w="6350">
            <a:solidFill>
              <a:srgbClr val="E4DAD5"/>
            </a:solidFill>
            <a:prstDash val="solid"/>
          </a:ln>
        </p:spPr>
      </p:sp>
      <p:sp>
        <p:nvSpPr>
          <p:cNvPr id="86" name="Score option 14"/>
          <p:cNvSpPr txBox="1"/>
          <p:nvPr/>
        </p:nvSpPr>
        <p:spPr>
          <a:xfrm>
            <a:off x="658368" y="5521147"/>
            <a:ext cx="2779776" cy="204826"/>
          </a:xfrm>
          <a:prstGeom prst="rect">
            <a:avLst/>
          </a:prstGeom>
          <a:noFill/>
          <a:ln/>
        </p:spPr>
        <p:txBody>
          <a:bodyPr wrap="square" lIns="0" tIns="0" rIns="0" bIns="0" rtlCol="0" anchor="ctr"/>
          <a:lstStyle/>
          <a:p>
            <a:pPr algn="l" indent="0" marL="0">
              <a:buNone/>
            </a:pPr>
            <a:r>
              <a:rPr lang="en-US" sz="1050" dirty="0">
                <a:solidFill>
                  <a:schemeClr val="tx1"/>
                </a:solidFill>
              </a:rPr>
              <a:t>E Marketplace</a:t>
            </a:r>
            <a:endParaRPr lang="en-US" sz="1050" dirty="0"/>
          </a:p>
        </p:txBody>
      </p:sp>
      <p:sp>
        <p:nvSpPr>
          <p:cNvPr id="87" name="Score value 40"/>
          <p:cNvSpPr txBox="1"/>
          <p:nvPr/>
        </p:nvSpPr>
        <p:spPr>
          <a:xfrm>
            <a:off x="3474720" y="5512003"/>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1.65</a:t>
            </a:r>
            <a:endParaRPr lang="en-US" sz="1050" dirty="0"/>
          </a:p>
        </p:txBody>
      </p:sp>
      <p:sp>
        <p:nvSpPr>
          <p:cNvPr id="88" name="Score value 41"/>
          <p:cNvSpPr txBox="1"/>
          <p:nvPr/>
        </p:nvSpPr>
        <p:spPr>
          <a:xfrm>
            <a:off x="4206240" y="5512003"/>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1.90</a:t>
            </a:r>
            <a:endParaRPr lang="en-US" sz="1050" dirty="0"/>
          </a:p>
        </p:txBody>
      </p:sp>
      <p:sp>
        <p:nvSpPr>
          <p:cNvPr id="89" name="Score value 42"/>
          <p:cNvSpPr txBox="1"/>
          <p:nvPr/>
        </p:nvSpPr>
        <p:spPr>
          <a:xfrm>
            <a:off x="4937760" y="5512003"/>
            <a:ext cx="731520" cy="223114"/>
          </a:xfrm>
          <a:prstGeom prst="rect">
            <a:avLst/>
          </a:prstGeom>
          <a:noFill/>
          <a:ln/>
        </p:spPr>
        <p:txBody>
          <a:bodyPr wrap="square" lIns="0" tIns="0" rIns="0" bIns="0" rtlCol="0" anchor="ctr"/>
          <a:lstStyle/>
          <a:p>
            <a:pPr algn="ctr" indent="0" marL="0">
              <a:buNone/>
            </a:pPr>
            <a:r>
              <a:rPr lang="en-US" sz="1050" dirty="0">
                <a:solidFill>
                  <a:schemeClr val="tx1"/>
                </a:solidFill>
              </a:rPr>
              <a:t>1.60</a:t>
            </a:r>
            <a:endParaRPr lang="en-US" sz="1050" dirty="0"/>
          </a:p>
        </p:txBody>
      </p:sp>
      <p:sp>
        <p:nvSpPr>
          <p:cNvPr id="90" name="Score KO 5"/>
          <p:cNvSpPr txBox="1"/>
          <p:nvPr/>
        </p:nvSpPr>
        <p:spPr>
          <a:xfrm>
            <a:off x="5705856" y="5512003"/>
            <a:ext cx="978408" cy="223114"/>
          </a:xfrm>
          <a:prstGeom prst="rect">
            <a:avLst/>
          </a:prstGeom>
          <a:noFill/>
          <a:ln/>
        </p:spPr>
        <p:txBody>
          <a:bodyPr wrap="square" lIns="0" tIns="0" rIns="0" bIns="0" rtlCol="0" anchor="ctr"/>
          <a:lstStyle/>
          <a:p>
            <a:pPr algn="ctr" indent="0" marL="0">
              <a:buNone/>
            </a:pPr>
            <a:r>
              <a:rPr lang="en-US" sz="1000" b="1" dirty="0">
                <a:solidFill>
                  <a:srgbClr val="A4513F"/>
                </a:solidFill>
              </a:rPr>
              <a:t>KO-1, KO-2</a:t>
            </a:r>
            <a:endParaRPr lang="en-US" sz="1000" dirty="0"/>
          </a:p>
        </p:txBody>
      </p:sp>
      <p:sp>
        <p:nvSpPr>
          <p:cNvPr id="91" name="Score caption"/>
          <p:cNvSpPr txBox="1"/>
          <p:nvPr/>
        </p:nvSpPr>
        <p:spPr>
          <a:xfrm>
            <a:off x="548640" y="5808269"/>
            <a:ext cx="6172200" cy="336499"/>
          </a:xfrm>
          <a:prstGeom prst="rect">
            <a:avLst/>
          </a:prstGeom>
          <a:noFill/>
          <a:ln/>
        </p:spPr>
        <p:txBody>
          <a:bodyPr wrap="square" lIns="0" tIns="0" rIns="0" bIns="0" rtlCol="0" anchor="t"/>
          <a:lstStyle/>
          <a:p>
            <a:pPr algn="l" indent="0" marL="0">
              <a:buNone/>
            </a:pPr>
            <a:r>
              <a:rPr lang="en-US" sz="1000" dirty="0">
                <a:solidFill>
                  <a:srgbClr val="6B5F67"/>
                </a:solidFill>
              </a:rPr>
              <a:t>Scored 1–5 on fit, capital, execution risk, margin, right to win, market, CAC and time. KO-1 capital fit, KO-2 founder goal (applied before scoring). Tinted: recommended.</a:t>
            </a:r>
            <a:endParaRPr lang="en-US" sz="1000" dirty="0"/>
          </a:p>
        </p:txBody>
      </p:sp>
      <p:sp>
        <p:nvSpPr>
          <p:cNvPr id="92" name="Why-not card"/>
          <p:cNvSpPr/>
          <p:nvPr/>
        </p:nvSpPr>
        <p:spPr>
          <a:xfrm>
            <a:off x="6995160" y="1920240"/>
            <a:ext cx="4647895" cy="4224528"/>
          </a:xfrm>
          <a:prstGeom prst="roundRect">
            <a:avLst>
              <a:gd name="adj" fmla="val 1732"/>
            </a:avLst>
          </a:prstGeom>
          <a:solidFill>
            <a:schemeClr val="bg1"/>
          </a:solidFill>
          <a:ln w="9525">
            <a:solidFill>
              <a:srgbClr val="E4DAD5"/>
            </a:solidFill>
            <a:prstDash val="solid"/>
          </a:ln>
        </p:spPr>
      </p:sp>
      <p:sp>
        <p:nvSpPr>
          <p:cNvPr id="93" name="Why-not heading"/>
          <p:cNvSpPr txBox="1"/>
          <p:nvPr/>
        </p:nvSpPr>
        <p:spPr>
          <a:xfrm>
            <a:off x="7196328" y="2048256"/>
            <a:ext cx="1828800" cy="274320"/>
          </a:xfrm>
          <a:prstGeom prst="rect">
            <a:avLst/>
          </a:prstGeom>
          <a:noFill/>
          <a:ln/>
        </p:spPr>
        <p:txBody>
          <a:bodyPr wrap="square" lIns="0" tIns="0" rIns="0" bIns="0" rtlCol="0" anchor="t"/>
          <a:lstStyle/>
          <a:p>
            <a:pPr algn="l" indent="0" marL="0">
              <a:buNone/>
            </a:pPr>
            <a:r>
              <a:rPr lang="en-US" sz="1400" b="1" dirty="0">
                <a:solidFill>
                  <a:schemeClr val="tx2"/>
                </a:solidFill>
              </a:rPr>
              <a:t>Why not</a:t>
            </a:r>
            <a:endParaRPr lang="en-US" sz="1400" dirty="0"/>
          </a:p>
        </p:txBody>
      </p:sp>
      <p:sp>
        <p:nvSpPr>
          <p:cNvPr id="94" name="Why-not lead"/>
          <p:cNvSpPr txBox="1"/>
          <p:nvPr/>
        </p:nvSpPr>
        <p:spPr>
          <a:xfrm>
            <a:off x="7196328" y="2423160"/>
            <a:ext cx="2572228" cy="228600"/>
          </a:xfrm>
          <a:prstGeom prst="rect">
            <a:avLst/>
          </a:prstGeom>
          <a:noFill/>
          <a:ln/>
        </p:spPr>
        <p:txBody>
          <a:bodyPr wrap="square" lIns="0" tIns="0" rIns="0" bIns="0" rtlCol="0" anchor="ctr"/>
          <a:lstStyle/>
          <a:p>
            <a:pPr algn="l" indent="0" marL="0">
              <a:buNone/>
            </a:pPr>
            <a:r>
              <a:rPr lang="en-US" sz="1100" b="1" dirty="0">
                <a:solidFill>
                  <a:schemeClr val="tx2"/>
                </a:solidFill>
              </a:rPr>
              <a:t>Marketplace</a:t>
            </a:r>
            <a:endParaRPr lang="en-US" sz="1100" dirty="0"/>
          </a:p>
        </p:txBody>
      </p:sp>
      <p:sp>
        <p:nvSpPr>
          <p:cNvPr id="95" name="Badge ESTIMATE"/>
          <p:cNvSpPr txBox="1"/>
          <p:nvPr/>
        </p:nvSpPr>
        <p:spPr>
          <a:xfrm>
            <a:off x="9859996" y="24277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6" name="Badge VERIFIED"/>
          <p:cNvSpPr txBox="1"/>
          <p:nvPr/>
        </p:nvSpPr>
        <p:spPr>
          <a:xfrm>
            <a:off x="10712240" y="242773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97" name="Why-not text"/>
          <p:cNvSpPr txBox="1"/>
          <p:nvPr/>
        </p:nvSpPr>
        <p:spPr>
          <a:xfrm>
            <a:off x="7196328" y="2670048"/>
            <a:ext cx="4245559" cy="507149"/>
          </a:xfrm>
          <a:prstGeom prst="rect">
            <a:avLst/>
          </a:prstGeom>
          <a:noFill/>
          <a:ln/>
        </p:spPr>
        <p:txBody>
          <a:bodyPr wrap="square" lIns="0" tIns="0" rIns="0" bIns="0" rtlCol="0" anchor="t"/>
          <a:lstStyle/>
          <a:p>
            <a:pPr algn="l" indent="0" marL="0">
              <a:buNone/>
            </a:pPr>
            <a:r>
              <a:rPr lang="en-US" sz="1050" dirty="0">
                <a:solidFill>
                  <a:schemeClr val="tx1"/>
                </a:solidFill>
              </a:rPr>
              <a:t>−₹932/booking, LTV/CAC 0.35; Urban Company ~10 years to positive adjusted EBITDA, 22.75% of services revenue on onboarding; Blow LTD liquidated</a:t>
            </a:r>
            <a:endParaRPr lang="en-US" sz="1050" dirty="0"/>
          </a:p>
        </p:txBody>
      </p:sp>
      <p:sp>
        <p:nvSpPr>
          <p:cNvPr id="98" name="Why-not lead 2"/>
          <p:cNvSpPr txBox="1"/>
          <p:nvPr/>
        </p:nvSpPr>
        <p:spPr>
          <a:xfrm>
            <a:off x="7196328" y="3268637"/>
            <a:ext cx="3424472" cy="228600"/>
          </a:xfrm>
          <a:prstGeom prst="rect">
            <a:avLst/>
          </a:prstGeom>
          <a:noFill/>
          <a:ln/>
        </p:spPr>
        <p:txBody>
          <a:bodyPr wrap="square" lIns="0" tIns="0" rIns="0" bIns="0" rtlCol="0" anchor="ctr"/>
          <a:lstStyle/>
          <a:p>
            <a:pPr algn="l" indent="0" marL="0">
              <a:buNone/>
            </a:pPr>
            <a:r>
              <a:rPr lang="en-US" sz="1100" b="1" dirty="0">
                <a:solidFill>
                  <a:schemeClr val="tx2"/>
                </a:solidFill>
              </a:rPr>
              <a:t>Owned NCR</a:t>
            </a:r>
            <a:endParaRPr lang="en-US" sz="1100" dirty="0"/>
          </a:p>
        </p:txBody>
      </p:sp>
      <p:sp>
        <p:nvSpPr>
          <p:cNvPr id="99" name="Badge VERIFIED 2"/>
          <p:cNvSpPr txBox="1"/>
          <p:nvPr/>
        </p:nvSpPr>
        <p:spPr>
          <a:xfrm>
            <a:off x="10712240" y="3273209"/>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100" name="Why-not text 2"/>
          <p:cNvSpPr txBox="1"/>
          <p:nvPr/>
        </p:nvSpPr>
        <p:spPr>
          <a:xfrm>
            <a:off x="7196328" y="3515525"/>
            <a:ext cx="4245559" cy="181242"/>
          </a:xfrm>
          <a:prstGeom prst="rect">
            <a:avLst/>
          </a:prstGeom>
          <a:noFill/>
          <a:ln/>
        </p:spPr>
        <p:txBody>
          <a:bodyPr wrap="square" lIns="0" tIns="0" rIns="0" bIns="0" rtlCol="0" anchor="t"/>
          <a:lstStyle/>
          <a:p>
            <a:pPr algn="l" indent="0" marL="0">
              <a:buNone/>
            </a:pPr>
            <a:r>
              <a:rPr lang="en-US" sz="1050" dirty="0">
                <a:solidFill>
                  <a:schemeClr val="tx1"/>
                </a:solidFill>
              </a:rPr>
              <a:t>rent 3.5x (₹167 vs ₹47/sq ft), same ₹25k bridal median, brand unknown</a:t>
            </a:r>
            <a:endParaRPr lang="en-US" sz="1050" dirty="0"/>
          </a:p>
        </p:txBody>
      </p:sp>
      <p:sp>
        <p:nvSpPr>
          <p:cNvPr id="101" name="Why-not lead 3"/>
          <p:cNvSpPr txBox="1"/>
          <p:nvPr/>
        </p:nvSpPr>
        <p:spPr>
          <a:xfrm>
            <a:off x="7196328" y="3788207"/>
            <a:ext cx="3375026" cy="228600"/>
          </a:xfrm>
          <a:prstGeom prst="rect">
            <a:avLst/>
          </a:prstGeom>
          <a:noFill/>
          <a:ln/>
        </p:spPr>
        <p:txBody>
          <a:bodyPr wrap="square" lIns="0" tIns="0" rIns="0" bIns="0" rtlCol="0" anchor="ctr"/>
          <a:lstStyle/>
          <a:p>
            <a:pPr algn="l" indent="0" marL="0">
              <a:buNone/>
            </a:pPr>
            <a:r>
              <a:rPr lang="en-US" sz="1100" b="1" dirty="0">
                <a:solidFill>
                  <a:schemeClr val="tx2"/>
                </a:solidFill>
              </a:rPr>
              <a:t>Owned Ludhiana now</a:t>
            </a:r>
            <a:endParaRPr lang="en-US" sz="1100" dirty="0"/>
          </a:p>
        </p:txBody>
      </p:sp>
      <p:sp>
        <p:nvSpPr>
          <p:cNvPr id="102" name="Badge ESTIMATE 2"/>
          <p:cNvSpPr txBox="1"/>
          <p:nvPr/>
        </p:nvSpPr>
        <p:spPr>
          <a:xfrm>
            <a:off x="10662794" y="3792779"/>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03" name="Why-not text 3"/>
          <p:cNvSpPr txBox="1"/>
          <p:nvPr/>
        </p:nvSpPr>
        <p:spPr>
          <a:xfrm>
            <a:off x="7196328" y="4035095"/>
            <a:ext cx="4245559" cy="344195"/>
          </a:xfrm>
          <a:prstGeom prst="rect">
            <a:avLst/>
          </a:prstGeom>
          <a:noFill/>
          <a:ln/>
        </p:spPr>
        <p:txBody>
          <a:bodyPr wrap="square" lIns="0" tIns="0" rIns="0" bIns="0" rtlCol="0" anchor="t"/>
          <a:lstStyle/>
          <a:p>
            <a:pPr algn="l" indent="0" marL="0">
              <a:buNone/>
            </a:pPr>
            <a:r>
              <a:rPr lang="en-US" sz="1050" dirty="0">
                <a:solidFill>
                  <a:schemeClr val="tx1"/>
                </a:solidFill>
              </a:rPr>
              <a:t>≈₹29L fixed cost, −₹7.4L at 46 students, break-even 62 (11–21% of local paid learners) in a chain-served city</a:t>
            </a:r>
            <a:endParaRPr lang="en-US" sz="1050" dirty="0"/>
          </a:p>
        </p:txBody>
      </p:sp>
      <p:sp>
        <p:nvSpPr>
          <p:cNvPr id="104" name="Why-not lead 4"/>
          <p:cNvSpPr txBox="1"/>
          <p:nvPr/>
        </p:nvSpPr>
        <p:spPr>
          <a:xfrm>
            <a:off x="7196328" y="4470730"/>
            <a:ext cx="3575390" cy="228600"/>
          </a:xfrm>
          <a:prstGeom prst="rect">
            <a:avLst/>
          </a:prstGeom>
          <a:noFill/>
          <a:ln/>
        </p:spPr>
        <p:txBody>
          <a:bodyPr wrap="square" lIns="0" tIns="0" rIns="0" bIns="0" rtlCol="0" anchor="ctr"/>
          <a:lstStyle/>
          <a:p>
            <a:pPr algn="l" indent="0" marL="0">
              <a:buNone/>
            </a:pPr>
            <a:r>
              <a:rPr lang="en-US" sz="1100" b="1" dirty="0">
                <a:solidFill>
                  <a:schemeClr val="tx2"/>
                </a:solidFill>
              </a:rPr>
              <a:t>Chain franchisee</a:t>
            </a:r>
            <a:endParaRPr lang="en-US" sz="1100" dirty="0"/>
          </a:p>
        </p:txBody>
      </p:sp>
      <p:sp>
        <p:nvSpPr>
          <p:cNvPr id="105" name="Badge CLAIM"/>
          <p:cNvSpPr txBox="1"/>
          <p:nvPr/>
        </p:nvSpPr>
        <p:spPr>
          <a:xfrm>
            <a:off x="10863158" y="4475302"/>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106" name="Why-not text 4"/>
          <p:cNvSpPr txBox="1"/>
          <p:nvPr/>
        </p:nvSpPr>
        <p:spPr>
          <a:xfrm>
            <a:off x="7196328" y="4717618"/>
            <a:ext cx="4245559" cy="181242"/>
          </a:xfrm>
          <a:prstGeom prst="rect">
            <a:avLst/>
          </a:prstGeom>
          <a:noFill/>
          <a:ln/>
        </p:spPr>
        <p:txBody>
          <a:bodyPr wrap="square" lIns="0" tIns="0" rIns="0" bIns="0" rtlCol="0" anchor="t"/>
          <a:lstStyle/>
          <a:p>
            <a:pPr algn="l" indent="0" marL="0">
              <a:buNone/>
            </a:pPr>
            <a:r>
              <a:rPr lang="en-US" sz="1050" dirty="0">
                <a:solidFill>
                  <a:schemeClr val="tx1"/>
                </a:solidFill>
              </a:rPr>
              <a:t>₹30–60L + 15%+ royalty, erases the founder brand</a:t>
            </a:r>
            <a:endParaRPr lang="en-US" sz="1050" dirty="0"/>
          </a:p>
        </p:txBody>
      </p:sp>
      <p:sp>
        <p:nvSpPr>
          <p:cNvPr id="107" name="Why-not lead 5"/>
          <p:cNvSpPr txBox="1"/>
          <p:nvPr/>
        </p:nvSpPr>
        <p:spPr>
          <a:xfrm>
            <a:off x="7196328" y="4990300"/>
            <a:ext cx="3375026" cy="228600"/>
          </a:xfrm>
          <a:prstGeom prst="rect">
            <a:avLst/>
          </a:prstGeom>
          <a:noFill/>
          <a:ln/>
        </p:spPr>
        <p:txBody>
          <a:bodyPr wrap="square" lIns="0" tIns="0" rIns="0" bIns="0" rtlCol="0" anchor="ctr"/>
          <a:lstStyle/>
          <a:p>
            <a:pPr algn="l" indent="0" marL="0">
              <a:buNone/>
            </a:pPr>
            <a:r>
              <a:rPr lang="en-US" sz="1100" b="1" dirty="0">
                <a:solidFill>
                  <a:schemeClr val="tx2"/>
                </a:solidFill>
              </a:rPr>
              <a:t>₹50L plan</a:t>
            </a:r>
            <a:endParaRPr lang="en-US" sz="1100" dirty="0"/>
          </a:p>
        </p:txBody>
      </p:sp>
      <p:sp>
        <p:nvSpPr>
          <p:cNvPr id="108" name="Badge ESTIMATE 3"/>
          <p:cNvSpPr txBox="1"/>
          <p:nvPr/>
        </p:nvSpPr>
        <p:spPr>
          <a:xfrm>
            <a:off x="10662794" y="499487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09" name="Why-not text 5"/>
          <p:cNvSpPr txBox="1"/>
          <p:nvPr/>
        </p:nvSpPr>
        <p:spPr>
          <a:xfrm>
            <a:off x="7196328" y="5237188"/>
            <a:ext cx="4245559" cy="181242"/>
          </a:xfrm>
          <a:prstGeom prst="rect">
            <a:avLst/>
          </a:prstGeom>
          <a:noFill/>
          <a:ln/>
        </p:spPr>
        <p:txBody>
          <a:bodyPr wrap="square" lIns="0" tIns="0" rIns="0" bIns="0" rtlCol="0" anchor="t"/>
          <a:lstStyle/>
          <a:p>
            <a:pPr algn="l" indent="0" marL="0">
              <a:buNone/>
            </a:pPr>
            <a:r>
              <a:rPr lang="en-US" sz="1050" dirty="0">
                <a:solidFill>
                  <a:schemeClr val="tx1"/>
                </a:solidFill>
              </a:rPr>
              <a:t>₹99.3L revenue but −₹3.0L EBITDA and ₹44.2L cash</a:t>
            </a:r>
            <a:endParaRPr lang="en-US" sz="1050" dirty="0"/>
          </a:p>
        </p:txBody>
      </p:sp>
      <p:sp>
        <p:nvSpPr>
          <p:cNvPr id="110" name="Why-not lead 6"/>
          <p:cNvSpPr txBox="1"/>
          <p:nvPr/>
        </p:nvSpPr>
        <p:spPr>
          <a:xfrm>
            <a:off x="7196328" y="5509870"/>
            <a:ext cx="3375026" cy="228600"/>
          </a:xfrm>
          <a:prstGeom prst="rect">
            <a:avLst/>
          </a:prstGeom>
          <a:noFill/>
          <a:ln/>
        </p:spPr>
        <p:txBody>
          <a:bodyPr wrap="square" lIns="0" tIns="0" rIns="0" bIns="0" rtlCol="0" anchor="ctr"/>
          <a:lstStyle/>
          <a:p>
            <a:pPr algn="l" indent="0" marL="0">
              <a:buNone/>
            </a:pPr>
            <a:r>
              <a:rPr lang="en-US" sz="1100" b="1" dirty="0">
                <a:solidFill>
                  <a:schemeClr val="tx2"/>
                </a:solidFill>
              </a:rPr>
              <a:t>Launching at ₹90k in month 1</a:t>
            </a:r>
            <a:endParaRPr lang="en-US" sz="1100" dirty="0"/>
          </a:p>
        </p:txBody>
      </p:sp>
      <p:sp>
        <p:nvSpPr>
          <p:cNvPr id="111" name="Badge ESTIMATE 4"/>
          <p:cNvSpPr txBox="1"/>
          <p:nvPr/>
        </p:nvSpPr>
        <p:spPr>
          <a:xfrm>
            <a:off x="10662794" y="551444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12" name="Why-not text 6"/>
          <p:cNvSpPr txBox="1"/>
          <p:nvPr/>
        </p:nvSpPr>
        <p:spPr>
          <a:xfrm>
            <a:off x="7196328" y="5756758"/>
            <a:ext cx="4245559" cy="181242"/>
          </a:xfrm>
          <a:prstGeom prst="rect">
            <a:avLst/>
          </a:prstGeom>
          <a:noFill/>
          <a:ln/>
        </p:spPr>
        <p:txBody>
          <a:bodyPr wrap="square" lIns="0" tIns="0" rIns="0" bIns="0" rtlCol="0" anchor="t"/>
          <a:lstStyle/>
          <a:p>
            <a:pPr algn="l" indent="0" marL="0">
              <a:buNone/>
            </a:pPr>
            <a:r>
              <a:rPr lang="en-US" sz="1050" dirty="0">
                <a:solidFill>
                  <a:schemeClr val="tx1"/>
                </a:solidFill>
              </a:rPr>
              <a:t>no proof, conversion ±20% is worth ₹12.6L</a:t>
            </a:r>
            <a:endParaRPr lang="en-US" sz="10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RECOMMENDATION · THE MODEL</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One flagship, built as an institution: PNA Method, certified educators, published outcomes</a:t>
            </a:r>
            <a:endParaRPr lang="en-US" sz="2800" dirty="0"/>
          </a:p>
        </p:txBody>
      </p:sp>
      <p:sp>
        <p:nvSpPr>
          <p:cNvPr id="4" name="Subtitle"/>
          <p:cNvSpPr txBox="1"/>
          <p:nvPr/>
        </p:nvSpPr>
        <p:spPr>
          <a:xfrm>
            <a:off x="548640" y="1531112"/>
            <a:ext cx="11094415" cy="253848"/>
          </a:xfrm>
          <a:prstGeom prst="rect">
            <a:avLst/>
          </a:prstGeom>
          <a:noFill/>
          <a:ln/>
        </p:spPr>
        <p:txBody>
          <a:bodyPr wrap="square" lIns="0" tIns="0" rIns="0" bIns="0" rtlCol="0" anchor="t"/>
          <a:lstStyle/>
          <a:p>
            <a:pPr algn="l" indent="0" marL="0">
              <a:buNone/>
            </a:pPr>
            <a:r>
              <a:rPr lang="en-US" sz="1400" dirty="0">
                <a:solidFill>
                  <a:srgbClr val="6B5F67"/>
                </a:solidFill>
              </a:rPr>
              <a:t>A trainer-delivered, ≤12-seat bridal academy in the founder's studio, sold through a published ladder and closed by a counsellor at a parent visit.</a:t>
            </a:r>
            <a:endParaRPr lang="en-US" sz="14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§4.1–4.2, §6.1, §6.4, §1 (6); positioning_and_segments.md §4.2–4.3; economics §1A (Destination pilot, A-ECO-161)</a:t>
            </a:r>
            <a:pPr algn="l" indent="0" marL="0">
              <a:buNone/>
            </a:pPr>
            <a:r>
              <a:rPr lang="en-US" sz="900" b="1" dirty="0">
                <a:solidFill>
                  <a:srgbClr val="6B5F67"/>
                </a:solidFill>
              </a:rPr>
              <a:t>   Note: </a:t>
            </a:r>
            <a:pPr algn="l" indent="0" marL="0">
              <a:buNone/>
            </a:pPr>
            <a:r>
              <a:rPr lang="en-US" sz="900" dirty="0">
                <a:solidFill>
                  <a:srgbClr val="6B5F67"/>
                </a:solidFill>
              </a:rPr>
              <a:t>Months M1 = Nov 2026. Pilot size 6 and format durations: HYPOTHESIS (programme design).</a:t>
            </a:r>
            <a:endParaRPr lang="en-US" sz="900" dirty="0"/>
          </a:p>
        </p:txBody>
      </p:sp>
      <p:sp>
        <p:nvSpPr>
          <p:cNvPr id="7" name="Engine 1 card"/>
          <p:cNvSpPr/>
          <p:nvPr/>
        </p:nvSpPr>
        <p:spPr>
          <a:xfrm>
            <a:off x="548640" y="1920240"/>
            <a:ext cx="8275320" cy="2286000"/>
          </a:xfrm>
          <a:prstGeom prst="roundRect">
            <a:avLst>
              <a:gd name="adj" fmla="val 3200"/>
            </a:avLst>
          </a:prstGeom>
          <a:solidFill>
            <a:srgbClr val="F2EAF0"/>
          </a:solidFill>
          <a:ln/>
        </p:spPr>
      </p:sp>
      <p:sp>
        <p:nvSpPr>
          <p:cNvPr id="8" name="Label"/>
          <p:cNvSpPr txBox="1"/>
          <p:nvPr/>
        </p:nvSpPr>
        <p:spPr>
          <a:xfrm>
            <a:off x="749808" y="2048256"/>
            <a:ext cx="4572000" cy="219456"/>
          </a:xfrm>
          <a:prstGeom prst="rect">
            <a:avLst/>
          </a:prstGeom>
          <a:noFill/>
          <a:ln/>
        </p:spPr>
        <p:txBody>
          <a:bodyPr wrap="square" lIns="0" tIns="0" rIns="0" bIns="0" rtlCol="0" anchor="ctr"/>
          <a:lstStyle/>
          <a:p>
            <a:pPr algn="l" indent="0" marL="0">
              <a:buNone/>
            </a:pPr>
            <a:r>
              <a:rPr lang="en-US" sz="1050" b="1" dirty="0">
                <a:solidFill>
                  <a:srgbClr val="A4513F"/>
                </a:solidFill>
              </a:rPr>
              <a:t>ENGINE 1 · CHANDIGARH FLAGSHIP</a:t>
            </a:r>
            <a:endParaRPr lang="en-US" sz="1050" dirty="0"/>
          </a:p>
        </p:txBody>
      </p:sp>
      <p:sp>
        <p:nvSpPr>
          <p:cNvPr id="9" name="Badge RECOMMENDATION"/>
          <p:cNvSpPr txBox="1"/>
          <p:nvPr/>
        </p:nvSpPr>
        <p:spPr>
          <a:xfrm>
            <a:off x="7291375" y="2048256"/>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10" name="Ladder tile"/>
          <p:cNvSpPr/>
          <p:nvPr/>
        </p:nvSpPr>
        <p:spPr>
          <a:xfrm>
            <a:off x="749808" y="2377440"/>
            <a:ext cx="7872984" cy="512064"/>
          </a:xfrm>
          <a:prstGeom prst="roundRect">
            <a:avLst>
              <a:gd name="adj" fmla="val 10714"/>
            </a:avLst>
          </a:prstGeom>
          <a:solidFill>
            <a:schemeClr val="bg1"/>
          </a:solidFill>
          <a:ln/>
        </p:spPr>
      </p:sp>
      <p:sp>
        <p:nvSpPr>
          <p:cNvPr id="11" name="Ladder tile text"/>
          <p:cNvSpPr txBox="1"/>
          <p:nvPr/>
        </p:nvSpPr>
        <p:spPr>
          <a:xfrm>
            <a:off x="896112" y="2377440"/>
            <a:ext cx="7580376" cy="512064"/>
          </a:xfrm>
          <a:prstGeom prst="rect">
            <a:avLst/>
          </a:prstGeom>
          <a:noFill/>
          <a:ln/>
        </p:spPr>
        <p:txBody>
          <a:bodyPr wrap="square" lIns="0" tIns="0" rIns="0" bIns="0" rtlCol="0" anchor="ctr"/>
          <a:lstStyle/>
          <a:p>
            <a:pPr algn="l" indent="0" marL="0">
              <a:buNone/>
            </a:pPr>
            <a:r>
              <a:rPr lang="en-US" sz="1200" b="1" dirty="0">
                <a:solidFill>
                  <a:schemeClr val="tx1"/>
                </a:solidFill>
              </a:rPr>
              <a:t>Published ladder:</a:t>
            </a:r>
            <a:pPr algn="l" indent="0" marL="0">
              <a:buNone/>
            </a:pPr>
            <a:r>
              <a:rPr lang="en-US" sz="1200" dirty="0">
                <a:solidFill>
                  <a:schemeClr val="tx1"/>
                </a:solidFill>
              </a:rPr>
              <a:t> L1 Taster → L2 Foundation → L3 Pro (Weekday / Flex / Destination) → L4 Masterclasses → L5 Pro Circle</a:t>
            </a:r>
            <a:endParaRPr lang="en-US" sz="1200" dirty="0"/>
          </a:p>
        </p:txBody>
      </p:sp>
      <p:sp>
        <p:nvSpPr>
          <p:cNvPr id="12" name="Part tile"/>
          <p:cNvSpPr/>
          <p:nvPr/>
        </p:nvSpPr>
        <p:spPr>
          <a:xfrm>
            <a:off x="749808" y="3008376"/>
            <a:ext cx="1464869" cy="1014984"/>
          </a:xfrm>
          <a:prstGeom prst="roundRect">
            <a:avLst>
              <a:gd name="adj" fmla="val 5405"/>
            </a:avLst>
          </a:prstGeom>
          <a:solidFill>
            <a:schemeClr val="bg1"/>
          </a:solidFill>
          <a:ln/>
        </p:spPr>
      </p:sp>
      <p:sp>
        <p:nvSpPr>
          <p:cNvPr id="13" name="Part text"/>
          <p:cNvSpPr txBox="1"/>
          <p:nvPr/>
        </p:nvSpPr>
        <p:spPr>
          <a:xfrm>
            <a:off x="859536" y="3099816"/>
            <a:ext cx="1245413" cy="868680"/>
          </a:xfrm>
          <a:prstGeom prst="rect">
            <a:avLst/>
          </a:prstGeom>
          <a:noFill/>
          <a:ln/>
        </p:spPr>
        <p:txBody>
          <a:bodyPr wrap="square" lIns="0" tIns="0" rIns="0" bIns="0" rtlCol="0" anchor="t"/>
          <a:lstStyle/>
          <a:p>
            <a:pPr algn="l" indent="0" marL="0">
              <a:spcAft>
                <a:spcPts val="300"/>
              </a:spcAft>
              <a:buNone/>
            </a:pPr>
            <a:r>
              <a:rPr lang="en-US" sz="1100" b="1" dirty="0">
                <a:solidFill>
                  <a:schemeClr val="tx2"/>
                </a:solidFill>
              </a:rPr>
              <a:t>The PNA Method</a:t>
            </a:r>
            <a:endParaRPr lang="en-US" sz="1100" dirty="0"/>
          </a:p>
          <a:p>
            <a:pPr algn="l" indent="0" marL="0">
              <a:buNone/>
            </a:pPr>
            <a:r>
              <a:rPr lang="en-US" sz="1100" dirty="0">
                <a:solidFill>
                  <a:schemeClr val="tx1"/>
                </a:solidFill>
              </a:rPr>
              <a:t>Codified curriculum; PNA Certified Educators</a:t>
            </a:r>
            <a:endParaRPr lang="en-US" sz="1100" dirty="0"/>
          </a:p>
        </p:txBody>
      </p:sp>
      <p:sp>
        <p:nvSpPr>
          <p:cNvPr id="14" name="Part tile 2"/>
          <p:cNvSpPr/>
          <p:nvPr/>
        </p:nvSpPr>
        <p:spPr>
          <a:xfrm>
            <a:off x="2351837" y="3008376"/>
            <a:ext cx="1464869" cy="1014984"/>
          </a:xfrm>
          <a:prstGeom prst="roundRect">
            <a:avLst>
              <a:gd name="adj" fmla="val 5405"/>
            </a:avLst>
          </a:prstGeom>
          <a:solidFill>
            <a:schemeClr val="bg1"/>
          </a:solidFill>
          <a:ln/>
        </p:spPr>
      </p:sp>
      <p:sp>
        <p:nvSpPr>
          <p:cNvPr id="15" name="Part text 2"/>
          <p:cNvSpPr txBox="1"/>
          <p:nvPr/>
        </p:nvSpPr>
        <p:spPr>
          <a:xfrm>
            <a:off x="2461565" y="3099816"/>
            <a:ext cx="1245413" cy="868680"/>
          </a:xfrm>
          <a:prstGeom prst="rect">
            <a:avLst/>
          </a:prstGeom>
          <a:noFill/>
          <a:ln/>
        </p:spPr>
        <p:txBody>
          <a:bodyPr wrap="square" lIns="0" tIns="0" rIns="0" bIns="0" rtlCol="0" anchor="t"/>
          <a:lstStyle/>
          <a:p>
            <a:pPr algn="l" indent="0" marL="0">
              <a:spcAft>
                <a:spcPts val="300"/>
              </a:spcAft>
              <a:buNone/>
            </a:pPr>
            <a:r>
              <a:rPr lang="en-US" sz="1050" b="1" dirty="0">
                <a:solidFill>
                  <a:schemeClr val="tx2"/>
                </a:solidFill>
              </a:rPr>
              <a:t>Counsellor funnel + EMI</a:t>
            </a:r>
            <a:endParaRPr lang="en-US" sz="1050" dirty="0"/>
          </a:p>
          <a:p>
            <a:pPr algn="l" indent="0" marL="0">
              <a:buNone/>
            </a:pPr>
            <a:r>
              <a:rPr lang="en-US" sz="1050" dirty="0">
                <a:solidFill>
                  <a:schemeClr val="tx1"/>
                </a:solidFill>
              </a:rPr>
              <a:t>WhatsApp funnel; closed at a parent visit</a:t>
            </a:r>
            <a:endParaRPr lang="en-US" sz="1050" dirty="0"/>
          </a:p>
        </p:txBody>
      </p:sp>
      <p:sp>
        <p:nvSpPr>
          <p:cNvPr id="16" name="Part tile 3"/>
          <p:cNvSpPr/>
          <p:nvPr/>
        </p:nvSpPr>
        <p:spPr>
          <a:xfrm>
            <a:off x="3953866" y="3008376"/>
            <a:ext cx="1464869" cy="1014984"/>
          </a:xfrm>
          <a:prstGeom prst="roundRect">
            <a:avLst>
              <a:gd name="adj" fmla="val 5405"/>
            </a:avLst>
          </a:prstGeom>
          <a:solidFill>
            <a:schemeClr val="bg1"/>
          </a:solidFill>
          <a:ln/>
        </p:spPr>
      </p:sp>
      <p:sp>
        <p:nvSpPr>
          <p:cNvPr id="17" name="Part text 3"/>
          <p:cNvSpPr txBox="1"/>
          <p:nvPr/>
        </p:nvSpPr>
        <p:spPr>
          <a:xfrm>
            <a:off x="4063594" y="3099816"/>
            <a:ext cx="1245413" cy="868680"/>
          </a:xfrm>
          <a:prstGeom prst="rect">
            <a:avLst/>
          </a:prstGeom>
          <a:noFill/>
          <a:ln/>
        </p:spPr>
        <p:txBody>
          <a:bodyPr wrap="square" lIns="0" tIns="0" rIns="0" bIns="0" rtlCol="0" anchor="t"/>
          <a:lstStyle/>
          <a:p>
            <a:pPr algn="l" indent="0" marL="0">
              <a:spcAft>
                <a:spcPts val="300"/>
              </a:spcAft>
              <a:buNone/>
            </a:pPr>
            <a:r>
              <a:rPr lang="en-US" sz="1100" b="1" dirty="0">
                <a:solidFill>
                  <a:schemeClr val="tx2"/>
                </a:solidFill>
              </a:rPr>
              <a:t>Studio practicum</a:t>
            </a:r>
            <a:endParaRPr lang="en-US" sz="1100" dirty="0"/>
          </a:p>
          <a:p>
            <a:pPr algn="l" indent="0" marL="0">
              <a:buNone/>
            </a:pPr>
            <a:r>
              <a:rPr lang="en-US" sz="1100" dirty="0">
                <a:solidFill>
                  <a:schemeClr val="tx1"/>
                </a:solidFill>
              </a:rPr>
              <a:t>Live-bride practice (separate P&amp;L)</a:t>
            </a:r>
            <a:endParaRPr lang="en-US" sz="1100" dirty="0"/>
          </a:p>
        </p:txBody>
      </p:sp>
      <p:sp>
        <p:nvSpPr>
          <p:cNvPr id="18" name="Part tile 4"/>
          <p:cNvSpPr/>
          <p:nvPr/>
        </p:nvSpPr>
        <p:spPr>
          <a:xfrm>
            <a:off x="5555894" y="3008376"/>
            <a:ext cx="1464869" cy="1014984"/>
          </a:xfrm>
          <a:prstGeom prst="roundRect">
            <a:avLst>
              <a:gd name="adj" fmla="val 5405"/>
            </a:avLst>
          </a:prstGeom>
          <a:solidFill>
            <a:schemeClr val="bg1"/>
          </a:solidFill>
          <a:ln/>
        </p:spPr>
      </p:sp>
      <p:sp>
        <p:nvSpPr>
          <p:cNvPr id="19" name="Part text 4"/>
          <p:cNvSpPr txBox="1"/>
          <p:nvPr/>
        </p:nvSpPr>
        <p:spPr>
          <a:xfrm>
            <a:off x="5665622" y="3099816"/>
            <a:ext cx="1245413" cy="868680"/>
          </a:xfrm>
          <a:prstGeom prst="rect">
            <a:avLst/>
          </a:prstGeom>
          <a:noFill/>
          <a:ln/>
        </p:spPr>
        <p:txBody>
          <a:bodyPr wrap="square" lIns="0" tIns="0" rIns="0" bIns="0" rtlCol="0" anchor="t"/>
          <a:lstStyle/>
          <a:p>
            <a:pPr algn="l" indent="0" marL="0">
              <a:spcAft>
                <a:spcPts val="300"/>
              </a:spcAft>
              <a:buNone/>
            </a:pPr>
            <a:r>
              <a:rPr lang="en-US" sz="1100" b="1" dirty="0">
                <a:solidFill>
                  <a:schemeClr val="tx2"/>
                </a:solidFill>
              </a:rPr>
              <a:t>≤12 batches</a:t>
            </a:r>
            <a:endParaRPr lang="en-US" sz="1100" dirty="0"/>
          </a:p>
          <a:p>
            <a:pPr algn="l" indent="0" marL="0">
              <a:buNone/>
            </a:pPr>
            <a:r>
              <a:rPr lang="en-US" sz="1100" dirty="0">
                <a:solidFill>
                  <a:schemeClr val="tx1"/>
                </a:solidFill>
              </a:rPr>
              <a:t>Trainer-delivered, bridal-specialist</a:t>
            </a:r>
            <a:endParaRPr lang="en-US" sz="1100" dirty="0"/>
          </a:p>
        </p:txBody>
      </p:sp>
      <p:sp>
        <p:nvSpPr>
          <p:cNvPr id="20" name="Part tile 5"/>
          <p:cNvSpPr/>
          <p:nvPr/>
        </p:nvSpPr>
        <p:spPr>
          <a:xfrm>
            <a:off x="7157923" y="3008376"/>
            <a:ext cx="1464869" cy="1014984"/>
          </a:xfrm>
          <a:prstGeom prst="roundRect">
            <a:avLst>
              <a:gd name="adj" fmla="val 5405"/>
            </a:avLst>
          </a:prstGeom>
          <a:solidFill>
            <a:schemeClr val="bg1"/>
          </a:solidFill>
          <a:ln/>
        </p:spPr>
      </p:sp>
      <p:sp>
        <p:nvSpPr>
          <p:cNvPr id="21" name="Part text 5"/>
          <p:cNvSpPr txBox="1"/>
          <p:nvPr/>
        </p:nvSpPr>
        <p:spPr>
          <a:xfrm>
            <a:off x="7267651" y="3099816"/>
            <a:ext cx="1245413" cy="868680"/>
          </a:xfrm>
          <a:prstGeom prst="rect">
            <a:avLst/>
          </a:prstGeom>
          <a:noFill/>
          <a:ln/>
        </p:spPr>
        <p:txBody>
          <a:bodyPr wrap="square" lIns="0" tIns="0" rIns="0" bIns="0" rtlCol="0" anchor="t"/>
          <a:lstStyle/>
          <a:p>
            <a:pPr algn="l" indent="0" marL="0">
              <a:spcAft>
                <a:spcPts val="300"/>
              </a:spcAft>
              <a:buNone/>
            </a:pPr>
            <a:r>
              <a:rPr lang="en-US" sz="1100" b="1" dirty="0">
                <a:solidFill>
                  <a:schemeClr val="tx2"/>
                </a:solidFill>
              </a:rPr>
              <a:t>Published outcomes</a:t>
            </a:r>
            <a:endParaRPr lang="en-US" sz="1100" dirty="0"/>
          </a:p>
          <a:p>
            <a:pPr algn="l" indent="0" marL="0">
              <a:buNone/>
            </a:pPr>
            <a:r>
              <a:rPr lang="en-US" sz="1100" dirty="0">
                <a:solidFill>
                  <a:schemeClr val="tx1"/>
                </a:solidFill>
              </a:rPr>
              <a:t>Outcomes Report; fees and hours public</a:t>
            </a:r>
            <a:endParaRPr lang="en-US" sz="1100" dirty="0"/>
          </a:p>
        </p:txBody>
      </p:sp>
      <p:sp>
        <p:nvSpPr>
          <p:cNvPr id="22" name="Engine 2 card"/>
          <p:cNvSpPr/>
          <p:nvPr/>
        </p:nvSpPr>
        <p:spPr>
          <a:xfrm>
            <a:off x="548640" y="4343400"/>
            <a:ext cx="8275320" cy="914400"/>
          </a:xfrm>
          <a:prstGeom prst="roundRect">
            <a:avLst>
              <a:gd name="adj" fmla="val 8000"/>
            </a:avLst>
          </a:prstGeom>
          <a:solidFill>
            <a:schemeClr val="bg1"/>
          </a:solidFill>
          <a:ln w="9525">
            <a:solidFill>
              <a:srgbClr val="E4DAD5"/>
            </a:solidFill>
            <a:prstDash val="solid"/>
          </a:ln>
        </p:spPr>
      </p:sp>
      <p:sp>
        <p:nvSpPr>
          <p:cNvPr id="23" name="Label 2"/>
          <p:cNvSpPr txBox="1"/>
          <p:nvPr/>
        </p:nvSpPr>
        <p:spPr>
          <a:xfrm>
            <a:off x="749808" y="4453128"/>
            <a:ext cx="4572000" cy="219456"/>
          </a:xfrm>
          <a:prstGeom prst="rect">
            <a:avLst/>
          </a:prstGeom>
          <a:noFill/>
          <a:ln/>
        </p:spPr>
        <p:txBody>
          <a:bodyPr wrap="square" lIns="0" tIns="0" rIns="0" bIns="0" rtlCol="0" anchor="ctr"/>
          <a:lstStyle/>
          <a:p>
            <a:pPr algn="l" indent="0" marL="0">
              <a:buNone/>
            </a:pPr>
            <a:r>
              <a:rPr lang="en-US" sz="1050" b="1" dirty="0">
                <a:solidFill>
                  <a:srgbClr val="A4513F"/>
                </a:solidFill>
              </a:rPr>
              <a:t>ENGINE 2 · REGIONAL DESTINATION (AFTER G2)</a:t>
            </a:r>
            <a:endParaRPr lang="en-US" sz="1050" dirty="0"/>
          </a:p>
        </p:txBody>
      </p:sp>
      <p:sp>
        <p:nvSpPr>
          <p:cNvPr id="24" name="Badge RECOMMENDATION 2"/>
          <p:cNvSpPr txBox="1"/>
          <p:nvPr/>
        </p:nvSpPr>
        <p:spPr>
          <a:xfrm>
            <a:off x="6304556" y="4453128"/>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25" name="Badge HYPOTHESIS"/>
          <p:cNvSpPr txBox="1"/>
          <p:nvPr/>
        </p:nvSpPr>
        <p:spPr>
          <a:xfrm>
            <a:off x="7709125" y="4453128"/>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26" name="Engine 2 text"/>
          <p:cNvSpPr txBox="1"/>
          <p:nvPr/>
        </p:nvSpPr>
        <p:spPr>
          <a:xfrm>
            <a:off x="749808" y="4727448"/>
            <a:ext cx="7872984" cy="457200"/>
          </a:xfrm>
          <a:prstGeom prst="rect">
            <a:avLst/>
          </a:prstGeom>
          <a:noFill/>
          <a:ln/>
        </p:spPr>
        <p:txBody>
          <a:bodyPr wrap="square" lIns="0" tIns="0" rIns="0" bIns="0" rtlCol="0" anchor="t"/>
          <a:lstStyle/>
          <a:p>
            <a:pPr algn="l" indent="0" marL="0">
              <a:buNone/>
            </a:pPr>
            <a:r>
              <a:rPr lang="en-US" sz="1200" dirty="0">
                <a:solidFill>
                  <a:schemeClr val="tx1"/>
                </a:solidFill>
              </a:rPr>
              <a:t>4 weeks live-online pre-work + 5–6 weeks in Chandigarh; vetted women-only stays; parents' orientation; pop-up circuit. </a:t>
            </a:r>
            <a:pPr algn="l" indent="0" marL="0">
              <a:buNone/>
            </a:pPr>
            <a:r>
              <a:rPr lang="en-US" sz="1200" b="1" dirty="0">
                <a:solidFill>
                  <a:schemeClr val="tx1"/>
                </a:solidFill>
              </a:rPr>
              <a:t>Six-student pilot Aug–Sep 2027, scaled at G2.</a:t>
            </a:r>
            <a:endParaRPr lang="en-US" sz="1200" dirty="0"/>
          </a:p>
        </p:txBody>
      </p:sp>
      <p:sp>
        <p:nvSpPr>
          <p:cNvPr id="27" name="Brand strip"/>
          <p:cNvSpPr/>
          <p:nvPr/>
        </p:nvSpPr>
        <p:spPr>
          <a:xfrm>
            <a:off x="548640" y="5394960"/>
            <a:ext cx="8275320" cy="749808"/>
          </a:xfrm>
          <a:prstGeom prst="roundRect">
            <a:avLst>
              <a:gd name="adj" fmla="val 9756"/>
            </a:avLst>
          </a:prstGeom>
          <a:solidFill>
            <a:srgbClr val="F1EAE5"/>
          </a:solidFill>
          <a:ln/>
        </p:spPr>
      </p:sp>
      <p:sp>
        <p:nvSpPr>
          <p:cNvPr id="28" name="Label 3"/>
          <p:cNvSpPr txBox="1"/>
          <p:nvPr/>
        </p:nvSpPr>
        <p:spPr>
          <a:xfrm>
            <a:off x="749808" y="5486400"/>
            <a:ext cx="3657600" cy="219456"/>
          </a:xfrm>
          <a:prstGeom prst="rect">
            <a:avLst/>
          </a:prstGeom>
          <a:noFill/>
          <a:ln/>
        </p:spPr>
        <p:txBody>
          <a:bodyPr wrap="square" lIns="0" tIns="0" rIns="0" bIns="0" rtlCol="0" anchor="ctr"/>
          <a:lstStyle/>
          <a:p>
            <a:pPr algn="l" indent="0" marL="0">
              <a:buNone/>
            </a:pPr>
            <a:r>
              <a:rPr lang="en-US" sz="1050" b="1" dirty="0">
                <a:solidFill>
                  <a:srgbClr val="A4513F"/>
                </a:solidFill>
              </a:rPr>
              <a:t>BRAND ARCHITECTURE</a:t>
            </a:r>
            <a:endParaRPr lang="en-US" sz="1050" dirty="0"/>
          </a:p>
        </p:txBody>
      </p:sp>
      <p:sp>
        <p:nvSpPr>
          <p:cNvPr id="29" name="Masterbrand"/>
          <p:cNvSpPr txBox="1"/>
          <p:nvPr/>
        </p:nvSpPr>
        <p:spPr>
          <a:xfrm>
            <a:off x="749808" y="5779008"/>
            <a:ext cx="2232395"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Priyanka Nanda Makeup Academy</a:t>
            </a:r>
            <a:endParaRPr lang="en-US" sz="1100" dirty="0"/>
          </a:p>
        </p:txBody>
      </p:sp>
      <p:sp>
        <p:nvSpPr>
          <p:cNvPr id="30" name="Brand arrow"/>
          <p:cNvSpPr txBox="1"/>
          <p:nvPr/>
        </p:nvSpPr>
        <p:spPr>
          <a:xfrm>
            <a:off x="3055355" y="5779008"/>
            <a:ext cx="274320" cy="310896"/>
          </a:xfrm>
          <a:prstGeom prst="rect">
            <a:avLst/>
          </a:prstGeom>
          <a:noFill/>
          <a:ln/>
        </p:spPr>
        <p:txBody>
          <a:bodyPr wrap="square" lIns="0" tIns="0" rIns="0" bIns="0" rtlCol="0" anchor="ctr"/>
          <a:lstStyle/>
          <a:p>
            <a:pPr algn="ctr" indent="0" marL="0">
              <a:buNone/>
            </a:pPr>
            <a:r>
              <a:rPr lang="en-US" sz="1400" b="1" dirty="0">
                <a:solidFill>
                  <a:schemeClr val="accent2"/>
                </a:solidFill>
              </a:rPr>
              <a:t>→</a:t>
            </a:r>
            <a:endParaRPr lang="en-US" sz="1400" dirty="0"/>
          </a:p>
        </p:txBody>
      </p:sp>
      <p:sp>
        <p:nvSpPr>
          <p:cNvPr id="31" name="Sub-brands"/>
          <p:cNvSpPr txBox="1"/>
          <p:nvPr/>
        </p:nvSpPr>
        <p:spPr>
          <a:xfrm>
            <a:off x="3402827" y="5705856"/>
            <a:ext cx="5238253" cy="365760"/>
          </a:xfrm>
          <a:prstGeom prst="rect">
            <a:avLst/>
          </a:prstGeom>
          <a:noFill/>
          <a:ln/>
        </p:spPr>
        <p:txBody>
          <a:bodyPr wrap="square" lIns="0" tIns="0" rIns="0" bIns="0" rtlCol="0" anchor="ctr"/>
          <a:lstStyle/>
          <a:p>
            <a:pPr algn="l" indent="0" marL="0">
              <a:spcAft>
                <a:spcPts val="200"/>
              </a:spcAft>
              <a:buNone/>
            </a:pPr>
            <a:r>
              <a:rPr lang="en-US" sz="1000" b="1" dirty="0">
                <a:solidFill>
                  <a:schemeClr val="tx2"/>
                </a:solidFill>
              </a:rPr>
              <a:t>The PNA Method  ·  PNA Certified Educator  ·  PNA Alumni / "Find a PNA Artist"  ·  PNA Pro Circle</a:t>
            </a:r>
            <a:endParaRPr lang="en-US" sz="1000" dirty="0"/>
          </a:p>
          <a:p>
            <a:pPr algn="l" indent="0" marL="0">
              <a:buNone/>
            </a:pPr>
            <a:r>
              <a:rPr lang="en-US" sz="1000" i="1" dirty="0">
                <a:solidFill>
                  <a:srgbClr val="6B5F67"/>
                </a:solidFill>
              </a:rPr>
              <a:t>Sister business: Priyanka Nanda Studio</a:t>
            </a:r>
            <a:endParaRPr lang="en-US" sz="1000" dirty="0"/>
          </a:p>
        </p:txBody>
      </p:sp>
      <p:sp>
        <p:nvSpPr>
          <p:cNvPr id="32" name="Chart card"/>
          <p:cNvSpPr/>
          <p:nvPr/>
        </p:nvSpPr>
        <p:spPr>
          <a:xfrm>
            <a:off x="9098280" y="1920240"/>
            <a:ext cx="2544775" cy="4224528"/>
          </a:xfrm>
          <a:prstGeom prst="roundRect">
            <a:avLst>
              <a:gd name="adj" fmla="val 2875"/>
            </a:avLst>
          </a:prstGeom>
          <a:solidFill>
            <a:schemeClr val="bg1"/>
          </a:solidFill>
          <a:ln w="9525">
            <a:solidFill>
              <a:srgbClr val="E4DAD5"/>
            </a:solidFill>
            <a:prstDash val="solid"/>
          </a:ln>
        </p:spPr>
      </p:sp>
      <p:sp>
        <p:nvSpPr>
          <p:cNvPr id="33" name="Chart title"/>
          <p:cNvSpPr txBox="1"/>
          <p:nvPr/>
        </p:nvSpPr>
        <p:spPr>
          <a:xfrm>
            <a:off x="9262872" y="2084832"/>
            <a:ext cx="2215591" cy="212281"/>
          </a:xfrm>
          <a:prstGeom prst="rect">
            <a:avLst/>
          </a:prstGeom>
          <a:noFill/>
          <a:ln/>
        </p:spPr>
        <p:txBody>
          <a:bodyPr wrap="square" lIns="0" tIns="0" rIns="0" bIns="0" rtlCol="0" anchor="t"/>
          <a:lstStyle/>
          <a:p>
            <a:pPr algn="l" indent="0" marL="0">
              <a:buNone/>
            </a:pPr>
            <a:r>
              <a:rPr lang="en-US" sz="1250" b="1" dirty="0">
                <a:solidFill>
                  <a:schemeClr val="tx1"/>
                </a:solidFill>
              </a:rPr>
              <a:t>Founder share of contact hours</a:t>
            </a:r>
            <a:endParaRPr lang="en-US" sz="1250" dirty="0"/>
          </a:p>
        </p:txBody>
      </p:sp>
      <p:sp>
        <p:nvSpPr>
          <p:cNvPr id="34" name="Chart unit"/>
          <p:cNvSpPr txBox="1"/>
          <p:nvPr/>
        </p:nvSpPr>
        <p:spPr>
          <a:xfrm>
            <a:off x="9262872" y="2306257"/>
            <a:ext cx="2215591" cy="181242"/>
          </a:xfrm>
          <a:prstGeom prst="rect">
            <a:avLst/>
          </a:prstGeom>
          <a:noFill/>
          <a:ln/>
        </p:spPr>
        <p:txBody>
          <a:bodyPr wrap="square" lIns="0" tIns="0" rIns="0" bIns="0" rtlCol="0" anchor="t"/>
          <a:lstStyle/>
          <a:p>
            <a:pPr algn="l" indent="0" marL="0">
              <a:buNone/>
            </a:pPr>
            <a:r>
              <a:rPr lang="en-US" sz="1050" dirty="0">
                <a:solidFill>
                  <a:srgbClr val="6B5F67"/>
                </a:solidFill>
              </a:rPr>
              <a:t>Ceiling at each month</a:t>
            </a:r>
            <a:endParaRPr lang="en-US" sz="1050" dirty="0"/>
          </a:p>
        </p:txBody>
      </p:sp>
      <p:sp>
        <p:nvSpPr>
          <p:cNvPr id="35" name="Badge RECOMMENDATION 3"/>
          <p:cNvSpPr txBox="1"/>
          <p:nvPr/>
        </p:nvSpPr>
        <p:spPr>
          <a:xfrm>
            <a:off x="9262872" y="5449824"/>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graphicFrame>
        <p:nvGraphicFramePr>
          <p:cNvPr id="36" name="Founder share chart" descr="Founder share chart"/>
          <p:cNvGraphicFramePr/>
          <p:nvPr/>
        </p:nvGraphicFramePr>
        <p:xfrm>
          <a:off x="9180576" y="2524074"/>
          <a:ext cx="2380183" cy="2880030"/>
        </p:xfrm>
        <a:graphic xmlns:a="http://schemas.openxmlformats.org/drawingml/2006/main">
          <a:graphicData uri="http://schemas.openxmlformats.org/drawingml/2006/chart">
            <c:chart xmlns:c="http://schemas.openxmlformats.org/drawingml/2006/chart" r:id="rId1"/>
          </a:graphicData>
        </a:graphic>
      </p:graphicFrame>
      <p:sp>
        <p:nvSpPr>
          <p:cNvPr id="37" name="Gauge caption"/>
          <p:cNvSpPr txBox="1"/>
          <p:nvPr/>
        </p:nvSpPr>
        <p:spPr>
          <a:xfrm>
            <a:off x="9262872" y="5705856"/>
            <a:ext cx="2215591" cy="347472"/>
          </a:xfrm>
          <a:prstGeom prst="rect">
            <a:avLst/>
          </a:prstGeom>
          <a:noFill/>
          <a:ln/>
        </p:spPr>
        <p:txBody>
          <a:bodyPr wrap="square" lIns="0" tIns="0" rIns="0" bIns="0" rtlCol="0" anchor="t"/>
          <a:lstStyle/>
          <a:p>
            <a:pPr algn="l" indent="0" marL="0">
              <a:buNone/>
            </a:pPr>
            <a:r>
              <a:rPr lang="en-US" sz="1100" i="1" dirty="0">
                <a:solidFill>
                  <a:srgbClr val="6B5F67"/>
                </a:solidFill>
              </a:rPr>
              <a:t>Each step conditional on trainer parity</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RECOMMENDATION · GEOGRAPHY AND GATES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Pull students to Chandigarh before opening anywhere; sites only when evidence demands</a:t>
            </a:r>
            <a:endParaRPr lang="en-US" sz="2800" dirty="0"/>
          </a:p>
        </p:txBody>
      </p:sp>
      <p:sp>
        <p:nvSpPr>
          <p:cNvPr id="4" name="Subtitle"/>
          <p:cNvSpPr txBox="1"/>
          <p:nvPr/>
        </p:nvSpPr>
        <p:spPr>
          <a:xfrm>
            <a:off x="548640" y="1531112"/>
            <a:ext cx="11094415" cy="261607"/>
          </a:xfrm>
          <a:prstGeom prst="rect">
            <a:avLst/>
          </a:prstGeom>
          <a:noFill/>
          <a:ln/>
        </p:spPr>
        <p:txBody>
          <a:bodyPr wrap="square" lIns="0" tIns="0" rIns="0" bIns="0" rtlCol="0" anchor="t"/>
          <a:lstStyle/>
          <a:p>
            <a:pPr algn="l" indent="0" marL="0">
              <a:buNone/>
            </a:pPr>
            <a:r>
              <a:rPr lang="en-US" sz="1450" dirty="0">
                <a:solidFill>
                  <a:srgbClr val="6B5F67"/>
                </a:solidFill>
              </a:rPr>
              <a:t>Flagship → destination learning (G2) → partner-hosted Ludhiana satellite (G3a) → licensing (G3b); no owned centre and no NCR in three years.</a:t>
            </a:r>
            <a:endParaRPr lang="en-US" sz="145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geographic_expansion.md §0–§2, §4.1, §6; recommended_strategy.md §4.2–4.3, §6.2, §7.1; economics §3 #9; S-CHD-01/06/12/13/22</a:t>
            </a:r>
            <a:pPr algn="l" indent="0" marL="0">
              <a:buNone/>
            </a:pPr>
            <a:r>
              <a:rPr lang="en-US" sz="900" b="1" dirty="0">
                <a:solidFill>
                  <a:srgbClr val="6B5F67"/>
                </a:solidFill>
              </a:rPr>
              <a:t>   Note: </a:t>
            </a:r>
            <a:pPr algn="l" indent="0" marL="0">
              <a:buNone/>
            </a:pPr>
            <a:r>
              <a:rPr lang="en-US" sz="900" dirty="0">
                <a:solidFill>
                  <a:srgbClr val="6B5F67"/>
                </a:solidFill>
              </a:rPr>
              <a:t>₹ lakh per year at Base rates, directional. Feeder roles: RECOMMENDATION on ESTIMATE pools.</a:t>
            </a:r>
            <a:endParaRPr lang="en-US" sz="900" dirty="0"/>
          </a:p>
        </p:txBody>
      </p:sp>
      <p:sp>
        <p:nvSpPr>
          <p:cNvPr id="7" name="Gate spine"/>
          <p:cNvSpPr/>
          <p:nvPr/>
        </p:nvSpPr>
        <p:spPr>
          <a:xfrm>
            <a:off x="1866862" y="2203704"/>
            <a:ext cx="8457971" cy="0"/>
          </a:xfrm>
          <a:prstGeom prst="line">
            <a:avLst/>
          </a:prstGeom>
          <a:noFill/>
          <a:ln w="25400">
            <a:solidFill>
              <a:srgbClr val="C9BCB5"/>
            </a:solidFill>
            <a:prstDash val="solid"/>
          </a:ln>
        </p:spPr>
      </p:sp>
      <p:sp>
        <p:nvSpPr>
          <p:cNvPr id="8" name="Gate node"/>
          <p:cNvSpPr txBox="1"/>
          <p:nvPr/>
        </p:nvSpPr>
        <p:spPr>
          <a:xfrm>
            <a:off x="1583398" y="1920240"/>
            <a:ext cx="566928" cy="566928"/>
          </a:xfrm>
          <a:prstGeom prst="ellipse">
            <a:avLst>
              <a:gd name="adj" fmla="val 50000"/>
            </a:avLst>
          </a:prstGeom>
          <a:solidFill>
            <a:schemeClr val="accent2"/>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G1</a:t>
            </a:r>
            <a:endParaRPr lang="en-US" sz="1500" dirty="0"/>
          </a:p>
        </p:txBody>
      </p:sp>
      <p:sp>
        <p:nvSpPr>
          <p:cNvPr id="9" name="Gate name"/>
          <p:cNvSpPr txBox="1"/>
          <p:nvPr/>
        </p:nvSpPr>
        <p:spPr>
          <a:xfrm>
            <a:off x="548640" y="2596896"/>
            <a:ext cx="2636444" cy="403504"/>
          </a:xfrm>
          <a:prstGeom prst="rect">
            <a:avLst/>
          </a:prstGeom>
          <a:noFill/>
          <a:ln/>
        </p:spPr>
        <p:txBody>
          <a:bodyPr wrap="square" lIns="0" tIns="0" rIns="0" bIns="0" rtlCol="0" anchor="t"/>
          <a:lstStyle/>
          <a:p>
            <a:pPr algn="ctr" indent="0" marL="0">
              <a:buNone/>
            </a:pPr>
            <a:r>
              <a:rPr lang="en-US" sz="1300" b="1" dirty="0">
                <a:solidFill>
                  <a:schemeClr val="tx1"/>
                </a:solidFill>
              </a:rPr>
              <a:t>Stage 1 · Flagship, M0–18</a:t>
            </a:r>
            <a:endParaRPr lang="en-US" sz="1300" dirty="0"/>
          </a:p>
        </p:txBody>
      </p:sp>
      <p:sp>
        <p:nvSpPr>
          <p:cNvPr id="10" name="Gate timing"/>
          <p:cNvSpPr txBox="1"/>
          <p:nvPr/>
        </p:nvSpPr>
        <p:spPr>
          <a:xfrm>
            <a:off x="548640" y="3000400"/>
            <a:ext cx="2636444" cy="219456"/>
          </a:xfrm>
          <a:prstGeom prst="rect">
            <a:avLst/>
          </a:prstGeom>
          <a:noFill/>
          <a:ln/>
        </p:spPr>
        <p:txBody>
          <a:bodyPr wrap="square" lIns="0" tIns="0" rIns="0" bIns="0" rtlCol="0" anchor="ctr"/>
          <a:lstStyle/>
          <a:p>
            <a:pPr algn="ctr" indent="0" marL="0">
              <a:buNone/>
            </a:pPr>
            <a:r>
              <a:rPr lang="en-US" sz="1100" b="1" dirty="0">
                <a:solidFill>
                  <a:srgbClr val="A4513F"/>
                </a:solidFill>
              </a:rPr>
              <a:t>G0 Jan 2027 → G1 end-Jul 2027</a:t>
            </a:r>
            <a:endParaRPr lang="en-US" sz="1100" dirty="0"/>
          </a:p>
        </p:txBody>
      </p:sp>
      <p:sp>
        <p:nvSpPr>
          <p:cNvPr id="11" name="Gate card"/>
          <p:cNvSpPr/>
          <p:nvPr/>
        </p:nvSpPr>
        <p:spPr>
          <a:xfrm>
            <a:off x="548640" y="3329584"/>
            <a:ext cx="2636444" cy="1224128"/>
          </a:xfrm>
          <a:prstGeom prst="roundRect">
            <a:avLst>
              <a:gd name="adj" fmla="val 5976"/>
            </a:avLst>
          </a:prstGeom>
          <a:solidFill>
            <a:schemeClr val="bg1"/>
          </a:solidFill>
          <a:ln w="9525">
            <a:solidFill>
              <a:srgbClr val="E4DAD5"/>
            </a:solidFill>
            <a:prstDash val="solid"/>
          </a:ln>
        </p:spPr>
      </p:sp>
      <p:sp>
        <p:nvSpPr>
          <p:cNvPr id="12" name="Gate criteria"/>
          <p:cNvSpPr txBox="1"/>
          <p:nvPr/>
        </p:nvSpPr>
        <p:spPr>
          <a:xfrm>
            <a:off x="694944" y="3475888"/>
            <a:ext cx="2343836" cy="93152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chemeClr val="tx1"/>
                </a:solidFill>
              </a:rPr>
              <a:t>Two cohorts ≥6 of 8 studio stations</a:t>
            </a:r>
            <a:endParaRPr lang="en-US" sz="1200" dirty="0"/>
          </a:p>
          <a:p>
            <a:pPr algn="l" marL="152400" indent="-152400">
              <a:spcAft>
                <a:spcPts val="400"/>
              </a:spcAft>
              <a:buSzPct val="100000"/>
              <a:buChar char="•"/>
            </a:pPr>
            <a:r>
              <a:rPr lang="en-US" sz="1050" dirty="0">
                <a:solidFill>
                  <a:schemeClr val="tx1"/>
                </a:solidFill>
              </a:rPr>
              <a:t>Trainer parity within 0.3/5</a:t>
            </a:r>
            <a:endParaRPr lang="en-US" sz="1200" dirty="0"/>
          </a:p>
          <a:p>
            <a:pPr algn="l" marL="152400" indent="-152400">
              <a:spcAft>
                <a:spcPts val="400"/>
              </a:spcAft>
              <a:buSzPct val="100000"/>
              <a:buChar char="•"/>
            </a:pPr>
            <a:r>
              <a:rPr lang="en-US" sz="1050" dirty="0">
                <a:solidFill>
                  <a:schemeClr val="tx1"/>
                </a:solidFill>
              </a:rPr>
              <a:t>Cash ≤₹15L</a:t>
            </a:r>
            <a:endParaRPr lang="en-US" sz="1200" dirty="0"/>
          </a:p>
        </p:txBody>
      </p:sp>
      <p:sp>
        <p:nvSpPr>
          <p:cNvPr id="13" name="Gate node 2"/>
          <p:cNvSpPr txBox="1"/>
          <p:nvPr/>
        </p:nvSpPr>
        <p:spPr>
          <a:xfrm>
            <a:off x="4402722" y="1920240"/>
            <a:ext cx="566928" cy="566928"/>
          </a:xfrm>
          <a:prstGeom prst="ellipse">
            <a:avLst>
              <a:gd name="adj" fmla="val 50000"/>
            </a:avLst>
          </a:prstGeom>
          <a:solidFill>
            <a:schemeClr val="tx2"/>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G2</a:t>
            </a:r>
            <a:endParaRPr lang="en-US" sz="1500" dirty="0"/>
          </a:p>
        </p:txBody>
      </p:sp>
      <p:sp>
        <p:nvSpPr>
          <p:cNvPr id="14" name="Gate name 2"/>
          <p:cNvSpPr txBox="1"/>
          <p:nvPr/>
        </p:nvSpPr>
        <p:spPr>
          <a:xfrm>
            <a:off x="3367964" y="2596896"/>
            <a:ext cx="2636444" cy="403504"/>
          </a:xfrm>
          <a:prstGeom prst="rect">
            <a:avLst/>
          </a:prstGeom>
          <a:noFill/>
          <a:ln/>
        </p:spPr>
        <p:txBody>
          <a:bodyPr wrap="square" lIns="0" tIns="0" rIns="0" bIns="0" rtlCol="0" anchor="t"/>
          <a:lstStyle/>
          <a:p>
            <a:pPr algn="ctr" indent="0" marL="0">
              <a:buNone/>
            </a:pPr>
            <a:r>
              <a:rPr lang="en-US" sz="1300" b="1" dirty="0">
                <a:solidFill>
                  <a:schemeClr val="tx1"/>
                </a:solidFill>
              </a:rPr>
              <a:t>Stage 2a · Regional Destination Engine</a:t>
            </a:r>
            <a:endParaRPr lang="en-US" sz="1300" dirty="0"/>
          </a:p>
        </p:txBody>
      </p:sp>
      <p:sp>
        <p:nvSpPr>
          <p:cNvPr id="15" name="Gate timing 2"/>
          <p:cNvSpPr txBox="1"/>
          <p:nvPr/>
        </p:nvSpPr>
        <p:spPr>
          <a:xfrm>
            <a:off x="3367964" y="3000400"/>
            <a:ext cx="2636444" cy="219456"/>
          </a:xfrm>
          <a:prstGeom prst="rect">
            <a:avLst/>
          </a:prstGeom>
          <a:noFill/>
          <a:ln/>
        </p:spPr>
        <p:txBody>
          <a:bodyPr wrap="square" lIns="0" tIns="0" rIns="0" bIns="0" rtlCol="0" anchor="ctr"/>
          <a:lstStyle/>
          <a:p>
            <a:pPr algn="ctr" indent="0" marL="0">
              <a:buNone/>
            </a:pPr>
            <a:r>
              <a:rPr lang="en-US" sz="1100" b="1" dirty="0">
                <a:solidFill>
                  <a:srgbClr val="A4513F"/>
                </a:solidFill>
              </a:rPr>
              <a:t>G2 Jan–Apr 2028</a:t>
            </a:r>
            <a:endParaRPr lang="en-US" sz="1100" dirty="0"/>
          </a:p>
        </p:txBody>
      </p:sp>
      <p:sp>
        <p:nvSpPr>
          <p:cNvPr id="16" name="Gate card 2"/>
          <p:cNvSpPr/>
          <p:nvPr/>
        </p:nvSpPr>
        <p:spPr>
          <a:xfrm>
            <a:off x="3367964" y="3329584"/>
            <a:ext cx="2636444" cy="1224128"/>
          </a:xfrm>
          <a:prstGeom prst="roundRect">
            <a:avLst>
              <a:gd name="adj" fmla="val 5976"/>
            </a:avLst>
          </a:prstGeom>
          <a:solidFill>
            <a:schemeClr val="bg1"/>
          </a:solidFill>
          <a:ln w="9525">
            <a:solidFill>
              <a:srgbClr val="E4DAD5"/>
            </a:solidFill>
            <a:prstDash val="solid"/>
          </a:ln>
        </p:spPr>
      </p:sp>
      <p:sp>
        <p:nvSpPr>
          <p:cNvPr id="17" name="Gate criteria 2"/>
          <p:cNvSpPr txBox="1"/>
          <p:nvPr/>
        </p:nvSpPr>
        <p:spPr>
          <a:xfrm>
            <a:off x="3514268" y="3475888"/>
            <a:ext cx="2343836" cy="93152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chemeClr val="tx1"/>
                </a:solidFill>
              </a:rPr>
              <a:t>Utilisation ≥75% for 2 quarters</a:t>
            </a:r>
            <a:endParaRPr lang="en-US" sz="1200" dirty="0"/>
          </a:p>
          <a:p>
            <a:pPr algn="l" marL="152400" indent="-152400">
              <a:spcAft>
                <a:spcPts val="400"/>
              </a:spcAft>
              <a:buSzPct val="100000"/>
              <a:buChar char="•"/>
            </a:pPr>
            <a:r>
              <a:rPr lang="en-US" sz="1050" dirty="0">
                <a:solidFill>
                  <a:schemeClr val="tx1"/>
                </a:solidFill>
              </a:rPr>
              <a:t>Out-of-town ≥20% of QLs and ≥15% of enrolments before regional spend</a:t>
            </a:r>
            <a:endParaRPr lang="en-US" sz="1200" dirty="0"/>
          </a:p>
          <a:p>
            <a:pPr algn="l" marL="152400" indent="-152400">
              <a:spcAft>
                <a:spcPts val="400"/>
              </a:spcAft>
              <a:buSzPct val="100000"/>
              <a:buChar char="•"/>
            </a:pPr>
            <a:r>
              <a:rPr lang="en-US" sz="1050" dirty="0">
                <a:solidFill>
                  <a:schemeClr val="tx1"/>
                </a:solidFill>
              </a:rPr>
              <a:t>Destination pilot completion ≥85%</a:t>
            </a:r>
            <a:endParaRPr lang="en-US" sz="1200" dirty="0"/>
          </a:p>
        </p:txBody>
      </p:sp>
      <p:sp>
        <p:nvSpPr>
          <p:cNvPr id="18" name="Gate node 3"/>
          <p:cNvSpPr txBox="1"/>
          <p:nvPr/>
        </p:nvSpPr>
        <p:spPr>
          <a:xfrm>
            <a:off x="7214140" y="1920240"/>
            <a:ext cx="582739" cy="566928"/>
          </a:xfrm>
          <a:prstGeom prst="roundRect">
            <a:avLst>
              <a:gd name="adj" fmla="val 50000"/>
            </a:avLst>
          </a:prstGeom>
          <a:solidFill>
            <a:schemeClr val="tx2"/>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G3a</a:t>
            </a:r>
            <a:endParaRPr lang="en-US" sz="1500" dirty="0"/>
          </a:p>
        </p:txBody>
      </p:sp>
      <p:sp>
        <p:nvSpPr>
          <p:cNvPr id="19" name="Gate name 3"/>
          <p:cNvSpPr txBox="1"/>
          <p:nvPr/>
        </p:nvSpPr>
        <p:spPr>
          <a:xfrm>
            <a:off x="6187288" y="2596896"/>
            <a:ext cx="2636444" cy="403504"/>
          </a:xfrm>
          <a:prstGeom prst="rect">
            <a:avLst/>
          </a:prstGeom>
          <a:noFill/>
          <a:ln/>
        </p:spPr>
        <p:txBody>
          <a:bodyPr wrap="square" lIns="0" tIns="0" rIns="0" bIns="0" rtlCol="0" anchor="t"/>
          <a:lstStyle/>
          <a:p>
            <a:pPr algn="ctr" indent="0" marL="0">
              <a:buNone/>
            </a:pPr>
            <a:r>
              <a:rPr lang="en-US" sz="1300" b="1" dirty="0">
                <a:solidFill>
                  <a:schemeClr val="tx1"/>
                </a:solidFill>
              </a:rPr>
              <a:t>Stage 2b · Partner-hosted Ludhiana satellite</a:t>
            </a:r>
            <a:endParaRPr lang="en-US" sz="1300" dirty="0"/>
          </a:p>
        </p:txBody>
      </p:sp>
      <p:sp>
        <p:nvSpPr>
          <p:cNvPr id="20" name="Gate timing 3"/>
          <p:cNvSpPr txBox="1"/>
          <p:nvPr/>
        </p:nvSpPr>
        <p:spPr>
          <a:xfrm>
            <a:off x="6187288" y="3000400"/>
            <a:ext cx="2636444" cy="219456"/>
          </a:xfrm>
          <a:prstGeom prst="rect">
            <a:avLst/>
          </a:prstGeom>
          <a:noFill/>
          <a:ln/>
        </p:spPr>
        <p:txBody>
          <a:bodyPr wrap="square" lIns="0" tIns="0" rIns="0" bIns="0" rtlCol="0" anchor="ctr"/>
          <a:lstStyle/>
          <a:p>
            <a:pPr algn="ctr" indent="0" marL="0">
              <a:buNone/>
            </a:pPr>
            <a:r>
              <a:rPr lang="en-US" sz="1100" b="1" dirty="0">
                <a:solidFill>
                  <a:srgbClr val="A4513F"/>
                </a:solidFill>
              </a:rPr>
              <a:t>G3a ≥ Oct 2028</a:t>
            </a:r>
            <a:endParaRPr lang="en-US" sz="1100" dirty="0"/>
          </a:p>
        </p:txBody>
      </p:sp>
      <p:sp>
        <p:nvSpPr>
          <p:cNvPr id="21" name="Gate card 3"/>
          <p:cNvSpPr/>
          <p:nvPr/>
        </p:nvSpPr>
        <p:spPr>
          <a:xfrm>
            <a:off x="6187288" y="3329584"/>
            <a:ext cx="2636444" cy="1224128"/>
          </a:xfrm>
          <a:prstGeom prst="roundRect">
            <a:avLst>
              <a:gd name="adj" fmla="val 5976"/>
            </a:avLst>
          </a:prstGeom>
          <a:solidFill>
            <a:schemeClr val="bg1"/>
          </a:solidFill>
          <a:ln w="9525">
            <a:solidFill>
              <a:srgbClr val="E4DAD5"/>
            </a:solidFill>
            <a:prstDash val="solid"/>
          </a:ln>
        </p:spPr>
      </p:sp>
      <p:sp>
        <p:nvSpPr>
          <p:cNvPr id="22" name="Gate criteria 3"/>
          <p:cNvSpPr txBox="1"/>
          <p:nvPr/>
        </p:nvSpPr>
        <p:spPr>
          <a:xfrm>
            <a:off x="6333592" y="3475888"/>
            <a:ext cx="2343836" cy="93152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chemeClr val="tx1"/>
                </a:solidFill>
              </a:rPr>
              <a:t>Utilisation ≥85% for 6 months, waitlist ≥15%</a:t>
            </a:r>
            <a:endParaRPr lang="en-US" sz="1200" dirty="0"/>
          </a:p>
          <a:p>
            <a:pPr algn="l" marL="152400" indent="-152400">
              <a:spcAft>
                <a:spcPts val="400"/>
              </a:spcAft>
              <a:buSzPct val="100000"/>
              <a:buChar char="•"/>
            </a:pPr>
            <a:r>
              <a:rPr lang="en-US" sz="1050" dirty="0">
                <a:solidFill>
                  <a:schemeClr val="tx1"/>
                </a:solidFill>
              </a:rPr>
              <a:t>One city ≥25% of out-of-town enrolments</a:t>
            </a:r>
            <a:endParaRPr lang="en-US" sz="1200" dirty="0"/>
          </a:p>
          <a:p>
            <a:pPr algn="l" marL="152400" indent="-152400">
              <a:spcAft>
                <a:spcPts val="400"/>
              </a:spcAft>
              <a:buSzPct val="100000"/>
              <a:buChar char="•"/>
            </a:pPr>
            <a:r>
              <a:rPr lang="en-US" sz="1050" dirty="0">
                <a:solidFill>
                  <a:schemeClr val="tx1"/>
                </a:solidFill>
              </a:rPr>
              <a:t>Trainer bench ≥4</a:t>
            </a:r>
            <a:endParaRPr lang="en-US" sz="1200" dirty="0"/>
          </a:p>
        </p:txBody>
      </p:sp>
      <p:sp>
        <p:nvSpPr>
          <p:cNvPr id="23" name="Gate node 4"/>
          <p:cNvSpPr txBox="1"/>
          <p:nvPr/>
        </p:nvSpPr>
        <p:spPr>
          <a:xfrm>
            <a:off x="10029368" y="1920240"/>
            <a:ext cx="590931" cy="566928"/>
          </a:xfrm>
          <a:prstGeom prst="roundRect">
            <a:avLst>
              <a:gd name="adj" fmla="val 50000"/>
            </a:avLst>
          </a:prstGeom>
          <a:solidFill>
            <a:schemeClr val="tx2"/>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G3b</a:t>
            </a:r>
            <a:endParaRPr lang="en-US" sz="1500" dirty="0"/>
          </a:p>
        </p:txBody>
      </p:sp>
      <p:sp>
        <p:nvSpPr>
          <p:cNvPr id="24" name="Gate name 4"/>
          <p:cNvSpPr txBox="1"/>
          <p:nvPr/>
        </p:nvSpPr>
        <p:spPr>
          <a:xfrm>
            <a:off x="9006611" y="2596896"/>
            <a:ext cx="2636444" cy="403504"/>
          </a:xfrm>
          <a:prstGeom prst="rect">
            <a:avLst/>
          </a:prstGeom>
          <a:noFill/>
          <a:ln/>
        </p:spPr>
        <p:txBody>
          <a:bodyPr wrap="square" lIns="0" tIns="0" rIns="0" bIns="0" rtlCol="0" anchor="t"/>
          <a:lstStyle/>
          <a:p>
            <a:pPr algn="ctr" indent="0" marL="0">
              <a:buNone/>
            </a:pPr>
            <a:r>
              <a:rPr lang="en-US" sz="1300" b="1" dirty="0">
                <a:solidFill>
                  <a:schemeClr val="tx1"/>
                </a:solidFill>
              </a:rPr>
              <a:t>Stage 3 · National reach / licensing</a:t>
            </a:r>
            <a:endParaRPr lang="en-US" sz="1300" dirty="0"/>
          </a:p>
        </p:txBody>
      </p:sp>
      <p:sp>
        <p:nvSpPr>
          <p:cNvPr id="25" name="Gate timing 4"/>
          <p:cNvSpPr txBox="1"/>
          <p:nvPr/>
        </p:nvSpPr>
        <p:spPr>
          <a:xfrm>
            <a:off x="9006611" y="3000400"/>
            <a:ext cx="2636444" cy="219456"/>
          </a:xfrm>
          <a:prstGeom prst="rect">
            <a:avLst/>
          </a:prstGeom>
          <a:noFill/>
          <a:ln/>
        </p:spPr>
        <p:txBody>
          <a:bodyPr wrap="square" lIns="0" tIns="0" rIns="0" bIns="0" rtlCol="0" anchor="ctr"/>
          <a:lstStyle/>
          <a:p>
            <a:pPr algn="ctr" indent="0" marL="0">
              <a:buNone/>
            </a:pPr>
            <a:r>
              <a:rPr lang="en-US" sz="1100" b="1" dirty="0">
                <a:solidFill>
                  <a:srgbClr val="A4513F"/>
                </a:solidFill>
              </a:rPr>
              <a:t>G3b ≥ M30–36</a:t>
            </a:r>
            <a:endParaRPr lang="en-US" sz="1100" dirty="0"/>
          </a:p>
        </p:txBody>
      </p:sp>
      <p:sp>
        <p:nvSpPr>
          <p:cNvPr id="26" name="Gate card 4"/>
          <p:cNvSpPr/>
          <p:nvPr/>
        </p:nvSpPr>
        <p:spPr>
          <a:xfrm>
            <a:off x="9006611" y="3329584"/>
            <a:ext cx="2636444" cy="1224128"/>
          </a:xfrm>
          <a:prstGeom prst="roundRect">
            <a:avLst>
              <a:gd name="adj" fmla="val 5976"/>
            </a:avLst>
          </a:prstGeom>
          <a:solidFill>
            <a:schemeClr val="bg1"/>
          </a:solidFill>
          <a:ln w="9525">
            <a:solidFill>
              <a:srgbClr val="E4DAD5"/>
            </a:solidFill>
            <a:prstDash val="solid"/>
          </a:ln>
        </p:spPr>
      </p:sp>
      <p:sp>
        <p:nvSpPr>
          <p:cNvPr id="27" name="Gate criteria 4"/>
          <p:cNvSpPr txBox="1"/>
          <p:nvPr/>
        </p:nvSpPr>
        <p:spPr>
          <a:xfrm>
            <a:off x="9152915" y="3475888"/>
            <a:ext cx="2343836" cy="93152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chemeClr val="tx1"/>
                </a:solidFill>
              </a:rPr>
              <a:t>One non-Chandigarh site 12 months without founder teaching</a:t>
            </a:r>
            <a:endParaRPr lang="en-US" sz="1200" dirty="0"/>
          </a:p>
          <a:p>
            <a:pPr algn="l" marL="152400" indent="-152400">
              <a:spcAft>
                <a:spcPts val="400"/>
              </a:spcAft>
              <a:buSzPct val="100000"/>
              <a:buChar char="•"/>
            </a:pPr>
            <a:r>
              <a:rPr lang="en-US" sz="1050" dirty="0">
                <a:solidFill>
                  <a:schemeClr val="tx1"/>
                </a:solidFill>
              </a:rPr>
              <a:t>NPS ≥50</a:t>
            </a:r>
            <a:endParaRPr lang="en-US" sz="1200" dirty="0"/>
          </a:p>
          <a:p>
            <a:pPr algn="l" marL="152400" indent="-152400">
              <a:spcAft>
                <a:spcPts val="400"/>
              </a:spcAft>
              <a:buSzPct val="100000"/>
              <a:buChar char="•"/>
            </a:pPr>
            <a:r>
              <a:rPr lang="en-US" sz="1050" dirty="0">
                <a:solidFill>
                  <a:schemeClr val="tx1"/>
                </a:solidFill>
              </a:rPr>
              <a:t>Royalty economics positive at ≥3 units</a:t>
            </a:r>
            <a:endParaRPr lang="en-US" sz="1200" dirty="0"/>
          </a:p>
        </p:txBody>
      </p:sp>
      <p:sp>
        <p:nvSpPr>
          <p:cNvPr id="28" name="Label"/>
          <p:cNvSpPr txBox="1"/>
          <p:nvPr/>
        </p:nvSpPr>
        <p:spPr>
          <a:xfrm>
            <a:off x="548640" y="4736592"/>
            <a:ext cx="4206240" cy="219456"/>
          </a:xfrm>
          <a:prstGeom prst="rect">
            <a:avLst/>
          </a:prstGeom>
          <a:noFill/>
          <a:ln/>
        </p:spPr>
        <p:txBody>
          <a:bodyPr wrap="square" lIns="0" tIns="0" rIns="0" bIns="0" rtlCol="0" anchor="ctr"/>
          <a:lstStyle/>
          <a:p>
            <a:pPr algn="l" indent="0" marL="0">
              <a:buNone/>
            </a:pPr>
            <a:r>
              <a:rPr lang="en-US" sz="1050" b="1" dirty="0">
                <a:solidFill>
                  <a:srgbClr val="A4513F"/>
                </a:solidFill>
              </a:rPr>
              <a:t>CENTRE VS DESTINATION, LUDHIANA, DIRECTIONAL</a:t>
            </a:r>
            <a:endParaRPr lang="en-US" sz="1050" dirty="0"/>
          </a:p>
        </p:txBody>
      </p:sp>
      <p:sp>
        <p:nvSpPr>
          <p:cNvPr id="29" name="Badge ESTIMATE"/>
          <p:cNvSpPr txBox="1"/>
          <p:nvPr/>
        </p:nvSpPr>
        <p:spPr>
          <a:xfrm>
            <a:off x="5961908" y="473659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30" name="Badge VERIFIED"/>
          <p:cNvSpPr txBox="1"/>
          <p:nvPr/>
        </p:nvSpPr>
        <p:spPr>
          <a:xfrm>
            <a:off x="6814153" y="473659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31" name="Inset label"/>
          <p:cNvSpPr txBox="1"/>
          <p:nvPr/>
        </p:nvSpPr>
        <p:spPr>
          <a:xfrm>
            <a:off x="548640" y="5010912"/>
            <a:ext cx="1554480" cy="189001"/>
          </a:xfrm>
          <a:prstGeom prst="rect">
            <a:avLst/>
          </a:prstGeom>
          <a:noFill/>
          <a:ln/>
        </p:spPr>
        <p:txBody>
          <a:bodyPr wrap="square" lIns="0" tIns="0" rIns="0" bIns="0" rtlCol="0" anchor="t"/>
          <a:lstStyle/>
          <a:p>
            <a:pPr algn="l" indent="0" marL="0">
              <a:buNone/>
            </a:pPr>
            <a:r>
              <a:rPr lang="en-US" sz="1100" b="1" dirty="0">
                <a:solidFill>
                  <a:schemeClr val="tx2"/>
                </a:solidFill>
              </a:rPr>
              <a:t>Owned centre</a:t>
            </a:r>
            <a:endParaRPr lang="en-US" sz="1100" dirty="0"/>
          </a:p>
        </p:txBody>
      </p:sp>
      <p:sp>
        <p:nvSpPr>
          <p:cNvPr id="32" name="Inset text"/>
          <p:cNvSpPr txBox="1"/>
          <p:nvPr/>
        </p:nvSpPr>
        <p:spPr>
          <a:xfrm>
            <a:off x="2194560" y="5010912"/>
            <a:ext cx="5349240" cy="189001"/>
          </a:xfrm>
          <a:prstGeom prst="rect">
            <a:avLst/>
          </a:prstGeom>
          <a:noFill/>
          <a:ln/>
        </p:spPr>
        <p:txBody>
          <a:bodyPr wrap="square" lIns="0" tIns="0" rIns="0" bIns="0" rtlCol="0" anchor="t"/>
          <a:lstStyle/>
          <a:p>
            <a:pPr algn="l" indent="0" marL="0">
              <a:buNone/>
            </a:pPr>
            <a:r>
              <a:rPr lang="en-US" sz="1100" dirty="0">
                <a:solidFill>
                  <a:schemeClr val="tx1"/>
                </a:solidFill>
              </a:rPr>
              <a:t>Fixed cost ≈₹29L/yr; −₹7.4L at 46 students; break-even 62</a:t>
            </a:r>
            <a:endParaRPr lang="en-US" sz="1100" dirty="0"/>
          </a:p>
        </p:txBody>
      </p:sp>
      <p:sp>
        <p:nvSpPr>
          <p:cNvPr id="33" name="Inset rule"/>
          <p:cNvSpPr/>
          <p:nvPr/>
        </p:nvSpPr>
        <p:spPr>
          <a:xfrm>
            <a:off x="548640" y="5210251"/>
            <a:ext cx="6995160" cy="0"/>
          </a:xfrm>
          <a:prstGeom prst="line">
            <a:avLst/>
          </a:prstGeom>
          <a:noFill/>
          <a:ln w="6350">
            <a:solidFill>
              <a:srgbClr val="E4DAD5"/>
            </a:solidFill>
            <a:prstDash val="solid"/>
          </a:ln>
        </p:spPr>
      </p:sp>
      <p:sp>
        <p:nvSpPr>
          <p:cNvPr id="34" name="Inset label 2"/>
          <p:cNvSpPr txBox="1"/>
          <p:nvPr/>
        </p:nvSpPr>
        <p:spPr>
          <a:xfrm>
            <a:off x="548640" y="5237683"/>
            <a:ext cx="1554480" cy="189001"/>
          </a:xfrm>
          <a:prstGeom prst="rect">
            <a:avLst/>
          </a:prstGeom>
          <a:noFill/>
          <a:ln/>
        </p:spPr>
        <p:txBody>
          <a:bodyPr wrap="square" lIns="0" tIns="0" rIns="0" bIns="0" rtlCol="0" anchor="t"/>
          <a:lstStyle/>
          <a:p>
            <a:pPr algn="l" indent="0" marL="0">
              <a:buNone/>
            </a:pPr>
            <a:r>
              <a:rPr lang="en-US" sz="1100" b="1" dirty="0">
                <a:solidFill>
                  <a:schemeClr val="tx2"/>
                </a:solidFill>
              </a:rPr>
              <a:t>Destination student</a:t>
            </a:r>
            <a:endParaRPr lang="en-US" sz="1100" dirty="0"/>
          </a:p>
        </p:txBody>
      </p:sp>
      <p:sp>
        <p:nvSpPr>
          <p:cNvPr id="35" name="Inset text 2"/>
          <p:cNvSpPr txBox="1"/>
          <p:nvPr/>
        </p:nvSpPr>
        <p:spPr>
          <a:xfrm>
            <a:off x="2194560" y="5237683"/>
            <a:ext cx="5349240" cy="189001"/>
          </a:xfrm>
          <a:prstGeom prst="rect">
            <a:avLst/>
          </a:prstGeom>
          <a:noFill/>
          <a:ln/>
        </p:spPr>
        <p:txBody>
          <a:bodyPr wrap="square" lIns="0" tIns="0" rIns="0" bIns="0" rtlCol="0" anchor="t"/>
          <a:lstStyle/>
          <a:p>
            <a:pPr algn="l" indent="0" marL="0">
              <a:buNone/>
            </a:pPr>
            <a:r>
              <a:rPr lang="en-US" sz="1100" dirty="0">
                <a:solidFill>
                  <a:schemeClr val="tx1"/>
                </a:solidFill>
              </a:rPr>
              <a:t>Contribution positive at small scale, no new rent while flagship seats are spare</a:t>
            </a:r>
            <a:endParaRPr lang="en-US" sz="1100" dirty="0"/>
          </a:p>
        </p:txBody>
      </p:sp>
      <p:sp>
        <p:nvSpPr>
          <p:cNvPr id="36" name="Inset rule 2"/>
          <p:cNvSpPr/>
          <p:nvPr/>
        </p:nvSpPr>
        <p:spPr>
          <a:xfrm>
            <a:off x="548640" y="5437022"/>
            <a:ext cx="6995160" cy="0"/>
          </a:xfrm>
          <a:prstGeom prst="line">
            <a:avLst/>
          </a:prstGeom>
          <a:noFill/>
          <a:ln w="6350">
            <a:solidFill>
              <a:srgbClr val="E4DAD5"/>
            </a:solidFill>
            <a:prstDash val="solid"/>
          </a:ln>
        </p:spPr>
      </p:sp>
      <p:sp>
        <p:nvSpPr>
          <p:cNvPr id="37" name="Inset label 3"/>
          <p:cNvSpPr txBox="1"/>
          <p:nvPr/>
        </p:nvSpPr>
        <p:spPr>
          <a:xfrm>
            <a:off x="548640" y="5464454"/>
            <a:ext cx="1554480" cy="189001"/>
          </a:xfrm>
          <a:prstGeom prst="rect">
            <a:avLst/>
          </a:prstGeom>
          <a:noFill/>
          <a:ln/>
        </p:spPr>
        <p:txBody>
          <a:bodyPr wrap="square" lIns="0" tIns="0" rIns="0" bIns="0" rtlCol="0" anchor="t"/>
          <a:lstStyle/>
          <a:p>
            <a:pPr algn="l" indent="0" marL="0">
              <a:buNone/>
            </a:pPr>
            <a:r>
              <a:rPr lang="en-US" sz="1100" b="1" dirty="0">
                <a:solidFill>
                  <a:schemeClr val="tx2"/>
                </a:solidFill>
              </a:rPr>
              <a:t>Owned vs destination</a:t>
            </a:r>
            <a:endParaRPr lang="en-US" sz="1100" dirty="0"/>
          </a:p>
        </p:txBody>
      </p:sp>
      <p:sp>
        <p:nvSpPr>
          <p:cNvPr id="38" name="Inset text 3"/>
          <p:cNvSpPr txBox="1"/>
          <p:nvPr/>
        </p:nvSpPr>
        <p:spPr>
          <a:xfrm>
            <a:off x="2194560" y="5464454"/>
            <a:ext cx="5349240" cy="189001"/>
          </a:xfrm>
          <a:prstGeom prst="rect">
            <a:avLst/>
          </a:prstGeom>
          <a:noFill/>
          <a:ln/>
        </p:spPr>
        <p:txBody>
          <a:bodyPr wrap="square" lIns="0" tIns="0" rIns="0" bIns="0" rtlCol="0" anchor="t"/>
          <a:lstStyle/>
          <a:p>
            <a:pPr algn="l" indent="0" marL="0">
              <a:buNone/>
            </a:pPr>
            <a:r>
              <a:rPr lang="en-US" sz="1100" dirty="0">
                <a:solidFill>
                  <a:schemeClr val="tx1"/>
                </a:solidFill>
              </a:rPr>
              <a:t>Owned wins only above ≈69 local students when 10 would have travelled</a:t>
            </a:r>
            <a:endParaRPr lang="en-US" sz="1100" dirty="0"/>
          </a:p>
        </p:txBody>
      </p:sp>
      <p:sp>
        <p:nvSpPr>
          <p:cNvPr id="39" name="Inset rule 3"/>
          <p:cNvSpPr/>
          <p:nvPr/>
        </p:nvSpPr>
        <p:spPr>
          <a:xfrm>
            <a:off x="548640" y="5663794"/>
            <a:ext cx="6995160" cy="0"/>
          </a:xfrm>
          <a:prstGeom prst="line">
            <a:avLst/>
          </a:prstGeom>
          <a:noFill/>
          <a:ln w="6350">
            <a:solidFill>
              <a:srgbClr val="E4DAD5"/>
            </a:solidFill>
            <a:prstDash val="solid"/>
          </a:ln>
        </p:spPr>
      </p:sp>
      <p:sp>
        <p:nvSpPr>
          <p:cNvPr id="40" name="Inset label 4"/>
          <p:cNvSpPr txBox="1"/>
          <p:nvPr/>
        </p:nvSpPr>
        <p:spPr>
          <a:xfrm>
            <a:off x="548640" y="5691226"/>
            <a:ext cx="1554480" cy="189001"/>
          </a:xfrm>
          <a:prstGeom prst="rect">
            <a:avLst/>
          </a:prstGeom>
          <a:noFill/>
          <a:ln/>
        </p:spPr>
        <p:txBody>
          <a:bodyPr wrap="square" lIns="0" tIns="0" rIns="0" bIns="0" rtlCol="0" anchor="t"/>
          <a:lstStyle/>
          <a:p>
            <a:pPr algn="l" indent="0" marL="0">
              <a:buNone/>
            </a:pPr>
            <a:r>
              <a:rPr lang="en-US" sz="1100" b="1" dirty="0">
                <a:solidFill>
                  <a:schemeClr val="tx2"/>
                </a:solidFill>
              </a:rPr>
              <a:t>Partner satellite</a:t>
            </a:r>
            <a:endParaRPr lang="en-US" sz="1100" dirty="0"/>
          </a:p>
        </p:txBody>
      </p:sp>
      <p:sp>
        <p:nvSpPr>
          <p:cNvPr id="41" name="Inset text 4"/>
          <p:cNvSpPr txBox="1"/>
          <p:nvPr/>
        </p:nvSpPr>
        <p:spPr>
          <a:xfrm>
            <a:off x="2194560" y="5691226"/>
            <a:ext cx="5349240" cy="189001"/>
          </a:xfrm>
          <a:prstGeom prst="rect">
            <a:avLst/>
          </a:prstGeom>
          <a:noFill/>
          <a:ln/>
        </p:spPr>
        <p:txBody>
          <a:bodyPr wrap="square" lIns="0" tIns="0" rIns="0" bIns="0" rtlCol="0" anchor="t"/>
          <a:lstStyle/>
          <a:p>
            <a:pPr algn="l" indent="0" marL="0">
              <a:buNone/>
            </a:pPr>
            <a:r>
              <a:rPr lang="en-US" sz="1100" dirty="0">
                <a:solidFill>
                  <a:schemeClr val="tx1"/>
                </a:solidFill>
              </a:rPr>
              <a:t>Needs more than 2.4x the destination number (N_dest)</a:t>
            </a:r>
            <a:endParaRPr lang="en-US" sz="1100" dirty="0"/>
          </a:p>
        </p:txBody>
      </p:sp>
      <p:sp>
        <p:nvSpPr>
          <p:cNvPr id="42" name="Inset rule 4"/>
          <p:cNvSpPr/>
          <p:nvPr/>
        </p:nvSpPr>
        <p:spPr>
          <a:xfrm>
            <a:off x="548640" y="5890565"/>
            <a:ext cx="6995160" cy="0"/>
          </a:xfrm>
          <a:prstGeom prst="line">
            <a:avLst/>
          </a:prstGeom>
          <a:noFill/>
          <a:ln w="6350">
            <a:solidFill>
              <a:srgbClr val="E4DAD5"/>
            </a:solidFill>
            <a:prstDash val="solid"/>
          </a:ln>
        </p:spPr>
      </p:sp>
      <p:sp>
        <p:nvSpPr>
          <p:cNvPr id="43" name="Inset label 5"/>
          <p:cNvSpPr txBox="1"/>
          <p:nvPr/>
        </p:nvSpPr>
        <p:spPr>
          <a:xfrm>
            <a:off x="548640" y="5917997"/>
            <a:ext cx="1554480" cy="189001"/>
          </a:xfrm>
          <a:prstGeom prst="rect">
            <a:avLst/>
          </a:prstGeom>
          <a:noFill/>
          <a:ln/>
        </p:spPr>
        <p:txBody>
          <a:bodyPr wrap="square" lIns="0" tIns="0" rIns="0" bIns="0" rtlCol="0" anchor="t"/>
          <a:lstStyle/>
          <a:p>
            <a:pPr algn="l" indent="0" marL="0">
              <a:buNone/>
            </a:pPr>
            <a:r>
              <a:rPr lang="en-US" sz="1100" b="1" dirty="0">
                <a:solidFill>
                  <a:schemeClr val="tx2"/>
                </a:solidFill>
              </a:rPr>
              <a:t>Delhi NCR</a:t>
            </a:r>
            <a:endParaRPr lang="en-US" sz="1100" dirty="0"/>
          </a:p>
        </p:txBody>
      </p:sp>
      <p:sp>
        <p:nvSpPr>
          <p:cNvPr id="44" name="Inset text 5"/>
          <p:cNvSpPr txBox="1"/>
          <p:nvPr/>
        </p:nvSpPr>
        <p:spPr>
          <a:xfrm>
            <a:off x="2194560" y="5917997"/>
            <a:ext cx="5349240" cy="189001"/>
          </a:xfrm>
          <a:prstGeom prst="rect">
            <a:avLst/>
          </a:prstGeom>
          <a:noFill/>
          <a:ln/>
        </p:spPr>
        <p:txBody>
          <a:bodyPr wrap="square" lIns="0" tIns="0" rIns="0" bIns="0" rtlCol="0" anchor="t"/>
          <a:lstStyle/>
          <a:p>
            <a:pPr algn="l" indent="0" marL="0">
              <a:buNone/>
            </a:pPr>
            <a:r>
              <a:rPr lang="en-US" sz="1100" dirty="0">
                <a:solidFill>
                  <a:schemeClr val="tx1"/>
                </a:solidFill>
              </a:rPr>
              <a:t>7.4x the pool but rent 3.5x, same ₹25k bridal median: online/hybrid only</a:t>
            </a:r>
            <a:endParaRPr lang="en-US" sz="1100" dirty="0"/>
          </a:p>
        </p:txBody>
      </p:sp>
      <p:sp>
        <p:nvSpPr>
          <p:cNvPr id="45" name="Disclosure card"/>
          <p:cNvSpPr/>
          <p:nvPr/>
        </p:nvSpPr>
        <p:spPr>
          <a:xfrm>
            <a:off x="7818120" y="4736592"/>
            <a:ext cx="3824935" cy="1408176"/>
          </a:xfrm>
          <a:prstGeom prst="roundRect">
            <a:avLst>
              <a:gd name="adj" fmla="val 5195"/>
            </a:avLst>
          </a:prstGeom>
          <a:solidFill>
            <a:srgbClr val="F8EBD4"/>
          </a:solidFill>
          <a:ln w="9525">
            <a:solidFill>
              <a:schemeClr val="accent5"/>
            </a:solidFill>
            <a:prstDash val="solid"/>
          </a:ln>
        </p:spPr>
      </p:sp>
      <p:sp>
        <p:nvSpPr>
          <p:cNvPr id="46" name="Badge RECOMMENDATION"/>
          <p:cNvSpPr txBox="1"/>
          <p:nvPr/>
        </p:nvSpPr>
        <p:spPr>
          <a:xfrm>
            <a:off x="8001000" y="4846320"/>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47" name="Disclosure key"/>
          <p:cNvSpPr txBox="1"/>
          <p:nvPr/>
        </p:nvSpPr>
        <p:spPr>
          <a:xfrm>
            <a:off x="9405569" y="4846320"/>
            <a:ext cx="2194560" cy="219456"/>
          </a:xfrm>
          <a:prstGeom prst="rect">
            <a:avLst/>
          </a:prstGeom>
          <a:noFill/>
          <a:ln/>
        </p:spPr>
        <p:txBody>
          <a:bodyPr wrap="square" lIns="0" tIns="0" rIns="0" bIns="0" rtlCol="0" anchor="ctr"/>
          <a:lstStyle/>
          <a:p>
            <a:pPr algn="l" indent="0" marL="0">
              <a:buNone/>
            </a:pPr>
            <a:r>
              <a:rPr lang="en-US" sz="1000" dirty="0">
                <a:solidFill>
                  <a:srgbClr val="7A4B0C"/>
                </a:solidFill>
              </a:rPr>
              <a:t>Stages and gate thresholds</a:t>
            </a:r>
            <a:endParaRPr lang="en-US" sz="1000" dirty="0"/>
          </a:p>
        </p:txBody>
      </p:sp>
      <p:sp>
        <p:nvSpPr>
          <p:cNvPr id="48" name="Disclosure text"/>
          <p:cNvSpPr txBox="1"/>
          <p:nvPr/>
        </p:nvSpPr>
        <p:spPr>
          <a:xfrm>
            <a:off x="8001000" y="5138928"/>
            <a:ext cx="3459175" cy="914400"/>
          </a:xfrm>
          <a:prstGeom prst="rect">
            <a:avLst/>
          </a:prstGeom>
          <a:noFill/>
          <a:ln/>
        </p:spPr>
        <p:txBody>
          <a:bodyPr wrap="square" lIns="0" tIns="0" rIns="0" bIns="0" rtlCol="0" anchor="ctr"/>
          <a:lstStyle/>
          <a:p>
            <a:pPr algn="l" indent="0" marL="0">
              <a:buNone/>
            </a:pPr>
            <a:r>
              <a:rPr lang="en-US" sz="1150" b="1" dirty="0">
                <a:solidFill>
                  <a:srgbClr val="7A4B0C"/>
                </a:solidFill>
              </a:rPr>
              <a:t>Lowered bar, disclosed.</a:t>
            </a:r>
            <a:pPr algn="l" indent="0" marL="0">
              <a:buNone/>
            </a:pPr>
            <a:r>
              <a:rPr lang="en-US" sz="1150" dirty="0">
                <a:solidFill>
                  <a:srgbClr val="7A4B0C"/>
                </a:solidFill>
              </a:rPr>
              <a:t> The station-based fill test (≥6 of 8 in the studio; ≥9 of 12 after the move) is a lower bar than the original ≥75%-of-12 test, which no run meets in Year 1; the 8-weekly calendar's effect on revenue timing is not yet modelled.</a:t>
            </a:r>
            <a:endParaRPr lang="en-US" sz="11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RECOMMENDATION · PROGRAMME LADDER</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650" dirty="0">
                <a:solidFill>
                  <a:schemeClr val="tx2"/>
                </a:solidFill>
                <a:latin typeface="+mj-lt" pitchFamily="34" charset="0"/>
                <a:ea typeface="+mj-lt" pitchFamily="34" charset="-122"/>
                <a:cs typeface="+mj-lt" pitchFamily="34" charset="-120"/>
              </a:rPr>
              <a:t>A published five-step ladder, with the flagship price raised only after proof</a:t>
            </a:r>
            <a:endParaRPr lang="en-US" sz="2800" dirty="0"/>
          </a:p>
        </p:txBody>
      </p:sp>
      <p:sp>
        <p:nvSpPr>
          <p:cNvPr id="4" name="Subtitle"/>
          <p:cNvSpPr txBox="1"/>
          <p:nvPr/>
        </p:nvSpPr>
        <p:spPr>
          <a:xfrm>
            <a:off x="548640" y="1100265"/>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₹999 taster → ₹39,900 Foundation → L3 Pro (today's fee → ₹75k list → ₹90k list; ₹80k realised) → ₹10k masterclasses → ₹9,999 Pro Circle; credits carry upward; kit optional.</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§6.1, §7.2; positioning_and_segments.md §6; economics §1C #6 (all-in cost); A-GRO-04..09; A-ECO-160/170</a:t>
            </a:r>
            <a:pPr algn="l" indent="0" marL="0">
              <a:buNone/>
            </a:pPr>
            <a:r>
              <a:rPr lang="en-US" sz="900" b="1" dirty="0">
                <a:solidFill>
                  <a:srgbClr val="6B5F67"/>
                </a:solidFill>
              </a:rPr>
              <a:t>   Note: </a:t>
            </a:r>
            <a:pPr algn="l" indent="0" marL="0">
              <a:buNone/>
            </a:pPr>
            <a:r>
              <a:rPr lang="en-US" sz="900" dirty="0">
                <a:solidFill>
                  <a:srgbClr val="6B5F67"/>
                </a:solidFill>
              </a:rPr>
              <a:t>₹, GST-inclusive as shown to families; 2027 calendar. Anchors: local band ₹35–75k; Lakmé ₹1.3–1.5L; AAFT ₹80k (ESTIMATE / CLAIM).</a:t>
            </a:r>
            <a:endParaRPr lang="en-US" sz="900" dirty="0"/>
          </a:p>
        </p:txBody>
      </p:sp>
      <p:sp>
        <p:nvSpPr>
          <p:cNvPr id="7" name="Evidence key"/>
          <p:cNvSpPr txBox="1"/>
          <p:nvPr/>
        </p:nvSpPr>
        <p:spPr>
          <a:xfrm>
            <a:off x="548640" y="1920240"/>
            <a:ext cx="615302" cy="219456"/>
          </a:xfrm>
          <a:prstGeom prst="rect">
            <a:avLst/>
          </a:prstGeom>
          <a:noFill/>
          <a:ln/>
        </p:spPr>
        <p:txBody>
          <a:bodyPr wrap="square" lIns="0" tIns="0" rIns="0" bIns="0" rtlCol="0" anchor="ctr"/>
          <a:lstStyle/>
          <a:p>
            <a:pPr algn="l" indent="0" marL="0">
              <a:buNone/>
            </a:pPr>
            <a:r>
              <a:rPr lang="en-US" sz="1000" b="1" dirty="0">
                <a:solidFill>
                  <a:srgbClr val="6B5F67"/>
                </a:solidFill>
              </a:rPr>
              <a:t>Evidence:</a:t>
            </a:r>
            <a:endParaRPr lang="en-US" sz="1000" dirty="0"/>
          </a:p>
        </p:txBody>
      </p:sp>
      <p:sp>
        <p:nvSpPr>
          <p:cNvPr id="8" name="Badge HYPOTHESIS"/>
          <p:cNvSpPr txBox="1"/>
          <p:nvPr/>
        </p:nvSpPr>
        <p:spPr>
          <a:xfrm>
            <a:off x="1200518" y="1920240"/>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9" name="Evidence key text"/>
          <p:cNvSpPr txBox="1"/>
          <p:nvPr/>
        </p:nvSpPr>
        <p:spPr>
          <a:xfrm>
            <a:off x="2169050" y="1920240"/>
            <a:ext cx="1481755" cy="219456"/>
          </a:xfrm>
          <a:prstGeom prst="rect">
            <a:avLst/>
          </a:prstGeom>
          <a:noFill/>
          <a:ln/>
        </p:spPr>
        <p:txBody>
          <a:bodyPr wrap="square" lIns="0" tIns="0" rIns="0" bIns="0" rtlCol="0" anchor="ctr"/>
          <a:lstStyle/>
          <a:p>
            <a:pPr algn="l" indent="0" marL="0">
              <a:buNone/>
            </a:pPr>
            <a:r>
              <a:rPr lang="en-US" sz="1000" dirty="0">
                <a:solidFill>
                  <a:srgbClr val="6B5F67"/>
                </a:solidFill>
              </a:rPr>
              <a:t>all prices (planning prices)</a:t>
            </a:r>
            <a:endParaRPr lang="en-US" sz="1000" dirty="0"/>
          </a:p>
        </p:txBody>
      </p:sp>
      <p:sp>
        <p:nvSpPr>
          <p:cNvPr id="10" name="Badge RECOMMENDATION"/>
          <p:cNvSpPr txBox="1"/>
          <p:nvPr/>
        </p:nvSpPr>
        <p:spPr>
          <a:xfrm>
            <a:off x="3833684" y="1920240"/>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11" name="Evidence key text 2"/>
          <p:cNvSpPr txBox="1"/>
          <p:nvPr/>
        </p:nvSpPr>
        <p:spPr>
          <a:xfrm>
            <a:off x="5219965" y="1920240"/>
            <a:ext cx="1761683" cy="219456"/>
          </a:xfrm>
          <a:prstGeom prst="rect">
            <a:avLst/>
          </a:prstGeom>
          <a:noFill/>
          <a:ln/>
        </p:spPr>
        <p:txBody>
          <a:bodyPr wrap="square" lIns="0" tIns="0" rIns="0" bIns="0" rtlCol="0" anchor="ctr"/>
          <a:lstStyle/>
          <a:p>
            <a:pPr algn="l" indent="0" marL="0">
              <a:buNone/>
            </a:pPr>
            <a:r>
              <a:rPr lang="en-US" sz="1000" dirty="0">
                <a:solidFill>
                  <a:srgbClr val="6B5F67"/>
                </a:solidFill>
              </a:rPr>
              <a:t>credit rules, gating, kit optional</a:t>
            </a:r>
            <a:endParaRPr lang="en-US" sz="1000" dirty="0"/>
          </a:p>
        </p:txBody>
      </p:sp>
      <p:sp>
        <p:nvSpPr>
          <p:cNvPr id="12" name="Badge ESTIMATE"/>
          <p:cNvSpPr txBox="1"/>
          <p:nvPr/>
        </p:nvSpPr>
        <p:spPr>
          <a:xfrm>
            <a:off x="7164528" y="192024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3" name="Evidence key text 3"/>
          <p:cNvSpPr txBox="1"/>
          <p:nvPr/>
        </p:nvSpPr>
        <p:spPr>
          <a:xfrm>
            <a:off x="7998485" y="1920240"/>
            <a:ext cx="645570" cy="219456"/>
          </a:xfrm>
          <a:prstGeom prst="rect">
            <a:avLst/>
          </a:prstGeom>
          <a:noFill/>
          <a:ln/>
        </p:spPr>
        <p:txBody>
          <a:bodyPr wrap="square" lIns="0" tIns="0" rIns="0" bIns="0" rtlCol="0" anchor="ctr"/>
          <a:lstStyle/>
          <a:p>
            <a:pPr algn="l" indent="0" marL="0">
              <a:buNone/>
            </a:pPr>
            <a:r>
              <a:rPr lang="en-US" sz="1000" dirty="0">
                <a:solidFill>
                  <a:srgbClr val="6B5F67"/>
                </a:solidFill>
              </a:rPr>
              <a:t>all-in costs</a:t>
            </a:r>
            <a:endParaRPr lang="en-US" sz="1000" dirty="0"/>
          </a:p>
        </p:txBody>
      </p:sp>
      <p:graphicFrame>
        <p:nvGraphicFramePr>
          <p:cNvPr id="14" name="Ladder table"/>
          <p:cNvGraphicFramePr>
            <a:graphicFrameLocks noGrp="1"/>
          </p:cNvGraphicFramePr>
          <p:nvPr>
            <p:extLst>
              <p:ext uri="{D42A27DB-BD31-4B8C-83A1-F6EECF244321}">
                <p14:modId xmlns:p14="http://schemas.microsoft.com/office/powerpoint/2010/main" val="1579011935"/>
              </p:ext>
            </p:extLst>
          </p:nvPr>
        </p:nvGraphicFramePr>
        <p:xfrm>
          <a:off x="548640" y="2249424"/>
          <a:ext cx="7360920" cy="914400"/>
        </p:xfrm>
        <a:graphic>
          <a:graphicData uri="http://schemas.openxmlformats.org/drawingml/2006/table">
            <a:tbl>
              <a:tblPr/>
              <a:tblGrid>
                <a:gridCol w="592697"/>
                <a:gridCol w="2055322"/>
                <a:gridCol w="1481744"/>
                <a:gridCol w="1768533"/>
                <a:gridCol w="1462624"/>
              </a:tblGrid>
              <a:tr h="274066">
                <a:tc>
                  <a:txBody>
                    <a:bodyPr/>
                    <a:lstStyle/>
                    <a:p>
                      <a:pPr algn="l" indent="0" marL="0">
                        <a:buNone/>
                      </a:pPr>
                      <a:r>
                        <a:rPr lang="en-US" sz="1000" b="1" dirty="0">
                          <a:solidFill>
                            <a:srgbClr val="FFFFFF"/>
                          </a:solidFill>
                        </a:rPr>
                        <a:t>Code</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Product</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Format / duration</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Planning price</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Credit rule</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584454">
                <a:tc>
                  <a:txBody>
                    <a:bodyPr/>
                    <a:lstStyle/>
                    <a:p>
                      <a:pPr algn="l" indent="0" marL="0">
                        <a:buNone/>
                      </a:pPr>
                      <a:r>
                        <a:rPr lang="en-US" sz="1000" b="1" dirty="0">
                          <a:solidFill>
                            <a:srgbClr val="2B2129"/>
                          </a:solidFill>
                        </a:rPr>
                        <a:t>L0</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Free layer: Reels, Community, monthly Parents &amp; Students Info Session</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Ongoing</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Free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29260">
                <a:tc>
                  <a:txBody>
                    <a:bodyPr/>
                    <a:lstStyle/>
                    <a:p>
                      <a:pPr algn="l" indent="0" marL="0">
                        <a:buNone/>
                      </a:pPr>
                      <a:r>
                        <a:rPr lang="en-US" sz="1000" b="1" dirty="0">
                          <a:solidFill>
                            <a:srgbClr val="2B2129"/>
                          </a:solidFill>
                        </a:rPr>
                        <a:t>L1</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Career Taster "A Day at PNA"</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3 h</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₹999</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Credited 100% to L2/L3 within 30 days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b="1" dirty="0">
                          <a:solidFill>
                            <a:srgbClr val="2B2129"/>
                          </a:solidFill>
                        </a:rPr>
                        <a:t>L1-S5</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Self-Makeup Workshop</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2 × 3 h</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₹4,999</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29260">
                <a:tc>
                  <a:txBody>
                    <a:bodyPr/>
                    <a:lstStyle/>
                    <a:p>
                      <a:pPr algn="l" indent="0" marL="0">
                        <a:buNone/>
                      </a:pPr>
                      <a:r>
                        <a:rPr lang="en-US" sz="1000" b="1" dirty="0">
                          <a:solidFill>
                            <a:srgbClr val="2B2129"/>
                          </a:solidFill>
                        </a:rPr>
                        <a:t>L2</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Foundation</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4 weeks, ~80 h</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₹39,900</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Credited 100% to L3 within 6 months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739648">
                <a:tc>
                  <a:txBody>
                    <a:bodyPr/>
                    <a:lstStyle/>
                    <a:p>
                      <a:pPr algn="l" indent="0" marL="0">
                        <a:buNone/>
                      </a:pPr>
                      <a:r>
                        <a:rPr lang="en-US" sz="1000" b="1" dirty="0">
                          <a:solidFill>
                            <a:srgbClr val="2B2129"/>
                          </a:solidFill>
                        </a:rPr>
                        <a:t>L3</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000" b="1" dirty="0">
                          <a:solidFill>
                            <a:srgbClr val="2B2129"/>
                          </a:solidFill>
                        </a:rPr>
                        <a:t>Professional Bridal Makeup Artist Programme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000" dirty="0">
                          <a:solidFill>
                            <a:srgbClr val="2B2129"/>
                          </a:solidFill>
                        </a:rPr>
                        <a:t>~280–300 h: Weekday 12 weeks, Flex ~20 weeks, Destination 4 + 5–6 weeks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000" b="1" dirty="0">
                          <a:solidFill>
                            <a:srgbClr val="2B2129"/>
                          </a:solidFill>
                        </a:rPr>
                        <a:t>Current fee → ₹75,000 list (M10) → ₹90,000 list (M16); ₹80k realised; pro kit optional ₹18–25k</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000" dirty="0">
                          <a:solidFill>
                            <a:srgbClr val="2B2129"/>
                          </a:solidFill>
                        </a:rPr>
                        <a:t>One curriculum, three formats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r>
              <a:tr h="274066">
                <a:tc>
                  <a:txBody>
                    <a:bodyPr/>
                    <a:lstStyle/>
                    <a:p>
                      <a:pPr algn="l" indent="0" marL="0">
                        <a:buNone/>
                      </a:pPr>
                      <a:r>
                        <a:rPr lang="en-US" sz="1000" b="1" dirty="0">
                          <a:solidFill>
                            <a:srgbClr val="2B2129"/>
                          </a:solidFill>
                        </a:rPr>
                        <a:t>L4</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Masterclasses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1–4 days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₹4,999–19,999 (avg ₹10,000)</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dirty="0">
                          <a:solidFill>
                            <a:srgbClr val="2B2129"/>
                          </a:solidFill>
                        </a:rPr>
                        <a:t>—</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29260">
                <a:tc>
                  <a:txBody>
                    <a:bodyPr/>
                    <a:lstStyle/>
                    <a:p>
                      <a:pPr algn="l" indent="0" marL="0">
                        <a:buNone/>
                      </a:pPr>
                      <a:r>
                        <a:rPr lang="en-US" sz="1000" b="1" dirty="0">
                          <a:solidFill>
                            <a:srgbClr val="2B2129"/>
                          </a:solidFill>
                        </a:rPr>
                        <a:t>L5</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PNA Pro Circle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Annual</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₹9,999</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129"/>
                          </a:solidFill>
                        </a:rPr>
                        <a:t>Free first year for L3 graduates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bl>
          </a:graphicData>
        </a:graphic>
      </p:graphicFrame>
      <p:sp>
        <p:nvSpPr>
          <p:cNvPr id="15" name="Tagline"/>
          <p:cNvSpPr txBox="1"/>
          <p:nvPr/>
        </p:nvSpPr>
        <p:spPr>
          <a:xfrm>
            <a:off x="548640" y="5833872"/>
            <a:ext cx="7360920" cy="292608"/>
          </a:xfrm>
          <a:prstGeom prst="rect">
            <a:avLst/>
          </a:prstGeom>
          <a:noFill/>
          <a:ln/>
        </p:spPr>
        <p:txBody>
          <a:bodyPr wrap="square" lIns="0" tIns="0" rIns="0" bIns="0" rtlCol="0" anchor="t"/>
          <a:lstStyle/>
          <a:p>
            <a:pPr algn="l" indent="0" marL="0">
              <a:buNone/>
            </a:pPr>
            <a:r>
              <a:rPr lang="en-US" sz="1400" i="1" dirty="0">
                <a:solidFill>
                  <a:srgbClr val="A4513F"/>
                </a:solidFill>
                <a:latin typeface="+mj-lt" pitchFamily="34" charset="0"/>
                <a:ea typeface="+mj-lt" pitchFamily="34" charset="-122"/>
                <a:cs typeface="+mj-lt" pitchFamily="34" charset="-120"/>
              </a:rPr>
              <a:t>Real faces. Real bridal studio. Real portfolio.</a:t>
            </a:r>
            <a:endParaRPr lang="en-US" sz="1400" dirty="0"/>
          </a:p>
        </p:txBody>
      </p:sp>
      <p:sp>
        <p:nvSpPr>
          <p:cNvPr id="16" name="Chart card"/>
          <p:cNvSpPr/>
          <p:nvPr/>
        </p:nvSpPr>
        <p:spPr>
          <a:xfrm>
            <a:off x="8183880" y="2249424"/>
            <a:ext cx="3459175" cy="2329053"/>
          </a:xfrm>
          <a:prstGeom prst="roundRect">
            <a:avLst>
              <a:gd name="adj" fmla="val 3141"/>
            </a:avLst>
          </a:prstGeom>
          <a:solidFill>
            <a:schemeClr val="bg1"/>
          </a:solidFill>
          <a:ln w="9525">
            <a:solidFill>
              <a:srgbClr val="E4DAD5"/>
            </a:solidFill>
            <a:prstDash val="solid"/>
          </a:ln>
        </p:spPr>
      </p:sp>
      <p:sp>
        <p:nvSpPr>
          <p:cNvPr id="17" name="Badge ESTIMATE 2"/>
          <p:cNvSpPr txBox="1"/>
          <p:nvPr/>
        </p:nvSpPr>
        <p:spPr>
          <a:xfrm>
            <a:off x="10699370" y="241401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8" name="Chart title"/>
          <p:cNvSpPr txBox="1"/>
          <p:nvPr/>
        </p:nvSpPr>
        <p:spPr>
          <a:xfrm>
            <a:off x="8348472" y="2414016"/>
            <a:ext cx="2241170" cy="212281"/>
          </a:xfrm>
          <a:prstGeom prst="rect">
            <a:avLst/>
          </a:prstGeom>
          <a:noFill/>
          <a:ln/>
        </p:spPr>
        <p:txBody>
          <a:bodyPr wrap="square" lIns="0" tIns="0" rIns="0" bIns="0" rtlCol="0" anchor="t"/>
          <a:lstStyle/>
          <a:p>
            <a:pPr algn="l" indent="0" marL="0">
              <a:buNone/>
            </a:pPr>
            <a:r>
              <a:rPr lang="en-US" sz="1250" b="1" dirty="0">
                <a:solidFill>
                  <a:schemeClr val="tx1"/>
                </a:solidFill>
              </a:rPr>
              <a:t>What a family pays, all-in</a:t>
            </a:r>
            <a:endParaRPr lang="en-US" sz="1250" dirty="0"/>
          </a:p>
        </p:txBody>
      </p:sp>
      <p:sp>
        <p:nvSpPr>
          <p:cNvPr id="19" name="Chart unit"/>
          <p:cNvSpPr txBox="1"/>
          <p:nvPr/>
        </p:nvSpPr>
        <p:spPr>
          <a:xfrm>
            <a:off x="8348472" y="2660904"/>
            <a:ext cx="3129991" cy="181242"/>
          </a:xfrm>
          <a:prstGeom prst="rect">
            <a:avLst/>
          </a:prstGeom>
          <a:noFill/>
          <a:ln/>
        </p:spPr>
        <p:txBody>
          <a:bodyPr wrap="square" lIns="0" tIns="0" rIns="0" bIns="0" rtlCol="0" anchor="t"/>
          <a:lstStyle/>
          <a:p>
            <a:pPr algn="l" indent="0" marL="0">
              <a:buNone/>
            </a:pPr>
            <a:r>
              <a:rPr lang="en-US" sz="1050" dirty="0">
                <a:solidFill>
                  <a:srgbClr val="6B5F67"/>
                </a:solidFill>
              </a:rPr>
              <a:t>₹ lakh, tricity resident; Destination at step 2</a:t>
            </a:r>
            <a:endParaRPr lang="en-US" sz="1050" dirty="0"/>
          </a:p>
        </p:txBody>
      </p:sp>
      <p:graphicFrame>
        <p:nvGraphicFramePr>
          <p:cNvPr id="20" name="All-in cost chart" descr="All-in cost chart"/>
          <p:cNvGraphicFramePr/>
          <p:nvPr/>
        </p:nvGraphicFramePr>
        <p:xfrm>
          <a:off x="8266176" y="2878722"/>
          <a:ext cx="3294583" cy="1617459"/>
        </p:xfrm>
        <a:graphic xmlns:a="http://schemas.openxmlformats.org/drawingml/2006/main">
          <a:graphicData uri="http://schemas.openxmlformats.org/drawingml/2006/chart">
            <c:chart xmlns:c="http://schemas.openxmlformats.org/drawingml/2006/chart" r:id="rId1"/>
          </a:graphicData>
        </a:graphic>
      </p:graphicFrame>
      <p:sp>
        <p:nvSpPr>
          <p:cNvPr id="21" name="Gating card"/>
          <p:cNvSpPr/>
          <p:nvPr/>
        </p:nvSpPr>
        <p:spPr>
          <a:xfrm>
            <a:off x="8183880" y="4715637"/>
            <a:ext cx="3459175" cy="1429131"/>
          </a:xfrm>
          <a:prstGeom prst="roundRect">
            <a:avLst>
              <a:gd name="adj" fmla="val 5119"/>
            </a:avLst>
          </a:prstGeom>
          <a:solidFill>
            <a:srgbClr val="F2EAF0"/>
          </a:solidFill>
          <a:ln/>
        </p:spPr>
      </p:sp>
      <p:sp>
        <p:nvSpPr>
          <p:cNvPr id="22" name="Label"/>
          <p:cNvSpPr txBox="1"/>
          <p:nvPr/>
        </p:nvSpPr>
        <p:spPr>
          <a:xfrm>
            <a:off x="8366760" y="4825365"/>
            <a:ext cx="3093415" cy="219456"/>
          </a:xfrm>
          <a:prstGeom prst="rect">
            <a:avLst/>
          </a:prstGeom>
          <a:noFill/>
          <a:ln/>
        </p:spPr>
        <p:txBody>
          <a:bodyPr wrap="square" lIns="0" tIns="0" rIns="0" bIns="0" rtlCol="0" anchor="ctr"/>
          <a:lstStyle/>
          <a:p>
            <a:pPr algn="l" indent="0" marL="0">
              <a:buNone/>
            </a:pPr>
            <a:r>
              <a:rPr lang="en-US" sz="1050" b="1" dirty="0">
                <a:solidFill>
                  <a:srgbClr val="A4513F"/>
                </a:solidFill>
              </a:rPr>
              <a:t>PRICE STEPS ARE GATED</a:t>
            </a:r>
            <a:endParaRPr lang="en-US" sz="1050" dirty="0"/>
          </a:p>
        </p:txBody>
      </p:sp>
      <p:sp>
        <p:nvSpPr>
          <p:cNvPr id="23" name="Gating text"/>
          <p:cNvSpPr txBox="1"/>
          <p:nvPr/>
        </p:nvSpPr>
        <p:spPr>
          <a:xfrm>
            <a:off x="8366760" y="5099685"/>
            <a:ext cx="3093415" cy="971931"/>
          </a:xfrm>
          <a:prstGeom prst="rect">
            <a:avLst/>
          </a:prstGeom>
          <a:noFill/>
          <a:ln/>
        </p:spPr>
        <p:txBody>
          <a:bodyPr wrap="square" lIns="0" tIns="0" rIns="0" bIns="0" rtlCol="0" anchor="t"/>
          <a:lstStyle/>
          <a:p>
            <a:pPr algn="l" indent="0" marL="0">
              <a:spcAft>
                <a:spcPts val="500"/>
              </a:spcAft>
              <a:buNone/>
            </a:pPr>
            <a:r>
              <a:rPr lang="en-US" sz="1100" b="1" dirty="0">
                <a:solidFill>
                  <a:schemeClr val="tx2"/>
                </a:solidFill>
              </a:rPr>
              <a:t>Step 1</a:t>
            </a:r>
            <a:pPr algn="l" indent="0" marL="0">
              <a:buNone/>
            </a:pPr>
            <a:r>
              <a:rPr lang="en-US" sz="1100" dirty="0">
                <a:solidFill>
                  <a:schemeClr val="tx2"/>
                </a:solidFill>
              </a:rPr>
              <a:t> needs the first Outcomes Report (n≥30), ≥30 reviews at ≥4.5, portfolio gallery and published hours.</a:t>
            </a:r>
            <a:endParaRPr lang="en-US" sz="1100" dirty="0"/>
          </a:p>
          <a:p>
            <a:pPr algn="l" indent="0" marL="0">
              <a:buNone/>
            </a:pPr>
            <a:r>
              <a:rPr lang="en-US" sz="1100" b="1" dirty="0">
                <a:solidFill>
                  <a:schemeClr val="tx2"/>
                </a:solidFill>
              </a:rPr>
              <a:t>Step 2</a:t>
            </a:r>
            <a:pPr algn="l" indent="0" marL="0">
              <a:buNone/>
            </a:pPr>
            <a:r>
              <a:rPr lang="en-US" sz="1100" dirty="0">
                <a:solidFill>
                  <a:schemeClr val="tx2"/>
                </a:solidFill>
              </a:rPr>
              <a:t> needs a second report and step-1 conversion held within −15%.</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RECOMMENDATION · ADMISSIONS FUNNEL</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WhatsApp is the rail; a counsellor closes career courses at a parent visit within days</a:t>
            </a:r>
            <a:endParaRPr lang="en-US" sz="2800" dirty="0"/>
          </a:p>
        </p:txBody>
      </p:sp>
      <p:sp>
        <p:nvSpPr>
          <p:cNvPr id="4" name="Subtitle"/>
          <p:cNvSpPr txBox="1"/>
          <p:nvPr/>
        </p:nvSpPr>
        <p:spPr>
          <a:xfrm>
            <a:off x="548640" y="1531112"/>
            <a:ext cx="11094415" cy="246088"/>
          </a:xfrm>
          <a:prstGeom prst="rect">
            <a:avLst/>
          </a:prstGeom>
          <a:noFill/>
          <a:ln/>
        </p:spPr>
        <p:txBody>
          <a:bodyPr wrap="square" lIns="0" tIns="0" rIns="0" bIns="0" rtlCol="0" anchor="t"/>
          <a:lstStyle/>
          <a:p>
            <a:pPr algn="l" indent="0" marL="0">
              <a:buNone/>
            </a:pPr>
            <a:r>
              <a:rPr lang="en-US" sz="1350" dirty="0">
                <a:solidFill>
                  <a:srgbClr val="6B5F67"/>
                </a:solidFill>
              </a:rPr>
              <a:t>Ten career enrolments a month need ≈143 leads → 66 qualified → 38 counselled → 12 applied → 10 enrolled, with a first human reply inside five minutes.</a:t>
            </a:r>
            <a:endParaRPr lang="en-US" sz="135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admissions_funnel.md §1, §3–§5.1, §8.2, §10.1 (Funnel_Base); economics §1B row 25 (Speed_to_Lead); recommended_strategy.md §3 Q6, §4.5 H6–H7; S-CUS-14/20 [CLAIM]</a:t>
            </a:r>
            <a:pPr algn="l" indent="0" marL="0">
              <a:buNone/>
            </a:pPr>
            <a:r>
              <a:rPr lang="en-US" sz="900" b="1" dirty="0">
                <a:solidFill>
                  <a:srgbClr val="6B5F67"/>
                </a:solidFill>
              </a:rPr>
              <a:t>   Note: </a:t>
            </a:r>
            <a:pPr algn="l" indent="0" marL="0">
              <a:buNone/>
            </a:pPr>
            <a:r>
              <a:rPr lang="en-US" sz="900" dirty="0">
                <a:solidFill>
                  <a:srgbClr val="6B5F67"/>
                </a:solidFill>
              </a:rPr>
              <a:t>Per month, steady state after G1, Base rates. Organic/referral +60% uplift: HYPOTHESIS (unevidenced, RT-08).</a:t>
            </a:r>
            <a:endParaRPr lang="en-US" sz="900" dirty="0"/>
          </a:p>
        </p:txBody>
      </p:sp>
      <p:sp>
        <p:nvSpPr>
          <p:cNvPr id="7" name="Label"/>
          <p:cNvSpPr txBox="1"/>
          <p:nvPr/>
        </p:nvSpPr>
        <p:spPr>
          <a:xfrm>
            <a:off x="548640" y="1920240"/>
            <a:ext cx="1371600" cy="219456"/>
          </a:xfrm>
          <a:prstGeom prst="rect">
            <a:avLst/>
          </a:prstGeom>
          <a:noFill/>
          <a:ln/>
        </p:spPr>
        <p:txBody>
          <a:bodyPr wrap="square" lIns="0" tIns="0" rIns="0" bIns="0" rtlCol="0" anchor="ctr"/>
          <a:lstStyle/>
          <a:p>
            <a:pPr algn="l" indent="0" marL="0">
              <a:buNone/>
            </a:pPr>
            <a:r>
              <a:rPr lang="en-US" sz="1050" b="1" dirty="0">
                <a:solidFill>
                  <a:srgbClr val="A4513F"/>
                </a:solidFill>
              </a:rPr>
              <a:t>STAGE</a:t>
            </a:r>
            <a:endParaRPr lang="en-US" sz="1050" dirty="0"/>
          </a:p>
        </p:txBody>
      </p:sp>
      <p:sp>
        <p:nvSpPr>
          <p:cNvPr id="8" name="Label 2"/>
          <p:cNvSpPr txBox="1"/>
          <p:nvPr/>
        </p:nvSpPr>
        <p:spPr>
          <a:xfrm>
            <a:off x="2926080" y="1920240"/>
            <a:ext cx="3657600" cy="219456"/>
          </a:xfrm>
          <a:prstGeom prst="rect">
            <a:avLst/>
          </a:prstGeom>
          <a:noFill/>
          <a:ln/>
        </p:spPr>
        <p:txBody>
          <a:bodyPr wrap="square" lIns="0" tIns="0" rIns="0" bIns="0" rtlCol="0" anchor="ctr"/>
          <a:lstStyle/>
          <a:p>
            <a:pPr algn="l" indent="0" marL="0">
              <a:buNone/>
            </a:pPr>
            <a:r>
              <a:rPr lang="en-US" sz="1050" b="1" dirty="0">
                <a:solidFill>
                  <a:srgbClr val="A4513F"/>
                </a:solidFill>
              </a:rPr>
              <a:t>STEADY-STATE MONTH AT BASE RATES</a:t>
            </a:r>
            <a:endParaRPr lang="en-US" sz="1050" dirty="0"/>
          </a:p>
        </p:txBody>
      </p:sp>
      <p:sp>
        <p:nvSpPr>
          <p:cNvPr id="9" name="Badge ESTIMATE"/>
          <p:cNvSpPr txBox="1"/>
          <p:nvPr/>
        </p:nvSpPr>
        <p:spPr>
          <a:xfrm>
            <a:off x="6947587" y="192024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0" name="Funnel stage"/>
          <p:cNvSpPr txBox="1"/>
          <p:nvPr/>
        </p:nvSpPr>
        <p:spPr>
          <a:xfrm>
            <a:off x="548640" y="2249424"/>
            <a:ext cx="2240280" cy="420624"/>
          </a:xfrm>
          <a:prstGeom prst="rect">
            <a:avLst/>
          </a:prstGeom>
          <a:noFill/>
          <a:ln/>
        </p:spPr>
        <p:txBody>
          <a:bodyPr wrap="square" lIns="0" tIns="0" rIns="0" bIns="0" rtlCol="0" anchor="ctr"/>
          <a:lstStyle/>
          <a:p>
            <a:pPr algn="l" indent="0" marL="0">
              <a:buNone/>
            </a:pPr>
            <a:r>
              <a:rPr lang="en-US" sz="1150" b="1" dirty="0">
                <a:solidFill>
                  <a:schemeClr val="tx1"/>
                </a:solidFill>
              </a:rPr>
              <a:t>Lead</a:t>
            </a:r>
            <a:endParaRPr lang="en-US" sz="1150" dirty="0"/>
          </a:p>
          <a:p>
            <a:pPr algn="l" indent="0" marL="0">
              <a:buNone/>
            </a:pPr>
            <a:r>
              <a:rPr lang="en-US" sz="1000" dirty="0">
                <a:solidFill>
                  <a:srgbClr val="6B5F67"/>
                </a:solidFill>
              </a:rPr>
              <a:t>Meta click-to-WhatsApp or Google Search</a:t>
            </a:r>
            <a:endParaRPr lang="en-US" sz="1150" dirty="0"/>
          </a:p>
        </p:txBody>
      </p:sp>
      <p:sp>
        <p:nvSpPr>
          <p:cNvPr id="11" name="Route segment"/>
          <p:cNvSpPr/>
          <p:nvPr/>
        </p:nvSpPr>
        <p:spPr>
          <a:xfrm>
            <a:off x="2926080" y="2286000"/>
            <a:ext cx="1616122" cy="291876"/>
          </a:xfrm>
          <a:prstGeom prst="rect">
            <a:avLst/>
          </a:prstGeom>
          <a:solidFill>
            <a:srgbClr val="5E2B52"/>
          </a:solidFill>
          <a:ln/>
        </p:spPr>
      </p:sp>
      <p:sp>
        <p:nvSpPr>
          <p:cNvPr id="12" name="Route segment 2"/>
          <p:cNvSpPr/>
          <p:nvPr/>
        </p:nvSpPr>
        <p:spPr>
          <a:xfrm>
            <a:off x="4560490" y="2286000"/>
            <a:ext cx="813304" cy="291876"/>
          </a:xfrm>
          <a:prstGeom prst="rect">
            <a:avLst/>
          </a:prstGeom>
          <a:solidFill>
            <a:srgbClr val="3D1A33"/>
          </a:solidFill>
          <a:ln/>
        </p:spPr>
      </p:sp>
      <p:sp>
        <p:nvSpPr>
          <p:cNvPr id="13" name="Route segment 3"/>
          <p:cNvSpPr/>
          <p:nvPr/>
        </p:nvSpPr>
        <p:spPr>
          <a:xfrm>
            <a:off x="5392083" y="2286000"/>
            <a:ext cx="1129828" cy="291876"/>
          </a:xfrm>
          <a:prstGeom prst="rect">
            <a:avLst/>
          </a:prstGeom>
          <a:solidFill>
            <a:srgbClr val="9C8794"/>
          </a:solidFill>
          <a:ln/>
        </p:spPr>
      </p:sp>
      <p:sp>
        <p:nvSpPr>
          <p:cNvPr id="14" name="Route segment 4"/>
          <p:cNvSpPr/>
          <p:nvPr/>
        </p:nvSpPr>
        <p:spPr>
          <a:xfrm>
            <a:off x="6540198" y="2286000"/>
            <a:ext cx="211911" cy="291876"/>
          </a:xfrm>
          <a:prstGeom prst="rect">
            <a:avLst/>
          </a:prstGeom>
          <a:solidFill>
            <a:srgbClr val="E7A995"/>
          </a:solidFill>
          <a:ln/>
        </p:spPr>
      </p:sp>
      <p:sp>
        <p:nvSpPr>
          <p:cNvPr id="15" name="Route segment 5"/>
          <p:cNvSpPr/>
          <p:nvPr/>
        </p:nvSpPr>
        <p:spPr>
          <a:xfrm>
            <a:off x="6770397" y="2286000"/>
            <a:ext cx="252195" cy="291876"/>
          </a:xfrm>
          <a:prstGeom prst="rect">
            <a:avLst/>
          </a:prstGeom>
          <a:solidFill>
            <a:srgbClr val="C2705C"/>
          </a:solidFill>
          <a:ln/>
        </p:spPr>
      </p:sp>
      <p:sp>
        <p:nvSpPr>
          <p:cNvPr id="16" name="Funnel value"/>
          <p:cNvSpPr txBox="1"/>
          <p:nvPr/>
        </p:nvSpPr>
        <p:spPr>
          <a:xfrm>
            <a:off x="7114032" y="2286000"/>
            <a:ext cx="612648" cy="291876"/>
          </a:xfrm>
          <a:prstGeom prst="rect">
            <a:avLst/>
          </a:prstGeom>
          <a:noFill/>
          <a:ln/>
        </p:spPr>
        <p:txBody>
          <a:bodyPr wrap="square" lIns="0" tIns="0" rIns="0" bIns="0" rtlCol="0" anchor="ctr"/>
          <a:lstStyle/>
          <a:p>
            <a:pPr algn="l" indent="0" marL="0">
              <a:buNone/>
            </a:pPr>
            <a:r>
              <a:rPr lang="en-US" sz="1500" b="1" dirty="0">
                <a:solidFill>
                  <a:schemeClr val="tx2"/>
                </a:solidFill>
              </a:rPr>
              <a:t>143</a:t>
            </a:r>
            <a:endParaRPr lang="en-US" sz="1500" dirty="0"/>
          </a:p>
        </p:txBody>
      </p:sp>
      <p:sp>
        <p:nvSpPr>
          <p:cNvPr id="17" name="Route key"/>
          <p:cNvSpPr/>
          <p:nvPr/>
        </p:nvSpPr>
        <p:spPr>
          <a:xfrm>
            <a:off x="2926080" y="2683032"/>
            <a:ext cx="109728" cy="109728"/>
          </a:xfrm>
          <a:prstGeom prst="rect">
            <a:avLst/>
          </a:prstGeom>
          <a:solidFill>
            <a:srgbClr val="5E2B52"/>
          </a:solidFill>
          <a:ln/>
        </p:spPr>
      </p:sp>
      <p:sp>
        <p:nvSpPr>
          <p:cNvPr id="18" name="Route key text"/>
          <p:cNvSpPr txBox="1"/>
          <p:nvPr/>
        </p:nvSpPr>
        <p:spPr>
          <a:xfrm>
            <a:off x="3072384" y="2632740"/>
            <a:ext cx="946963" cy="201168"/>
          </a:xfrm>
          <a:prstGeom prst="rect">
            <a:avLst/>
          </a:prstGeom>
          <a:noFill/>
          <a:ln/>
        </p:spPr>
        <p:txBody>
          <a:bodyPr wrap="square" lIns="0" tIns="0" rIns="0" bIns="0" rtlCol="0" anchor="ctr"/>
          <a:lstStyle/>
          <a:p>
            <a:pPr algn="l" indent="0" marL="0">
              <a:buNone/>
            </a:pPr>
            <a:r>
              <a:rPr lang="en-US" sz="1000" dirty="0">
                <a:solidFill>
                  <a:schemeClr val="tx1"/>
                </a:solidFill>
              </a:rPr>
              <a:t>Meta CTWA 56.8</a:t>
            </a:r>
            <a:endParaRPr lang="en-US" sz="1000" dirty="0"/>
          </a:p>
        </p:txBody>
      </p:sp>
      <p:sp>
        <p:nvSpPr>
          <p:cNvPr id="19" name="Route key 2"/>
          <p:cNvSpPr/>
          <p:nvPr/>
        </p:nvSpPr>
        <p:spPr>
          <a:xfrm>
            <a:off x="4165651" y="2683032"/>
            <a:ext cx="109728" cy="109728"/>
          </a:xfrm>
          <a:prstGeom prst="rect">
            <a:avLst/>
          </a:prstGeom>
          <a:solidFill>
            <a:srgbClr val="3D1A33"/>
          </a:solidFill>
          <a:ln/>
        </p:spPr>
      </p:sp>
      <p:sp>
        <p:nvSpPr>
          <p:cNvPr id="20" name="Route key text 2"/>
          <p:cNvSpPr txBox="1"/>
          <p:nvPr/>
        </p:nvSpPr>
        <p:spPr>
          <a:xfrm>
            <a:off x="4311955" y="2632740"/>
            <a:ext cx="925131" cy="201168"/>
          </a:xfrm>
          <a:prstGeom prst="rect">
            <a:avLst/>
          </a:prstGeom>
          <a:noFill/>
          <a:ln/>
        </p:spPr>
        <p:txBody>
          <a:bodyPr wrap="square" lIns="0" tIns="0" rIns="0" bIns="0" rtlCol="0" anchor="ctr"/>
          <a:lstStyle/>
          <a:p>
            <a:pPr algn="l" indent="0" marL="0">
              <a:buNone/>
            </a:pPr>
            <a:r>
              <a:rPr lang="en-US" sz="1000" dirty="0">
                <a:solidFill>
                  <a:schemeClr val="tx1"/>
                </a:solidFill>
              </a:rPr>
              <a:t>Paid Search 28.9</a:t>
            </a:r>
            <a:endParaRPr lang="en-US" sz="1000" dirty="0"/>
          </a:p>
        </p:txBody>
      </p:sp>
      <p:sp>
        <p:nvSpPr>
          <p:cNvPr id="21" name="Route key 3"/>
          <p:cNvSpPr/>
          <p:nvPr/>
        </p:nvSpPr>
        <p:spPr>
          <a:xfrm>
            <a:off x="5383390" y="2683032"/>
            <a:ext cx="109728" cy="109728"/>
          </a:xfrm>
          <a:prstGeom prst="rect">
            <a:avLst/>
          </a:prstGeom>
          <a:solidFill>
            <a:srgbClr val="9C8794"/>
          </a:solidFill>
          <a:ln/>
        </p:spPr>
      </p:sp>
      <p:sp>
        <p:nvSpPr>
          <p:cNvPr id="22" name="Route key text 3"/>
          <p:cNvSpPr txBox="1"/>
          <p:nvPr/>
        </p:nvSpPr>
        <p:spPr>
          <a:xfrm>
            <a:off x="5529694" y="2632740"/>
            <a:ext cx="725564" cy="201168"/>
          </a:xfrm>
          <a:prstGeom prst="rect">
            <a:avLst/>
          </a:prstGeom>
          <a:noFill/>
          <a:ln/>
        </p:spPr>
        <p:txBody>
          <a:bodyPr wrap="square" lIns="0" tIns="0" rIns="0" bIns="0" rtlCol="0" anchor="ctr"/>
          <a:lstStyle/>
          <a:p>
            <a:pPr algn="l" indent="0" marL="0">
              <a:buNone/>
            </a:pPr>
            <a:r>
              <a:rPr lang="en-US" sz="1000" dirty="0">
                <a:solidFill>
                  <a:schemeClr val="tx1"/>
                </a:solidFill>
              </a:rPr>
              <a:t>Organic 39.9</a:t>
            </a:r>
            <a:endParaRPr lang="en-US" sz="1000" dirty="0"/>
          </a:p>
        </p:txBody>
      </p:sp>
      <p:sp>
        <p:nvSpPr>
          <p:cNvPr id="23" name="Route key 4"/>
          <p:cNvSpPr/>
          <p:nvPr/>
        </p:nvSpPr>
        <p:spPr>
          <a:xfrm>
            <a:off x="6401562" y="2683032"/>
            <a:ext cx="109728" cy="109728"/>
          </a:xfrm>
          <a:prstGeom prst="rect">
            <a:avLst/>
          </a:prstGeom>
          <a:solidFill>
            <a:srgbClr val="E7A995"/>
          </a:solidFill>
          <a:ln/>
        </p:spPr>
      </p:sp>
      <p:sp>
        <p:nvSpPr>
          <p:cNvPr id="24" name="Route key text 4"/>
          <p:cNvSpPr txBox="1"/>
          <p:nvPr/>
        </p:nvSpPr>
        <p:spPr>
          <a:xfrm>
            <a:off x="6547866" y="2632740"/>
            <a:ext cx="1097585" cy="201168"/>
          </a:xfrm>
          <a:prstGeom prst="rect">
            <a:avLst/>
          </a:prstGeom>
          <a:noFill/>
          <a:ln/>
        </p:spPr>
        <p:txBody>
          <a:bodyPr wrap="square" lIns="0" tIns="0" rIns="0" bIns="0" rtlCol="0" anchor="ctr"/>
          <a:lstStyle/>
          <a:p>
            <a:pPr algn="l" indent="0" marL="0">
              <a:buNone/>
            </a:pPr>
            <a:r>
              <a:rPr lang="en-US" sz="1000" dirty="0">
                <a:solidFill>
                  <a:schemeClr val="tx1"/>
                </a:solidFill>
              </a:rPr>
              <a:t>Referral/walk-in 8.0</a:t>
            </a:r>
            <a:endParaRPr lang="en-US" sz="1000" dirty="0"/>
          </a:p>
        </p:txBody>
      </p:sp>
      <p:sp>
        <p:nvSpPr>
          <p:cNvPr id="25" name="Route key 5"/>
          <p:cNvSpPr/>
          <p:nvPr/>
        </p:nvSpPr>
        <p:spPr>
          <a:xfrm>
            <a:off x="2926080" y="2884200"/>
            <a:ext cx="109728" cy="109728"/>
          </a:xfrm>
          <a:prstGeom prst="rect">
            <a:avLst/>
          </a:prstGeom>
          <a:solidFill>
            <a:srgbClr val="C2705C"/>
          </a:solidFill>
          <a:ln/>
        </p:spPr>
      </p:sp>
      <p:sp>
        <p:nvSpPr>
          <p:cNvPr id="26" name="Route key text 5"/>
          <p:cNvSpPr txBox="1"/>
          <p:nvPr/>
        </p:nvSpPr>
        <p:spPr>
          <a:xfrm>
            <a:off x="3072384" y="2833908"/>
            <a:ext cx="585051" cy="201168"/>
          </a:xfrm>
          <a:prstGeom prst="rect">
            <a:avLst/>
          </a:prstGeom>
          <a:noFill/>
          <a:ln/>
        </p:spPr>
        <p:txBody>
          <a:bodyPr wrap="square" lIns="0" tIns="0" rIns="0" bIns="0" rtlCol="0" anchor="ctr"/>
          <a:lstStyle/>
          <a:p>
            <a:pPr algn="l" indent="0" marL="0">
              <a:buNone/>
            </a:pPr>
            <a:r>
              <a:rPr lang="en-US" sz="1000" dirty="0">
                <a:solidFill>
                  <a:schemeClr val="tx1"/>
                </a:solidFill>
              </a:rPr>
              <a:t>Taster 9.4</a:t>
            </a:r>
            <a:endParaRPr lang="en-US" sz="1000" dirty="0"/>
          </a:p>
        </p:txBody>
      </p:sp>
      <p:sp>
        <p:nvSpPr>
          <p:cNvPr id="27" name="Badge HYPOTHESIS"/>
          <p:cNvSpPr txBox="1"/>
          <p:nvPr/>
        </p:nvSpPr>
        <p:spPr>
          <a:xfrm>
            <a:off x="6813013" y="2833908"/>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28" name="Funnel stage 2"/>
          <p:cNvSpPr txBox="1"/>
          <p:nvPr/>
        </p:nvSpPr>
        <p:spPr>
          <a:xfrm>
            <a:off x="548640" y="3182112"/>
            <a:ext cx="2240280" cy="405384"/>
          </a:xfrm>
          <a:prstGeom prst="rect">
            <a:avLst/>
          </a:prstGeom>
          <a:noFill/>
          <a:ln/>
        </p:spPr>
        <p:txBody>
          <a:bodyPr wrap="square" lIns="0" tIns="0" rIns="0" bIns="0" rtlCol="0" anchor="ctr"/>
          <a:lstStyle/>
          <a:p>
            <a:pPr algn="l" indent="0" marL="0">
              <a:buNone/>
            </a:pPr>
            <a:r>
              <a:rPr lang="en-US" sz="1200" b="1" dirty="0">
                <a:solidFill>
                  <a:schemeClr val="tx1"/>
                </a:solidFill>
              </a:rPr>
              <a:t>Qualified lead</a:t>
            </a:r>
            <a:endParaRPr lang="en-US" sz="1200" dirty="0"/>
          </a:p>
          <a:p>
            <a:pPr algn="l" indent="0" marL="0">
              <a:buNone/>
            </a:pPr>
            <a:r>
              <a:rPr lang="en-US" sz="1050" dirty="0">
                <a:solidFill>
                  <a:srgbClr val="6B5F67"/>
                </a:solidFill>
              </a:rPr>
              <a:t>4-question WhatsApp Flow</a:t>
            </a:r>
            <a:endParaRPr lang="en-US" sz="1200" dirty="0"/>
          </a:p>
        </p:txBody>
      </p:sp>
      <p:sp>
        <p:nvSpPr>
          <p:cNvPr id="29" name="Funnel bar"/>
          <p:cNvSpPr/>
          <p:nvPr/>
        </p:nvSpPr>
        <p:spPr>
          <a:xfrm>
            <a:off x="2926080" y="3238866"/>
            <a:ext cx="4304538" cy="291876"/>
          </a:xfrm>
          <a:prstGeom prst="roundRect">
            <a:avLst>
              <a:gd name="adj" fmla="val 15664"/>
            </a:avLst>
          </a:prstGeom>
          <a:solidFill>
            <a:srgbClr val="3D1A33"/>
          </a:solidFill>
          <a:ln/>
        </p:spPr>
      </p:sp>
      <p:sp>
        <p:nvSpPr>
          <p:cNvPr id="30" name="Funnel value 2"/>
          <p:cNvSpPr txBox="1"/>
          <p:nvPr/>
        </p:nvSpPr>
        <p:spPr>
          <a:xfrm>
            <a:off x="3017520" y="3238866"/>
            <a:ext cx="4121658" cy="291876"/>
          </a:xfrm>
          <a:prstGeom prst="rect">
            <a:avLst/>
          </a:prstGeom>
          <a:noFill/>
          <a:ln/>
        </p:spPr>
        <p:txBody>
          <a:bodyPr wrap="square" lIns="0" tIns="0" rIns="0" bIns="0" rtlCol="0" anchor="ctr"/>
          <a:lstStyle/>
          <a:p>
            <a:pPr algn="l" indent="0" marL="0">
              <a:buNone/>
            </a:pPr>
            <a:r>
              <a:rPr lang="en-US" sz="1400" b="1" dirty="0">
                <a:solidFill>
                  <a:schemeClr val="bg1"/>
                </a:solidFill>
              </a:rPr>
              <a:t>65.9</a:t>
            </a:r>
            <a:endParaRPr lang="en-US" sz="1400" dirty="0"/>
          </a:p>
        </p:txBody>
      </p:sp>
      <p:sp>
        <p:nvSpPr>
          <p:cNvPr id="31" name="Funnel stage 3"/>
          <p:cNvSpPr txBox="1"/>
          <p:nvPr/>
        </p:nvSpPr>
        <p:spPr>
          <a:xfrm>
            <a:off x="548640" y="3587496"/>
            <a:ext cx="2240280" cy="405384"/>
          </a:xfrm>
          <a:prstGeom prst="rect">
            <a:avLst/>
          </a:prstGeom>
          <a:noFill/>
          <a:ln/>
        </p:spPr>
        <p:txBody>
          <a:bodyPr wrap="square" lIns="0" tIns="0" rIns="0" bIns="0" rtlCol="0" anchor="ctr"/>
          <a:lstStyle/>
          <a:p>
            <a:pPr algn="l" indent="0" marL="0">
              <a:buNone/>
            </a:pPr>
            <a:r>
              <a:rPr lang="en-US" sz="1200" b="1" dirty="0">
                <a:solidFill>
                  <a:schemeClr val="tx1"/>
                </a:solidFill>
              </a:rPr>
              <a:t>Counselled / demo</a:t>
            </a:r>
            <a:endParaRPr lang="en-US" sz="1200" dirty="0"/>
          </a:p>
          <a:p>
            <a:pPr algn="l" indent="0" marL="0">
              <a:buNone/>
            </a:pPr>
            <a:r>
              <a:rPr lang="en-US" sz="1050" dirty="0">
                <a:solidFill>
                  <a:srgbClr val="6B5F67"/>
                </a:solidFill>
              </a:rPr>
              <a:t>Visit with a parent, or ₹999 taster</a:t>
            </a:r>
            <a:endParaRPr lang="en-US" sz="1200" dirty="0"/>
          </a:p>
        </p:txBody>
      </p:sp>
      <p:sp>
        <p:nvSpPr>
          <p:cNvPr id="32" name="Funnel bar 2"/>
          <p:cNvSpPr/>
          <p:nvPr/>
        </p:nvSpPr>
        <p:spPr>
          <a:xfrm>
            <a:off x="2926080" y="3644250"/>
            <a:ext cx="3808476" cy="291876"/>
          </a:xfrm>
          <a:prstGeom prst="roundRect">
            <a:avLst>
              <a:gd name="adj" fmla="val 15664"/>
            </a:avLst>
          </a:prstGeom>
          <a:solidFill>
            <a:srgbClr val="553149"/>
          </a:solidFill>
          <a:ln/>
        </p:spPr>
      </p:sp>
      <p:sp>
        <p:nvSpPr>
          <p:cNvPr id="33" name="Funnel value 3"/>
          <p:cNvSpPr txBox="1"/>
          <p:nvPr/>
        </p:nvSpPr>
        <p:spPr>
          <a:xfrm>
            <a:off x="3017520" y="3644250"/>
            <a:ext cx="3625596" cy="291876"/>
          </a:xfrm>
          <a:prstGeom prst="rect">
            <a:avLst/>
          </a:prstGeom>
          <a:noFill/>
          <a:ln/>
        </p:spPr>
        <p:txBody>
          <a:bodyPr wrap="square" lIns="0" tIns="0" rIns="0" bIns="0" rtlCol="0" anchor="ctr"/>
          <a:lstStyle/>
          <a:p>
            <a:pPr algn="l" indent="0" marL="0">
              <a:buNone/>
            </a:pPr>
            <a:r>
              <a:rPr lang="en-US" sz="1400" b="1" dirty="0">
                <a:solidFill>
                  <a:schemeClr val="bg1"/>
                </a:solidFill>
              </a:rPr>
              <a:t>37.8</a:t>
            </a:r>
            <a:endParaRPr lang="en-US" sz="1400" dirty="0"/>
          </a:p>
        </p:txBody>
      </p:sp>
      <p:sp>
        <p:nvSpPr>
          <p:cNvPr id="34" name="Funnel stage 4"/>
          <p:cNvSpPr txBox="1"/>
          <p:nvPr/>
        </p:nvSpPr>
        <p:spPr>
          <a:xfrm>
            <a:off x="548640" y="3992880"/>
            <a:ext cx="2240280" cy="405384"/>
          </a:xfrm>
          <a:prstGeom prst="rect">
            <a:avLst/>
          </a:prstGeom>
          <a:noFill/>
          <a:ln/>
        </p:spPr>
        <p:txBody>
          <a:bodyPr wrap="square" lIns="0" tIns="0" rIns="0" bIns="0" rtlCol="0" anchor="ctr"/>
          <a:lstStyle/>
          <a:p>
            <a:pPr algn="l" indent="0" marL="0">
              <a:buNone/>
            </a:pPr>
            <a:r>
              <a:rPr lang="en-US" sz="1200" b="1" dirty="0">
                <a:solidFill>
                  <a:schemeClr val="tx1"/>
                </a:solidFill>
              </a:rPr>
              <a:t>Applied (token)</a:t>
            </a:r>
            <a:endParaRPr lang="en-US" sz="1200" dirty="0"/>
          </a:p>
          <a:p>
            <a:pPr algn="l" indent="0" marL="0">
              <a:buNone/>
            </a:pPr>
            <a:r>
              <a:rPr lang="en-US" sz="1050" dirty="0">
                <a:solidFill>
                  <a:srgbClr val="6B5F67"/>
                </a:solidFill>
              </a:rPr>
              <a:t>₹5,000 token</a:t>
            </a:r>
            <a:endParaRPr lang="en-US" sz="1200" dirty="0"/>
          </a:p>
        </p:txBody>
      </p:sp>
      <p:sp>
        <p:nvSpPr>
          <p:cNvPr id="35" name="Funnel bar 3"/>
          <p:cNvSpPr/>
          <p:nvPr/>
        </p:nvSpPr>
        <p:spPr>
          <a:xfrm>
            <a:off x="2926080" y="4049634"/>
            <a:ext cx="3312414" cy="291876"/>
          </a:xfrm>
          <a:prstGeom prst="roundRect">
            <a:avLst>
              <a:gd name="adj" fmla="val 15664"/>
            </a:avLst>
          </a:prstGeom>
          <a:solidFill>
            <a:srgbClr val="6D4860"/>
          </a:solidFill>
          <a:ln/>
        </p:spPr>
      </p:sp>
      <p:sp>
        <p:nvSpPr>
          <p:cNvPr id="36" name="Funnel value 4"/>
          <p:cNvSpPr txBox="1"/>
          <p:nvPr/>
        </p:nvSpPr>
        <p:spPr>
          <a:xfrm>
            <a:off x="3017520" y="4049634"/>
            <a:ext cx="3129534" cy="291876"/>
          </a:xfrm>
          <a:prstGeom prst="rect">
            <a:avLst/>
          </a:prstGeom>
          <a:noFill/>
          <a:ln/>
        </p:spPr>
        <p:txBody>
          <a:bodyPr wrap="square" lIns="0" tIns="0" rIns="0" bIns="0" rtlCol="0" anchor="ctr"/>
          <a:lstStyle/>
          <a:p>
            <a:pPr algn="l" indent="0" marL="0">
              <a:buNone/>
            </a:pPr>
            <a:r>
              <a:rPr lang="en-US" sz="1400" b="1" dirty="0">
                <a:solidFill>
                  <a:schemeClr val="bg1"/>
                </a:solidFill>
              </a:rPr>
              <a:t>12.2</a:t>
            </a:r>
            <a:endParaRPr lang="en-US" sz="1400" dirty="0"/>
          </a:p>
        </p:txBody>
      </p:sp>
      <p:sp>
        <p:nvSpPr>
          <p:cNvPr id="37" name="Funnel stage 5"/>
          <p:cNvSpPr txBox="1"/>
          <p:nvPr/>
        </p:nvSpPr>
        <p:spPr>
          <a:xfrm>
            <a:off x="548640" y="4398264"/>
            <a:ext cx="2240280" cy="405384"/>
          </a:xfrm>
          <a:prstGeom prst="rect">
            <a:avLst/>
          </a:prstGeom>
          <a:noFill/>
          <a:ln/>
        </p:spPr>
        <p:txBody>
          <a:bodyPr wrap="square" lIns="0" tIns="0" rIns="0" bIns="0" rtlCol="0" anchor="ctr"/>
          <a:lstStyle/>
          <a:p>
            <a:pPr algn="l" indent="0" marL="0">
              <a:buNone/>
            </a:pPr>
            <a:r>
              <a:rPr lang="en-US" sz="1200" b="1" dirty="0">
                <a:solidFill>
                  <a:schemeClr val="tx1"/>
                </a:solidFill>
              </a:rPr>
              <a:t>Enrolled</a:t>
            </a:r>
            <a:endParaRPr lang="en-US" sz="1200" dirty="0"/>
          </a:p>
          <a:p>
            <a:pPr algn="l" indent="0" marL="0">
              <a:buNone/>
            </a:pPr>
            <a:r>
              <a:rPr lang="en-US" sz="1050" dirty="0">
                <a:solidFill>
                  <a:srgbClr val="6B5F67"/>
                </a:solidFill>
              </a:rPr>
              <a:t>No-cost EMI (PNA bears 3–7%)</a:t>
            </a:r>
            <a:endParaRPr lang="en-US" sz="1200" dirty="0"/>
          </a:p>
        </p:txBody>
      </p:sp>
      <p:sp>
        <p:nvSpPr>
          <p:cNvPr id="38" name="Funnel bar 4"/>
          <p:cNvSpPr/>
          <p:nvPr/>
        </p:nvSpPr>
        <p:spPr>
          <a:xfrm>
            <a:off x="2926080" y="4455018"/>
            <a:ext cx="2816352" cy="291876"/>
          </a:xfrm>
          <a:prstGeom prst="roundRect">
            <a:avLst>
              <a:gd name="adj" fmla="val 15664"/>
            </a:avLst>
          </a:prstGeom>
          <a:solidFill>
            <a:srgbClr val="845F76"/>
          </a:solidFill>
          <a:ln/>
        </p:spPr>
      </p:sp>
      <p:sp>
        <p:nvSpPr>
          <p:cNvPr id="39" name="Funnel value 5"/>
          <p:cNvSpPr txBox="1"/>
          <p:nvPr/>
        </p:nvSpPr>
        <p:spPr>
          <a:xfrm>
            <a:off x="3017520" y="4455018"/>
            <a:ext cx="2633472" cy="291876"/>
          </a:xfrm>
          <a:prstGeom prst="rect">
            <a:avLst/>
          </a:prstGeom>
          <a:noFill/>
          <a:ln/>
        </p:spPr>
        <p:txBody>
          <a:bodyPr wrap="square" lIns="0" tIns="0" rIns="0" bIns="0" rtlCol="0" anchor="ctr"/>
          <a:lstStyle/>
          <a:p>
            <a:pPr algn="l" indent="0" marL="0">
              <a:buNone/>
            </a:pPr>
            <a:r>
              <a:rPr lang="en-US" sz="1400" b="1" dirty="0">
                <a:solidFill>
                  <a:schemeClr val="bg1"/>
                </a:solidFill>
              </a:rPr>
              <a:t>10.0</a:t>
            </a:r>
            <a:endParaRPr lang="en-US" sz="1400" dirty="0"/>
          </a:p>
        </p:txBody>
      </p:sp>
      <p:sp>
        <p:nvSpPr>
          <p:cNvPr id="40" name="Funnel stage 6"/>
          <p:cNvSpPr txBox="1"/>
          <p:nvPr/>
        </p:nvSpPr>
        <p:spPr>
          <a:xfrm>
            <a:off x="548640" y="4803648"/>
            <a:ext cx="2240280" cy="405384"/>
          </a:xfrm>
          <a:prstGeom prst="rect">
            <a:avLst/>
          </a:prstGeom>
          <a:noFill/>
          <a:ln/>
        </p:spPr>
        <p:txBody>
          <a:bodyPr wrap="square" lIns="0" tIns="0" rIns="0" bIns="0" rtlCol="0" anchor="ctr"/>
          <a:lstStyle/>
          <a:p>
            <a:pPr algn="l" indent="0" marL="0">
              <a:buNone/>
            </a:pPr>
            <a:r>
              <a:rPr lang="en-US" sz="1200" b="1" dirty="0">
                <a:solidFill>
                  <a:schemeClr val="tx1"/>
                </a:solidFill>
              </a:rPr>
              <a:t>Completed</a:t>
            </a:r>
            <a:endParaRPr lang="en-US" sz="1200" dirty="0"/>
          </a:p>
        </p:txBody>
      </p:sp>
      <p:sp>
        <p:nvSpPr>
          <p:cNvPr id="41" name="Funnel bar 5"/>
          <p:cNvSpPr/>
          <p:nvPr/>
        </p:nvSpPr>
        <p:spPr>
          <a:xfrm>
            <a:off x="2926080" y="4860402"/>
            <a:ext cx="2320290" cy="291876"/>
          </a:xfrm>
          <a:prstGeom prst="roundRect">
            <a:avLst>
              <a:gd name="adj" fmla="val 15664"/>
            </a:avLst>
          </a:prstGeom>
          <a:solidFill>
            <a:srgbClr val="9C768D"/>
          </a:solidFill>
          <a:ln/>
        </p:spPr>
      </p:sp>
      <p:sp>
        <p:nvSpPr>
          <p:cNvPr id="42" name="Funnel value 6"/>
          <p:cNvSpPr txBox="1"/>
          <p:nvPr/>
        </p:nvSpPr>
        <p:spPr>
          <a:xfrm>
            <a:off x="3017520" y="4860402"/>
            <a:ext cx="2137410" cy="291876"/>
          </a:xfrm>
          <a:prstGeom prst="rect">
            <a:avLst/>
          </a:prstGeom>
          <a:noFill/>
          <a:ln/>
        </p:spPr>
        <p:txBody>
          <a:bodyPr wrap="square" lIns="0" tIns="0" rIns="0" bIns="0" rtlCol="0" anchor="ctr"/>
          <a:lstStyle/>
          <a:p>
            <a:pPr algn="l" indent="0" marL="0">
              <a:buNone/>
            </a:pPr>
            <a:r>
              <a:rPr lang="en-US" sz="1400" b="1" dirty="0">
                <a:solidFill>
                  <a:schemeClr val="tx1"/>
                </a:solidFill>
              </a:rPr>
              <a:t>9.0</a:t>
            </a:r>
            <a:endParaRPr lang="en-US" sz="1400" dirty="0"/>
          </a:p>
        </p:txBody>
      </p:sp>
      <p:sp>
        <p:nvSpPr>
          <p:cNvPr id="43" name="Funnel stage 7"/>
          <p:cNvSpPr txBox="1"/>
          <p:nvPr/>
        </p:nvSpPr>
        <p:spPr>
          <a:xfrm>
            <a:off x="548640" y="5209032"/>
            <a:ext cx="2240280" cy="405384"/>
          </a:xfrm>
          <a:prstGeom prst="rect">
            <a:avLst/>
          </a:prstGeom>
          <a:noFill/>
          <a:ln/>
        </p:spPr>
        <p:txBody>
          <a:bodyPr wrap="square" lIns="0" tIns="0" rIns="0" bIns="0" rtlCol="0" anchor="ctr"/>
          <a:lstStyle/>
          <a:p>
            <a:pPr algn="l" indent="0" marL="0">
              <a:buNone/>
            </a:pPr>
            <a:r>
              <a:rPr lang="en-US" sz="1200" b="1" dirty="0">
                <a:solidFill>
                  <a:schemeClr val="tx1"/>
                </a:solidFill>
              </a:rPr>
              <a:t>Advocate</a:t>
            </a:r>
            <a:endParaRPr lang="en-US" sz="1200" dirty="0"/>
          </a:p>
          <a:p>
            <a:pPr algn="l" indent="0" marL="0">
              <a:buNone/>
            </a:pPr>
            <a:r>
              <a:rPr lang="en-US" sz="1050" dirty="0">
                <a:solidFill>
                  <a:srgbClr val="6B5F67"/>
                </a:solidFill>
              </a:rPr>
              <a:t>Reviews and referrals</a:t>
            </a:r>
            <a:endParaRPr lang="en-US" sz="1200" dirty="0"/>
          </a:p>
        </p:txBody>
      </p:sp>
      <p:sp>
        <p:nvSpPr>
          <p:cNvPr id="44" name="Funnel bar 6"/>
          <p:cNvSpPr/>
          <p:nvPr/>
        </p:nvSpPr>
        <p:spPr>
          <a:xfrm>
            <a:off x="2926080" y="5265786"/>
            <a:ext cx="1824228" cy="291876"/>
          </a:xfrm>
          <a:prstGeom prst="roundRect">
            <a:avLst>
              <a:gd name="adj" fmla="val 15664"/>
            </a:avLst>
          </a:prstGeom>
          <a:solidFill>
            <a:srgbClr val="C2705C"/>
          </a:solidFill>
          <a:ln/>
        </p:spPr>
      </p:sp>
      <p:sp>
        <p:nvSpPr>
          <p:cNvPr id="45" name="Funnel value 7"/>
          <p:cNvSpPr txBox="1"/>
          <p:nvPr/>
        </p:nvSpPr>
        <p:spPr>
          <a:xfrm>
            <a:off x="3017520" y="5265786"/>
            <a:ext cx="1641348" cy="291876"/>
          </a:xfrm>
          <a:prstGeom prst="rect">
            <a:avLst/>
          </a:prstGeom>
          <a:noFill/>
          <a:ln/>
        </p:spPr>
        <p:txBody>
          <a:bodyPr wrap="square" lIns="0" tIns="0" rIns="0" bIns="0" rtlCol="0" anchor="ctr"/>
          <a:lstStyle/>
          <a:p>
            <a:pPr algn="l" indent="0" marL="0">
              <a:buNone/>
            </a:pPr>
            <a:r>
              <a:rPr lang="en-US" sz="1400" b="1" dirty="0">
                <a:solidFill>
                  <a:schemeClr val="tx1"/>
                </a:solidFill>
              </a:rPr>
              <a:t>≈4.1 reviews/month</a:t>
            </a:r>
            <a:endParaRPr lang="en-US" sz="1400" dirty="0"/>
          </a:p>
        </p:txBody>
      </p:sp>
      <p:sp>
        <p:nvSpPr>
          <p:cNvPr id="46" name="Standard card"/>
          <p:cNvSpPr/>
          <p:nvPr/>
        </p:nvSpPr>
        <p:spPr>
          <a:xfrm>
            <a:off x="8001000" y="1920240"/>
            <a:ext cx="3642055" cy="3694176"/>
          </a:xfrm>
          <a:prstGeom prst="roundRect">
            <a:avLst>
              <a:gd name="adj" fmla="val 2009"/>
            </a:avLst>
          </a:prstGeom>
          <a:solidFill>
            <a:srgbClr val="F2EAF0"/>
          </a:solidFill>
          <a:ln/>
        </p:spPr>
      </p:sp>
      <p:sp>
        <p:nvSpPr>
          <p:cNvPr id="47" name="Label 3"/>
          <p:cNvSpPr txBox="1"/>
          <p:nvPr/>
        </p:nvSpPr>
        <p:spPr>
          <a:xfrm>
            <a:off x="8183880" y="2048256"/>
            <a:ext cx="2011680" cy="219456"/>
          </a:xfrm>
          <a:prstGeom prst="rect">
            <a:avLst/>
          </a:prstGeom>
          <a:noFill/>
          <a:ln/>
        </p:spPr>
        <p:txBody>
          <a:bodyPr wrap="square" lIns="0" tIns="0" rIns="0" bIns="0" rtlCol="0" anchor="ctr"/>
          <a:lstStyle/>
          <a:p>
            <a:pPr algn="l" indent="0" marL="0">
              <a:buNone/>
            </a:pPr>
            <a:r>
              <a:rPr lang="en-US" sz="1050" b="1" dirty="0">
                <a:solidFill>
                  <a:srgbClr val="A4513F"/>
                </a:solidFill>
              </a:rPr>
              <a:t>SERVICE STANDARD</a:t>
            </a:r>
            <a:endParaRPr lang="en-US" sz="1050" dirty="0"/>
          </a:p>
        </p:txBody>
      </p:sp>
      <p:sp>
        <p:nvSpPr>
          <p:cNvPr id="48" name="Badge RECOMMENDATION"/>
          <p:cNvSpPr txBox="1"/>
          <p:nvPr/>
        </p:nvSpPr>
        <p:spPr>
          <a:xfrm>
            <a:off x="10128758" y="2048256"/>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49" name="Standards"/>
          <p:cNvSpPr txBox="1"/>
          <p:nvPr/>
        </p:nvSpPr>
        <p:spPr>
          <a:xfrm>
            <a:off x="8183880" y="2423160"/>
            <a:ext cx="3276295" cy="2501227"/>
          </a:xfrm>
          <a:prstGeom prst="rect">
            <a:avLst/>
          </a:prstGeom>
          <a:noFill/>
          <a:ln/>
        </p:spPr>
        <p:txBody>
          <a:bodyPr wrap="square" lIns="0" tIns="0" rIns="0" bIns="0" rtlCol="0" anchor="t"/>
          <a:lstStyle/>
          <a:p>
            <a:pPr algn="l" marL="152400" indent="-152400">
              <a:spcAft>
                <a:spcPts val="900"/>
              </a:spcAft>
              <a:buSzPct val="100000"/>
              <a:buChar char="•"/>
            </a:pPr>
            <a:r>
              <a:rPr lang="en-US" sz="1350" dirty="0">
                <a:solidFill>
                  <a:schemeClr val="tx2"/>
                </a:solidFill>
              </a:rPr>
              <a:t>Instant auto-reply ≤1 min</a:t>
            </a:r>
            <a:endParaRPr lang="en-US" sz="1350" dirty="0"/>
          </a:p>
          <a:p>
            <a:pPr algn="l" marL="152400" indent="-152400">
              <a:spcAft>
                <a:spcPts val="900"/>
              </a:spcAft>
              <a:buSzPct val="100000"/>
              <a:buChar char="•"/>
            </a:pPr>
            <a:r>
              <a:rPr lang="en-US" sz="1350" dirty="0">
                <a:solidFill>
                  <a:schemeClr val="tx2"/>
                </a:solidFill>
              </a:rPr>
              <a:t>First human reply median &lt;5 min, P90 &lt;30 min</a:t>
            </a:r>
            <a:endParaRPr lang="en-US" sz="1350" dirty="0"/>
          </a:p>
          <a:p>
            <a:pPr algn="l" marL="152400" indent="-152400">
              <a:spcAft>
                <a:spcPts val="900"/>
              </a:spcAft>
              <a:buSzPct val="100000"/>
              <a:buChar char="•"/>
            </a:pPr>
            <a:r>
              <a:rPr lang="en-US" sz="1350" dirty="0">
                <a:solidFill>
                  <a:schemeClr val="tx2"/>
                </a:solidFill>
              </a:rPr>
              <a:t>≥90% contacted within 1 h</a:t>
            </a:r>
            <a:endParaRPr lang="en-US" sz="1350" dirty="0"/>
          </a:p>
          <a:p>
            <a:pPr algn="l" marL="152400" indent="-152400">
              <a:spcAft>
                <a:spcPts val="900"/>
              </a:spcAft>
              <a:buSzPct val="100000"/>
              <a:buChar char="•"/>
            </a:pPr>
            <a:r>
              <a:rPr lang="en-US" sz="1350" dirty="0">
                <a:solidFill>
                  <a:schemeClr val="tx2"/>
                </a:solidFill>
              </a:rPr>
              <a:t>≥5 touches in 14 days</a:t>
            </a:r>
            <a:endParaRPr lang="en-US" sz="1350" dirty="0"/>
          </a:p>
          <a:p>
            <a:pPr algn="l" marL="152400" indent="-152400">
              <a:spcAft>
                <a:spcPts val="900"/>
              </a:spcAft>
              <a:buSzPct val="100000"/>
              <a:buChar char="•"/>
            </a:pPr>
            <a:r>
              <a:rPr lang="en-US" sz="1350" dirty="0">
                <a:solidFill>
                  <a:schemeClr val="tx2"/>
                </a:solidFill>
              </a:rPr>
              <a:t>Counselling booked within 48 h</a:t>
            </a:r>
            <a:endParaRPr lang="en-US" sz="1350" dirty="0"/>
          </a:p>
          <a:p>
            <a:pPr algn="l" marL="152400" indent="-152400">
              <a:buSzPct val="100000"/>
              <a:buChar char="•"/>
            </a:pPr>
            <a:r>
              <a:rPr lang="en-US" sz="1350" dirty="0">
                <a:solidFill>
                  <a:schemeClr val="tx2"/>
                </a:solidFill>
              </a:rPr>
              <a:t>Parent present at ≥60% of S1 visits</a:t>
            </a:r>
            <a:endParaRPr lang="en-US" sz="1350" dirty="0"/>
          </a:p>
        </p:txBody>
      </p:sp>
      <p:sp>
        <p:nvSpPr>
          <p:cNvPr id="50" name="Standards foot"/>
          <p:cNvSpPr txBox="1"/>
          <p:nvPr/>
        </p:nvSpPr>
        <p:spPr>
          <a:xfrm>
            <a:off x="8183880" y="5015827"/>
            <a:ext cx="3276295" cy="488861"/>
          </a:xfrm>
          <a:prstGeom prst="rect">
            <a:avLst/>
          </a:prstGeom>
          <a:noFill/>
          <a:ln/>
        </p:spPr>
        <p:txBody>
          <a:bodyPr wrap="square" lIns="0" tIns="0" rIns="0" bIns="0" rtlCol="0" anchor="t"/>
          <a:lstStyle/>
          <a:p>
            <a:pPr algn="l" indent="0" marL="0">
              <a:buNone/>
            </a:pPr>
            <a:r>
              <a:rPr lang="en-US" sz="1050" dirty="0">
                <a:solidFill>
                  <a:srgbClr val="6B5F67"/>
                </a:solidFill>
              </a:rPr>
              <a:t>Masterclasses and self-makeup are self-serve. The website is the trust hub, not the closer. The founder is never the inbox. Refund and transfer policy published.</a:t>
            </a:r>
            <a:endParaRPr lang="en-US" sz="1050" dirty="0"/>
          </a:p>
        </p:txBody>
      </p:sp>
      <p:sp>
        <p:nvSpPr>
          <p:cNvPr id="51" name="Speed chip"/>
          <p:cNvSpPr/>
          <p:nvPr/>
        </p:nvSpPr>
        <p:spPr>
          <a:xfrm>
            <a:off x="548640" y="5760720"/>
            <a:ext cx="11094415" cy="384048"/>
          </a:xfrm>
          <a:prstGeom prst="roundRect">
            <a:avLst>
              <a:gd name="adj" fmla="val 19048"/>
            </a:avLst>
          </a:prstGeom>
          <a:solidFill>
            <a:srgbClr val="F8EBD4"/>
          </a:solidFill>
          <a:ln/>
        </p:spPr>
      </p:sp>
      <p:sp>
        <p:nvSpPr>
          <p:cNvPr id="52" name="Speed chip text"/>
          <p:cNvSpPr txBox="1"/>
          <p:nvPr/>
        </p:nvSpPr>
        <p:spPr>
          <a:xfrm>
            <a:off x="731520" y="5779008"/>
            <a:ext cx="9114801" cy="347472"/>
          </a:xfrm>
          <a:prstGeom prst="rect">
            <a:avLst/>
          </a:prstGeom>
          <a:noFill/>
          <a:ln/>
        </p:spPr>
        <p:txBody>
          <a:bodyPr wrap="square" lIns="0" tIns="0" rIns="0" bIns="0" rtlCol="0" anchor="ctr"/>
          <a:lstStyle/>
          <a:p>
            <a:pPr algn="l" indent="0" marL="0">
              <a:buNone/>
            </a:pPr>
            <a:r>
              <a:rPr lang="en-US" sz="1100" dirty="0">
                <a:solidFill>
                  <a:srgbClr val="7A4B0C"/>
                </a:solidFill>
              </a:rPr>
              <a:t>Missing the 5-minute standard costs ≈₹32k/month of extra media for the same enrolments, or −2.3 enrolments (model output of a vendor benchmark; untested).</a:t>
            </a:r>
            <a:endParaRPr lang="en-US" sz="1100" dirty="0"/>
          </a:p>
        </p:txBody>
      </p:sp>
      <p:sp>
        <p:nvSpPr>
          <p:cNvPr id="53" name="Badge ESTIMATE 2"/>
          <p:cNvSpPr txBox="1"/>
          <p:nvPr/>
        </p:nvSpPr>
        <p:spPr>
          <a:xfrm>
            <a:off x="10029201" y="584301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54" name="Badge CLAIM"/>
          <p:cNvSpPr txBox="1"/>
          <p:nvPr/>
        </p:nvSpPr>
        <p:spPr>
          <a:xfrm>
            <a:off x="10881446" y="5843016"/>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RECOMMENDATION · GROWTH ENGINE</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550" dirty="0">
                <a:solidFill>
                  <a:schemeClr val="tx2"/>
                </a:solidFill>
                <a:latin typeface="+mj-lt" pitchFamily="34" charset="0"/>
                <a:ea typeface="+mj-lt" pitchFamily="34" charset="-122"/>
                <a:cs typeface="+mj-lt" pitchFamily="34" charset="-120"/>
              </a:rPr>
              <a:t>A proof flywheel, run in four phases, with paid media capped until gates pass</a:t>
            </a:r>
            <a:endParaRPr lang="en-US" sz="2800" dirty="0"/>
          </a:p>
        </p:txBody>
      </p:sp>
      <p:sp>
        <p:nvSpPr>
          <p:cNvPr id="4" name="Subtitle"/>
          <p:cNvSpPr txBox="1"/>
          <p:nvPr/>
        </p:nvSpPr>
        <p:spPr>
          <a:xfrm>
            <a:off x="548640" y="1085660"/>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Student work becomes content, content brings WhatsApp leads, a counsellor converts them, graduates produce proof; media ≤₹15k/month to G0, ≤₹60k to G1.</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growth_marketing_strategy.md §0, §1.1–1.2, §9; execution/marketing_channel_plan.md §3.2; recommended_strategy.md §3 Q6, §6.3; economics §1A (T1 media)</a:t>
            </a:r>
            <a:pPr algn="l" indent="0" marL="0">
              <a:buNone/>
            </a:pPr>
            <a:r>
              <a:rPr lang="en-US" sz="900" b="1" dirty="0">
                <a:solidFill>
                  <a:srgbClr val="6B5F67"/>
                </a:solidFill>
              </a:rPr>
              <a:t>   Note: </a:t>
            </a:r>
            <a:pPr algn="l" indent="0" marL="0">
              <a:buNone/>
            </a:pPr>
            <a:r>
              <a:rPr lang="en-US" sz="900" dirty="0">
                <a:solidFill>
                  <a:srgbClr val="6B5F67"/>
                </a:solidFill>
              </a:rPr>
              <a:t>₹ thousand per month, Nov 2026–Oct 2027, planning case. Seasonality index: HYPOTHESIS (A-GRO-40; wedding-season dates VERIFIED, S-CUS-13).</a:t>
            </a:r>
            <a:endParaRPr lang="en-US" sz="900" dirty="0"/>
          </a:p>
        </p:txBody>
      </p:sp>
      <p:sp>
        <p:nvSpPr>
          <p:cNvPr id="7" name="Flywheel card"/>
          <p:cNvSpPr/>
          <p:nvPr/>
        </p:nvSpPr>
        <p:spPr>
          <a:xfrm>
            <a:off x="548640" y="1920240"/>
            <a:ext cx="3611880" cy="2103120"/>
          </a:xfrm>
          <a:prstGeom prst="roundRect">
            <a:avLst>
              <a:gd name="adj" fmla="val 3478"/>
            </a:avLst>
          </a:prstGeom>
          <a:solidFill>
            <a:schemeClr val="bg1"/>
          </a:solidFill>
          <a:ln w="9525">
            <a:solidFill>
              <a:srgbClr val="E4DAD5"/>
            </a:solidFill>
            <a:prstDash val="solid"/>
          </a:ln>
        </p:spPr>
      </p:sp>
      <p:sp>
        <p:nvSpPr>
          <p:cNvPr id="8" name="Flywheel ring"/>
          <p:cNvSpPr/>
          <p:nvPr/>
        </p:nvSpPr>
        <p:spPr>
          <a:xfrm>
            <a:off x="1147572" y="2313432"/>
            <a:ext cx="2414016" cy="1353312"/>
          </a:xfrm>
          <a:prstGeom prst="ellipse">
            <a:avLst/>
          </a:prstGeom>
          <a:ln w="19050">
            <a:solidFill>
              <a:schemeClr val="accent2"/>
            </a:solidFill>
            <a:prstDash val="solid"/>
          </a:ln>
        </p:spPr>
      </p:sp>
      <p:sp>
        <p:nvSpPr>
          <p:cNvPr id="9" name="Flywheel centre"/>
          <p:cNvSpPr txBox="1"/>
          <p:nvPr/>
        </p:nvSpPr>
        <p:spPr>
          <a:xfrm>
            <a:off x="1851660" y="2788920"/>
            <a:ext cx="1005840" cy="402336"/>
          </a:xfrm>
          <a:prstGeom prst="rect">
            <a:avLst/>
          </a:prstGeom>
          <a:noFill/>
          <a:ln/>
        </p:spPr>
        <p:txBody>
          <a:bodyPr wrap="square" lIns="0" tIns="0" rIns="0" bIns="0" rtlCol="0" anchor="ctr"/>
          <a:lstStyle/>
          <a:p>
            <a:pPr algn="ctr" indent="0" marL="0">
              <a:buNone/>
            </a:pPr>
            <a:r>
              <a:rPr lang="en-US" sz="1200" b="1" i="1" dirty="0">
                <a:solidFill>
                  <a:srgbClr val="A4513F"/>
                </a:solidFill>
                <a:latin typeface="+mj-lt" pitchFamily="34" charset="0"/>
                <a:ea typeface="+mj-lt" pitchFamily="34" charset="-122"/>
                <a:cs typeface="+mj-lt" pitchFamily="34" charset="-120"/>
              </a:rPr>
              <a:t>Proof flywheel</a:t>
            </a:r>
            <a:endParaRPr lang="en-US" sz="1200" dirty="0"/>
          </a:p>
        </p:txBody>
      </p:sp>
      <p:sp>
        <p:nvSpPr>
          <p:cNvPr id="10" name="Flywheel node"/>
          <p:cNvSpPr/>
          <p:nvPr/>
        </p:nvSpPr>
        <p:spPr>
          <a:xfrm>
            <a:off x="1463040" y="2084832"/>
            <a:ext cx="1783080" cy="457200"/>
          </a:xfrm>
          <a:prstGeom prst="roundRect">
            <a:avLst>
              <a:gd name="adj" fmla="val 20000"/>
            </a:avLst>
          </a:prstGeom>
          <a:solidFill>
            <a:schemeClr val="tx2"/>
          </a:solidFill>
          <a:ln/>
        </p:spPr>
      </p:sp>
      <p:sp>
        <p:nvSpPr>
          <p:cNvPr id="11" name="Flywheel text"/>
          <p:cNvSpPr txBox="1"/>
          <p:nvPr/>
        </p:nvSpPr>
        <p:spPr>
          <a:xfrm>
            <a:off x="1517904" y="2084832"/>
            <a:ext cx="1673352" cy="457200"/>
          </a:xfrm>
          <a:prstGeom prst="rect">
            <a:avLst/>
          </a:prstGeom>
          <a:noFill/>
          <a:ln/>
        </p:spPr>
        <p:txBody>
          <a:bodyPr wrap="square" lIns="0" tIns="0" rIns="0" bIns="0" rtlCol="0" anchor="ctr"/>
          <a:lstStyle/>
          <a:p>
            <a:pPr algn="ctr" indent="0" marL="0">
              <a:buNone/>
            </a:pPr>
            <a:r>
              <a:rPr lang="en-US" sz="1050" b="1" dirty="0">
                <a:solidFill>
                  <a:schemeClr val="bg1"/>
                </a:solidFill>
              </a:rPr>
              <a:t>Student work &amp; outcomes</a:t>
            </a:r>
            <a:endParaRPr lang="en-US" sz="1050" dirty="0"/>
          </a:p>
        </p:txBody>
      </p:sp>
      <p:sp>
        <p:nvSpPr>
          <p:cNvPr id="12" name="Flywheel node 2"/>
          <p:cNvSpPr/>
          <p:nvPr/>
        </p:nvSpPr>
        <p:spPr>
          <a:xfrm>
            <a:off x="3008376" y="2761488"/>
            <a:ext cx="1078992" cy="457200"/>
          </a:xfrm>
          <a:prstGeom prst="roundRect">
            <a:avLst>
              <a:gd name="adj" fmla="val 20000"/>
            </a:avLst>
          </a:prstGeom>
          <a:solidFill>
            <a:schemeClr val="bg1"/>
          </a:solidFill>
          <a:ln w="9525">
            <a:solidFill>
              <a:schemeClr val="accent1"/>
            </a:solidFill>
            <a:prstDash val="solid"/>
          </a:ln>
        </p:spPr>
      </p:sp>
      <p:sp>
        <p:nvSpPr>
          <p:cNvPr id="13" name="Flywheel text 2"/>
          <p:cNvSpPr txBox="1"/>
          <p:nvPr/>
        </p:nvSpPr>
        <p:spPr>
          <a:xfrm>
            <a:off x="3063240" y="2761488"/>
            <a:ext cx="969264" cy="457200"/>
          </a:xfrm>
          <a:prstGeom prst="rect">
            <a:avLst/>
          </a:prstGeom>
          <a:noFill/>
          <a:ln/>
        </p:spPr>
        <p:txBody>
          <a:bodyPr wrap="square" lIns="0" tIns="0" rIns="0" bIns="0" rtlCol="0" anchor="ctr"/>
          <a:lstStyle/>
          <a:p>
            <a:pPr algn="ctr" indent="0" marL="0">
              <a:buNone/>
            </a:pPr>
            <a:r>
              <a:rPr lang="en-US" sz="1050" b="1" dirty="0">
                <a:solidFill>
                  <a:schemeClr val="tx2"/>
                </a:solidFill>
              </a:rPr>
              <a:t>Content + small paid push</a:t>
            </a:r>
            <a:endParaRPr lang="en-US" sz="1050" dirty="0"/>
          </a:p>
        </p:txBody>
      </p:sp>
      <p:sp>
        <p:nvSpPr>
          <p:cNvPr id="14" name="Flywheel node 3"/>
          <p:cNvSpPr/>
          <p:nvPr/>
        </p:nvSpPr>
        <p:spPr>
          <a:xfrm>
            <a:off x="1463040" y="3438144"/>
            <a:ext cx="1783080" cy="457200"/>
          </a:xfrm>
          <a:prstGeom prst="roundRect">
            <a:avLst>
              <a:gd name="adj" fmla="val 20000"/>
            </a:avLst>
          </a:prstGeom>
          <a:solidFill>
            <a:schemeClr val="bg1"/>
          </a:solidFill>
          <a:ln w="9525">
            <a:solidFill>
              <a:schemeClr val="accent1"/>
            </a:solidFill>
            <a:prstDash val="solid"/>
          </a:ln>
        </p:spPr>
      </p:sp>
      <p:sp>
        <p:nvSpPr>
          <p:cNvPr id="15" name="Flywheel text 3"/>
          <p:cNvSpPr txBox="1"/>
          <p:nvPr/>
        </p:nvSpPr>
        <p:spPr>
          <a:xfrm>
            <a:off x="1517904" y="3438144"/>
            <a:ext cx="1673352" cy="457200"/>
          </a:xfrm>
          <a:prstGeom prst="rect">
            <a:avLst/>
          </a:prstGeom>
          <a:noFill/>
          <a:ln/>
        </p:spPr>
        <p:txBody>
          <a:bodyPr wrap="square" lIns="0" tIns="0" rIns="0" bIns="0" rtlCol="0" anchor="ctr"/>
          <a:lstStyle/>
          <a:p>
            <a:pPr algn="ctr" indent="0" marL="0">
              <a:buNone/>
            </a:pPr>
            <a:r>
              <a:rPr lang="en-US" sz="1050" b="1" dirty="0">
                <a:solidFill>
                  <a:schemeClr val="tx2"/>
                </a:solidFill>
              </a:rPr>
              <a:t>WhatsApp leads, counsellor converts</a:t>
            </a:r>
            <a:endParaRPr lang="en-US" sz="1050" dirty="0"/>
          </a:p>
        </p:txBody>
      </p:sp>
      <p:sp>
        <p:nvSpPr>
          <p:cNvPr id="16" name="Flywheel node 4"/>
          <p:cNvSpPr/>
          <p:nvPr/>
        </p:nvSpPr>
        <p:spPr>
          <a:xfrm>
            <a:off x="621792" y="2761488"/>
            <a:ext cx="1078992" cy="457200"/>
          </a:xfrm>
          <a:prstGeom prst="roundRect">
            <a:avLst>
              <a:gd name="adj" fmla="val 20000"/>
            </a:avLst>
          </a:prstGeom>
          <a:solidFill>
            <a:schemeClr val="bg1"/>
          </a:solidFill>
          <a:ln w="9525">
            <a:solidFill>
              <a:schemeClr val="accent1"/>
            </a:solidFill>
            <a:prstDash val="solid"/>
          </a:ln>
        </p:spPr>
      </p:sp>
      <p:sp>
        <p:nvSpPr>
          <p:cNvPr id="17" name="Flywheel text 4"/>
          <p:cNvSpPr txBox="1"/>
          <p:nvPr/>
        </p:nvSpPr>
        <p:spPr>
          <a:xfrm>
            <a:off x="676656" y="2761488"/>
            <a:ext cx="969264" cy="457200"/>
          </a:xfrm>
          <a:prstGeom prst="rect">
            <a:avLst/>
          </a:prstGeom>
          <a:noFill/>
          <a:ln/>
        </p:spPr>
        <p:txBody>
          <a:bodyPr wrap="square" lIns="0" tIns="0" rIns="0" bIns="0" rtlCol="0" anchor="ctr"/>
          <a:lstStyle/>
          <a:p>
            <a:pPr algn="ctr" indent="0" marL="0">
              <a:buNone/>
            </a:pPr>
            <a:r>
              <a:rPr lang="en-US" sz="1000" b="1" dirty="0">
                <a:solidFill>
                  <a:schemeClr val="tx2"/>
                </a:solidFill>
              </a:rPr>
              <a:t>Portfolios, reviews, referrals</a:t>
            </a:r>
            <a:endParaRPr lang="en-US" sz="1000" dirty="0"/>
          </a:p>
        </p:txBody>
      </p:sp>
      <p:sp>
        <p:nvSpPr>
          <p:cNvPr id="18" name="Flywheel arrow"/>
          <p:cNvSpPr/>
          <p:nvPr/>
        </p:nvSpPr>
        <p:spPr>
          <a:xfrm rot="8100000">
            <a:off x="3134912" y="2438468"/>
            <a:ext cx="146304" cy="146304"/>
          </a:xfrm>
          <a:prstGeom prst="triangle">
            <a:avLst/>
          </a:prstGeom>
          <a:solidFill>
            <a:schemeClr val="accent2"/>
          </a:solidFill>
          <a:ln/>
        </p:spPr>
      </p:sp>
      <p:sp>
        <p:nvSpPr>
          <p:cNvPr id="19" name="Flywheel arrow 2"/>
          <p:cNvSpPr/>
          <p:nvPr/>
        </p:nvSpPr>
        <p:spPr>
          <a:xfrm rot="13500000">
            <a:off x="3134912" y="3395404"/>
            <a:ext cx="146304" cy="146304"/>
          </a:xfrm>
          <a:prstGeom prst="triangle">
            <a:avLst/>
          </a:prstGeom>
          <a:solidFill>
            <a:schemeClr val="accent2"/>
          </a:solidFill>
          <a:ln/>
        </p:spPr>
      </p:sp>
      <p:sp>
        <p:nvSpPr>
          <p:cNvPr id="20" name="Flywheel arrow 3"/>
          <p:cNvSpPr/>
          <p:nvPr/>
        </p:nvSpPr>
        <p:spPr>
          <a:xfrm rot="18900000">
            <a:off x="1427944" y="3395404"/>
            <a:ext cx="146304" cy="146304"/>
          </a:xfrm>
          <a:prstGeom prst="triangle">
            <a:avLst/>
          </a:prstGeom>
          <a:solidFill>
            <a:schemeClr val="accent2"/>
          </a:solidFill>
          <a:ln/>
        </p:spPr>
      </p:sp>
      <p:sp>
        <p:nvSpPr>
          <p:cNvPr id="21" name="Flywheel arrow 4"/>
          <p:cNvSpPr/>
          <p:nvPr/>
        </p:nvSpPr>
        <p:spPr>
          <a:xfrm rot="2700000">
            <a:off x="1427944" y="2438468"/>
            <a:ext cx="146304" cy="146304"/>
          </a:xfrm>
          <a:prstGeom prst="triangle">
            <a:avLst/>
          </a:prstGeom>
          <a:solidFill>
            <a:schemeClr val="accent2"/>
          </a:solidFill>
          <a:ln/>
        </p:spPr>
      </p:sp>
      <p:sp>
        <p:nvSpPr>
          <p:cNvPr id="22" name="Spend gates card"/>
          <p:cNvSpPr/>
          <p:nvPr/>
        </p:nvSpPr>
        <p:spPr>
          <a:xfrm>
            <a:off x="548640" y="4160520"/>
            <a:ext cx="3611880" cy="1984248"/>
          </a:xfrm>
          <a:prstGeom prst="roundRect">
            <a:avLst>
              <a:gd name="adj" fmla="val 3687"/>
            </a:avLst>
          </a:prstGeom>
          <a:solidFill>
            <a:srgbClr val="F2EAF0"/>
          </a:solidFill>
          <a:ln/>
        </p:spPr>
      </p:sp>
      <p:sp>
        <p:nvSpPr>
          <p:cNvPr id="23" name="Spend gates text"/>
          <p:cNvSpPr txBox="1"/>
          <p:nvPr/>
        </p:nvSpPr>
        <p:spPr>
          <a:xfrm>
            <a:off x="713232" y="4270248"/>
            <a:ext cx="3282696" cy="1545336"/>
          </a:xfrm>
          <a:prstGeom prst="rect">
            <a:avLst/>
          </a:prstGeom>
          <a:noFill/>
          <a:ln/>
        </p:spPr>
        <p:txBody>
          <a:bodyPr wrap="square" lIns="0" tIns="0" rIns="0" bIns="0" rtlCol="0" anchor="t"/>
          <a:lstStyle/>
          <a:p>
            <a:pPr algn="l" indent="0" marL="0">
              <a:spcAft>
                <a:spcPts val="300"/>
              </a:spcAft>
              <a:buNone/>
            </a:pPr>
            <a:r>
              <a:rPr lang="en-US" sz="1050" b="1" dirty="0">
                <a:solidFill>
                  <a:schemeClr val="tx2"/>
                </a:solidFill>
              </a:rPr>
              <a:t>Five spend gates, green four weeks running before media rises</a:t>
            </a:r>
            <a:endParaRPr lang="en-US" sz="1050" dirty="0"/>
          </a:p>
          <a:p>
            <a:pPr algn="l" indent="0" marL="0">
              <a:spcAft>
                <a:spcPts val="600"/>
              </a:spcAft>
              <a:buNone/>
            </a:pPr>
            <a:r>
              <a:rPr lang="en-US" sz="1050" dirty="0">
                <a:solidFill>
                  <a:schemeClr val="tx1"/>
                </a:solidFill>
              </a:rPr>
              <a:t>SG1 tracking · SG2 follow-up discipline · SG3 capacity · SG4 unit economics · SG5 product proof</a:t>
            </a:r>
            <a:endParaRPr lang="en-US" sz="1050" dirty="0"/>
          </a:p>
          <a:p>
            <a:pPr algn="l" indent="0" marL="0">
              <a:spcAft>
                <a:spcPts val="600"/>
              </a:spcAft>
              <a:buNone/>
            </a:pPr>
            <a:r>
              <a:rPr lang="en-US" sz="1050" dirty="0">
                <a:solidFill>
                  <a:schemeClr val="tx1"/>
                </a:solidFill>
              </a:rPr>
              <a:t>Steady-state route mix target: CTWA 30% · Search 20% · Organic 20% · Referral 20% · Taster 10%</a:t>
            </a:r>
            <a:endParaRPr lang="en-US" sz="1050" dirty="0"/>
          </a:p>
          <a:p>
            <a:pPr algn="l" indent="0" marL="0">
              <a:buNone/>
            </a:pPr>
            <a:r>
              <a:rPr lang="en-US" sz="1050" dirty="0">
                <a:solidFill>
                  <a:schemeClr val="tx1"/>
                </a:solidFill>
              </a:rPr>
              <a:t>Year 1: growth &amp; marketing ₹26.7L, of which paid media ₹7.0L</a:t>
            </a:r>
            <a:endParaRPr lang="en-US" sz="1050" dirty="0"/>
          </a:p>
        </p:txBody>
      </p:sp>
      <p:sp>
        <p:nvSpPr>
          <p:cNvPr id="24" name="Badge RECOMMENDATION"/>
          <p:cNvSpPr txBox="1"/>
          <p:nvPr/>
        </p:nvSpPr>
        <p:spPr>
          <a:xfrm>
            <a:off x="713232" y="5833872"/>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25" name="Badge HYPOTHESIS"/>
          <p:cNvSpPr txBox="1"/>
          <p:nvPr/>
        </p:nvSpPr>
        <p:spPr>
          <a:xfrm>
            <a:off x="2117801" y="5833872"/>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26" name="Badge ESTIMATE"/>
          <p:cNvSpPr txBox="1"/>
          <p:nvPr/>
        </p:nvSpPr>
        <p:spPr>
          <a:xfrm>
            <a:off x="3104620" y="583387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7" name="Media title"/>
          <p:cNvSpPr txBox="1"/>
          <p:nvPr/>
        </p:nvSpPr>
        <p:spPr>
          <a:xfrm>
            <a:off x="4434840" y="1920240"/>
            <a:ext cx="6337682" cy="237744"/>
          </a:xfrm>
          <a:prstGeom prst="rect">
            <a:avLst/>
          </a:prstGeom>
          <a:noFill/>
          <a:ln/>
        </p:spPr>
        <p:txBody>
          <a:bodyPr wrap="square" lIns="0" tIns="0" rIns="0" bIns="0" rtlCol="0" anchor="t"/>
          <a:lstStyle/>
          <a:p>
            <a:pPr algn="l" indent="0" marL="0">
              <a:buNone/>
            </a:pPr>
            <a:r>
              <a:rPr lang="en-US" sz="1200" b="1" dirty="0">
                <a:solidFill>
                  <a:schemeClr val="tx1"/>
                </a:solidFill>
              </a:rPr>
              <a:t>Paid-media cap, ₹ thousand per month, planning case (= ₹7.0L Year 1)</a:t>
            </a:r>
            <a:endParaRPr lang="en-US" sz="1200" dirty="0"/>
          </a:p>
        </p:txBody>
      </p:sp>
      <p:sp>
        <p:nvSpPr>
          <p:cNvPr id="28" name="Badge ESTIMATE 2"/>
          <p:cNvSpPr txBox="1"/>
          <p:nvPr/>
        </p:nvSpPr>
        <p:spPr>
          <a:xfrm>
            <a:off x="10863962" y="192024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9" name="Media row label"/>
          <p:cNvSpPr txBox="1"/>
          <p:nvPr/>
        </p:nvSpPr>
        <p:spPr>
          <a:xfrm>
            <a:off x="4434840" y="2212848"/>
            <a:ext cx="1325880" cy="1463040"/>
          </a:xfrm>
          <a:prstGeom prst="rect">
            <a:avLst/>
          </a:prstGeom>
          <a:noFill/>
          <a:ln/>
        </p:spPr>
        <p:txBody>
          <a:bodyPr wrap="square" lIns="0" tIns="0" rIns="0" bIns="0" rtlCol="0" anchor="ctr"/>
          <a:lstStyle/>
          <a:p>
            <a:pPr algn="l" indent="0" marL="0">
              <a:buNone/>
            </a:pPr>
            <a:r>
              <a:rPr lang="en-US" sz="1050" dirty="0">
                <a:solidFill>
                  <a:schemeClr val="tx1"/>
                </a:solidFill>
              </a:rPr>
              <a:t>Paid-media cap, ₹k/month</a:t>
            </a:r>
            <a:endParaRPr lang="en-US" sz="1050" dirty="0"/>
          </a:p>
        </p:txBody>
      </p:sp>
      <p:graphicFrame>
        <p:nvGraphicFramePr>
          <p:cNvPr id="30" name="Media cap chart" descr="Media cap chart"/>
          <p:cNvGraphicFramePr/>
          <p:nvPr/>
        </p:nvGraphicFramePr>
        <p:xfrm>
          <a:off x="5852160" y="2212848"/>
          <a:ext cx="5790895" cy="1463040"/>
        </p:xfrm>
        <a:graphic xmlns:a="http://schemas.openxmlformats.org/drawingml/2006/main">
          <a:graphicData uri="http://schemas.openxmlformats.org/drawingml/2006/chart">
            <c:chart xmlns:c="http://schemas.openxmlformats.org/drawingml/2006/chart" r:id="rId1"/>
          </a:graphicData>
        </a:graphic>
      </p:graphicFrame>
      <p:sp>
        <p:nvSpPr>
          <p:cNvPr id="31" name="Grid period"/>
          <p:cNvSpPr txBox="1"/>
          <p:nvPr/>
        </p:nvSpPr>
        <p:spPr>
          <a:xfrm>
            <a:off x="5852160"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Nov</a:t>
            </a:r>
            <a:endParaRPr lang="en-US" sz="1000" dirty="0"/>
          </a:p>
        </p:txBody>
      </p:sp>
      <p:sp>
        <p:nvSpPr>
          <p:cNvPr id="32" name="Grid period 2"/>
          <p:cNvSpPr txBox="1"/>
          <p:nvPr/>
        </p:nvSpPr>
        <p:spPr>
          <a:xfrm>
            <a:off x="6334735"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Dec</a:t>
            </a:r>
            <a:endParaRPr lang="en-US" sz="1000" dirty="0"/>
          </a:p>
        </p:txBody>
      </p:sp>
      <p:sp>
        <p:nvSpPr>
          <p:cNvPr id="33" name="Grid period 3"/>
          <p:cNvSpPr txBox="1"/>
          <p:nvPr/>
        </p:nvSpPr>
        <p:spPr>
          <a:xfrm>
            <a:off x="6817309"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Jan</a:t>
            </a:r>
            <a:endParaRPr lang="en-US" sz="1000" dirty="0"/>
          </a:p>
        </p:txBody>
      </p:sp>
      <p:sp>
        <p:nvSpPr>
          <p:cNvPr id="34" name="Grid period 4"/>
          <p:cNvSpPr txBox="1"/>
          <p:nvPr/>
        </p:nvSpPr>
        <p:spPr>
          <a:xfrm>
            <a:off x="7299884"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Feb</a:t>
            </a:r>
            <a:endParaRPr lang="en-US" sz="1000" dirty="0"/>
          </a:p>
        </p:txBody>
      </p:sp>
      <p:sp>
        <p:nvSpPr>
          <p:cNvPr id="35" name="Grid period 5"/>
          <p:cNvSpPr txBox="1"/>
          <p:nvPr/>
        </p:nvSpPr>
        <p:spPr>
          <a:xfrm>
            <a:off x="7782458"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Mar</a:t>
            </a:r>
            <a:endParaRPr lang="en-US" sz="1000" dirty="0"/>
          </a:p>
        </p:txBody>
      </p:sp>
      <p:sp>
        <p:nvSpPr>
          <p:cNvPr id="36" name="Grid period 6"/>
          <p:cNvSpPr txBox="1"/>
          <p:nvPr/>
        </p:nvSpPr>
        <p:spPr>
          <a:xfrm>
            <a:off x="8265033"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Apr</a:t>
            </a:r>
            <a:endParaRPr lang="en-US" sz="1000" dirty="0"/>
          </a:p>
        </p:txBody>
      </p:sp>
      <p:sp>
        <p:nvSpPr>
          <p:cNvPr id="37" name="Grid period 7"/>
          <p:cNvSpPr txBox="1"/>
          <p:nvPr/>
        </p:nvSpPr>
        <p:spPr>
          <a:xfrm>
            <a:off x="8747608"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May</a:t>
            </a:r>
            <a:endParaRPr lang="en-US" sz="1000" dirty="0"/>
          </a:p>
        </p:txBody>
      </p:sp>
      <p:sp>
        <p:nvSpPr>
          <p:cNvPr id="38" name="Grid period 8"/>
          <p:cNvSpPr txBox="1"/>
          <p:nvPr/>
        </p:nvSpPr>
        <p:spPr>
          <a:xfrm>
            <a:off x="9230182"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Jun</a:t>
            </a:r>
            <a:endParaRPr lang="en-US" sz="1000" dirty="0"/>
          </a:p>
        </p:txBody>
      </p:sp>
      <p:sp>
        <p:nvSpPr>
          <p:cNvPr id="39" name="Grid period 9"/>
          <p:cNvSpPr txBox="1"/>
          <p:nvPr/>
        </p:nvSpPr>
        <p:spPr>
          <a:xfrm>
            <a:off x="9712757"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Jul</a:t>
            </a:r>
            <a:endParaRPr lang="en-US" sz="1000" dirty="0"/>
          </a:p>
        </p:txBody>
      </p:sp>
      <p:sp>
        <p:nvSpPr>
          <p:cNvPr id="40" name="Grid period 10"/>
          <p:cNvSpPr txBox="1"/>
          <p:nvPr/>
        </p:nvSpPr>
        <p:spPr>
          <a:xfrm>
            <a:off x="10195331"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Aug</a:t>
            </a:r>
            <a:endParaRPr lang="en-US" sz="1000" dirty="0"/>
          </a:p>
        </p:txBody>
      </p:sp>
      <p:sp>
        <p:nvSpPr>
          <p:cNvPr id="41" name="Grid period 11"/>
          <p:cNvSpPr txBox="1"/>
          <p:nvPr/>
        </p:nvSpPr>
        <p:spPr>
          <a:xfrm>
            <a:off x="10677906"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Sep</a:t>
            </a:r>
            <a:endParaRPr lang="en-US" sz="1000" dirty="0"/>
          </a:p>
        </p:txBody>
      </p:sp>
      <p:sp>
        <p:nvSpPr>
          <p:cNvPr id="42" name="Grid period 12"/>
          <p:cNvSpPr txBox="1"/>
          <p:nvPr/>
        </p:nvSpPr>
        <p:spPr>
          <a:xfrm>
            <a:off x="11160481" y="3694176"/>
            <a:ext cx="482575" cy="219456"/>
          </a:xfrm>
          <a:prstGeom prst="rect">
            <a:avLst/>
          </a:prstGeom>
          <a:noFill/>
          <a:ln/>
        </p:spPr>
        <p:txBody>
          <a:bodyPr wrap="square" lIns="0" tIns="0" rIns="0" bIns="0" rtlCol="0" anchor="ctr"/>
          <a:lstStyle/>
          <a:p>
            <a:pPr algn="ctr" indent="0" marL="0">
              <a:buNone/>
            </a:pPr>
            <a:r>
              <a:rPr lang="en-US" sz="1000" dirty="0">
                <a:solidFill>
                  <a:srgbClr val="6B5F67"/>
                </a:solidFill>
              </a:rPr>
              <a:t>Oct</a:t>
            </a:r>
            <a:endParaRPr lang="en-US" sz="1000" dirty="0"/>
          </a:p>
        </p:txBody>
      </p:sp>
      <p:sp>
        <p:nvSpPr>
          <p:cNvPr id="43" name="Grid column rule"/>
          <p:cNvSpPr/>
          <p:nvPr/>
        </p:nvSpPr>
        <p:spPr>
          <a:xfrm>
            <a:off x="6334735" y="4224528"/>
            <a:ext cx="0" cy="1005840"/>
          </a:xfrm>
          <a:prstGeom prst="line">
            <a:avLst/>
          </a:prstGeom>
          <a:noFill/>
          <a:ln w="6350">
            <a:solidFill>
              <a:srgbClr val="E4DAD5"/>
            </a:solidFill>
            <a:prstDash val="solid"/>
          </a:ln>
        </p:spPr>
      </p:sp>
      <p:sp>
        <p:nvSpPr>
          <p:cNvPr id="44" name="Grid column rule 2"/>
          <p:cNvSpPr/>
          <p:nvPr/>
        </p:nvSpPr>
        <p:spPr>
          <a:xfrm>
            <a:off x="6817309" y="4224528"/>
            <a:ext cx="0" cy="1005840"/>
          </a:xfrm>
          <a:prstGeom prst="line">
            <a:avLst/>
          </a:prstGeom>
          <a:noFill/>
          <a:ln w="6350">
            <a:solidFill>
              <a:srgbClr val="E4DAD5"/>
            </a:solidFill>
            <a:prstDash val="solid"/>
          </a:ln>
        </p:spPr>
      </p:sp>
      <p:sp>
        <p:nvSpPr>
          <p:cNvPr id="45" name="Grid column rule 3"/>
          <p:cNvSpPr/>
          <p:nvPr/>
        </p:nvSpPr>
        <p:spPr>
          <a:xfrm>
            <a:off x="7299884" y="4224528"/>
            <a:ext cx="0" cy="1005840"/>
          </a:xfrm>
          <a:prstGeom prst="line">
            <a:avLst/>
          </a:prstGeom>
          <a:noFill/>
          <a:ln w="6350">
            <a:solidFill>
              <a:srgbClr val="E4DAD5"/>
            </a:solidFill>
            <a:prstDash val="solid"/>
          </a:ln>
        </p:spPr>
      </p:sp>
      <p:sp>
        <p:nvSpPr>
          <p:cNvPr id="46" name="Grid column rule 4"/>
          <p:cNvSpPr/>
          <p:nvPr/>
        </p:nvSpPr>
        <p:spPr>
          <a:xfrm>
            <a:off x="7782458" y="4224528"/>
            <a:ext cx="0" cy="1005840"/>
          </a:xfrm>
          <a:prstGeom prst="line">
            <a:avLst/>
          </a:prstGeom>
          <a:noFill/>
          <a:ln w="6350">
            <a:solidFill>
              <a:srgbClr val="E4DAD5"/>
            </a:solidFill>
            <a:prstDash val="solid"/>
          </a:ln>
        </p:spPr>
      </p:sp>
      <p:sp>
        <p:nvSpPr>
          <p:cNvPr id="47" name="Grid column rule 5"/>
          <p:cNvSpPr/>
          <p:nvPr/>
        </p:nvSpPr>
        <p:spPr>
          <a:xfrm>
            <a:off x="8265033" y="4224528"/>
            <a:ext cx="0" cy="1005840"/>
          </a:xfrm>
          <a:prstGeom prst="line">
            <a:avLst/>
          </a:prstGeom>
          <a:noFill/>
          <a:ln w="6350">
            <a:solidFill>
              <a:srgbClr val="E4DAD5"/>
            </a:solidFill>
            <a:prstDash val="solid"/>
          </a:ln>
        </p:spPr>
      </p:sp>
      <p:sp>
        <p:nvSpPr>
          <p:cNvPr id="48" name="Grid column rule 6"/>
          <p:cNvSpPr/>
          <p:nvPr/>
        </p:nvSpPr>
        <p:spPr>
          <a:xfrm>
            <a:off x="8747608" y="4224528"/>
            <a:ext cx="0" cy="1005840"/>
          </a:xfrm>
          <a:prstGeom prst="line">
            <a:avLst/>
          </a:prstGeom>
          <a:noFill/>
          <a:ln w="6350">
            <a:solidFill>
              <a:srgbClr val="E4DAD5"/>
            </a:solidFill>
            <a:prstDash val="solid"/>
          </a:ln>
        </p:spPr>
      </p:sp>
      <p:sp>
        <p:nvSpPr>
          <p:cNvPr id="49" name="Grid column rule 7"/>
          <p:cNvSpPr/>
          <p:nvPr/>
        </p:nvSpPr>
        <p:spPr>
          <a:xfrm>
            <a:off x="9230182" y="4224528"/>
            <a:ext cx="0" cy="1005840"/>
          </a:xfrm>
          <a:prstGeom prst="line">
            <a:avLst/>
          </a:prstGeom>
          <a:noFill/>
          <a:ln w="6350">
            <a:solidFill>
              <a:srgbClr val="E4DAD5"/>
            </a:solidFill>
            <a:prstDash val="solid"/>
          </a:ln>
        </p:spPr>
      </p:sp>
      <p:sp>
        <p:nvSpPr>
          <p:cNvPr id="50" name="Grid column rule 8"/>
          <p:cNvSpPr/>
          <p:nvPr/>
        </p:nvSpPr>
        <p:spPr>
          <a:xfrm>
            <a:off x="9712757" y="4224528"/>
            <a:ext cx="0" cy="1005840"/>
          </a:xfrm>
          <a:prstGeom prst="line">
            <a:avLst/>
          </a:prstGeom>
          <a:noFill/>
          <a:ln w="6350">
            <a:solidFill>
              <a:srgbClr val="E4DAD5"/>
            </a:solidFill>
            <a:prstDash val="solid"/>
          </a:ln>
        </p:spPr>
      </p:sp>
      <p:sp>
        <p:nvSpPr>
          <p:cNvPr id="51" name="Grid column rule 9"/>
          <p:cNvSpPr/>
          <p:nvPr/>
        </p:nvSpPr>
        <p:spPr>
          <a:xfrm>
            <a:off x="10195331" y="4224528"/>
            <a:ext cx="0" cy="1005840"/>
          </a:xfrm>
          <a:prstGeom prst="line">
            <a:avLst/>
          </a:prstGeom>
          <a:noFill/>
          <a:ln w="6350">
            <a:solidFill>
              <a:srgbClr val="E4DAD5"/>
            </a:solidFill>
            <a:prstDash val="solid"/>
          </a:ln>
        </p:spPr>
      </p:sp>
      <p:sp>
        <p:nvSpPr>
          <p:cNvPr id="52" name="Grid column rule 10"/>
          <p:cNvSpPr/>
          <p:nvPr/>
        </p:nvSpPr>
        <p:spPr>
          <a:xfrm>
            <a:off x="10677906" y="4224528"/>
            <a:ext cx="0" cy="1005840"/>
          </a:xfrm>
          <a:prstGeom prst="line">
            <a:avLst/>
          </a:prstGeom>
          <a:noFill/>
          <a:ln w="6350">
            <a:solidFill>
              <a:srgbClr val="E4DAD5"/>
            </a:solidFill>
            <a:prstDash val="solid"/>
          </a:ln>
        </p:spPr>
      </p:sp>
      <p:sp>
        <p:nvSpPr>
          <p:cNvPr id="53" name="Grid column rule 11"/>
          <p:cNvSpPr/>
          <p:nvPr/>
        </p:nvSpPr>
        <p:spPr>
          <a:xfrm>
            <a:off x="11160481" y="4224528"/>
            <a:ext cx="0" cy="1005840"/>
          </a:xfrm>
          <a:prstGeom prst="line">
            <a:avLst/>
          </a:prstGeom>
          <a:noFill/>
          <a:ln w="6350">
            <a:solidFill>
              <a:srgbClr val="E4DAD5"/>
            </a:solidFill>
            <a:prstDash val="solid"/>
          </a:ln>
        </p:spPr>
      </p:sp>
      <p:sp>
        <p:nvSpPr>
          <p:cNvPr id="54" name="Grid header rule"/>
          <p:cNvSpPr/>
          <p:nvPr/>
        </p:nvSpPr>
        <p:spPr>
          <a:xfrm>
            <a:off x="4434840" y="4224528"/>
            <a:ext cx="7208215" cy="0"/>
          </a:xfrm>
          <a:prstGeom prst="line">
            <a:avLst/>
          </a:prstGeom>
          <a:noFill/>
          <a:ln w="12700">
            <a:solidFill>
              <a:srgbClr val="C9BCB5"/>
            </a:solidFill>
            <a:prstDash val="solid"/>
          </a:ln>
        </p:spPr>
      </p:sp>
      <p:sp>
        <p:nvSpPr>
          <p:cNvPr id="55" name="Grid marker"/>
          <p:cNvSpPr/>
          <p:nvPr/>
        </p:nvSpPr>
        <p:spPr>
          <a:xfrm>
            <a:off x="7034468" y="4160520"/>
            <a:ext cx="0" cy="1069848"/>
          </a:xfrm>
          <a:prstGeom prst="line">
            <a:avLst/>
          </a:prstGeom>
          <a:noFill/>
          <a:ln w="15875">
            <a:solidFill>
              <a:schemeClr val="accent2"/>
            </a:solidFill>
            <a:prstDash val="dash"/>
          </a:ln>
        </p:spPr>
      </p:sp>
      <p:sp>
        <p:nvSpPr>
          <p:cNvPr id="56" name="Grid marker label"/>
          <p:cNvSpPr txBox="1"/>
          <p:nvPr/>
        </p:nvSpPr>
        <p:spPr>
          <a:xfrm>
            <a:off x="6688642" y="3931920"/>
            <a:ext cx="691652"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G0 15 Jan</a:t>
            </a:r>
            <a:endParaRPr lang="en-US" sz="900" dirty="0"/>
          </a:p>
        </p:txBody>
      </p:sp>
      <p:sp>
        <p:nvSpPr>
          <p:cNvPr id="57" name="Grid marker 2"/>
          <p:cNvSpPr/>
          <p:nvPr/>
        </p:nvSpPr>
        <p:spPr>
          <a:xfrm>
            <a:off x="7845193" y="4160520"/>
            <a:ext cx="0" cy="1069848"/>
          </a:xfrm>
          <a:prstGeom prst="line">
            <a:avLst/>
          </a:prstGeom>
          <a:noFill/>
          <a:ln w="15875">
            <a:solidFill>
              <a:schemeClr val="accent2"/>
            </a:solidFill>
            <a:prstDash val="dash"/>
          </a:ln>
        </p:spPr>
      </p:sp>
      <p:sp>
        <p:nvSpPr>
          <p:cNvPr id="58" name="Grid marker label 2"/>
          <p:cNvSpPr txBox="1"/>
          <p:nvPr/>
        </p:nvSpPr>
        <p:spPr>
          <a:xfrm>
            <a:off x="7321070" y="3931920"/>
            <a:ext cx="1048245"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SG + KT-1a 5 Mar</a:t>
            </a:r>
            <a:endParaRPr lang="en-US" sz="900" dirty="0"/>
          </a:p>
        </p:txBody>
      </p:sp>
      <p:sp>
        <p:nvSpPr>
          <p:cNvPr id="59" name="Grid marker 3"/>
          <p:cNvSpPr/>
          <p:nvPr/>
        </p:nvSpPr>
        <p:spPr>
          <a:xfrm>
            <a:off x="10103642" y="4160520"/>
            <a:ext cx="0" cy="1069848"/>
          </a:xfrm>
          <a:prstGeom prst="line">
            <a:avLst/>
          </a:prstGeom>
          <a:noFill/>
          <a:ln w="15875">
            <a:solidFill>
              <a:schemeClr val="accent2"/>
            </a:solidFill>
            <a:prstDash val="dash"/>
          </a:ln>
        </p:spPr>
      </p:sp>
      <p:sp>
        <p:nvSpPr>
          <p:cNvPr id="60" name="Grid marker label 3"/>
          <p:cNvSpPr txBox="1"/>
          <p:nvPr/>
        </p:nvSpPr>
        <p:spPr>
          <a:xfrm>
            <a:off x="9771995" y="3931920"/>
            <a:ext cx="663294"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G1 26 Jul</a:t>
            </a:r>
            <a:endParaRPr lang="en-US" sz="900" dirty="0"/>
          </a:p>
        </p:txBody>
      </p:sp>
      <p:sp>
        <p:nvSpPr>
          <p:cNvPr id="61" name="Grid row label"/>
          <p:cNvSpPr txBox="1"/>
          <p:nvPr/>
        </p:nvSpPr>
        <p:spPr>
          <a:xfrm>
            <a:off x="4434840" y="4242816"/>
            <a:ext cx="1325880" cy="310896"/>
          </a:xfrm>
          <a:prstGeom prst="rect">
            <a:avLst/>
          </a:prstGeom>
          <a:noFill/>
          <a:ln/>
        </p:spPr>
        <p:txBody>
          <a:bodyPr wrap="square" lIns="0" tIns="0" rIns="0" bIns="0" rtlCol="0" anchor="ctr"/>
          <a:lstStyle/>
          <a:p>
            <a:pPr algn="l" indent="0" marL="0">
              <a:buNone/>
            </a:pPr>
            <a:r>
              <a:rPr lang="en-US" sz="1050" dirty="0">
                <a:solidFill>
                  <a:schemeClr val="tx1"/>
                </a:solidFill>
              </a:rPr>
              <a:t>Phase</a:t>
            </a:r>
            <a:endParaRPr lang="en-US" sz="1050" dirty="0"/>
          </a:p>
        </p:txBody>
      </p:sp>
      <p:sp>
        <p:nvSpPr>
          <p:cNvPr id="62" name="Grid bar"/>
          <p:cNvSpPr/>
          <p:nvPr/>
        </p:nvSpPr>
        <p:spPr>
          <a:xfrm>
            <a:off x="5870448" y="4290548"/>
            <a:ext cx="301226" cy="215433"/>
          </a:xfrm>
          <a:prstGeom prst="roundRect">
            <a:avLst>
              <a:gd name="adj" fmla="val 50000"/>
            </a:avLst>
          </a:prstGeom>
          <a:solidFill>
            <a:schemeClr val="tx2"/>
          </a:solidFill>
          <a:ln/>
        </p:spPr>
      </p:sp>
      <p:sp>
        <p:nvSpPr>
          <p:cNvPr id="63" name="Grid bar label"/>
          <p:cNvSpPr txBox="1"/>
          <p:nvPr/>
        </p:nvSpPr>
        <p:spPr>
          <a:xfrm>
            <a:off x="5870448" y="4290548"/>
            <a:ext cx="301226" cy="215433"/>
          </a:xfrm>
          <a:prstGeom prst="rect">
            <a:avLst/>
          </a:prstGeom>
          <a:noFill/>
          <a:ln/>
        </p:spPr>
        <p:txBody>
          <a:bodyPr wrap="square" lIns="0" tIns="0" rIns="0" bIns="0" rtlCol="0" anchor="ctr"/>
          <a:lstStyle/>
          <a:p>
            <a:pPr algn="ctr" indent="0" marL="0">
              <a:buNone/>
            </a:pPr>
            <a:r>
              <a:rPr lang="en-US" sz="1000" b="1" dirty="0">
                <a:solidFill>
                  <a:schemeClr val="bg1"/>
                </a:solidFill>
              </a:rPr>
              <a:t>0</a:t>
            </a:r>
            <a:endParaRPr lang="en-US" sz="1000" dirty="0"/>
          </a:p>
        </p:txBody>
      </p:sp>
      <p:sp>
        <p:nvSpPr>
          <p:cNvPr id="64" name="Grid bar 2"/>
          <p:cNvSpPr/>
          <p:nvPr/>
        </p:nvSpPr>
        <p:spPr>
          <a:xfrm>
            <a:off x="6208250" y="4290548"/>
            <a:ext cx="1555920" cy="215433"/>
          </a:xfrm>
          <a:prstGeom prst="roundRect">
            <a:avLst>
              <a:gd name="adj" fmla="val 50000"/>
            </a:avLst>
          </a:prstGeom>
          <a:solidFill>
            <a:schemeClr val="accent1"/>
          </a:solidFill>
          <a:ln/>
        </p:spPr>
      </p:sp>
      <p:sp>
        <p:nvSpPr>
          <p:cNvPr id="65" name="Grid bar label 2"/>
          <p:cNvSpPr txBox="1"/>
          <p:nvPr/>
        </p:nvSpPr>
        <p:spPr>
          <a:xfrm>
            <a:off x="6208250" y="4290548"/>
            <a:ext cx="1555920" cy="215433"/>
          </a:xfrm>
          <a:prstGeom prst="rect">
            <a:avLst/>
          </a:prstGeom>
          <a:noFill/>
          <a:ln/>
        </p:spPr>
        <p:txBody>
          <a:bodyPr wrap="square" lIns="0" tIns="0" rIns="0" bIns="0" rtlCol="0" anchor="ctr"/>
          <a:lstStyle/>
          <a:p>
            <a:pPr algn="ctr" indent="0" marL="0">
              <a:buNone/>
            </a:pPr>
            <a:r>
              <a:rPr lang="en-US" sz="1000" b="1" dirty="0">
                <a:solidFill>
                  <a:schemeClr val="bg1"/>
                </a:solidFill>
              </a:rPr>
              <a:t>1 Test &amp; Prove</a:t>
            </a:r>
            <a:endParaRPr lang="en-US" sz="1000" dirty="0"/>
          </a:p>
        </p:txBody>
      </p:sp>
      <p:sp>
        <p:nvSpPr>
          <p:cNvPr id="66" name="Grid bar 3"/>
          <p:cNvSpPr/>
          <p:nvPr/>
        </p:nvSpPr>
        <p:spPr>
          <a:xfrm>
            <a:off x="7800746" y="4290548"/>
            <a:ext cx="2376297" cy="215433"/>
          </a:xfrm>
          <a:prstGeom prst="roundRect">
            <a:avLst>
              <a:gd name="adj" fmla="val 50000"/>
            </a:avLst>
          </a:prstGeom>
          <a:solidFill>
            <a:schemeClr val="accent1"/>
          </a:solidFill>
          <a:ln/>
        </p:spPr>
      </p:sp>
      <p:sp>
        <p:nvSpPr>
          <p:cNvPr id="67" name="Grid bar label 3"/>
          <p:cNvSpPr txBox="1"/>
          <p:nvPr/>
        </p:nvSpPr>
        <p:spPr>
          <a:xfrm>
            <a:off x="7800746" y="4290548"/>
            <a:ext cx="2376297" cy="215433"/>
          </a:xfrm>
          <a:prstGeom prst="rect">
            <a:avLst/>
          </a:prstGeom>
          <a:noFill/>
          <a:ln/>
        </p:spPr>
        <p:txBody>
          <a:bodyPr wrap="square" lIns="0" tIns="0" rIns="0" bIns="0" rtlCol="0" anchor="ctr"/>
          <a:lstStyle/>
          <a:p>
            <a:pPr algn="ctr" indent="0" marL="0">
              <a:buNone/>
            </a:pPr>
            <a:r>
              <a:rPr lang="en-US" sz="1000" b="1" dirty="0">
                <a:solidFill>
                  <a:schemeClr val="bg1"/>
                </a:solidFill>
              </a:rPr>
              <a:t>2 Scale the flagship</a:t>
            </a:r>
            <a:endParaRPr lang="en-US" sz="1000" dirty="0"/>
          </a:p>
        </p:txBody>
      </p:sp>
      <p:sp>
        <p:nvSpPr>
          <p:cNvPr id="68" name="Grid bar 4"/>
          <p:cNvSpPr/>
          <p:nvPr/>
        </p:nvSpPr>
        <p:spPr>
          <a:xfrm>
            <a:off x="10213619" y="4290548"/>
            <a:ext cx="1411148" cy="215433"/>
          </a:xfrm>
          <a:prstGeom prst="roundRect">
            <a:avLst>
              <a:gd name="adj" fmla="val 50000"/>
            </a:avLst>
          </a:prstGeom>
          <a:solidFill>
            <a:schemeClr val="accent2"/>
          </a:solidFill>
          <a:ln/>
        </p:spPr>
      </p:sp>
      <p:sp>
        <p:nvSpPr>
          <p:cNvPr id="69" name="Grid bar label 4"/>
          <p:cNvSpPr txBox="1"/>
          <p:nvPr/>
        </p:nvSpPr>
        <p:spPr>
          <a:xfrm>
            <a:off x="10213619" y="4290548"/>
            <a:ext cx="1411148" cy="215433"/>
          </a:xfrm>
          <a:prstGeom prst="rect">
            <a:avLst/>
          </a:prstGeom>
          <a:noFill/>
          <a:ln/>
        </p:spPr>
        <p:txBody>
          <a:bodyPr wrap="square" lIns="0" tIns="0" rIns="0" bIns="0" rtlCol="0" anchor="ctr"/>
          <a:lstStyle/>
          <a:p>
            <a:pPr algn="ctr" indent="0" marL="0">
              <a:buNone/>
            </a:pPr>
            <a:r>
              <a:rPr lang="en-US" sz="1000" b="1" dirty="0">
                <a:solidFill>
                  <a:schemeClr val="tx1"/>
                </a:solidFill>
              </a:rPr>
              <a:t>3 Extend</a:t>
            </a:r>
            <a:endParaRPr lang="en-US" sz="1000" dirty="0"/>
          </a:p>
        </p:txBody>
      </p:sp>
      <p:sp>
        <p:nvSpPr>
          <p:cNvPr id="70" name="Grid row rule"/>
          <p:cNvSpPr/>
          <p:nvPr/>
        </p:nvSpPr>
        <p:spPr>
          <a:xfrm>
            <a:off x="4434840" y="4572000"/>
            <a:ext cx="7208215" cy="0"/>
          </a:xfrm>
          <a:prstGeom prst="line">
            <a:avLst/>
          </a:prstGeom>
          <a:noFill/>
          <a:ln w="6350">
            <a:solidFill>
              <a:srgbClr val="E4DAD5"/>
            </a:solidFill>
            <a:prstDash val="solid"/>
          </a:ln>
        </p:spPr>
      </p:sp>
      <p:sp>
        <p:nvSpPr>
          <p:cNvPr id="71" name="Grid row label 2"/>
          <p:cNvSpPr txBox="1"/>
          <p:nvPr/>
        </p:nvSpPr>
        <p:spPr>
          <a:xfrm>
            <a:off x="4434840" y="4590288"/>
            <a:ext cx="1325880" cy="274320"/>
          </a:xfrm>
          <a:prstGeom prst="rect">
            <a:avLst/>
          </a:prstGeom>
          <a:noFill/>
          <a:ln/>
        </p:spPr>
        <p:txBody>
          <a:bodyPr wrap="square" lIns="0" tIns="0" rIns="0" bIns="0" rtlCol="0" anchor="ctr"/>
          <a:lstStyle/>
          <a:p>
            <a:pPr algn="l" indent="0" marL="0">
              <a:buNone/>
            </a:pPr>
            <a:r>
              <a:rPr lang="en-US" sz="1050" dirty="0">
                <a:solidFill>
                  <a:schemeClr val="tx1"/>
                </a:solidFill>
              </a:rPr>
              <a:t>Career-enquiry index</a:t>
            </a:r>
            <a:endParaRPr lang="en-US" sz="1050" dirty="0"/>
          </a:p>
        </p:txBody>
      </p:sp>
      <p:sp>
        <p:nvSpPr>
          <p:cNvPr id="72" name="Grid value"/>
          <p:cNvSpPr txBox="1"/>
          <p:nvPr/>
        </p:nvSpPr>
        <p:spPr>
          <a:xfrm>
            <a:off x="5929526"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0.80</a:t>
            </a:r>
            <a:endParaRPr lang="en-US" sz="1050" dirty="0"/>
          </a:p>
        </p:txBody>
      </p:sp>
      <p:sp>
        <p:nvSpPr>
          <p:cNvPr id="73" name="Grid value 2"/>
          <p:cNvSpPr txBox="1"/>
          <p:nvPr/>
        </p:nvSpPr>
        <p:spPr>
          <a:xfrm>
            <a:off x="6412100"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0.75</a:t>
            </a:r>
            <a:endParaRPr lang="en-US" sz="1050" dirty="0"/>
          </a:p>
        </p:txBody>
      </p:sp>
      <p:sp>
        <p:nvSpPr>
          <p:cNvPr id="74" name="Grid value 3"/>
          <p:cNvSpPr txBox="1"/>
          <p:nvPr/>
        </p:nvSpPr>
        <p:spPr>
          <a:xfrm>
            <a:off x="6894675"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0.70</a:t>
            </a:r>
            <a:endParaRPr lang="en-US" sz="1050" dirty="0"/>
          </a:p>
        </p:txBody>
      </p:sp>
      <p:sp>
        <p:nvSpPr>
          <p:cNvPr id="75" name="Grid value 4"/>
          <p:cNvSpPr txBox="1"/>
          <p:nvPr/>
        </p:nvSpPr>
        <p:spPr>
          <a:xfrm>
            <a:off x="7377250"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0.80</a:t>
            </a:r>
            <a:endParaRPr lang="en-US" sz="1050" dirty="0"/>
          </a:p>
        </p:txBody>
      </p:sp>
      <p:sp>
        <p:nvSpPr>
          <p:cNvPr id="76" name="Grid value 5"/>
          <p:cNvSpPr txBox="1"/>
          <p:nvPr/>
        </p:nvSpPr>
        <p:spPr>
          <a:xfrm>
            <a:off x="7859824"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0.90</a:t>
            </a:r>
            <a:endParaRPr lang="en-US" sz="1050" dirty="0"/>
          </a:p>
        </p:txBody>
      </p:sp>
      <p:sp>
        <p:nvSpPr>
          <p:cNvPr id="77" name="Grid value 6"/>
          <p:cNvSpPr txBox="1"/>
          <p:nvPr/>
        </p:nvSpPr>
        <p:spPr>
          <a:xfrm>
            <a:off x="8342399"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1.00</a:t>
            </a:r>
            <a:endParaRPr lang="en-US" sz="1050" dirty="0"/>
          </a:p>
        </p:txBody>
      </p:sp>
      <p:sp>
        <p:nvSpPr>
          <p:cNvPr id="78" name="Grid value 7"/>
          <p:cNvSpPr txBox="1"/>
          <p:nvPr/>
        </p:nvSpPr>
        <p:spPr>
          <a:xfrm>
            <a:off x="8823993" y="4627683"/>
            <a:ext cx="329803"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1.30</a:t>
            </a:r>
            <a:endParaRPr lang="en-US" sz="1050" dirty="0"/>
          </a:p>
        </p:txBody>
      </p:sp>
      <p:sp>
        <p:nvSpPr>
          <p:cNvPr id="79" name="Grid value 8"/>
          <p:cNvSpPr txBox="1"/>
          <p:nvPr/>
        </p:nvSpPr>
        <p:spPr>
          <a:xfrm>
            <a:off x="9306568" y="4627683"/>
            <a:ext cx="329803"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1.35</a:t>
            </a:r>
            <a:endParaRPr lang="en-US" sz="1050" dirty="0"/>
          </a:p>
        </p:txBody>
      </p:sp>
      <p:sp>
        <p:nvSpPr>
          <p:cNvPr id="80" name="Grid value 9"/>
          <p:cNvSpPr txBox="1"/>
          <p:nvPr/>
        </p:nvSpPr>
        <p:spPr>
          <a:xfrm>
            <a:off x="9789143" y="4627683"/>
            <a:ext cx="329803"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1.25</a:t>
            </a:r>
            <a:endParaRPr lang="en-US" sz="1050" dirty="0"/>
          </a:p>
        </p:txBody>
      </p:sp>
      <p:sp>
        <p:nvSpPr>
          <p:cNvPr id="81" name="Grid value 10"/>
          <p:cNvSpPr txBox="1"/>
          <p:nvPr/>
        </p:nvSpPr>
        <p:spPr>
          <a:xfrm>
            <a:off x="10272697"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1.10</a:t>
            </a:r>
            <a:endParaRPr lang="en-US" sz="1050" dirty="0"/>
          </a:p>
        </p:txBody>
      </p:sp>
      <p:sp>
        <p:nvSpPr>
          <p:cNvPr id="82" name="Grid value 11"/>
          <p:cNvSpPr txBox="1"/>
          <p:nvPr/>
        </p:nvSpPr>
        <p:spPr>
          <a:xfrm>
            <a:off x="10755272"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1.05</a:t>
            </a:r>
            <a:endParaRPr lang="en-US" sz="1050" dirty="0"/>
          </a:p>
        </p:txBody>
      </p:sp>
      <p:sp>
        <p:nvSpPr>
          <p:cNvPr id="83" name="Grid value 12"/>
          <p:cNvSpPr txBox="1"/>
          <p:nvPr/>
        </p:nvSpPr>
        <p:spPr>
          <a:xfrm>
            <a:off x="11237846" y="4627683"/>
            <a:ext cx="327843"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1.00</a:t>
            </a:r>
            <a:endParaRPr lang="en-US" sz="1050" dirty="0"/>
          </a:p>
        </p:txBody>
      </p:sp>
      <p:sp>
        <p:nvSpPr>
          <p:cNvPr id="84" name="Grid row rule 2"/>
          <p:cNvSpPr/>
          <p:nvPr/>
        </p:nvSpPr>
        <p:spPr>
          <a:xfrm>
            <a:off x="4434840" y="4882896"/>
            <a:ext cx="7208215" cy="0"/>
          </a:xfrm>
          <a:prstGeom prst="line">
            <a:avLst/>
          </a:prstGeom>
          <a:noFill/>
          <a:ln w="6350">
            <a:solidFill>
              <a:srgbClr val="E4DAD5"/>
            </a:solidFill>
            <a:prstDash val="solid"/>
          </a:ln>
        </p:spPr>
      </p:sp>
      <p:sp>
        <p:nvSpPr>
          <p:cNvPr id="85" name="Grid row label 3"/>
          <p:cNvSpPr txBox="1"/>
          <p:nvPr/>
        </p:nvSpPr>
        <p:spPr>
          <a:xfrm>
            <a:off x="4434840" y="4901184"/>
            <a:ext cx="1325880" cy="310896"/>
          </a:xfrm>
          <a:prstGeom prst="rect">
            <a:avLst/>
          </a:prstGeom>
          <a:noFill/>
          <a:ln/>
        </p:spPr>
        <p:txBody>
          <a:bodyPr wrap="square" lIns="0" tIns="0" rIns="0" bIns="0" rtlCol="0" anchor="ctr"/>
          <a:lstStyle/>
          <a:p>
            <a:pPr algn="l" indent="0" marL="0">
              <a:buNone/>
            </a:pPr>
            <a:r>
              <a:rPr lang="en-US" sz="1050" dirty="0">
                <a:solidFill>
                  <a:schemeClr val="tx1"/>
                </a:solidFill>
              </a:rPr>
              <a:t>Founder availability</a:t>
            </a:r>
            <a:endParaRPr lang="en-US" sz="1050" dirty="0"/>
          </a:p>
        </p:txBody>
      </p:sp>
      <p:sp>
        <p:nvSpPr>
          <p:cNvPr id="86" name="Grid bar 5"/>
          <p:cNvSpPr/>
          <p:nvPr/>
        </p:nvSpPr>
        <p:spPr>
          <a:xfrm>
            <a:off x="5870448" y="4948916"/>
            <a:ext cx="1893722" cy="215433"/>
          </a:xfrm>
          <a:prstGeom prst="roundRect">
            <a:avLst>
              <a:gd name="adj" fmla="val 50000"/>
            </a:avLst>
          </a:prstGeom>
          <a:solidFill>
            <a:schemeClr val="accent3"/>
          </a:solidFill>
          <a:ln/>
        </p:spPr>
      </p:sp>
      <p:sp>
        <p:nvSpPr>
          <p:cNvPr id="87" name="Grid bar label 5"/>
          <p:cNvSpPr txBox="1"/>
          <p:nvPr/>
        </p:nvSpPr>
        <p:spPr>
          <a:xfrm>
            <a:off x="5870448" y="4948916"/>
            <a:ext cx="1893722" cy="215433"/>
          </a:xfrm>
          <a:prstGeom prst="rect">
            <a:avLst/>
          </a:prstGeom>
          <a:noFill/>
          <a:ln/>
        </p:spPr>
        <p:txBody>
          <a:bodyPr wrap="square" lIns="0" tIns="0" rIns="0" bIns="0" rtlCol="0" anchor="ctr"/>
          <a:lstStyle/>
          <a:p>
            <a:pPr algn="ctr" indent="0" marL="0">
              <a:buNone/>
            </a:pPr>
            <a:r>
              <a:rPr lang="en-US" sz="1000" b="1" dirty="0">
                <a:solidFill>
                  <a:schemeClr val="tx1"/>
                </a:solidFill>
              </a:rPr>
              <a:t>Low</a:t>
            </a:r>
            <a:endParaRPr lang="en-US" sz="1000" dirty="0"/>
          </a:p>
        </p:txBody>
      </p:sp>
      <p:sp>
        <p:nvSpPr>
          <p:cNvPr id="88" name="Grid bar 6"/>
          <p:cNvSpPr/>
          <p:nvPr/>
        </p:nvSpPr>
        <p:spPr>
          <a:xfrm>
            <a:off x="7800746" y="4948916"/>
            <a:ext cx="2376297" cy="215433"/>
          </a:xfrm>
          <a:prstGeom prst="roundRect">
            <a:avLst>
              <a:gd name="adj" fmla="val 50000"/>
            </a:avLst>
          </a:prstGeom>
          <a:solidFill>
            <a:schemeClr val="accent1"/>
          </a:solidFill>
          <a:ln/>
        </p:spPr>
      </p:sp>
      <p:sp>
        <p:nvSpPr>
          <p:cNvPr id="89" name="Grid bar label 6"/>
          <p:cNvSpPr txBox="1"/>
          <p:nvPr/>
        </p:nvSpPr>
        <p:spPr>
          <a:xfrm>
            <a:off x="7800746" y="4948916"/>
            <a:ext cx="2376297" cy="215433"/>
          </a:xfrm>
          <a:prstGeom prst="rect">
            <a:avLst/>
          </a:prstGeom>
          <a:noFill/>
          <a:ln/>
        </p:spPr>
        <p:txBody>
          <a:bodyPr wrap="square" lIns="0" tIns="0" rIns="0" bIns="0" rtlCol="0" anchor="ctr"/>
          <a:lstStyle/>
          <a:p>
            <a:pPr algn="ctr" indent="0" marL="0">
              <a:buNone/>
            </a:pPr>
            <a:r>
              <a:rPr lang="en-US" sz="1000" b="1" dirty="0">
                <a:solidFill>
                  <a:schemeClr val="bg1"/>
                </a:solidFill>
              </a:rPr>
              <a:t>High</a:t>
            </a:r>
            <a:endParaRPr lang="en-US" sz="1000" dirty="0"/>
          </a:p>
        </p:txBody>
      </p:sp>
      <p:sp>
        <p:nvSpPr>
          <p:cNvPr id="90" name="Grid bar 7"/>
          <p:cNvSpPr/>
          <p:nvPr/>
        </p:nvSpPr>
        <p:spPr>
          <a:xfrm>
            <a:off x="10213619" y="4948916"/>
            <a:ext cx="1411148" cy="215433"/>
          </a:xfrm>
          <a:prstGeom prst="roundRect">
            <a:avLst>
              <a:gd name="adj" fmla="val 50000"/>
            </a:avLst>
          </a:prstGeom>
          <a:solidFill>
            <a:schemeClr val="accent3"/>
          </a:solidFill>
          <a:ln/>
        </p:spPr>
      </p:sp>
      <p:sp>
        <p:nvSpPr>
          <p:cNvPr id="91" name="Grid bar label 7"/>
          <p:cNvSpPr txBox="1"/>
          <p:nvPr/>
        </p:nvSpPr>
        <p:spPr>
          <a:xfrm>
            <a:off x="10213619" y="4948916"/>
            <a:ext cx="1411148" cy="215433"/>
          </a:xfrm>
          <a:prstGeom prst="rect">
            <a:avLst/>
          </a:prstGeom>
          <a:noFill/>
          <a:ln/>
        </p:spPr>
        <p:txBody>
          <a:bodyPr wrap="square" lIns="0" tIns="0" rIns="0" bIns="0" rtlCol="0" anchor="ctr"/>
          <a:lstStyle/>
          <a:p>
            <a:pPr algn="ctr" indent="0" marL="0">
              <a:buNone/>
            </a:pPr>
            <a:r>
              <a:rPr lang="en-US" sz="1000" b="1" dirty="0">
                <a:solidFill>
                  <a:schemeClr val="tx1"/>
                </a:solidFill>
              </a:rPr>
              <a:t>Medium–Low</a:t>
            </a:r>
            <a:endParaRPr lang="en-US" sz="1000" dirty="0"/>
          </a:p>
        </p:txBody>
      </p:sp>
      <p:sp>
        <p:nvSpPr>
          <p:cNvPr id="92" name="Grid bottom rule"/>
          <p:cNvSpPr/>
          <p:nvPr/>
        </p:nvSpPr>
        <p:spPr>
          <a:xfrm>
            <a:off x="4434840" y="5230368"/>
            <a:ext cx="7208215" cy="0"/>
          </a:xfrm>
          <a:prstGeom prst="line">
            <a:avLst/>
          </a:prstGeom>
          <a:noFill/>
          <a:ln w="12700">
            <a:solidFill>
              <a:srgbClr val="C9BCB5"/>
            </a:solidFill>
            <a:prstDash val="solid"/>
          </a:ln>
        </p:spPr>
      </p:sp>
      <p:sp>
        <p:nvSpPr>
          <p:cNvPr id="93" name="Ramp note"/>
          <p:cNvSpPr txBox="1"/>
          <p:nvPr/>
        </p:nvSpPr>
        <p:spPr>
          <a:xfrm>
            <a:off x="10195331" y="2231136"/>
            <a:ext cx="1447724" cy="329184"/>
          </a:xfrm>
          <a:prstGeom prst="rect">
            <a:avLst/>
          </a:prstGeom>
          <a:noFill/>
          <a:ln/>
        </p:spPr>
        <p:txBody>
          <a:bodyPr wrap="square" lIns="0" tIns="0" rIns="0" bIns="0" rtlCol="0" anchor="t"/>
          <a:lstStyle/>
          <a:p>
            <a:pPr algn="ctr" indent="0" marL="0">
              <a:buNone/>
            </a:pPr>
            <a:r>
              <a:rPr lang="en-US" sz="1000" b="1" dirty="0">
                <a:solidFill>
                  <a:srgbClr val="A4513F"/>
                </a:solidFill>
              </a:rPr>
              <a:t>Ramp from M10: founder decision at G1</a:t>
            </a:r>
            <a:endParaRPr lang="en-US" sz="1000" dirty="0"/>
          </a:p>
        </p:txBody>
      </p:sp>
      <p:sp>
        <p:nvSpPr>
          <p:cNvPr id="94" name="Gate rule chip"/>
          <p:cNvSpPr/>
          <p:nvPr/>
        </p:nvSpPr>
        <p:spPr>
          <a:xfrm>
            <a:off x="4434840" y="5358384"/>
            <a:ext cx="7208215" cy="786384"/>
          </a:xfrm>
          <a:prstGeom prst="roundRect">
            <a:avLst>
              <a:gd name="adj" fmla="val 9302"/>
            </a:avLst>
          </a:prstGeom>
          <a:solidFill>
            <a:srgbClr val="F1EAE5"/>
          </a:solidFill>
          <a:ln/>
        </p:spPr>
      </p:sp>
      <p:sp>
        <p:nvSpPr>
          <p:cNvPr id="95" name="Gate rule text"/>
          <p:cNvSpPr txBox="1"/>
          <p:nvPr/>
        </p:nvSpPr>
        <p:spPr>
          <a:xfrm>
            <a:off x="4599432" y="5394960"/>
            <a:ext cx="6879031" cy="713232"/>
          </a:xfrm>
          <a:prstGeom prst="rect">
            <a:avLst/>
          </a:prstGeom>
          <a:noFill/>
          <a:ln/>
        </p:spPr>
        <p:txBody>
          <a:bodyPr wrap="square" lIns="0" tIns="0" rIns="0" bIns="0" rtlCol="0" anchor="ctr"/>
          <a:lstStyle/>
          <a:p>
            <a:pPr algn="l" indent="0" marL="0">
              <a:buNone/>
            </a:pPr>
            <a:r>
              <a:rPr lang="en-US" sz="1100" dirty="0">
                <a:solidFill>
                  <a:schemeClr val="tx1"/>
                </a:solidFill>
              </a:rPr>
              <a:t>Each gate turning amber freezes increases; red rolls spend back to the last green level. Phase 3 (Aug–Oct): Destination pilot, two pop-up pilots ≤₹2L, ≤₹1L online masterclass pilot.</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RECOMMENDATION · WEBSITE, CRM AND ANALYTICS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One WhatsApp inbox, one lead record, enforced reply timers, conversions fed back to ads</a:t>
            </a:r>
            <a:endParaRPr lang="en-US" sz="2800" dirty="0"/>
          </a:p>
        </p:txBody>
      </p:sp>
      <p:sp>
        <p:nvSpPr>
          <p:cNvPr id="4" name="Subtitle"/>
          <p:cNvSpPr txBox="1"/>
          <p:nvPr/>
        </p:nvSpPr>
        <p:spPr>
          <a:xfrm>
            <a:off x="548640" y="1531112"/>
            <a:ext cx="11094415" cy="238328"/>
          </a:xfrm>
          <a:prstGeom prst="rect">
            <a:avLst/>
          </a:prstGeom>
          <a:noFill/>
          <a:ln/>
        </p:spPr>
        <p:txBody>
          <a:bodyPr wrap="square" lIns="0" tIns="0" rIns="0" bIns="0" rtlCol="0" anchor="t"/>
          <a:lstStyle/>
          <a:p>
            <a:pPr algn="l" indent="0" marL="0">
              <a:buNone/>
            </a:pPr>
            <a:r>
              <a:rPr lang="en-US" sz="1300" dirty="0">
                <a:solidFill>
                  <a:srgbClr val="6B5F67"/>
                </a:solidFill>
              </a:rPr>
              <a:t>A minimum stack at ≈₹18–20k/month (BSP + CRM + GA4/CAPI + payment links) that makes the funnel visible and the SLA enforceable; no LMS until Year 2.</a:t>
            </a:r>
            <a:endParaRPr lang="en-US" sz="13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execution/technology_and_crm_requirements.md §1, §4, §8, §9.1, §11; growth_marketing_strategy.md §4.1, §9 SG1–SG2; S-GRO-02/04/05/06/08/12</a:t>
            </a:r>
            <a:pPr algn="l" indent="0" marL="0">
              <a:buNone/>
            </a:pPr>
            <a:r>
              <a:rPr lang="en-US" sz="900" b="1" dirty="0">
                <a:solidFill>
                  <a:srgbClr val="6B5F67"/>
                </a:solidFill>
              </a:rPr>
              <a:t>   Note: </a:t>
            </a:r>
            <a:pPr algn="l" indent="0" marL="0">
              <a:buNone/>
            </a:pPr>
            <a:r>
              <a:rPr lang="en-US" sz="900" dirty="0">
                <a:solidFill>
                  <a:srgbClr val="6B5F67"/>
                </a:solidFill>
              </a:rPr>
              <a:t>₹ per month incl. 18% GST where applicable, 2026 list prices. Run-rates: ESTIMATE from vendor list prices (CLAIM).</a:t>
            </a:r>
            <a:endParaRPr lang="en-US" sz="900" dirty="0"/>
          </a:p>
        </p:txBody>
      </p:sp>
      <p:sp>
        <p:nvSpPr>
          <p:cNvPr id="7" name="Flow box"/>
          <p:cNvSpPr/>
          <p:nvPr/>
        </p:nvSpPr>
        <p:spPr>
          <a:xfrm>
            <a:off x="548640" y="1920240"/>
            <a:ext cx="2606040" cy="2240280"/>
          </a:xfrm>
          <a:prstGeom prst="roundRect">
            <a:avLst>
              <a:gd name="adj" fmla="val 3265"/>
            </a:avLst>
          </a:prstGeom>
          <a:solidFill>
            <a:schemeClr val="bg1"/>
          </a:solidFill>
          <a:ln w="9525">
            <a:solidFill>
              <a:srgbClr val="E4DAD5"/>
            </a:solidFill>
            <a:prstDash val="solid"/>
          </a:ln>
        </p:spPr>
      </p:sp>
      <p:sp>
        <p:nvSpPr>
          <p:cNvPr id="8" name="Flow head"/>
          <p:cNvSpPr txBox="1"/>
          <p:nvPr/>
        </p:nvSpPr>
        <p:spPr>
          <a:xfrm>
            <a:off x="685800" y="2039112"/>
            <a:ext cx="940198"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Entry points</a:t>
            </a:r>
            <a:endParaRPr lang="en-US" sz="1100" dirty="0"/>
          </a:p>
        </p:txBody>
      </p:sp>
      <p:sp>
        <p:nvSpPr>
          <p:cNvPr id="9" name="Flow items"/>
          <p:cNvSpPr txBox="1"/>
          <p:nvPr/>
        </p:nvSpPr>
        <p:spPr>
          <a:xfrm>
            <a:off x="713232" y="2395728"/>
            <a:ext cx="2276856" cy="1673352"/>
          </a:xfrm>
          <a:prstGeom prst="rect">
            <a:avLst/>
          </a:prstGeom>
          <a:noFill/>
          <a:ln/>
        </p:spPr>
        <p:txBody>
          <a:bodyPr wrap="square" lIns="0" tIns="0" rIns="0" bIns="0" rtlCol="0" anchor="t"/>
          <a:lstStyle/>
          <a:p>
            <a:pPr algn="l" marL="152400" indent="-152400">
              <a:spcAft>
                <a:spcPts val="300"/>
              </a:spcAft>
              <a:buSzPct val="100000"/>
              <a:buChar char="•"/>
            </a:pPr>
            <a:r>
              <a:rPr lang="en-US" sz="1150" dirty="0">
                <a:solidFill>
                  <a:schemeClr val="tx1"/>
                </a:solidFill>
              </a:rPr>
              <a:t>CTWA ads, Search ads</a:t>
            </a:r>
            <a:endParaRPr lang="en-US" sz="1150" dirty="0"/>
          </a:p>
          <a:p>
            <a:pPr algn="l" marL="152400" indent="-152400">
              <a:spcAft>
                <a:spcPts val="300"/>
              </a:spcAft>
              <a:buSzPct val="100000"/>
              <a:buChar char="•"/>
            </a:pPr>
            <a:r>
              <a:rPr lang="en-US" sz="1150" dirty="0">
                <a:solidFill>
                  <a:schemeClr val="tx1"/>
                </a:solidFill>
              </a:rPr>
              <a:t>Google Business Profile, Instagram</a:t>
            </a:r>
            <a:endParaRPr lang="en-US" sz="1150" dirty="0"/>
          </a:p>
          <a:p>
            <a:pPr algn="l" marL="152400" indent="-152400">
              <a:spcAft>
                <a:spcPts val="300"/>
              </a:spcAft>
              <a:buSzPct val="100000"/>
              <a:buChar char="•"/>
            </a:pPr>
            <a:r>
              <a:rPr lang="en-US" sz="1150" dirty="0">
                <a:solidFill>
                  <a:schemeClr val="tx1"/>
                </a:solidFill>
              </a:rPr>
              <a:t>Website: trust hub, five core pages (L3, L2, Fees &amp; EMI, For Parents, Student Work); ₹1.2L rebuild</a:t>
            </a:r>
            <a:endParaRPr lang="en-US" sz="1150" dirty="0"/>
          </a:p>
          <a:p>
            <a:pPr algn="l" marL="152400" indent="-152400">
              <a:buSzPct val="100000"/>
              <a:buChar char="•"/>
            </a:pPr>
            <a:r>
              <a:rPr lang="en-US" sz="1150" dirty="0">
                <a:solidFill>
                  <a:schemeClr val="tx1"/>
                </a:solidFill>
              </a:rPr>
              <a:t>Walk-in, referral codes</a:t>
            </a:r>
            <a:endParaRPr lang="en-US" sz="1150" dirty="0"/>
          </a:p>
        </p:txBody>
      </p:sp>
      <p:sp>
        <p:nvSpPr>
          <p:cNvPr id="10" name="Flow arrow"/>
          <p:cNvSpPr/>
          <p:nvPr/>
        </p:nvSpPr>
        <p:spPr>
          <a:xfrm>
            <a:off x="3191256" y="2912364"/>
            <a:ext cx="155448" cy="256032"/>
          </a:xfrm>
          <a:prstGeom prst="chevron">
            <a:avLst/>
          </a:prstGeom>
          <a:solidFill>
            <a:schemeClr val="accent2"/>
          </a:solidFill>
          <a:ln/>
        </p:spPr>
      </p:sp>
      <p:sp>
        <p:nvSpPr>
          <p:cNvPr id="11" name="Flow box 2"/>
          <p:cNvSpPr/>
          <p:nvPr/>
        </p:nvSpPr>
        <p:spPr>
          <a:xfrm>
            <a:off x="3383280" y="1920240"/>
            <a:ext cx="2514600" cy="2240280"/>
          </a:xfrm>
          <a:prstGeom prst="roundRect">
            <a:avLst>
              <a:gd name="adj" fmla="val 3265"/>
            </a:avLst>
          </a:prstGeom>
          <a:solidFill>
            <a:schemeClr val="bg1"/>
          </a:solidFill>
          <a:ln w="9525">
            <a:solidFill>
              <a:srgbClr val="E4DAD5"/>
            </a:solidFill>
            <a:prstDash val="solid"/>
          </a:ln>
        </p:spPr>
      </p:sp>
      <p:sp>
        <p:nvSpPr>
          <p:cNvPr id="12" name="Flow head 2"/>
          <p:cNvSpPr txBox="1"/>
          <p:nvPr/>
        </p:nvSpPr>
        <p:spPr>
          <a:xfrm>
            <a:off x="3520440" y="2039112"/>
            <a:ext cx="109729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WhatsApp BSP</a:t>
            </a:r>
            <a:endParaRPr lang="en-US" sz="1100" dirty="0"/>
          </a:p>
        </p:txBody>
      </p:sp>
      <p:sp>
        <p:nvSpPr>
          <p:cNvPr id="13" name="Flow items 2"/>
          <p:cNvSpPr txBox="1"/>
          <p:nvPr/>
        </p:nvSpPr>
        <p:spPr>
          <a:xfrm>
            <a:off x="3547872" y="2395728"/>
            <a:ext cx="2185416" cy="1673352"/>
          </a:xfrm>
          <a:prstGeom prst="rect">
            <a:avLst/>
          </a:prstGeom>
          <a:noFill/>
          <a:ln/>
        </p:spPr>
        <p:txBody>
          <a:bodyPr wrap="square" lIns="0" tIns="0" rIns="0" bIns="0" rtlCol="0" anchor="t"/>
          <a:lstStyle/>
          <a:p>
            <a:pPr algn="l" marL="152400" indent="-152400">
              <a:spcAft>
                <a:spcPts val="300"/>
              </a:spcAft>
              <a:buSzPct val="100000"/>
              <a:buChar char="•"/>
            </a:pPr>
            <a:r>
              <a:rPr lang="en-US" sz="1150" dirty="0">
                <a:solidFill>
                  <a:schemeClr val="tx1"/>
                </a:solidFill>
              </a:rPr>
              <a:t>WhatsApp Business API from day 1</a:t>
            </a:r>
            <a:endParaRPr lang="en-US" sz="1150" dirty="0"/>
          </a:p>
          <a:p>
            <a:pPr algn="l" marL="152400" indent="-152400">
              <a:spcAft>
                <a:spcPts val="300"/>
              </a:spcAft>
              <a:buSzPct val="100000"/>
              <a:buChar char="•"/>
            </a:pPr>
            <a:r>
              <a:rPr lang="en-US" sz="1150" dirty="0">
                <a:solidFill>
                  <a:schemeClr val="tx1"/>
                </a:solidFill>
              </a:rPr>
              <a:t>Flow asks: course, start month, city, parent involved</a:t>
            </a:r>
            <a:endParaRPr lang="en-US" sz="1150" dirty="0"/>
          </a:p>
          <a:p>
            <a:pPr algn="l" marL="152400" indent="-152400">
              <a:spcAft>
                <a:spcPts val="300"/>
              </a:spcAft>
              <a:buSzPct val="100000"/>
              <a:buChar char="•"/>
            </a:pPr>
            <a:r>
              <a:rPr lang="en-US" sz="1150" dirty="0">
                <a:solidFill>
                  <a:schemeClr val="tx1"/>
                </a:solidFill>
              </a:rPr>
              <a:t>Multi-agent inbox; CTWA attribution</a:t>
            </a:r>
            <a:endParaRPr lang="en-US" sz="1150" dirty="0"/>
          </a:p>
          <a:p>
            <a:pPr algn="l" marL="152400" indent="-152400">
              <a:buSzPct val="100000"/>
              <a:buChar char="•"/>
            </a:pPr>
            <a:r>
              <a:rPr lang="en-US" sz="1150" dirty="0">
                <a:solidFill>
                  <a:schemeClr val="tx1"/>
                </a:solidFill>
              </a:rPr>
              <a:t>1–2 tracked numbers</a:t>
            </a:r>
            <a:endParaRPr lang="en-US" sz="1150" dirty="0"/>
          </a:p>
        </p:txBody>
      </p:sp>
      <p:sp>
        <p:nvSpPr>
          <p:cNvPr id="14" name="Flow arrow 2"/>
          <p:cNvSpPr/>
          <p:nvPr/>
        </p:nvSpPr>
        <p:spPr>
          <a:xfrm>
            <a:off x="5934456" y="2912364"/>
            <a:ext cx="155448" cy="256032"/>
          </a:xfrm>
          <a:prstGeom prst="chevron">
            <a:avLst/>
          </a:prstGeom>
          <a:solidFill>
            <a:schemeClr val="accent2"/>
          </a:solidFill>
          <a:ln/>
        </p:spPr>
      </p:sp>
      <p:sp>
        <p:nvSpPr>
          <p:cNvPr id="15" name="Flow box 3"/>
          <p:cNvSpPr/>
          <p:nvPr/>
        </p:nvSpPr>
        <p:spPr>
          <a:xfrm>
            <a:off x="6126480" y="1920240"/>
            <a:ext cx="2971800" cy="2240280"/>
          </a:xfrm>
          <a:prstGeom prst="roundRect">
            <a:avLst>
              <a:gd name="adj" fmla="val 3265"/>
            </a:avLst>
          </a:prstGeom>
          <a:solidFill>
            <a:srgbClr val="F2EAF0"/>
          </a:solidFill>
          <a:ln/>
        </p:spPr>
      </p:sp>
      <p:sp>
        <p:nvSpPr>
          <p:cNvPr id="16" name="Flow head 3"/>
          <p:cNvSpPr txBox="1"/>
          <p:nvPr/>
        </p:nvSpPr>
        <p:spPr>
          <a:xfrm>
            <a:off x="6263640" y="2039112"/>
            <a:ext cx="1032623"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CRM (3 seats)</a:t>
            </a:r>
            <a:endParaRPr lang="en-US" sz="1100" dirty="0"/>
          </a:p>
        </p:txBody>
      </p:sp>
      <p:sp>
        <p:nvSpPr>
          <p:cNvPr id="17" name="Flow items 3"/>
          <p:cNvSpPr txBox="1"/>
          <p:nvPr/>
        </p:nvSpPr>
        <p:spPr>
          <a:xfrm>
            <a:off x="6291072" y="2395728"/>
            <a:ext cx="2642616" cy="1673352"/>
          </a:xfrm>
          <a:prstGeom prst="rect">
            <a:avLst/>
          </a:prstGeom>
          <a:noFill/>
          <a:ln/>
        </p:spPr>
        <p:txBody>
          <a:bodyPr wrap="square" lIns="0" tIns="0" rIns="0" bIns="0" rtlCol="0" anchor="t"/>
          <a:lstStyle/>
          <a:p>
            <a:pPr algn="l" marL="152400" indent="-152400">
              <a:spcAft>
                <a:spcPts val="300"/>
              </a:spcAft>
              <a:buSzPct val="100000"/>
              <a:buChar char="•"/>
            </a:pPr>
            <a:r>
              <a:rPr lang="en-US" sz="1150" dirty="0">
                <a:solidFill>
                  <a:schemeClr val="tx1"/>
                </a:solidFill>
              </a:rPr>
              <a:t>One lead record per person</a:t>
            </a:r>
            <a:endParaRPr lang="en-US" sz="1150" dirty="0"/>
          </a:p>
          <a:p>
            <a:pPr algn="l" marL="152400" indent="-152400">
              <a:spcAft>
                <a:spcPts val="300"/>
              </a:spcAft>
              <a:buSzPct val="100000"/>
              <a:buChar char="•"/>
            </a:pPr>
            <a:r>
              <a:rPr lang="en-US" sz="1150" dirty="0">
                <a:solidFill>
                  <a:schemeClr val="tx1"/>
                </a:solidFill>
              </a:rPr>
              <a:t>Lead → QL → Counselled → Applied → Enrolled → Completed → Advocate</a:t>
            </a:r>
            <a:endParaRPr lang="en-US" sz="1150" dirty="0"/>
          </a:p>
          <a:p>
            <a:pPr algn="l" marL="152400" indent="-152400">
              <a:spcAft>
                <a:spcPts val="300"/>
              </a:spcAft>
              <a:buSzPct val="100000"/>
              <a:buChar char="•"/>
            </a:pPr>
            <a:r>
              <a:rPr lang="en-US" sz="1150" dirty="0">
                <a:solidFill>
                  <a:schemeClr val="tx1"/>
                </a:solidFill>
              </a:rPr>
              <a:t>SLA timers; lost-reason codes</a:t>
            </a:r>
            <a:endParaRPr lang="en-US" sz="1150" dirty="0"/>
          </a:p>
          <a:p>
            <a:pPr algn="l" marL="152400" indent="-152400">
              <a:buSzPct val="100000"/>
              <a:buChar char="•"/>
            </a:pPr>
            <a:r>
              <a:rPr lang="en-US" sz="1150" dirty="0">
                <a:solidFill>
                  <a:schemeClr val="tx1"/>
                </a:solidFill>
              </a:rPr>
              <a:t>Razorpay links and an EMI partner</a:t>
            </a:r>
            <a:endParaRPr lang="en-US" sz="1150" dirty="0"/>
          </a:p>
        </p:txBody>
      </p:sp>
      <p:sp>
        <p:nvSpPr>
          <p:cNvPr id="18" name="Flow arrow 3"/>
          <p:cNvSpPr/>
          <p:nvPr/>
        </p:nvSpPr>
        <p:spPr>
          <a:xfrm>
            <a:off x="9134856" y="2912364"/>
            <a:ext cx="155448" cy="256032"/>
          </a:xfrm>
          <a:prstGeom prst="chevron">
            <a:avLst/>
          </a:prstGeom>
          <a:solidFill>
            <a:schemeClr val="accent2"/>
          </a:solidFill>
          <a:ln/>
        </p:spPr>
      </p:sp>
      <p:sp>
        <p:nvSpPr>
          <p:cNvPr id="19" name="Flow box 4"/>
          <p:cNvSpPr/>
          <p:nvPr/>
        </p:nvSpPr>
        <p:spPr>
          <a:xfrm>
            <a:off x="9326880" y="1920240"/>
            <a:ext cx="2313432" cy="2240280"/>
          </a:xfrm>
          <a:prstGeom prst="roundRect">
            <a:avLst>
              <a:gd name="adj" fmla="val 3265"/>
            </a:avLst>
          </a:prstGeom>
          <a:solidFill>
            <a:schemeClr val="bg1"/>
          </a:solidFill>
          <a:ln w="9525">
            <a:solidFill>
              <a:srgbClr val="E4DAD5"/>
            </a:solidFill>
            <a:prstDash val="solid"/>
          </a:ln>
        </p:spPr>
      </p:sp>
      <p:sp>
        <p:nvSpPr>
          <p:cNvPr id="20" name="Flow head 4"/>
          <p:cNvSpPr txBox="1"/>
          <p:nvPr/>
        </p:nvSpPr>
        <p:spPr>
          <a:xfrm>
            <a:off x="9464040" y="2039112"/>
            <a:ext cx="709706"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dirty="0">
                <a:solidFill>
                  <a:schemeClr val="bg1"/>
                </a:solidFill>
              </a:rPr>
              <a:t>Outputs</a:t>
            </a:r>
            <a:endParaRPr lang="en-US" sz="1100" dirty="0"/>
          </a:p>
        </p:txBody>
      </p:sp>
      <p:sp>
        <p:nvSpPr>
          <p:cNvPr id="21" name="Flow items 4"/>
          <p:cNvSpPr txBox="1"/>
          <p:nvPr/>
        </p:nvSpPr>
        <p:spPr>
          <a:xfrm>
            <a:off x="9491472" y="2395728"/>
            <a:ext cx="1984248" cy="1673352"/>
          </a:xfrm>
          <a:prstGeom prst="rect">
            <a:avLst/>
          </a:prstGeom>
          <a:noFill/>
          <a:ln/>
        </p:spPr>
        <p:txBody>
          <a:bodyPr wrap="square" lIns="0" tIns="0" rIns="0" bIns="0" rtlCol="0" anchor="t"/>
          <a:lstStyle/>
          <a:p>
            <a:pPr algn="l" marL="152400" indent="-152400">
              <a:spcAft>
                <a:spcPts val="300"/>
              </a:spcAft>
              <a:buSzPct val="100000"/>
              <a:buChar char="•"/>
            </a:pPr>
            <a:r>
              <a:rPr lang="en-US" sz="1150" dirty="0">
                <a:solidFill>
                  <a:schemeClr val="tx1"/>
                </a:solidFill>
              </a:rPr>
              <a:t>CAPI / offline conversions back to Meta and Google</a:t>
            </a:r>
            <a:endParaRPr lang="en-US" sz="1150" dirty="0"/>
          </a:p>
          <a:p>
            <a:pPr algn="l" marL="152400" indent="-152400">
              <a:spcAft>
                <a:spcPts val="300"/>
              </a:spcAft>
              <a:buSzPct val="100000"/>
              <a:buChar char="•"/>
            </a:pPr>
            <a:r>
              <a:rPr lang="en-US" sz="1150" dirty="0">
                <a:solidFill>
                  <a:schemeClr val="tx1"/>
                </a:solidFill>
              </a:rPr>
              <a:t>GA4 + GTM + Looker Studio weekly one-pager</a:t>
            </a:r>
            <a:endParaRPr lang="en-US" sz="1150" dirty="0"/>
          </a:p>
          <a:p>
            <a:pPr algn="l" marL="152400" indent="-152400">
              <a:buSzPct val="100000"/>
              <a:buChar char="•"/>
            </a:pPr>
            <a:r>
              <a:rPr lang="en-US" sz="1150" dirty="0">
                <a:solidFill>
                  <a:schemeClr val="tx1"/>
                </a:solidFill>
              </a:rPr>
              <a:t>Accounts reconciliation ±5%</a:t>
            </a:r>
            <a:endParaRPr lang="en-US" sz="1150" dirty="0"/>
          </a:p>
        </p:txBody>
      </p:sp>
      <p:sp>
        <p:nvSpPr>
          <p:cNvPr id="22" name="Badge RECOMMENDATION"/>
          <p:cNvSpPr txBox="1"/>
          <p:nvPr/>
        </p:nvSpPr>
        <p:spPr>
          <a:xfrm>
            <a:off x="10174478" y="2066544"/>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23" name="Run-rate card"/>
          <p:cNvSpPr/>
          <p:nvPr/>
        </p:nvSpPr>
        <p:spPr>
          <a:xfrm>
            <a:off x="548640" y="4343400"/>
            <a:ext cx="3017520" cy="1801368"/>
          </a:xfrm>
          <a:prstGeom prst="roundRect">
            <a:avLst>
              <a:gd name="adj" fmla="val 4061"/>
            </a:avLst>
          </a:prstGeom>
          <a:solidFill>
            <a:schemeClr val="bg1"/>
          </a:solidFill>
          <a:ln w="9525">
            <a:solidFill>
              <a:srgbClr val="E4DAD5"/>
            </a:solidFill>
            <a:prstDash val="solid"/>
          </a:ln>
        </p:spPr>
      </p:sp>
      <p:sp>
        <p:nvSpPr>
          <p:cNvPr id="24" name="Label"/>
          <p:cNvSpPr txBox="1"/>
          <p:nvPr/>
        </p:nvSpPr>
        <p:spPr>
          <a:xfrm>
            <a:off x="731520" y="4471416"/>
            <a:ext cx="1828800" cy="219456"/>
          </a:xfrm>
          <a:prstGeom prst="rect">
            <a:avLst/>
          </a:prstGeom>
          <a:noFill/>
          <a:ln/>
        </p:spPr>
        <p:txBody>
          <a:bodyPr wrap="square" lIns="0" tIns="0" rIns="0" bIns="0" rtlCol="0" anchor="ctr"/>
          <a:lstStyle/>
          <a:p>
            <a:pPr algn="l" indent="0" marL="0">
              <a:buNone/>
            </a:pPr>
            <a:r>
              <a:rPr lang="en-US" sz="1050" b="1" dirty="0">
                <a:solidFill>
                  <a:srgbClr val="A4513F"/>
                </a:solidFill>
              </a:rPr>
              <a:t>MONTHLY RUN-RATE, ₹</a:t>
            </a:r>
            <a:endParaRPr lang="en-US" sz="1050" dirty="0"/>
          </a:p>
        </p:txBody>
      </p:sp>
      <p:sp>
        <p:nvSpPr>
          <p:cNvPr id="25" name="Badge ESTIMATE"/>
          <p:cNvSpPr txBox="1"/>
          <p:nvPr/>
        </p:nvSpPr>
        <p:spPr>
          <a:xfrm>
            <a:off x="2604187" y="447141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6" name="Run-rate plan"/>
          <p:cNvSpPr txBox="1"/>
          <p:nvPr/>
        </p:nvSpPr>
        <p:spPr>
          <a:xfrm>
            <a:off x="731520" y="4846320"/>
            <a:ext cx="1280160" cy="310896"/>
          </a:xfrm>
          <a:prstGeom prst="rect">
            <a:avLst/>
          </a:prstGeom>
          <a:noFill/>
          <a:ln/>
        </p:spPr>
        <p:txBody>
          <a:bodyPr wrap="square" lIns="0" tIns="0" rIns="0" bIns="0" rtlCol="0" anchor="ctr"/>
          <a:lstStyle/>
          <a:p>
            <a:pPr algn="l" indent="0" marL="0">
              <a:buNone/>
            </a:pPr>
            <a:r>
              <a:rPr lang="en-US" sz="1200" dirty="0">
                <a:solidFill>
                  <a:schemeClr val="tx1"/>
                </a:solidFill>
              </a:rPr>
              <a:t>₹10L plan</a:t>
            </a:r>
            <a:endParaRPr lang="en-US" sz="1200" dirty="0"/>
          </a:p>
        </p:txBody>
      </p:sp>
      <p:sp>
        <p:nvSpPr>
          <p:cNvPr id="27" name="Run-rate value"/>
          <p:cNvSpPr txBox="1"/>
          <p:nvPr/>
        </p:nvSpPr>
        <p:spPr>
          <a:xfrm>
            <a:off x="2011680" y="4846320"/>
            <a:ext cx="1371600" cy="310896"/>
          </a:xfrm>
          <a:prstGeom prst="rect">
            <a:avLst/>
          </a:prstGeom>
          <a:noFill/>
          <a:ln/>
        </p:spPr>
        <p:txBody>
          <a:bodyPr wrap="square" lIns="0" tIns="0" rIns="0" bIns="0" rtlCol="0" anchor="ctr"/>
          <a:lstStyle/>
          <a:p>
            <a:pPr algn="r" indent="0" marL="0">
              <a:buNone/>
            </a:pPr>
            <a:r>
              <a:rPr lang="en-US" sz="1600" dirty="0">
                <a:solidFill>
                  <a:schemeClr val="tx2"/>
                </a:solidFill>
                <a:latin typeface="+mj-lt" pitchFamily="34" charset="0"/>
                <a:ea typeface="+mj-lt" pitchFamily="34" charset="-122"/>
                <a:cs typeface="+mj-lt" pitchFamily="34" charset="-120"/>
              </a:rPr>
              <a:t>≈8,000</a:t>
            </a:r>
            <a:endParaRPr lang="en-US" sz="1600" dirty="0"/>
          </a:p>
        </p:txBody>
      </p:sp>
      <p:sp>
        <p:nvSpPr>
          <p:cNvPr id="28" name="Run-rate rule"/>
          <p:cNvSpPr/>
          <p:nvPr/>
        </p:nvSpPr>
        <p:spPr>
          <a:xfrm>
            <a:off x="731520" y="5193792"/>
            <a:ext cx="2651760" cy="0"/>
          </a:xfrm>
          <a:prstGeom prst="line">
            <a:avLst/>
          </a:prstGeom>
          <a:noFill/>
          <a:ln w="9525">
            <a:solidFill>
              <a:srgbClr val="E4DAD5"/>
            </a:solidFill>
            <a:prstDash val="solid"/>
          </a:ln>
        </p:spPr>
      </p:sp>
      <p:sp>
        <p:nvSpPr>
          <p:cNvPr id="29" name="Run-rate plan 2"/>
          <p:cNvSpPr txBox="1"/>
          <p:nvPr/>
        </p:nvSpPr>
        <p:spPr>
          <a:xfrm>
            <a:off x="731520" y="5230368"/>
            <a:ext cx="1280160" cy="310896"/>
          </a:xfrm>
          <a:prstGeom prst="rect">
            <a:avLst/>
          </a:prstGeom>
          <a:noFill/>
          <a:ln/>
        </p:spPr>
        <p:txBody>
          <a:bodyPr wrap="square" lIns="0" tIns="0" rIns="0" bIns="0" rtlCol="0" anchor="ctr"/>
          <a:lstStyle/>
          <a:p>
            <a:pPr algn="l" indent="0" marL="0">
              <a:buNone/>
            </a:pPr>
            <a:r>
              <a:rPr lang="en-US" sz="1200" dirty="0">
                <a:solidFill>
                  <a:schemeClr val="tx1"/>
                </a:solidFill>
              </a:rPr>
              <a:t>₹30L plan</a:t>
            </a:r>
            <a:endParaRPr lang="en-US" sz="1200" dirty="0"/>
          </a:p>
        </p:txBody>
      </p:sp>
      <p:sp>
        <p:nvSpPr>
          <p:cNvPr id="30" name="Run-rate value 2"/>
          <p:cNvSpPr txBox="1"/>
          <p:nvPr/>
        </p:nvSpPr>
        <p:spPr>
          <a:xfrm>
            <a:off x="2011680" y="5230368"/>
            <a:ext cx="1371600" cy="310896"/>
          </a:xfrm>
          <a:prstGeom prst="rect">
            <a:avLst/>
          </a:prstGeom>
          <a:noFill/>
          <a:ln/>
        </p:spPr>
        <p:txBody>
          <a:bodyPr wrap="square" lIns="0" tIns="0" rIns="0" bIns="0" rtlCol="0" anchor="ctr"/>
          <a:lstStyle/>
          <a:p>
            <a:pPr algn="r" indent="0" marL="0">
              <a:buNone/>
            </a:pPr>
            <a:r>
              <a:rPr lang="en-US" sz="1600" b="1" dirty="0">
                <a:solidFill>
                  <a:srgbClr val="A4513F"/>
                </a:solidFill>
                <a:latin typeface="+mj-lt" pitchFamily="34" charset="0"/>
                <a:ea typeface="+mj-lt" pitchFamily="34" charset="-122"/>
                <a:cs typeface="+mj-lt" pitchFamily="34" charset="-120"/>
              </a:rPr>
              <a:t>≈19,800</a:t>
            </a:r>
            <a:endParaRPr lang="en-US" sz="1600" dirty="0"/>
          </a:p>
        </p:txBody>
      </p:sp>
      <p:sp>
        <p:nvSpPr>
          <p:cNvPr id="31" name="Run-rate rule 2"/>
          <p:cNvSpPr/>
          <p:nvPr/>
        </p:nvSpPr>
        <p:spPr>
          <a:xfrm>
            <a:off x="731520" y="5577840"/>
            <a:ext cx="2651760" cy="0"/>
          </a:xfrm>
          <a:prstGeom prst="line">
            <a:avLst/>
          </a:prstGeom>
          <a:noFill/>
          <a:ln w="9525">
            <a:solidFill>
              <a:srgbClr val="E4DAD5"/>
            </a:solidFill>
            <a:prstDash val="solid"/>
          </a:ln>
        </p:spPr>
      </p:sp>
      <p:sp>
        <p:nvSpPr>
          <p:cNvPr id="32" name="Run-rate plan 3"/>
          <p:cNvSpPr txBox="1"/>
          <p:nvPr/>
        </p:nvSpPr>
        <p:spPr>
          <a:xfrm>
            <a:off x="731520" y="5614416"/>
            <a:ext cx="1280160" cy="310896"/>
          </a:xfrm>
          <a:prstGeom prst="rect">
            <a:avLst/>
          </a:prstGeom>
          <a:noFill/>
          <a:ln/>
        </p:spPr>
        <p:txBody>
          <a:bodyPr wrap="square" lIns="0" tIns="0" rIns="0" bIns="0" rtlCol="0" anchor="ctr"/>
          <a:lstStyle/>
          <a:p>
            <a:pPr algn="l" indent="0" marL="0">
              <a:buNone/>
            </a:pPr>
            <a:r>
              <a:rPr lang="en-US" sz="1200" dirty="0">
                <a:solidFill>
                  <a:schemeClr val="tx1"/>
                </a:solidFill>
              </a:rPr>
              <a:t>₹50L plan</a:t>
            </a:r>
            <a:endParaRPr lang="en-US" sz="1200" dirty="0"/>
          </a:p>
        </p:txBody>
      </p:sp>
      <p:sp>
        <p:nvSpPr>
          <p:cNvPr id="33" name="Run-rate value 3"/>
          <p:cNvSpPr txBox="1"/>
          <p:nvPr/>
        </p:nvSpPr>
        <p:spPr>
          <a:xfrm>
            <a:off x="2011680" y="5614416"/>
            <a:ext cx="1371600" cy="310896"/>
          </a:xfrm>
          <a:prstGeom prst="rect">
            <a:avLst/>
          </a:prstGeom>
          <a:noFill/>
          <a:ln/>
        </p:spPr>
        <p:txBody>
          <a:bodyPr wrap="square" lIns="0" tIns="0" rIns="0" bIns="0" rtlCol="0" anchor="ctr"/>
          <a:lstStyle/>
          <a:p>
            <a:pPr algn="r" indent="0" marL="0">
              <a:buNone/>
            </a:pPr>
            <a:r>
              <a:rPr lang="en-US" sz="1600" dirty="0">
                <a:solidFill>
                  <a:schemeClr val="tx2"/>
                </a:solidFill>
                <a:latin typeface="+mj-lt" pitchFamily="34" charset="0"/>
                <a:ea typeface="+mj-lt" pitchFamily="34" charset="-122"/>
                <a:cs typeface="+mj-lt" pitchFamily="34" charset="-120"/>
              </a:rPr>
              <a:t>≈35,900</a:t>
            </a:r>
            <a:endParaRPr lang="en-US" sz="1600" dirty="0"/>
          </a:p>
        </p:txBody>
      </p:sp>
      <p:sp>
        <p:nvSpPr>
          <p:cNvPr id="34" name="One-pager card"/>
          <p:cNvSpPr/>
          <p:nvPr/>
        </p:nvSpPr>
        <p:spPr>
          <a:xfrm>
            <a:off x="3840480" y="4343400"/>
            <a:ext cx="4556455" cy="1801368"/>
          </a:xfrm>
          <a:prstGeom prst="roundRect">
            <a:avLst>
              <a:gd name="adj" fmla="val 4061"/>
            </a:avLst>
          </a:prstGeom>
          <a:solidFill>
            <a:srgbClr val="F1EAE5"/>
          </a:solidFill>
          <a:ln/>
        </p:spPr>
      </p:sp>
      <p:sp>
        <p:nvSpPr>
          <p:cNvPr id="35" name="Label 2"/>
          <p:cNvSpPr txBox="1"/>
          <p:nvPr/>
        </p:nvSpPr>
        <p:spPr>
          <a:xfrm>
            <a:off x="4023360" y="4471416"/>
            <a:ext cx="2743200" cy="219456"/>
          </a:xfrm>
          <a:prstGeom prst="rect">
            <a:avLst/>
          </a:prstGeom>
          <a:noFill/>
          <a:ln/>
        </p:spPr>
        <p:txBody>
          <a:bodyPr wrap="square" lIns="0" tIns="0" rIns="0" bIns="0" rtlCol="0" anchor="ctr"/>
          <a:lstStyle/>
          <a:p>
            <a:pPr algn="l" indent="0" marL="0">
              <a:buNone/>
            </a:pPr>
            <a:r>
              <a:rPr lang="en-US" sz="1050" b="1" dirty="0">
                <a:solidFill>
                  <a:srgbClr val="A4513F"/>
                </a:solidFill>
              </a:rPr>
              <a:t>WEEKLY ONE-PAGER</a:t>
            </a:r>
            <a:endParaRPr lang="en-US" sz="1050" dirty="0"/>
          </a:p>
        </p:txBody>
      </p:sp>
      <p:sp>
        <p:nvSpPr>
          <p:cNvPr id="36" name="Badge RECOMMENDATION 2"/>
          <p:cNvSpPr txBox="1"/>
          <p:nvPr/>
        </p:nvSpPr>
        <p:spPr>
          <a:xfrm>
            <a:off x="6882638" y="4471416"/>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37" name="One-pager items"/>
          <p:cNvSpPr txBox="1"/>
          <p:nvPr/>
        </p:nvSpPr>
        <p:spPr>
          <a:xfrm>
            <a:off x="4023360" y="4764024"/>
            <a:ext cx="2049628" cy="1289304"/>
          </a:xfrm>
          <a:prstGeom prst="rect">
            <a:avLst/>
          </a:prstGeom>
          <a:noFill/>
          <a:ln/>
        </p:spPr>
        <p:txBody>
          <a:bodyPr wrap="square" lIns="0" tIns="0" rIns="0" bIns="0" rtlCol="0" anchor="t"/>
          <a:lstStyle/>
          <a:p>
            <a:pPr algn="l" marL="152400" indent="-152400">
              <a:spcAft>
                <a:spcPts val="200"/>
              </a:spcAft>
              <a:buSzPct val="100000"/>
              <a:buChar char="•"/>
            </a:pPr>
            <a:r>
              <a:rPr lang="en-US" sz="1150" dirty="0">
                <a:solidFill>
                  <a:schemeClr val="tx1"/>
                </a:solidFill>
              </a:rPr>
              <a:t>Leads by source</a:t>
            </a:r>
            <a:endParaRPr lang="en-US" sz="1150" dirty="0"/>
          </a:p>
          <a:p>
            <a:pPr algn="l" marL="152400" indent="-152400">
              <a:spcAft>
                <a:spcPts val="200"/>
              </a:spcAft>
              <a:buSzPct val="100000"/>
              <a:buChar char="•"/>
            </a:pPr>
            <a:r>
              <a:rPr lang="en-US" sz="1150" dirty="0">
                <a:solidFill>
                  <a:schemeClr val="tx1"/>
                </a:solidFill>
              </a:rPr>
              <a:t>Lead→QL by route</a:t>
            </a:r>
            <a:endParaRPr lang="en-US" sz="1150" dirty="0"/>
          </a:p>
          <a:p>
            <a:pPr algn="l" marL="152400" indent="-152400">
              <a:spcAft>
                <a:spcPts val="200"/>
              </a:spcAft>
              <a:buSzPct val="100000"/>
              <a:buChar char="•"/>
            </a:pPr>
            <a:r>
              <a:rPr lang="en-US" sz="1150" dirty="0">
                <a:solidFill>
                  <a:schemeClr val="tx1"/>
                </a:solidFill>
              </a:rPr>
              <a:t>First-response median and P90</a:t>
            </a:r>
            <a:endParaRPr lang="en-US" sz="1150" dirty="0"/>
          </a:p>
          <a:p>
            <a:pPr algn="l" marL="152400" indent="-152400">
              <a:spcAft>
                <a:spcPts val="200"/>
              </a:spcAft>
              <a:buSzPct val="100000"/>
              <a:buChar char="•"/>
            </a:pPr>
            <a:r>
              <a:rPr lang="en-US" sz="1150" dirty="0">
                <a:solidFill>
                  <a:schemeClr val="tx1"/>
                </a:solidFill>
              </a:rPr>
              <a:t>% contacted ≤1 h</a:t>
            </a:r>
            <a:endParaRPr lang="en-US" sz="1150" dirty="0"/>
          </a:p>
          <a:p>
            <a:pPr algn="l" marL="152400" indent="-152400">
              <a:buSzPct val="100000"/>
              <a:buChar char="•"/>
            </a:pPr>
            <a:r>
              <a:rPr lang="en-US" sz="1150" dirty="0">
                <a:solidFill>
                  <a:schemeClr val="tx1"/>
                </a:solidFill>
              </a:rPr>
              <a:t>Visits with parent present</a:t>
            </a:r>
            <a:endParaRPr lang="en-US" sz="1150" dirty="0"/>
          </a:p>
        </p:txBody>
      </p:sp>
      <p:sp>
        <p:nvSpPr>
          <p:cNvPr id="38" name="One-pager items 2"/>
          <p:cNvSpPr txBox="1"/>
          <p:nvPr/>
        </p:nvSpPr>
        <p:spPr>
          <a:xfrm>
            <a:off x="6164428" y="4764024"/>
            <a:ext cx="2049628" cy="1289304"/>
          </a:xfrm>
          <a:prstGeom prst="rect">
            <a:avLst/>
          </a:prstGeom>
          <a:noFill/>
          <a:ln/>
        </p:spPr>
        <p:txBody>
          <a:bodyPr wrap="square" lIns="0" tIns="0" rIns="0" bIns="0" rtlCol="0" anchor="t"/>
          <a:lstStyle/>
          <a:p>
            <a:pPr algn="l" marL="152400" indent="-152400">
              <a:spcAft>
                <a:spcPts val="200"/>
              </a:spcAft>
              <a:buSzPct val="100000"/>
              <a:buChar char="•"/>
            </a:pPr>
            <a:r>
              <a:rPr lang="en-US" sz="1150" dirty="0">
                <a:solidFill>
                  <a:schemeClr val="tx1"/>
                </a:solidFill>
              </a:rPr>
              <a:t>Cost per QL/enrolment by route</a:t>
            </a:r>
            <a:endParaRPr lang="en-US" sz="1150" dirty="0"/>
          </a:p>
          <a:p>
            <a:pPr algn="l" marL="152400" indent="-152400">
              <a:spcAft>
                <a:spcPts val="200"/>
              </a:spcAft>
              <a:buSzPct val="100000"/>
              <a:buChar char="•"/>
            </a:pPr>
            <a:r>
              <a:rPr lang="en-US" sz="1150" dirty="0">
                <a:solidFill>
                  <a:schemeClr val="tx1"/>
                </a:solidFill>
              </a:rPr>
              <a:t>Lost-reason Pareto</a:t>
            </a:r>
            <a:endParaRPr lang="en-US" sz="1150" dirty="0"/>
          </a:p>
          <a:p>
            <a:pPr algn="l" marL="152400" indent="-152400">
              <a:spcAft>
                <a:spcPts val="200"/>
              </a:spcAft>
              <a:buSzPct val="100000"/>
              <a:buChar char="•"/>
            </a:pPr>
            <a:r>
              <a:rPr lang="en-US" sz="1150" dirty="0">
                <a:solidFill>
                  <a:schemeClr val="tx1"/>
                </a:solidFill>
              </a:rPr>
              <a:t>Batch fill</a:t>
            </a:r>
            <a:endParaRPr lang="en-US" sz="1150" dirty="0"/>
          </a:p>
          <a:p>
            <a:pPr algn="l" marL="152400" indent="-152400">
              <a:spcAft>
                <a:spcPts val="200"/>
              </a:spcAft>
              <a:buSzPct val="100000"/>
              <a:buChar char="•"/>
            </a:pPr>
            <a:r>
              <a:rPr lang="en-US" sz="1150" dirty="0">
                <a:solidFill>
                  <a:schemeClr val="tx1"/>
                </a:solidFill>
              </a:rPr>
              <a:t>Reviews</a:t>
            </a:r>
            <a:endParaRPr lang="en-US" sz="1150" dirty="0"/>
          </a:p>
          <a:p>
            <a:pPr algn="l" marL="152400" indent="-152400">
              <a:buSzPct val="100000"/>
              <a:buChar char="•"/>
            </a:pPr>
            <a:r>
              <a:rPr lang="en-US" sz="1150" dirty="0">
                <a:solidFill>
                  <a:schemeClr val="tx1"/>
                </a:solidFill>
              </a:rPr>
              <a:t>SG1–SG5 and G0/G1 status</a:t>
            </a:r>
            <a:endParaRPr lang="en-US" sz="1150" dirty="0"/>
          </a:p>
        </p:txBody>
      </p:sp>
      <p:sp>
        <p:nvSpPr>
          <p:cNvPr id="39" name="Attribution card"/>
          <p:cNvSpPr/>
          <p:nvPr/>
        </p:nvSpPr>
        <p:spPr>
          <a:xfrm>
            <a:off x="8671255" y="4343400"/>
            <a:ext cx="2971800" cy="1801368"/>
          </a:xfrm>
          <a:prstGeom prst="roundRect">
            <a:avLst>
              <a:gd name="adj" fmla="val 4061"/>
            </a:avLst>
          </a:prstGeom>
          <a:solidFill>
            <a:srgbClr val="F2EAF0"/>
          </a:solidFill>
          <a:ln/>
        </p:spPr>
      </p:sp>
      <p:sp>
        <p:nvSpPr>
          <p:cNvPr id="40" name="Label 3"/>
          <p:cNvSpPr txBox="1"/>
          <p:nvPr/>
        </p:nvSpPr>
        <p:spPr>
          <a:xfrm>
            <a:off x="8854135" y="4471416"/>
            <a:ext cx="2606040" cy="219456"/>
          </a:xfrm>
          <a:prstGeom prst="rect">
            <a:avLst/>
          </a:prstGeom>
          <a:noFill/>
          <a:ln/>
        </p:spPr>
        <p:txBody>
          <a:bodyPr wrap="square" lIns="0" tIns="0" rIns="0" bIns="0" rtlCol="0" anchor="ctr"/>
          <a:lstStyle/>
          <a:p>
            <a:pPr algn="l" indent="0" marL="0">
              <a:buNone/>
            </a:pPr>
            <a:r>
              <a:rPr lang="en-US" sz="1050" b="1" dirty="0">
                <a:solidFill>
                  <a:srgbClr val="A4513F"/>
                </a:solidFill>
              </a:rPr>
              <a:t>ATTRIBUTION RULES</a:t>
            </a:r>
            <a:endParaRPr lang="en-US" sz="1050" dirty="0"/>
          </a:p>
        </p:txBody>
      </p:sp>
      <p:sp>
        <p:nvSpPr>
          <p:cNvPr id="41" name="Attribution text"/>
          <p:cNvSpPr txBox="1"/>
          <p:nvPr/>
        </p:nvSpPr>
        <p:spPr>
          <a:xfrm>
            <a:off x="8854135" y="4764024"/>
            <a:ext cx="2606040" cy="1289304"/>
          </a:xfrm>
          <a:prstGeom prst="rect">
            <a:avLst/>
          </a:prstGeom>
          <a:noFill/>
          <a:ln/>
        </p:spPr>
        <p:txBody>
          <a:bodyPr wrap="square" lIns="0" tIns="0" rIns="0" bIns="0" rtlCol="0" anchor="t"/>
          <a:lstStyle/>
          <a:p>
            <a:pPr algn="l" indent="0" marL="0">
              <a:buNone/>
            </a:pPr>
            <a:r>
              <a:rPr lang="en-US" sz="1150" dirty="0">
                <a:solidFill>
                  <a:schemeClr val="tx2"/>
                </a:solidFill>
              </a:rPr>
              <a:t>First touch drives CAC by route; last touch before QL drives optimisation. The CRM, not the ad platform, is the source of truth (reconciles with accounts ±5%; ≥95% of leads tagged).</a:t>
            </a:r>
            <a:endParaRPr lang="en-US" sz="11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ECONOMICS · CHANNEL FUNNEL</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Route-level media buys an enrolment for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5.9k; the budget we plan costs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11.7k</a:t>
            </a:r>
            <a:endParaRPr lang="en-US" sz="2800" dirty="0"/>
          </a:p>
        </p:txBody>
      </p:sp>
      <p:sp>
        <p:nvSpPr>
          <p:cNvPr id="4" name="Subtitle"/>
          <p:cNvSpPr txBox="1"/>
          <p:nvPr/>
        </p:nvSpPr>
        <p:spPr>
          <a:xfrm>
            <a:off x="548640" y="1531112"/>
            <a:ext cx="11094415" cy="253848"/>
          </a:xfrm>
          <a:prstGeom prst="rect">
            <a:avLst/>
          </a:prstGeom>
          <a:noFill/>
          <a:ln/>
        </p:spPr>
        <p:txBody>
          <a:bodyPr wrap="square" lIns="0" tIns="0" rIns="0" bIns="0" rtlCol="0" anchor="t"/>
          <a:lstStyle/>
          <a:p>
            <a:pPr algn="l" indent="0" marL="0">
              <a:buNone/>
            </a:pPr>
            <a:r>
              <a:rPr lang="en-US" sz="1400" dirty="0">
                <a:solidFill>
                  <a:srgbClr val="6B5F67"/>
                </a:solidFill>
              </a:rPr>
              <a:t>₹35k/month buys ten enrolments at Base rates; the plan spends ₹1.0L/month, reconciled by a calibration factor (2.42); the cost range is ~9x wide.</a:t>
            </a:r>
            <a:endParaRPr lang="en-US" sz="14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admissions_funnel.md §10.1–10.2 (Funnel_Base, funnel Summary); economics §1A (gate metrics), §1A.7 (A-ECO-51), §3 #4, #7; marketing_channel_plan.md §1 (3), §3.1; recommended_strategy.md §3 Q6</a:t>
            </a:r>
            <a:pPr algn="l" indent="0" marL="0">
              <a:buNone/>
            </a:pPr>
            <a:r>
              <a:rPr lang="en-US" sz="900" b="1" dirty="0">
                <a:solidFill>
                  <a:srgbClr val="6B5F67"/>
                </a:solidFill>
              </a:rPr>
              <a:t>   Note: </a:t>
            </a:r>
            <a:pPr algn="l" indent="0" marL="0">
              <a:buNone/>
            </a:pPr>
            <a:r>
              <a:rPr lang="en-US" sz="900" dirty="0">
                <a:solidFill>
                  <a:srgbClr val="6B5F67"/>
                </a:solidFill>
              </a:rPr>
              <a:t>₹ per steady-state month after G1; Year-1 months 7–12 for the gate KPIs. Route values ESTIMATE from HYPOTHESIS inputs.</a:t>
            </a:r>
            <a:endParaRPr lang="en-US" sz="900" dirty="0"/>
          </a:p>
        </p:txBody>
      </p:sp>
      <p:sp>
        <p:nvSpPr>
          <p:cNvPr id="7" name="Label"/>
          <p:cNvSpPr txBox="1"/>
          <p:nvPr/>
        </p:nvSpPr>
        <p:spPr>
          <a:xfrm>
            <a:off x="548640" y="1920240"/>
            <a:ext cx="2743200" cy="219456"/>
          </a:xfrm>
          <a:prstGeom prst="rect">
            <a:avLst/>
          </a:prstGeom>
          <a:noFill/>
          <a:ln/>
        </p:spPr>
        <p:txBody>
          <a:bodyPr wrap="square" lIns="0" tIns="0" rIns="0" bIns="0" rtlCol="0" anchor="ctr"/>
          <a:lstStyle/>
          <a:p>
            <a:pPr algn="l" indent="0" marL="0">
              <a:buNone/>
            </a:pPr>
            <a:r>
              <a:rPr lang="en-US" sz="1050" b="1" dirty="0">
                <a:solidFill>
                  <a:srgbClr val="A4513F"/>
                </a:solidFill>
              </a:rPr>
              <a:t>BY ROUTE, BASE MONTH</a:t>
            </a:r>
            <a:endParaRPr lang="en-US" sz="1050" dirty="0"/>
          </a:p>
        </p:txBody>
      </p:sp>
      <p:sp>
        <p:nvSpPr>
          <p:cNvPr id="8" name="Badge ESTIMATE"/>
          <p:cNvSpPr txBox="1"/>
          <p:nvPr/>
        </p:nvSpPr>
        <p:spPr>
          <a:xfrm>
            <a:off x="4772048" y="192024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Badge HYPOTHESIS"/>
          <p:cNvSpPr txBox="1"/>
          <p:nvPr/>
        </p:nvSpPr>
        <p:spPr>
          <a:xfrm>
            <a:off x="5624293" y="1920240"/>
            <a:ext cx="913667"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graphicFrame>
        <p:nvGraphicFramePr>
          <p:cNvPr id="18" name="Route table"/>
          <p:cNvGraphicFramePr>
            <a:graphicFrameLocks noGrp="1"/>
          </p:cNvGraphicFramePr>
          <p:nvPr>
            <p:extLst>
              <p:ext uri="{D42A27DB-BD31-4B8C-83A1-F6EECF244321}">
                <p14:modId xmlns:p14="http://schemas.microsoft.com/office/powerpoint/2010/main" val="1579011935"/>
              </p:ext>
            </p:extLst>
          </p:nvPr>
        </p:nvGraphicFramePr>
        <p:xfrm>
          <a:off x="548640" y="2212848"/>
          <a:ext cx="5989320" cy="914400"/>
        </p:xfrm>
        <a:graphic>
          <a:graphicData uri="http://schemas.openxmlformats.org/drawingml/2006/table">
            <a:tbl>
              <a:tblPr/>
              <a:tblGrid>
                <a:gridCol w="1497330"/>
                <a:gridCol w="1029414"/>
                <a:gridCol w="1076206"/>
                <a:gridCol w="2386370"/>
              </a:tblGrid>
              <a:tr h="289585">
                <a:tc>
                  <a:txBody>
                    <a:bodyPr/>
                    <a:lstStyle/>
                    <a:p>
                      <a:pPr algn="l" indent="0" marL="0">
                        <a:buNone/>
                      </a:pPr>
                      <a:r>
                        <a:rPr lang="en-US" sz="1100" b="1" dirty="0">
                          <a:solidFill>
                            <a:srgbClr val="FFFFFF"/>
                          </a:solidFill>
                        </a:rPr>
                        <a:t>Route</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r" indent="0" marL="0">
                        <a:buNone/>
                      </a:pPr>
                      <a:r>
                        <a:rPr lang="en-US" sz="1100" b="1" dirty="0">
                          <a:solidFill>
                            <a:srgbClr val="FFFFFF"/>
                          </a:solidFill>
                        </a:rPr>
                        <a:t>Leads</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r" indent="0" marL="0">
                        <a:buNone/>
                      </a:pPr>
                      <a:r>
                        <a:rPr lang="en-US" sz="1100" b="1" dirty="0">
                          <a:solidFill>
                            <a:srgbClr val="FFFFFF"/>
                          </a:solidFill>
                        </a:rPr>
                        <a:t>Cost per QL</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r" indent="0" marL="0">
                        <a:buNone/>
                      </a:pPr>
                      <a:r>
                        <a:rPr lang="en-US" sz="1100" b="1" dirty="0">
                          <a:solidFill>
                            <a:srgbClr val="FFFFFF"/>
                          </a:solidFill>
                        </a:rPr>
                        <a:t>Media CAC per enrolment</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289585">
                <a:tc>
                  <a:txBody>
                    <a:bodyPr/>
                    <a:lstStyle/>
                    <a:p>
                      <a:pPr algn="l" indent="0" marL="0">
                        <a:buNone/>
                      </a:pPr>
                      <a:r>
                        <a:rPr lang="en-US" sz="1100" b="1" dirty="0">
                          <a:solidFill>
                            <a:srgbClr val="2B2129"/>
                          </a:solidFill>
                        </a:rPr>
                        <a:t>Meta CTWA</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56.8</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₹750</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₹5,682</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89585">
                <a:tc>
                  <a:txBody>
                    <a:bodyPr/>
                    <a:lstStyle/>
                    <a:p>
                      <a:pPr algn="l" indent="0" marL="0">
                        <a:buNone/>
                      </a:pPr>
                      <a:r>
                        <a:rPr lang="en-US" sz="1100" b="1" dirty="0">
                          <a:solidFill>
                            <a:srgbClr val="2B2129"/>
                          </a:solidFill>
                        </a:rPr>
                        <a:t>Paid Search</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00" dirty="0">
                          <a:solidFill>
                            <a:srgbClr val="2B2129"/>
                          </a:solidFill>
                        </a:rPr>
                        <a:t>28.9</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00" dirty="0">
                          <a:solidFill>
                            <a:srgbClr val="2B2129"/>
                          </a:solidFill>
                        </a:rPr>
                        <a:t>₹1,111</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00" dirty="0">
                          <a:solidFill>
                            <a:srgbClr val="2B2129"/>
                          </a:solidFill>
                        </a:rPr>
                        <a:t>₹7,234</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89585">
                <a:tc>
                  <a:txBody>
                    <a:bodyPr/>
                    <a:lstStyle/>
                    <a:p>
                      <a:pPr algn="l" indent="0" marL="0">
                        <a:buNone/>
                      </a:pPr>
                      <a:r>
                        <a:rPr lang="en-US" sz="1100" b="1" dirty="0">
                          <a:solidFill>
                            <a:srgbClr val="2B2129"/>
                          </a:solidFill>
                        </a:rPr>
                        <a:t>Organic</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39.9</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₹0 media (fixed content cost)</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89585">
                <a:tc>
                  <a:txBody>
                    <a:bodyPr/>
                    <a:lstStyle/>
                    <a:p>
                      <a:pPr algn="l" indent="0" marL="0">
                        <a:buNone/>
                      </a:pPr>
                      <a:r>
                        <a:rPr lang="en-US" sz="1100" b="1" dirty="0">
                          <a:solidFill>
                            <a:srgbClr val="2B2129"/>
                          </a:solidFill>
                        </a:rPr>
                        <a:t>Referral</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00" dirty="0">
                          <a:solidFill>
                            <a:srgbClr val="2B2129"/>
                          </a:solidFill>
                        </a:rPr>
                        <a:t>8.0</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00" dirty="0">
                          <a:solidFill>
                            <a:srgbClr val="2B2129"/>
                          </a:solidFill>
                        </a:rPr>
                        <a:t>—</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00" dirty="0">
                          <a:solidFill>
                            <a:srgbClr val="2B2129"/>
                          </a:solidFill>
                        </a:rPr>
                        <a:t>₹3,000 reward</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89585">
                <a:tc>
                  <a:txBody>
                    <a:bodyPr/>
                    <a:lstStyle/>
                    <a:p>
                      <a:pPr algn="l" indent="0" marL="0">
                        <a:buNone/>
                      </a:pPr>
                      <a:r>
                        <a:rPr lang="en-US" sz="1100" b="1" dirty="0">
                          <a:solidFill>
                            <a:srgbClr val="2B2129"/>
                          </a:solidFill>
                        </a:rPr>
                        <a:t>Taster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9.4 tickets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₹400</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B2129"/>
                          </a:solidFill>
                        </a:rPr>
                        <a:t>₹3,752 (≈ −₹5.6k net of tickets)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89585">
                <a:tc>
                  <a:txBody>
                    <a:bodyPr/>
                    <a:lstStyle/>
                    <a:p>
                      <a:pPr algn="l" indent="0" marL="0">
                        <a:buNone/>
                      </a:pPr>
                      <a:r>
                        <a:rPr lang="en-US" sz="1100" b="1" dirty="0">
                          <a:solidFill>
                            <a:srgbClr val="2B2129"/>
                          </a:solidFill>
                        </a:rPr>
                        <a:t>Total</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r" indent="0" marL="0">
                        <a:buNone/>
                      </a:pPr>
                      <a:r>
                        <a:rPr lang="en-US" sz="1100" b="1" dirty="0">
                          <a:solidFill>
                            <a:srgbClr val="2B2129"/>
                          </a:solidFill>
                        </a:rPr>
                        <a:t>143</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r" indent="0" marL="0">
                        <a:buNone/>
                      </a:pPr>
                      <a:r>
                        <a:rPr lang="en-US" sz="1100" dirty="0">
                          <a:solidFill>
                            <a:srgbClr val="2B2129"/>
                          </a:solidFill>
                        </a:rPr>
                        <a:t>—</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r" indent="0" marL="0">
                        <a:buNone/>
                      </a:pPr>
                      <a:r>
                        <a:rPr lang="en-US" sz="1100" b="1" dirty="0">
                          <a:solidFill>
                            <a:srgbClr val="2B2129"/>
                          </a:solidFill>
                        </a:rPr>
                        <a:t>₹5,878 (6 paid)</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r>
            </a:tbl>
          </a:graphicData>
        </a:graphic>
      </p:graphicFrame>
      <p:sp>
        <p:nvSpPr>
          <p:cNvPr id="11" name="Reconciliation card"/>
          <p:cNvSpPr/>
          <p:nvPr/>
        </p:nvSpPr>
        <p:spPr>
          <a:xfrm>
            <a:off x="548640" y="4386250"/>
            <a:ext cx="5989320" cy="1191590"/>
          </a:xfrm>
          <a:prstGeom prst="roundRect">
            <a:avLst>
              <a:gd name="adj" fmla="val 6139"/>
            </a:avLst>
          </a:prstGeom>
          <a:solidFill>
            <a:srgbClr val="F8EBD4"/>
          </a:solidFill>
          <a:ln/>
        </p:spPr>
      </p:sp>
      <p:sp>
        <p:nvSpPr>
          <p:cNvPr id="12" name="Reconciliation text"/>
          <p:cNvSpPr txBox="1"/>
          <p:nvPr/>
        </p:nvSpPr>
        <p:spPr>
          <a:xfrm>
            <a:off x="694944" y="4459402"/>
            <a:ext cx="5696712" cy="1063574"/>
          </a:xfrm>
          <a:prstGeom prst="rect">
            <a:avLst/>
          </a:prstGeom>
          <a:noFill/>
          <a:ln/>
        </p:spPr>
        <p:txBody>
          <a:bodyPr wrap="square" lIns="0" tIns="0" rIns="0" bIns="0" rtlCol="0" anchor="t"/>
          <a:lstStyle/>
          <a:p>
            <a:pPr algn="l" marL="152400" indent="-152400">
              <a:spcAft>
                <a:spcPts val="300"/>
              </a:spcAft>
              <a:buSzPct val="100000"/>
              <a:buChar char="•"/>
            </a:pPr>
            <a:r>
              <a:rPr lang="en-US" sz="1050" dirty="0">
                <a:solidFill>
                  <a:srgbClr val="7A4B0C"/>
                </a:solidFill>
              </a:rPr>
              <a:t>The planned ₹1.0L/month is </a:t>
            </a:r>
            <a:pPr algn="l" indent="0" marL="0">
              <a:buNone/>
            </a:pPr>
            <a:r>
              <a:rPr lang="en-US" sz="1050" b="1" dirty="0">
                <a:solidFill>
                  <a:srgbClr val="7A4B0C"/>
                </a:solidFill>
              </a:rPr>
              <a:t>≈1.9x</a:t>
            </a:r>
            <a:pPr algn="l" indent="0" marL="0">
              <a:buNone/>
            </a:pPr>
            <a:r>
              <a:rPr lang="en-US" sz="1050" dirty="0">
                <a:solidFill>
                  <a:srgbClr val="7A4B0C"/>
                </a:solidFill>
              </a:rPr>
              <a:t> what the route maths needs (</a:t>
            </a:r>
            <a:pPr algn="l" indent="0" marL="0">
              <a:buNone/>
            </a:pPr>
            <a:r>
              <a:rPr lang="en-US" sz="1050" b="1" dirty="0">
                <a:solidFill>
                  <a:srgbClr val="7A4B0C"/>
                </a:solidFill>
              </a:rPr>
              <a:t>₹37.6k</a:t>
            </a:r>
            <a:pPr algn="l" indent="0" marL="0">
              <a:buNone/>
            </a:pPr>
            <a:r>
              <a:rPr lang="en-US" sz="1050" dirty="0">
                <a:solidFill>
                  <a:srgbClr val="7A4B0C"/>
                </a:solidFill>
              </a:rPr>
              <a:t>); the gap is awareness, retargeting and brand spend, reconciled in the model by </a:t>
            </a:r>
            <a:pPr algn="l" indent="0" marL="0">
              <a:buNone/>
            </a:pPr>
            <a:r>
              <a:rPr lang="en-US" sz="1050" b="1" dirty="0">
                <a:solidFill>
                  <a:srgbClr val="7A4B0C"/>
                </a:solidFill>
              </a:rPr>
              <a:t>A-ECO-51 = 2.42</a:t>
            </a:r>
            <a:pPr algn="l" indent="0" marL="0">
              <a:buNone/>
            </a:pPr>
            <a:r>
              <a:rPr lang="en-US" sz="1050" dirty="0">
                <a:solidFill>
                  <a:srgbClr val="7A4B0C"/>
                </a:solidFill>
              </a:rPr>
              <a:t>, not by evidence.</a:t>
            </a:r>
            <a:endParaRPr lang="en-US" sz="1050" dirty="0"/>
          </a:p>
          <a:p>
            <a:pPr algn="l" marL="152400" indent="-152400">
              <a:spcAft>
                <a:spcPts val="300"/>
              </a:spcAft>
              <a:buSzPct val="100000"/>
              <a:buChar char="•"/>
            </a:pPr>
            <a:r>
              <a:rPr lang="en-US" sz="1050" dirty="0">
                <a:solidFill>
                  <a:srgbClr val="7A4B0C"/>
                </a:solidFill>
              </a:rPr>
              <a:t>Months 7–12: effective media CAC </a:t>
            </a:r>
            <a:pPr algn="l" indent="0" marL="0">
              <a:buNone/>
            </a:pPr>
            <a:r>
              <a:rPr lang="en-US" sz="1050" b="1" dirty="0">
                <a:solidFill>
                  <a:srgbClr val="7A4B0C"/>
                </a:solidFill>
              </a:rPr>
              <a:t>₹11.7k (SG4 amber)</a:t>
            </a:r>
            <a:pPr algn="l" indent="0" marL="0">
              <a:buNone/>
            </a:pPr>
            <a:r>
              <a:rPr lang="en-US" sz="1050" dirty="0">
                <a:solidFill>
                  <a:srgbClr val="7A4B0C"/>
                </a:solidFill>
              </a:rPr>
              <a:t>; fully loaded acquisition </a:t>
            </a:r>
            <a:pPr algn="l" indent="0" marL="0">
              <a:buNone/>
            </a:pPr>
            <a:r>
              <a:rPr lang="en-US" sz="1050" b="1" dirty="0">
                <a:solidFill>
                  <a:srgbClr val="7A4B0C"/>
                </a:solidFill>
              </a:rPr>
              <a:t>53% of career revenue (red)</a:t>
            </a:r>
            <a:pPr algn="l" indent="0" marL="0">
              <a:buNone/>
            </a:pPr>
            <a:r>
              <a:rPr lang="en-US" sz="1050" dirty="0">
                <a:solidFill>
                  <a:srgbClr val="7A4B0C"/>
                </a:solidFill>
              </a:rPr>
              <a:t>.</a:t>
            </a:r>
            <a:endParaRPr lang="en-US" sz="1050" dirty="0"/>
          </a:p>
          <a:p>
            <a:pPr algn="l" marL="152400" indent="-152400">
              <a:buSzPct val="100000"/>
              <a:buChar char="•"/>
            </a:pPr>
            <a:r>
              <a:rPr lang="en-US" sz="1050" dirty="0">
                <a:solidFill>
                  <a:srgbClr val="7A4B0C"/>
                </a:solidFill>
              </a:rPr>
              <a:t>The Q4 ramp is not pre-approved: at G1 the founder accepts the 53% reading or a </a:t>
            </a:r>
            <a:pPr algn="l" indent="0" marL="0">
              <a:buNone/>
            </a:pPr>
            <a:r>
              <a:rPr lang="en-US" sz="1050" b="1" dirty="0">
                <a:solidFill>
                  <a:srgbClr val="7A4B0C"/>
                </a:solidFill>
              </a:rPr>
              <a:t>₹70k/month</a:t>
            </a:r>
            <a:pPr algn="l" indent="0" marL="0">
              <a:buNone/>
            </a:pPr>
            <a:r>
              <a:rPr lang="en-US" sz="1050" dirty="0">
                <a:solidFill>
                  <a:srgbClr val="7A4B0C"/>
                </a:solidFill>
              </a:rPr>
              <a:t> steady state (≈7 fewer enrolments, −₹0.5L EBITDA).</a:t>
            </a:r>
            <a:endParaRPr lang="en-US" sz="1050" dirty="0"/>
          </a:p>
        </p:txBody>
      </p:sp>
      <p:sp>
        <p:nvSpPr>
          <p:cNvPr id="13" name="Chart card"/>
          <p:cNvSpPr/>
          <p:nvPr/>
        </p:nvSpPr>
        <p:spPr>
          <a:xfrm>
            <a:off x="6812280" y="1920240"/>
            <a:ext cx="4830775" cy="3657600"/>
          </a:xfrm>
          <a:prstGeom prst="roundRect">
            <a:avLst>
              <a:gd name="adj" fmla="val 2000"/>
            </a:avLst>
          </a:prstGeom>
          <a:solidFill>
            <a:schemeClr val="bg1"/>
          </a:solidFill>
          <a:ln w="9525">
            <a:solidFill>
              <a:srgbClr val="E4DAD5"/>
            </a:solidFill>
            <a:prstDash val="solid"/>
          </a:ln>
        </p:spPr>
      </p:sp>
      <p:sp>
        <p:nvSpPr>
          <p:cNvPr id="14" name="Badge ESTIMATE 2"/>
          <p:cNvSpPr txBox="1"/>
          <p:nvPr/>
        </p:nvSpPr>
        <p:spPr>
          <a:xfrm>
            <a:off x="10699370" y="20848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5" name="Chart title"/>
          <p:cNvSpPr txBox="1"/>
          <p:nvPr/>
        </p:nvSpPr>
        <p:spPr>
          <a:xfrm>
            <a:off x="6976872" y="2084832"/>
            <a:ext cx="3612770" cy="406273"/>
          </a:xfrm>
          <a:prstGeom prst="rect">
            <a:avLst/>
          </a:prstGeom>
          <a:noFill/>
          <a:ln/>
        </p:spPr>
        <p:txBody>
          <a:bodyPr wrap="square" lIns="0" tIns="0" rIns="0" bIns="0" rtlCol="0" anchor="t"/>
          <a:lstStyle/>
          <a:p>
            <a:pPr algn="l" indent="0" marL="0">
              <a:buNone/>
            </a:pPr>
            <a:r>
              <a:rPr lang="en-US" sz="1250" b="1" dirty="0">
                <a:solidFill>
                  <a:schemeClr val="tx1"/>
                </a:solidFill>
              </a:rPr>
              <a:t>Media CAC per paid enrolment, ₹ thousand, same 10 enrolments</a:t>
            </a:r>
            <a:endParaRPr lang="en-US" sz="1250" dirty="0"/>
          </a:p>
        </p:txBody>
      </p:sp>
      <p:graphicFrame>
        <p:nvGraphicFramePr>
          <p:cNvPr id="16" name="CAC chart" descr="Media CAC per paid enrolment, ₹ thousand, same 10 enrolments"/>
          <p:cNvGraphicFramePr/>
          <p:nvPr/>
        </p:nvGraphicFramePr>
        <p:xfrm>
          <a:off x="6894576" y="2536825"/>
          <a:ext cx="4666183" cy="2135759"/>
        </p:xfrm>
        <a:graphic xmlns:a="http://schemas.openxmlformats.org/drawingml/2006/main">
          <a:graphicData uri="http://schemas.openxmlformats.org/drawingml/2006/chart">
            <c:chart xmlns:c="http://schemas.openxmlformats.org/drawingml/2006/chart" r:id="rId1"/>
          </a:graphicData>
        </a:graphic>
      </p:graphicFrame>
      <p:sp>
        <p:nvSpPr>
          <p:cNvPr id="17" name="CAC line label"/>
          <p:cNvSpPr txBox="1"/>
          <p:nvPr/>
        </p:nvSpPr>
        <p:spPr>
          <a:xfrm>
            <a:off x="6986016" y="3152701"/>
            <a:ext cx="2706386" cy="347472"/>
          </a:xfrm>
          <a:prstGeom prst="rect">
            <a:avLst/>
          </a:prstGeom>
          <a:noFill/>
          <a:ln/>
        </p:spPr>
        <p:txBody>
          <a:bodyPr wrap="square" lIns="0" tIns="0" rIns="0" bIns="0" rtlCol="0" anchor="b"/>
          <a:lstStyle/>
          <a:p>
            <a:pPr algn="l" indent="0" marL="0">
              <a:buNone/>
            </a:pPr>
            <a:r>
              <a:rPr lang="en-US" sz="1000" b="1" dirty="0">
                <a:solidFill>
                  <a:srgbClr val="7A4B0C"/>
                </a:solidFill>
              </a:rPr>
              <a:t>Planning case effective CAC ₹11.7k (× 2.42 calibration)</a:t>
            </a:r>
            <a:endParaRPr lang="en-US" sz="1000" dirty="0"/>
          </a:p>
        </p:txBody>
      </p:sp>
      <p:sp>
        <p:nvSpPr>
          <p:cNvPr id="18" name="SG4 bands"/>
          <p:cNvSpPr txBox="1"/>
          <p:nvPr/>
        </p:nvSpPr>
        <p:spPr>
          <a:xfrm>
            <a:off x="6976872" y="4709160"/>
            <a:ext cx="4501591" cy="201168"/>
          </a:xfrm>
          <a:prstGeom prst="rect">
            <a:avLst/>
          </a:prstGeom>
          <a:noFill/>
          <a:ln/>
        </p:spPr>
        <p:txBody>
          <a:bodyPr wrap="square" lIns="0" tIns="0" rIns="0" bIns="0" rtlCol="0" anchor="t"/>
          <a:lstStyle/>
          <a:p>
            <a:pPr algn="l" indent="0" marL="0">
              <a:buNone/>
            </a:pPr>
            <a:r>
              <a:rPr lang="en-US" sz="1000" b="1" dirty="0">
                <a:solidFill>
                  <a:srgbClr val="6B5F67"/>
                </a:solidFill>
              </a:rPr>
              <a:t>SG4 bands: green ≤9k · amber 9–12k · red &gt;12k</a:t>
            </a:r>
            <a:endParaRPr lang="en-US" sz="1000" dirty="0"/>
          </a:p>
        </p:txBody>
      </p:sp>
      <p:sp>
        <p:nvSpPr>
          <p:cNvPr id="19" name="Rate-set detail"/>
          <p:cNvSpPr txBox="1"/>
          <p:nvPr/>
        </p:nvSpPr>
        <p:spPr>
          <a:xfrm>
            <a:off x="6976872" y="4937760"/>
            <a:ext cx="4501591" cy="566928"/>
          </a:xfrm>
          <a:prstGeom prst="rect">
            <a:avLst/>
          </a:prstGeom>
          <a:noFill/>
          <a:ln/>
        </p:spPr>
        <p:txBody>
          <a:bodyPr wrap="square" lIns="0" tIns="0" rIns="0" bIns="0" rtlCol="0" anchor="t"/>
          <a:lstStyle/>
          <a:p>
            <a:pPr algn="l" indent="0" marL="0">
              <a:buNone/>
            </a:pPr>
            <a:r>
              <a:rPr lang="en-US" sz="1000" dirty="0">
                <a:solidFill>
                  <a:srgbClr val="6B5F67"/>
                </a:solidFill>
              </a:rPr>
              <a:t>Base: 143 leads, ₹35,265 media + ₹6,000 rewards, ₹5,878. Conservative: ≈257 leads, ≈₹1.1L media, ≈₹18,450. Aggressive: ≈89 leads, ≈₹12.5k, ≈₹2,080.</a:t>
            </a:r>
            <a:endParaRPr lang="en-US" sz="1000" dirty="0"/>
          </a:p>
        </p:txBody>
      </p:sp>
      <p:sp>
        <p:nvSpPr>
          <p:cNvPr id="20" name="Split strip"/>
          <p:cNvSpPr/>
          <p:nvPr/>
        </p:nvSpPr>
        <p:spPr>
          <a:xfrm>
            <a:off x="548640" y="5705856"/>
            <a:ext cx="11094415" cy="438912"/>
          </a:xfrm>
          <a:prstGeom prst="roundRect">
            <a:avLst>
              <a:gd name="adj" fmla="val 16667"/>
            </a:avLst>
          </a:prstGeom>
          <a:solidFill>
            <a:srgbClr val="F1EAE5"/>
          </a:solidFill>
          <a:ln/>
        </p:spPr>
      </p:sp>
      <p:sp>
        <p:nvSpPr>
          <p:cNvPr id="21" name="Split text"/>
          <p:cNvSpPr txBox="1"/>
          <p:nvPr/>
        </p:nvSpPr>
        <p:spPr>
          <a:xfrm>
            <a:off x="731520" y="5705856"/>
            <a:ext cx="10728655" cy="438912"/>
          </a:xfrm>
          <a:prstGeom prst="rect">
            <a:avLst/>
          </a:prstGeom>
          <a:noFill/>
          <a:ln/>
        </p:spPr>
        <p:txBody>
          <a:bodyPr wrap="square" lIns="0" tIns="0" rIns="0" bIns="0" rtlCol="0" anchor="ctr"/>
          <a:lstStyle/>
          <a:p>
            <a:pPr algn="l" indent="0" marL="0">
              <a:buNone/>
            </a:pPr>
            <a:r>
              <a:rPr lang="en-US" sz="1150" b="1" dirty="0">
                <a:solidFill>
                  <a:schemeClr val="tx1"/>
                </a:solidFill>
              </a:rPr>
              <a:t>Steady-state ₹1.0L/month:</a:t>
            </a:r>
            <a:pPr algn="l" indent="0" marL="0">
              <a:buNone/>
            </a:pPr>
            <a:r>
              <a:rPr lang="en-US" sz="1150" dirty="0">
                <a:solidFill>
                  <a:schemeClr val="tx1"/>
                </a:solidFill>
              </a:rPr>
              <a:t> Meta career CTWA ₹32k  ·  Workshops ₹15k  ·  Masterclass launches ₹8k  ·  Proof &amp; retargeting ₹18k  ·  Google Search ₹22k  ·  Test reserve ₹5k</a:t>
            </a:r>
            <a:endParaRPr lang="en-US" sz="11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ECONOMICS · PROGRAMME UNIT ECONOMICS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At today's fee a batch needs 8 of 12 seats to break even; at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90k list, 3.6</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Price realisation is the economic hinge: seat contribution rises from ₹22.2k to ₹50.4k across the price path; the business breaks even at ≈7.8 career enrolments a month on the month-12 cost base.</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§1B rows 10–14, §1C #2, §1A (break-even, GST), §5 #1, #2, #6; recommended_strategy.md §3 Q7 table</a:t>
            </a:r>
            <a:pPr algn="l" indent="0" marL="0">
              <a:buNone/>
            </a:pPr>
            <a:r>
              <a:rPr lang="en-US" sz="900" b="1" dirty="0">
                <a:solidFill>
                  <a:srgbClr val="6B5F67"/>
                </a:solidFill>
              </a:rPr>
              <a:t>   Note: </a:t>
            </a:r>
            <a:pPr algn="l" indent="0" marL="0">
              <a:buNone/>
            </a:pPr>
            <a:r>
              <a:rPr lang="en-US" sz="900" dirty="0">
                <a:solidFill>
                  <a:srgbClr val="6B5F67"/>
                </a:solidFill>
              </a:rPr>
              <a:t>₹ per student / per month, Base rates, ex-GST unless stated. All seat and cohort figures: ESTIMATE (Unit_Economics).</a:t>
            </a:r>
            <a:endParaRPr lang="en-US" sz="900" dirty="0"/>
          </a:p>
        </p:txBody>
      </p:sp>
      <p:sp>
        <p:nvSpPr>
          <p:cNvPr id="7" name="Chart card"/>
          <p:cNvSpPr/>
          <p:nvPr/>
        </p:nvSpPr>
        <p:spPr>
          <a:xfrm>
            <a:off x="548640" y="1920240"/>
            <a:ext cx="6126480" cy="2267712"/>
          </a:xfrm>
          <a:prstGeom prst="roundRect">
            <a:avLst>
              <a:gd name="adj" fmla="val 3226"/>
            </a:avLst>
          </a:prstGeom>
          <a:solidFill>
            <a:schemeClr val="bg1"/>
          </a:solidFill>
          <a:ln w="9525">
            <a:solidFill>
              <a:srgbClr val="E4DAD5"/>
            </a:solidFill>
            <a:prstDash val="solid"/>
          </a:ln>
        </p:spPr>
      </p:sp>
      <p:sp>
        <p:nvSpPr>
          <p:cNvPr id="8" name="Badge ESTIMATE"/>
          <p:cNvSpPr txBox="1"/>
          <p:nvPr/>
        </p:nvSpPr>
        <p:spPr>
          <a:xfrm>
            <a:off x="5731435" y="20848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Chart title"/>
          <p:cNvSpPr txBox="1"/>
          <p:nvPr/>
        </p:nvSpPr>
        <p:spPr>
          <a:xfrm>
            <a:off x="713232" y="2084832"/>
            <a:ext cx="4908475" cy="212281"/>
          </a:xfrm>
          <a:prstGeom prst="rect">
            <a:avLst/>
          </a:prstGeom>
          <a:noFill/>
          <a:ln/>
        </p:spPr>
        <p:txBody>
          <a:bodyPr wrap="square" lIns="0" tIns="0" rIns="0" bIns="0" rtlCol="0" anchor="t"/>
          <a:lstStyle/>
          <a:p>
            <a:pPr algn="l" indent="0" marL="0">
              <a:buNone/>
            </a:pPr>
            <a:r>
              <a:rPr lang="en-US" sz="1250" b="1" dirty="0">
                <a:solidFill>
                  <a:schemeClr val="tx1"/>
                </a:solidFill>
              </a:rPr>
              <a:t>L3 seat economics, ₹ thousand per student</a:t>
            </a:r>
            <a:endParaRPr lang="en-US" sz="1250" dirty="0"/>
          </a:p>
        </p:txBody>
      </p:sp>
      <p:graphicFrame>
        <p:nvGraphicFramePr>
          <p:cNvPr id="10" name="Seat economics chart" descr="Seat economics chart"/>
          <p:cNvGraphicFramePr/>
          <p:nvPr/>
        </p:nvGraphicFramePr>
        <p:xfrm>
          <a:off x="630936" y="2368296"/>
          <a:ext cx="5961888" cy="1737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Seat table"/>
          <p:cNvGraphicFramePr>
            <a:graphicFrameLocks noGrp="1"/>
          </p:cNvGraphicFramePr>
          <p:nvPr>
            <p:extLst>
              <p:ext uri="{D42A27DB-BD31-4B8C-83A1-F6EECF244321}">
                <p14:modId xmlns:p14="http://schemas.microsoft.com/office/powerpoint/2010/main" val="1579011935"/>
              </p:ext>
            </p:extLst>
          </p:nvPr>
        </p:nvGraphicFramePr>
        <p:xfrm>
          <a:off x="548640" y="4297680"/>
          <a:ext cx="6126480" cy="914400"/>
        </p:xfrm>
        <a:graphic>
          <a:graphicData uri="http://schemas.openxmlformats.org/drawingml/2006/table">
            <a:tbl>
              <a:tblPr/>
              <a:tblGrid>
                <a:gridCol w="1856509"/>
                <a:gridCol w="1438795"/>
                <a:gridCol w="1299556"/>
                <a:gridCol w="1531620"/>
              </a:tblGrid>
              <a:tr h="281826">
                <a:tc>
                  <a:txBody>
                    <a:bodyPr/>
                    <a:lstStyle/>
                    <a:p>
                      <a:pPr algn="l" indent="0" marL="0">
                        <a:buNone/>
                      </a:pPr>
                      <a:endParaRPr lang="en-US" sz="10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50" b="1" dirty="0">
                          <a:solidFill>
                            <a:srgbClr val="FFFFFF"/>
                          </a:solidFill>
                        </a:rPr>
                        <a:t>Today</a:t>
                      </a:r>
                      <a:endParaRPr lang="en-US" sz="10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50" b="1" dirty="0">
                          <a:solidFill>
                            <a:srgbClr val="FFFFFF"/>
                          </a:solidFill>
                        </a:rPr>
                        <a:t>Step 1</a:t>
                      </a:r>
                      <a:endParaRPr lang="en-US" sz="10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50" b="1" dirty="0">
                          <a:solidFill>
                            <a:srgbClr val="FFFFFF"/>
                          </a:solidFill>
                        </a:rPr>
                        <a:t>Step 2</a:t>
                      </a:r>
                      <a:endParaRPr lang="en-US" sz="10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444779">
                <a:tc>
                  <a:txBody>
                    <a:bodyPr/>
                    <a:lstStyle/>
                    <a:p>
                      <a:pPr algn="l" indent="0" marL="0">
                        <a:buNone/>
                      </a:pPr>
                      <a:r>
                        <a:rPr lang="en-US" sz="1050" b="1" dirty="0">
                          <a:solidFill>
                            <a:srgbClr val="2B2129"/>
                          </a:solidFill>
                        </a:rPr>
                        <a:t>Realised price</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129"/>
                          </a:solidFill>
                        </a:rPr>
                        <a:t>₹60k incl. kit</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129"/>
                          </a:solidFill>
                        </a:rPr>
                        <a:t>₹66.7k realised</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129"/>
                          </a:solidFill>
                        </a:rPr>
                        <a:t>₹80k realised (₹67.8k ex-GST)</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81826">
                <a:tc>
                  <a:txBody>
                    <a:bodyPr/>
                    <a:lstStyle/>
                    <a:p>
                      <a:pPr algn="l" indent="0" marL="0">
                        <a:buNone/>
                      </a:pPr>
                      <a:r>
                        <a:rPr lang="en-US" sz="1050" b="1" dirty="0">
                          <a:solidFill>
                            <a:srgbClr val="2B2129"/>
                          </a:solidFill>
                        </a:rPr>
                        <a:t>Contribution margin</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50" dirty="0">
                          <a:solidFill>
                            <a:srgbClr val="2B2129"/>
                          </a:solidFill>
                        </a:rPr>
                        <a:t>44%</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50" dirty="0">
                          <a:solidFill>
                            <a:srgbClr val="2B2129"/>
                          </a:solidFill>
                        </a:rPr>
                        <a:t>—</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50" dirty="0">
                          <a:solidFill>
                            <a:srgbClr val="2B2129"/>
                          </a:solidFill>
                        </a:rPr>
                        <a:t>74%</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81826">
                <a:tc>
                  <a:txBody>
                    <a:bodyPr/>
                    <a:lstStyle/>
                    <a:p>
                      <a:pPr algn="l" indent="0" marL="0">
                        <a:buNone/>
                      </a:pPr>
                      <a:r>
                        <a:rPr lang="en-US" sz="1050" b="1" dirty="0">
                          <a:solidFill>
                            <a:srgbClr val="2B2129"/>
                          </a:solidFill>
                        </a:rPr>
                        <a:t>Cohort break-even fill</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129"/>
                          </a:solidFill>
                        </a:rPr>
                        <a:t>67% (8 of 12)</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129"/>
                          </a:solidFill>
                        </a:rPr>
                        <a:t>38%</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129"/>
                          </a:solidFill>
                        </a:rPr>
                        <a:t>30% (3.6 of 12)</a:t>
                      </a:r>
                      <a:endParaRPr lang="en-US" sz="10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bl>
          </a:graphicData>
        </a:graphic>
      </p:graphicFrame>
      <p:sp>
        <p:nvSpPr>
          <p:cNvPr id="12" name="Stat card"/>
          <p:cNvSpPr/>
          <p:nvPr/>
        </p:nvSpPr>
        <p:spPr>
          <a:xfrm>
            <a:off x="6949440" y="1920240"/>
            <a:ext cx="4693615" cy="1152144"/>
          </a:xfrm>
          <a:prstGeom prst="roundRect">
            <a:avLst>
              <a:gd name="adj" fmla="val 6349"/>
            </a:avLst>
          </a:prstGeom>
          <a:solidFill>
            <a:schemeClr val="tx2"/>
          </a:solidFill>
          <a:ln/>
        </p:spPr>
      </p:sp>
      <p:sp>
        <p:nvSpPr>
          <p:cNvPr id="13" name="Stat value"/>
          <p:cNvSpPr txBox="1"/>
          <p:nvPr/>
        </p:nvSpPr>
        <p:spPr>
          <a:xfrm>
            <a:off x="7132320" y="2011680"/>
            <a:ext cx="1325880" cy="969264"/>
          </a:xfrm>
          <a:prstGeom prst="rect">
            <a:avLst/>
          </a:prstGeom>
          <a:noFill/>
          <a:ln/>
        </p:spPr>
        <p:txBody>
          <a:bodyPr wrap="square" lIns="0" tIns="0" rIns="0" bIns="0" rtlCol="0" anchor="ctr"/>
          <a:lstStyle/>
          <a:p>
            <a:pPr indent="0" marL="0">
              <a:buNone/>
            </a:pPr>
            <a:r>
              <a:rPr lang="en-US" sz="2800" dirty="0">
                <a:solidFill>
                  <a:srgbClr val="FFFFFF"/>
                </a:solidFill>
                <a:latin typeface="+mj-lt" pitchFamily="34" charset="0"/>
                <a:ea typeface="+mj-lt" pitchFamily="34" charset="-122"/>
                <a:cs typeface="+mj-lt" pitchFamily="34" charset="-120"/>
              </a:rPr>
              <a:t>7.8</a:t>
            </a:r>
            <a:pPr indent="0" marL="0">
              <a:buNone/>
            </a:pPr>
            <a:r>
              <a:rPr lang="en-US" sz="1300" dirty="0">
                <a:solidFill>
                  <a:srgbClr val="E7A995"/>
                </a:solidFill>
                <a:latin typeface="+mn-lt" pitchFamily="34" charset="0"/>
                <a:ea typeface="+mn-lt" pitchFamily="34" charset="-122"/>
                <a:cs typeface="+mn-lt" pitchFamily="34" charset="-120"/>
              </a:rPr>
              <a:t>/month</a:t>
            </a:r>
            <a:endParaRPr lang="en-US" sz="2800" dirty="0"/>
          </a:p>
        </p:txBody>
      </p:sp>
      <p:sp>
        <p:nvSpPr>
          <p:cNvPr id="14" name="Stat label"/>
          <p:cNvSpPr txBox="1"/>
          <p:nvPr/>
        </p:nvSpPr>
        <p:spPr>
          <a:xfrm>
            <a:off x="8549640" y="2029968"/>
            <a:ext cx="2040002" cy="237744"/>
          </a:xfrm>
          <a:prstGeom prst="rect">
            <a:avLst/>
          </a:prstGeom>
          <a:noFill/>
          <a:ln/>
        </p:spPr>
        <p:txBody>
          <a:bodyPr wrap="square" lIns="0" tIns="0" rIns="0" bIns="0" rtlCol="0" anchor="t"/>
          <a:lstStyle/>
          <a:p>
            <a:pPr algn="l" indent="0" marL="0">
              <a:buNone/>
            </a:pPr>
            <a:r>
              <a:rPr lang="en-US" sz="1200" b="1" dirty="0">
                <a:solidFill>
                  <a:schemeClr val="bg1"/>
                </a:solidFill>
              </a:rPr>
              <a:t>Break-even career enrolments</a:t>
            </a:r>
            <a:endParaRPr lang="en-US" sz="1200" dirty="0"/>
          </a:p>
        </p:txBody>
      </p:sp>
      <p:sp>
        <p:nvSpPr>
          <p:cNvPr id="15" name="Badge ESTIMATE 2"/>
          <p:cNvSpPr txBox="1"/>
          <p:nvPr/>
        </p:nvSpPr>
        <p:spPr>
          <a:xfrm>
            <a:off x="10681082" y="2029968"/>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6" name="Stat text"/>
          <p:cNvSpPr txBox="1"/>
          <p:nvPr/>
        </p:nvSpPr>
        <p:spPr>
          <a:xfrm>
            <a:off x="8549640" y="2304288"/>
            <a:ext cx="2910535" cy="694944"/>
          </a:xfrm>
          <a:prstGeom prst="rect">
            <a:avLst/>
          </a:prstGeom>
          <a:noFill/>
          <a:ln/>
        </p:spPr>
        <p:txBody>
          <a:bodyPr wrap="square" lIns="0" tIns="0" rIns="0" bIns="0" rtlCol="0" anchor="t"/>
          <a:lstStyle/>
          <a:p>
            <a:pPr algn="l" indent="0" marL="0">
              <a:buNone/>
            </a:pPr>
            <a:r>
              <a:rPr lang="en-US" sz="1100" dirty="0">
                <a:solidFill>
                  <a:srgbClr val="D9C9D3"/>
                </a:solidFill>
              </a:rPr>
              <a:t>94/yr at step 1 on the M12 cost base, which carries the second trainer and the Operations Lead. Reference: 5.5/month (66) unstaged Base; 4.4 (52) Conservative.</a:t>
            </a:r>
            <a:endParaRPr lang="en-US" sz="1100" dirty="0"/>
          </a:p>
        </p:txBody>
      </p:sp>
      <p:sp>
        <p:nvSpPr>
          <p:cNvPr id="17" name="Stat card 2"/>
          <p:cNvSpPr/>
          <p:nvPr/>
        </p:nvSpPr>
        <p:spPr>
          <a:xfrm>
            <a:off x="6949440" y="3182112"/>
            <a:ext cx="4693615" cy="1152144"/>
          </a:xfrm>
          <a:prstGeom prst="roundRect">
            <a:avLst>
              <a:gd name="adj" fmla="val 6349"/>
            </a:avLst>
          </a:prstGeom>
          <a:solidFill>
            <a:schemeClr val="bg1"/>
          </a:solidFill>
          <a:ln w="9525">
            <a:solidFill>
              <a:srgbClr val="E4DAD5"/>
            </a:solidFill>
            <a:prstDash val="solid"/>
          </a:ln>
        </p:spPr>
      </p:sp>
      <p:sp>
        <p:nvSpPr>
          <p:cNvPr id="18" name="Stat value 2"/>
          <p:cNvSpPr txBox="1"/>
          <p:nvPr/>
        </p:nvSpPr>
        <p:spPr>
          <a:xfrm>
            <a:off x="7132320" y="3273552"/>
            <a:ext cx="1325880" cy="969264"/>
          </a:xfrm>
          <a:prstGeom prst="rect">
            <a:avLst/>
          </a:prstGeom>
          <a:noFill/>
          <a:ln/>
        </p:spPr>
        <p:txBody>
          <a:bodyPr wrap="square" lIns="0" tIns="0" rIns="0" bIns="0" rtlCol="0" anchor="ctr"/>
          <a:lstStyle/>
          <a:p>
            <a:pPr indent="0" marL="0">
              <a:buNone/>
            </a:pPr>
            <a:r>
              <a:rPr lang="en-US" sz="2800" dirty="0">
                <a:solidFill>
                  <a:schemeClr val="tx2"/>
                </a:solidFill>
                <a:latin typeface="+mn-lt" pitchFamily="34" charset="0"/>
                <a:ea typeface="+mn-lt" pitchFamily="34" charset="-122"/>
                <a:cs typeface="+mn-lt" pitchFamily="34" charset="-120"/>
              </a:rPr>
              <a:t>₹</a:t>
            </a:r>
            <a:pPr indent="0" marL="0">
              <a:buNone/>
            </a:pPr>
            <a:r>
              <a:rPr lang="en-US" sz="2800" dirty="0">
                <a:solidFill>
                  <a:schemeClr val="tx2"/>
                </a:solidFill>
                <a:latin typeface="+mj-lt" pitchFamily="34" charset="0"/>
                <a:ea typeface="+mj-lt" pitchFamily="34" charset="-122"/>
                <a:cs typeface="+mj-lt" pitchFamily="34" charset="-120"/>
              </a:rPr>
              <a:t>10.9</a:t>
            </a:r>
            <a:pPr indent="0" marL="0">
              <a:buNone/>
            </a:pPr>
            <a:r>
              <a:rPr lang="en-US" sz="1300" dirty="0">
                <a:solidFill>
                  <a:srgbClr val="6B5F67"/>
                </a:solidFill>
                <a:latin typeface="+mn-lt" pitchFamily="34" charset="0"/>
                <a:ea typeface="+mn-lt" pitchFamily="34" charset="-122"/>
                <a:cs typeface="+mn-lt" pitchFamily="34" charset="-120"/>
              </a:rPr>
              <a:t>L/yr</a:t>
            </a:r>
            <a:endParaRPr lang="en-US" sz="2800" dirty="0"/>
          </a:p>
        </p:txBody>
      </p:sp>
      <p:sp>
        <p:nvSpPr>
          <p:cNvPr id="19" name="Stat label 2"/>
          <p:cNvSpPr txBox="1"/>
          <p:nvPr/>
        </p:nvSpPr>
        <p:spPr>
          <a:xfrm>
            <a:off x="8549640" y="3291840"/>
            <a:ext cx="2040002" cy="237744"/>
          </a:xfrm>
          <a:prstGeom prst="rect">
            <a:avLst/>
          </a:prstGeom>
          <a:noFill/>
          <a:ln/>
        </p:spPr>
        <p:txBody>
          <a:bodyPr wrap="square" lIns="0" tIns="0" rIns="0" bIns="0" rtlCol="0" anchor="t"/>
          <a:lstStyle/>
          <a:p>
            <a:pPr algn="l" indent="0" marL="0">
              <a:buNone/>
            </a:pPr>
            <a:r>
              <a:rPr lang="en-US" sz="1200" b="1" dirty="0">
                <a:solidFill>
                  <a:schemeClr val="tx2"/>
                </a:solidFill>
              </a:rPr>
              <a:t>GST absorbed vs on top</a:t>
            </a:r>
            <a:endParaRPr lang="en-US" sz="1200" dirty="0"/>
          </a:p>
        </p:txBody>
      </p:sp>
      <p:sp>
        <p:nvSpPr>
          <p:cNvPr id="20" name="Badge ESTIMATE 3"/>
          <p:cNvSpPr txBox="1"/>
          <p:nvPr/>
        </p:nvSpPr>
        <p:spPr>
          <a:xfrm>
            <a:off x="10681082" y="329184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1" name="Stat text 2"/>
          <p:cNvSpPr txBox="1"/>
          <p:nvPr/>
        </p:nvSpPr>
        <p:spPr>
          <a:xfrm>
            <a:off x="8549640" y="3566160"/>
            <a:ext cx="2910535" cy="694944"/>
          </a:xfrm>
          <a:prstGeom prst="rect">
            <a:avLst/>
          </a:prstGeom>
          <a:noFill/>
          <a:ln/>
        </p:spPr>
        <p:txBody>
          <a:bodyPr wrap="square" lIns="0" tIns="0" rIns="0" bIns="0" rtlCol="0" anchor="t"/>
          <a:lstStyle/>
          <a:p>
            <a:pPr algn="l" indent="0" marL="0">
              <a:buNone/>
            </a:pPr>
            <a:r>
              <a:rPr lang="en-US" sz="1100" dirty="0">
                <a:solidFill>
                  <a:schemeClr val="tx1"/>
                </a:solidFill>
              </a:rPr>
              <a:t>Planning-case swing (₹12.7L at Base). No exemption for private non-recognised training (VERIFIED). A CA opinion is decision D8.</a:t>
            </a:r>
            <a:endParaRPr lang="en-US" sz="1100" dirty="0"/>
          </a:p>
        </p:txBody>
      </p:sp>
      <p:sp>
        <p:nvSpPr>
          <p:cNvPr id="22" name="Stat card 3"/>
          <p:cNvSpPr/>
          <p:nvPr/>
        </p:nvSpPr>
        <p:spPr>
          <a:xfrm>
            <a:off x="6949440" y="4443984"/>
            <a:ext cx="4693615" cy="1152144"/>
          </a:xfrm>
          <a:prstGeom prst="roundRect">
            <a:avLst>
              <a:gd name="adj" fmla="val 6349"/>
            </a:avLst>
          </a:prstGeom>
          <a:solidFill>
            <a:schemeClr val="bg1"/>
          </a:solidFill>
          <a:ln w="9525">
            <a:solidFill>
              <a:srgbClr val="E4DAD5"/>
            </a:solidFill>
            <a:prstDash val="solid"/>
          </a:ln>
        </p:spPr>
      </p:sp>
      <p:sp>
        <p:nvSpPr>
          <p:cNvPr id="23" name="Stat value 3"/>
          <p:cNvSpPr txBox="1"/>
          <p:nvPr/>
        </p:nvSpPr>
        <p:spPr>
          <a:xfrm>
            <a:off x="7132320" y="4535424"/>
            <a:ext cx="1325880" cy="969264"/>
          </a:xfrm>
          <a:prstGeom prst="rect">
            <a:avLst/>
          </a:prstGeom>
          <a:noFill/>
          <a:ln/>
        </p:spPr>
        <p:txBody>
          <a:bodyPr wrap="square" lIns="0" tIns="0" rIns="0" bIns="0" rtlCol="0" anchor="ctr"/>
          <a:lstStyle/>
          <a:p>
            <a:pPr indent="0" marL="0">
              <a:buNone/>
            </a:pPr>
            <a:r>
              <a:rPr lang="en-US" sz="2800" dirty="0">
                <a:solidFill>
                  <a:schemeClr val="tx2"/>
                </a:solidFill>
                <a:latin typeface="+mj-lt" pitchFamily="34" charset="0"/>
                <a:ea typeface="+mj-lt" pitchFamily="34" charset="-122"/>
                <a:cs typeface="+mj-lt" pitchFamily="34" charset="-120"/>
              </a:rPr>
              <a:t>8.0x</a:t>
            </a:r>
            <a:endParaRPr lang="en-US" sz="2800" dirty="0"/>
          </a:p>
        </p:txBody>
      </p:sp>
      <p:sp>
        <p:nvSpPr>
          <p:cNvPr id="24" name="Stat label 3"/>
          <p:cNvSpPr txBox="1"/>
          <p:nvPr/>
        </p:nvSpPr>
        <p:spPr>
          <a:xfrm>
            <a:off x="8549640" y="4553712"/>
            <a:ext cx="2040002" cy="237744"/>
          </a:xfrm>
          <a:prstGeom prst="rect">
            <a:avLst/>
          </a:prstGeom>
          <a:noFill/>
          <a:ln/>
        </p:spPr>
        <p:txBody>
          <a:bodyPr wrap="square" lIns="0" tIns="0" rIns="0" bIns="0" rtlCol="0" anchor="t"/>
          <a:lstStyle/>
          <a:p>
            <a:pPr algn="l" indent="0" marL="0">
              <a:buNone/>
            </a:pPr>
            <a:r>
              <a:rPr lang="en-US" sz="1200" b="1" dirty="0">
                <a:solidFill>
                  <a:schemeClr val="tx2"/>
                </a:solidFill>
              </a:rPr>
              <a:t>Career student LTV:CAC, Base</a:t>
            </a:r>
            <a:endParaRPr lang="en-US" sz="1200" dirty="0"/>
          </a:p>
        </p:txBody>
      </p:sp>
      <p:sp>
        <p:nvSpPr>
          <p:cNvPr id="25" name="Badge ESTIMATE 4"/>
          <p:cNvSpPr txBox="1"/>
          <p:nvPr/>
        </p:nvSpPr>
        <p:spPr>
          <a:xfrm>
            <a:off x="10681082" y="455371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6" name="Stat text 3"/>
          <p:cNvSpPr txBox="1"/>
          <p:nvPr/>
        </p:nvSpPr>
        <p:spPr>
          <a:xfrm>
            <a:off x="8549640" y="4828032"/>
            <a:ext cx="2910535" cy="694944"/>
          </a:xfrm>
          <a:prstGeom prst="rect">
            <a:avLst/>
          </a:prstGeom>
          <a:noFill/>
          <a:ln/>
        </p:spPr>
        <p:txBody>
          <a:bodyPr wrap="square" lIns="0" tIns="0" rIns="0" bIns="0" rtlCol="0" anchor="t"/>
          <a:lstStyle/>
          <a:p>
            <a:pPr algn="l" indent="0" marL="0">
              <a:buNone/>
            </a:pPr>
            <a:r>
              <a:rPr lang="en-US" sz="1100" dirty="0">
                <a:solidFill>
                  <a:schemeClr val="tx1"/>
                </a:solidFill>
              </a:rPr>
              <a:t>First-course contribution ₹41.8k, 24-month LTV ₹50.5k, blended CAC ₹6.3k (funnel view).</a:t>
            </a:r>
            <a:endParaRPr lang="en-US" sz="1100" dirty="0"/>
          </a:p>
        </p:txBody>
      </p:sp>
      <p:sp>
        <p:nvSpPr>
          <p:cNvPr id="27" name="Founder cost chip"/>
          <p:cNvSpPr/>
          <p:nvPr/>
        </p:nvSpPr>
        <p:spPr>
          <a:xfrm>
            <a:off x="548640" y="5733288"/>
            <a:ext cx="11094415" cy="411480"/>
          </a:xfrm>
          <a:prstGeom prst="roundRect">
            <a:avLst>
              <a:gd name="adj" fmla="val 17778"/>
            </a:avLst>
          </a:prstGeom>
          <a:solidFill>
            <a:srgbClr val="F1EAE5"/>
          </a:solidFill>
          <a:ln/>
        </p:spPr>
      </p:sp>
      <p:sp>
        <p:nvSpPr>
          <p:cNvPr id="28" name="Founder cost text"/>
          <p:cNvSpPr txBox="1"/>
          <p:nvPr/>
        </p:nvSpPr>
        <p:spPr>
          <a:xfrm>
            <a:off x="731520" y="5733288"/>
            <a:ext cx="9766682" cy="411480"/>
          </a:xfrm>
          <a:prstGeom prst="rect">
            <a:avLst/>
          </a:prstGeom>
          <a:noFill/>
          <a:ln/>
        </p:spPr>
        <p:txBody>
          <a:bodyPr wrap="square" lIns="0" tIns="0" rIns="0" bIns="0" rtlCol="0" anchor="ctr"/>
          <a:lstStyle/>
          <a:p>
            <a:pPr algn="l" indent="0" marL="0">
              <a:buNone/>
            </a:pPr>
            <a:r>
              <a:rPr lang="en-US" sz="1150" dirty="0">
                <a:solidFill>
                  <a:schemeClr val="tx1"/>
                </a:solidFill>
              </a:rPr>
              <a:t>Replacing the founder's unpaid teaching costs ≈₹10L in Year 1 and ₹17–19L a year in Years 2–3, plus ≈₹8L a year for an academy manager from Year 2.</a:t>
            </a:r>
            <a:endParaRPr lang="en-US" sz="1150" dirty="0"/>
          </a:p>
        </p:txBody>
      </p:sp>
      <p:sp>
        <p:nvSpPr>
          <p:cNvPr id="29" name="Badge ESTIMATE 5"/>
          <p:cNvSpPr txBox="1"/>
          <p:nvPr/>
        </p:nvSpPr>
        <p:spPr>
          <a:xfrm>
            <a:off x="10681082" y="582930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ECONOMICS · SCENARIOS, CASH AND STAGING</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Plan to need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25L, authorise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35L, and know the worst case is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33–36L</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Tranche 1 ≤₹15L to a July 2027 gate (₹11.8L expected); Tranche 2 ≤₹15L only on May–July actuals; ₹5L contingency above; three hard rules make the ceiling real.</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§1A (planning table, reading 3), §1A.2 (downside, final run Staged_Cons_CutM5_Deep), §1B rows 15–20; recommended_strategy.md §1 (4), §5, §7.3 KT-1a/KT-10, §10 row 32; execution/twelve_month_roadmap.md §4.2–4.3 (monthly cash line, D6b rule)</a:t>
            </a:r>
            <a:pPr algn="l" indent="0" marL="0">
              <a:buNone/>
            </a:pPr>
            <a:r>
              <a:rPr lang="en-US" sz="900" b="1" dirty="0">
                <a:solidFill>
                  <a:srgbClr val="6B5F67"/>
                </a:solidFill>
              </a:rPr>
              <a:t>   Note: </a:t>
            </a:r>
            <a:pPr algn="l" indent="0" marL="0">
              <a:buNone/>
            </a:pPr>
            <a:r>
              <a:rPr lang="en-US" sz="900" dirty="0">
                <a:solidFill>
                  <a:srgbClr val="6B5F67"/>
                </a:solidFill>
              </a:rPr>
              <a:t>₹ lakh ex-GST; Year 1 Nov 2026–Oct 2027; cash excludes income tax, GST timing, working capital and founder draw.</a:t>
            </a:r>
            <a:endParaRPr lang="en-US" sz="900" dirty="0"/>
          </a:p>
        </p:txBody>
      </p:sp>
      <p:sp>
        <p:nvSpPr>
          <p:cNvPr id="7" name="Chart card"/>
          <p:cNvSpPr/>
          <p:nvPr/>
        </p:nvSpPr>
        <p:spPr>
          <a:xfrm>
            <a:off x="548640" y="1783080"/>
            <a:ext cx="5806440" cy="2212848"/>
          </a:xfrm>
          <a:prstGeom prst="roundRect">
            <a:avLst>
              <a:gd name="adj" fmla="val 3306"/>
            </a:avLst>
          </a:prstGeom>
          <a:solidFill>
            <a:schemeClr val="bg1"/>
          </a:solidFill>
          <a:ln w="9525">
            <a:solidFill>
              <a:srgbClr val="E4DAD5"/>
            </a:solidFill>
            <a:prstDash val="solid"/>
          </a:ln>
        </p:spPr>
      </p:sp>
      <p:sp>
        <p:nvSpPr>
          <p:cNvPr id="8" name="Badge ESTIMATE"/>
          <p:cNvSpPr txBox="1"/>
          <p:nvPr/>
        </p:nvSpPr>
        <p:spPr>
          <a:xfrm>
            <a:off x="5429683" y="1929384"/>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Chart title"/>
          <p:cNvSpPr txBox="1"/>
          <p:nvPr/>
        </p:nvSpPr>
        <p:spPr>
          <a:xfrm>
            <a:off x="694944" y="1929384"/>
            <a:ext cx="4625011" cy="212281"/>
          </a:xfrm>
          <a:prstGeom prst="rect">
            <a:avLst/>
          </a:prstGeom>
          <a:noFill/>
          <a:ln/>
        </p:spPr>
        <p:txBody>
          <a:bodyPr wrap="square" lIns="0" tIns="0" rIns="0" bIns="0" rtlCol="0" anchor="t"/>
          <a:lstStyle/>
          <a:p>
            <a:pPr algn="l" indent="0" marL="0">
              <a:buNone/>
            </a:pPr>
            <a:r>
              <a:rPr lang="en-US" sz="1250" b="1" dirty="0">
                <a:solidFill>
                  <a:schemeClr val="tx1"/>
                </a:solidFill>
              </a:rPr>
              <a:t>Year 1 by scenario, ₹ lakh (career enrolments)</a:t>
            </a:r>
            <a:endParaRPr lang="en-US" sz="1250" dirty="0"/>
          </a:p>
        </p:txBody>
      </p:sp>
      <p:graphicFrame>
        <p:nvGraphicFramePr>
          <p:cNvPr id="10" name="Scenario chart" descr="Scenario chart"/>
          <p:cNvGraphicFramePr/>
          <p:nvPr/>
        </p:nvGraphicFramePr>
        <p:xfrm>
          <a:off x="621792" y="2212848"/>
          <a:ext cx="5660136" cy="1362964"/>
        </p:xfrm>
        <a:graphic xmlns:a="http://schemas.openxmlformats.org/drawingml/2006/main">
          <a:graphicData uri="http://schemas.openxmlformats.org/drawingml/2006/chart">
            <c:chart xmlns:c="http://schemas.openxmlformats.org/drawingml/2006/chart" r:id="rId1"/>
          </a:graphicData>
        </a:graphic>
      </p:graphicFrame>
      <p:sp>
        <p:nvSpPr>
          <p:cNvPr id="11" name="Scenario caption"/>
          <p:cNvSpPr txBox="1"/>
          <p:nvPr/>
        </p:nvSpPr>
        <p:spPr>
          <a:xfrm>
            <a:off x="694944" y="3584956"/>
            <a:ext cx="5513832" cy="328676"/>
          </a:xfrm>
          <a:prstGeom prst="rect">
            <a:avLst/>
          </a:prstGeom>
          <a:noFill/>
          <a:ln/>
        </p:spPr>
        <p:txBody>
          <a:bodyPr wrap="square" lIns="0" tIns="0" rIns="0" bIns="0" rtlCol="0" anchor="t"/>
          <a:lstStyle/>
          <a:p>
            <a:pPr algn="l" indent="0" marL="0">
              <a:buNone/>
            </a:pPr>
            <a:r>
              <a:rPr lang="en-US" sz="1000" dirty="0">
                <a:solidFill>
                  <a:srgbClr val="6B5F67"/>
                </a:solidFill>
              </a:rPr>
              <a:t>Waiting for G1 until M9 costs ≈10 enrolments, ₹6.2L revenue and ₹2.1L EBITDA vs the M6 upside, lowers peak cash ₹1.3L and adds two months of evidence.</a:t>
            </a:r>
            <a:endParaRPr lang="en-US" sz="1000" dirty="0"/>
          </a:p>
        </p:txBody>
      </p:sp>
      <p:sp>
        <p:nvSpPr>
          <p:cNvPr id="12" name="Chart card 2"/>
          <p:cNvSpPr/>
          <p:nvPr/>
        </p:nvSpPr>
        <p:spPr>
          <a:xfrm>
            <a:off x="6583680" y="1783080"/>
            <a:ext cx="5059375" cy="2212848"/>
          </a:xfrm>
          <a:prstGeom prst="roundRect">
            <a:avLst>
              <a:gd name="adj" fmla="val 3306"/>
            </a:avLst>
          </a:prstGeom>
          <a:solidFill>
            <a:schemeClr val="bg1"/>
          </a:solidFill>
          <a:ln w="9525">
            <a:solidFill>
              <a:srgbClr val="E4DAD5"/>
            </a:solidFill>
            <a:prstDash val="solid"/>
          </a:ln>
        </p:spPr>
      </p:sp>
      <p:sp>
        <p:nvSpPr>
          <p:cNvPr id="13" name="Badge ESTIMATE 2"/>
          <p:cNvSpPr txBox="1"/>
          <p:nvPr/>
        </p:nvSpPr>
        <p:spPr>
          <a:xfrm>
            <a:off x="10717658" y="1929384"/>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4" name="Chart title 2"/>
          <p:cNvSpPr txBox="1"/>
          <p:nvPr/>
        </p:nvSpPr>
        <p:spPr>
          <a:xfrm>
            <a:off x="6729984" y="1929384"/>
            <a:ext cx="3877946" cy="212281"/>
          </a:xfrm>
          <a:prstGeom prst="rect">
            <a:avLst/>
          </a:prstGeom>
          <a:noFill/>
          <a:ln/>
        </p:spPr>
        <p:txBody>
          <a:bodyPr wrap="square" lIns="0" tIns="0" rIns="0" bIns="0" rtlCol="0" anchor="t"/>
          <a:lstStyle/>
          <a:p>
            <a:pPr algn="l" indent="0" marL="0">
              <a:buNone/>
            </a:pPr>
            <a:r>
              <a:rPr lang="en-US" sz="1250" b="1" dirty="0">
                <a:solidFill>
                  <a:schemeClr val="tx1"/>
                </a:solidFill>
              </a:rPr>
              <a:t>Cumulative cash, planning case, ₹ lakh</a:t>
            </a:r>
            <a:endParaRPr lang="en-US" sz="1250" dirty="0"/>
          </a:p>
        </p:txBody>
      </p:sp>
      <p:graphicFrame>
        <p:nvGraphicFramePr>
          <p:cNvPr id="15" name="Cash line chart" descr="Cumulative cash, planning case, ₹ lakh"/>
          <p:cNvGraphicFramePr/>
          <p:nvPr/>
        </p:nvGraphicFramePr>
        <p:xfrm>
          <a:off x="6656832" y="2212848"/>
          <a:ext cx="4913071" cy="1207770"/>
        </p:xfrm>
        <a:graphic xmlns:a="http://schemas.openxmlformats.org/drawingml/2006/main">
          <a:graphicData uri="http://schemas.openxmlformats.org/drawingml/2006/chart">
            <c:chart xmlns:c="http://schemas.openxmlformats.org/drawingml/2006/chart" r:id="rId2"/>
          </a:graphicData>
        </a:graphic>
      </p:graphicFrame>
      <p:sp>
        <p:nvSpPr>
          <p:cNvPr id="16" name="Cash reference label"/>
          <p:cNvSpPr txBox="1"/>
          <p:nvPr/>
        </p:nvSpPr>
        <p:spPr>
          <a:xfrm>
            <a:off x="10396060" y="2535069"/>
            <a:ext cx="1170432" cy="182880"/>
          </a:xfrm>
          <a:prstGeom prst="rect">
            <a:avLst/>
          </a:prstGeom>
          <a:noFill/>
          <a:ln/>
        </p:spPr>
        <p:txBody>
          <a:bodyPr wrap="square" lIns="0" tIns="0" rIns="0" bIns="0" rtlCol="0" anchor="ctr"/>
          <a:lstStyle/>
          <a:p>
            <a:pPr algn="l" indent="0" marL="0">
              <a:buNone/>
            </a:pPr>
            <a:r>
              <a:rPr lang="en-US" sz="1000" b="1" dirty="0">
                <a:solidFill>
                  <a:srgbClr val="7A4B0C"/>
                </a:solidFill>
              </a:rPr>
              <a:t>₹15L T1 cap</a:t>
            </a:r>
            <a:endParaRPr lang="en-US" sz="1000" dirty="0"/>
          </a:p>
        </p:txBody>
      </p:sp>
      <p:sp>
        <p:nvSpPr>
          <p:cNvPr id="17" name="Cash reference label 2"/>
          <p:cNvSpPr txBox="1"/>
          <p:nvPr/>
        </p:nvSpPr>
        <p:spPr>
          <a:xfrm>
            <a:off x="10396060" y="2841239"/>
            <a:ext cx="1170432" cy="182880"/>
          </a:xfrm>
          <a:prstGeom prst="rect">
            <a:avLst/>
          </a:prstGeom>
          <a:noFill/>
          <a:ln/>
        </p:spPr>
        <p:txBody>
          <a:bodyPr wrap="square" lIns="0" tIns="0" rIns="0" bIns="0" rtlCol="0" anchor="ctr"/>
          <a:lstStyle/>
          <a:p>
            <a:pPr algn="l" indent="0" marL="0">
              <a:buNone/>
            </a:pPr>
            <a:r>
              <a:rPr lang="en-US" sz="1000" b="1" dirty="0">
                <a:solidFill>
                  <a:srgbClr val="A4513F"/>
                </a:solidFill>
              </a:rPr>
              <a:t>₹28L KT-11 warning</a:t>
            </a:r>
            <a:endParaRPr lang="en-US" sz="1000" dirty="0"/>
          </a:p>
        </p:txBody>
      </p:sp>
      <p:sp>
        <p:nvSpPr>
          <p:cNvPr id="18" name="Cash reference label 3"/>
          <p:cNvSpPr txBox="1"/>
          <p:nvPr/>
        </p:nvSpPr>
        <p:spPr>
          <a:xfrm>
            <a:off x="10396060" y="3005831"/>
            <a:ext cx="1170432" cy="182880"/>
          </a:xfrm>
          <a:prstGeom prst="rect">
            <a:avLst/>
          </a:prstGeom>
          <a:noFill/>
          <a:ln/>
        </p:spPr>
        <p:txBody>
          <a:bodyPr wrap="square" lIns="0" tIns="0" rIns="0" bIns="0" rtlCol="0" anchor="ctr"/>
          <a:lstStyle/>
          <a:p>
            <a:pPr algn="l" indent="0" marL="0">
              <a:buNone/>
            </a:pPr>
            <a:r>
              <a:rPr lang="en-US" sz="1000" b="1" dirty="0">
                <a:solidFill>
                  <a:srgbClr val="6B5F67"/>
                </a:solidFill>
              </a:rPr>
              <a:t>₹30L planned</a:t>
            </a:r>
            <a:endParaRPr lang="en-US" sz="1000" dirty="0"/>
          </a:p>
        </p:txBody>
      </p:sp>
      <p:sp>
        <p:nvSpPr>
          <p:cNvPr id="19" name="Cash reference label 4"/>
          <p:cNvSpPr txBox="1"/>
          <p:nvPr/>
        </p:nvSpPr>
        <p:spPr>
          <a:xfrm>
            <a:off x="10396060" y="3170423"/>
            <a:ext cx="1170432" cy="182880"/>
          </a:xfrm>
          <a:prstGeom prst="rect">
            <a:avLst/>
          </a:prstGeom>
          <a:noFill/>
          <a:ln/>
        </p:spPr>
        <p:txBody>
          <a:bodyPr wrap="square" lIns="0" tIns="0" rIns="0" bIns="0" rtlCol="0" anchor="ctr"/>
          <a:lstStyle/>
          <a:p>
            <a:pPr algn="l" indent="0" marL="0">
              <a:buNone/>
            </a:pPr>
            <a:r>
              <a:rPr lang="en-US" sz="1000" b="1" dirty="0">
                <a:solidFill>
                  <a:schemeClr val="tx2"/>
                </a:solidFill>
              </a:rPr>
              <a:t>₹35L authorised</a:t>
            </a:r>
            <a:endParaRPr lang="en-US" sz="1000" dirty="0"/>
          </a:p>
        </p:txBody>
      </p:sp>
      <p:sp>
        <p:nvSpPr>
          <p:cNvPr id="20" name="Cash caption"/>
          <p:cNvSpPr txBox="1"/>
          <p:nvPr/>
        </p:nvSpPr>
        <p:spPr>
          <a:xfrm>
            <a:off x="6729984" y="3429762"/>
            <a:ext cx="4766767" cy="483870"/>
          </a:xfrm>
          <a:prstGeom prst="rect">
            <a:avLst/>
          </a:prstGeom>
          <a:noFill/>
          <a:ln/>
        </p:spPr>
        <p:txBody>
          <a:bodyPr wrap="square" lIns="0" tIns="0" rIns="0" bIns="0" rtlCol="0" anchor="t"/>
          <a:lstStyle/>
          <a:p>
            <a:pPr algn="l" indent="0" marL="0">
              <a:buNone/>
            </a:pPr>
            <a:r>
              <a:rPr lang="en-US" sz="1000" dirty="0">
                <a:solidFill>
                  <a:srgbClr val="6B5F67"/>
                </a:solidFill>
              </a:rPr>
              <a:t>Peak ₹25.2L in Jul (M9, fit-out). Headroom ₹4.8L / ₹9.8L vs ₹30L / ₹35L. If the academy pays the founder ₹75k/month, peak cash is ₹32.6L (M10) and the contingency is consumed.</a:t>
            </a:r>
            <a:endParaRPr lang="en-US" sz="1000" dirty="0"/>
          </a:p>
        </p:txBody>
      </p:sp>
      <p:sp>
        <p:nvSpPr>
          <p:cNvPr id="21" name="Tranche"/>
          <p:cNvSpPr/>
          <p:nvPr/>
        </p:nvSpPr>
        <p:spPr>
          <a:xfrm>
            <a:off x="548640" y="4105656"/>
            <a:ext cx="2103120" cy="475488"/>
          </a:xfrm>
          <a:prstGeom prst="roundRect">
            <a:avLst>
              <a:gd name="adj" fmla="val 11538"/>
            </a:avLst>
          </a:prstGeom>
          <a:solidFill>
            <a:schemeClr val="tx2"/>
          </a:solidFill>
          <a:ln/>
        </p:spPr>
      </p:sp>
      <p:sp>
        <p:nvSpPr>
          <p:cNvPr id="22" name="Tranche text"/>
          <p:cNvSpPr txBox="1"/>
          <p:nvPr/>
        </p:nvSpPr>
        <p:spPr>
          <a:xfrm>
            <a:off x="658368" y="4142232"/>
            <a:ext cx="1883664" cy="402336"/>
          </a:xfrm>
          <a:prstGeom prst="rect">
            <a:avLst/>
          </a:prstGeom>
          <a:noFill/>
          <a:ln/>
        </p:spPr>
        <p:txBody>
          <a:bodyPr wrap="square" lIns="0" tIns="0" rIns="0" bIns="0" rtlCol="0" anchor="ctr"/>
          <a:lstStyle/>
          <a:p>
            <a:pPr algn="l" indent="0" marL="0">
              <a:buNone/>
            </a:pPr>
            <a:r>
              <a:rPr lang="en-US" sz="1050" b="1" dirty="0">
                <a:solidFill>
                  <a:schemeClr val="bg1"/>
                </a:solidFill>
              </a:rPr>
              <a:t>T1 Prove</a:t>
            </a:r>
            <a:pPr algn="l" indent="0" marL="0">
              <a:buNone/>
            </a:pPr>
            <a:r>
              <a:rPr lang="en-US" sz="1050" dirty="0">
                <a:solidFill>
                  <a:schemeClr val="bg1"/>
                </a:solidFill>
              </a:rPr>
              <a:t> (M1 → end M9): up to ₹15L; planning use ₹11.8L by M8</a:t>
            </a:r>
            <a:endParaRPr lang="en-US" sz="1050" dirty="0"/>
          </a:p>
        </p:txBody>
      </p:sp>
      <p:sp>
        <p:nvSpPr>
          <p:cNvPr id="23" name="Tranche 2"/>
          <p:cNvSpPr/>
          <p:nvPr/>
        </p:nvSpPr>
        <p:spPr>
          <a:xfrm>
            <a:off x="2734056" y="4105656"/>
            <a:ext cx="4160520" cy="475488"/>
          </a:xfrm>
          <a:prstGeom prst="roundRect">
            <a:avLst>
              <a:gd name="adj" fmla="val 11538"/>
            </a:avLst>
          </a:prstGeom>
          <a:solidFill>
            <a:schemeClr val="accent1"/>
          </a:solidFill>
          <a:ln/>
        </p:spPr>
      </p:sp>
      <p:sp>
        <p:nvSpPr>
          <p:cNvPr id="24" name="Tranche text 2"/>
          <p:cNvSpPr txBox="1"/>
          <p:nvPr/>
        </p:nvSpPr>
        <p:spPr>
          <a:xfrm>
            <a:off x="2843784" y="4142232"/>
            <a:ext cx="3941064" cy="402336"/>
          </a:xfrm>
          <a:prstGeom prst="rect">
            <a:avLst/>
          </a:prstGeom>
          <a:noFill/>
          <a:ln/>
        </p:spPr>
        <p:txBody>
          <a:bodyPr wrap="square" lIns="0" tIns="0" rIns="0" bIns="0" rtlCol="0" anchor="ctr"/>
          <a:lstStyle/>
          <a:p>
            <a:pPr algn="l" indent="0" marL="0">
              <a:buNone/>
            </a:pPr>
            <a:r>
              <a:rPr lang="en-US" sz="1050" b="1" dirty="0">
                <a:solidFill>
                  <a:schemeClr val="bg1"/>
                </a:solidFill>
              </a:rPr>
              <a:t>T2 Build</a:t>
            </a:r>
            <a:pPr algn="l" indent="0" marL="0">
              <a:buNone/>
            </a:pPr>
            <a:r>
              <a:rPr lang="en-US" sz="1050" dirty="0">
                <a:solidFill>
                  <a:schemeClr val="bg1"/>
                </a:solidFill>
              </a:rPr>
              <a:t> (M10 → M12): up to ₹15L more; ₹14.7L of space committed in the G1 month (fit-out ₹10.4L, deposit ₹3.1L, stations ₹1.2L)</a:t>
            </a:r>
            <a:endParaRPr lang="en-US" sz="1050" dirty="0"/>
          </a:p>
        </p:txBody>
      </p:sp>
      <p:sp>
        <p:nvSpPr>
          <p:cNvPr id="25" name="Tranche 3"/>
          <p:cNvSpPr/>
          <p:nvPr/>
        </p:nvSpPr>
        <p:spPr>
          <a:xfrm>
            <a:off x="6976872" y="4105656"/>
            <a:ext cx="1874520" cy="475488"/>
          </a:xfrm>
          <a:prstGeom prst="roundRect">
            <a:avLst>
              <a:gd name="adj" fmla="val 11538"/>
            </a:avLst>
          </a:prstGeom>
          <a:solidFill>
            <a:srgbClr val="F8EBD4"/>
          </a:solidFill>
          <a:ln/>
        </p:spPr>
      </p:sp>
      <p:sp>
        <p:nvSpPr>
          <p:cNvPr id="26" name="Tranche text 3"/>
          <p:cNvSpPr txBox="1"/>
          <p:nvPr/>
        </p:nvSpPr>
        <p:spPr>
          <a:xfrm>
            <a:off x="7086600" y="4142232"/>
            <a:ext cx="1655064" cy="402336"/>
          </a:xfrm>
          <a:prstGeom prst="rect">
            <a:avLst/>
          </a:prstGeom>
          <a:noFill/>
          <a:ln/>
        </p:spPr>
        <p:txBody>
          <a:bodyPr wrap="square" lIns="0" tIns="0" rIns="0" bIns="0" rtlCol="0" anchor="ctr"/>
          <a:lstStyle/>
          <a:p>
            <a:pPr algn="l" indent="0" marL="0">
              <a:buNone/>
            </a:pPr>
            <a:r>
              <a:rPr lang="en-US" sz="1050" b="1" dirty="0">
                <a:solidFill>
                  <a:schemeClr val="tx1"/>
                </a:solidFill>
              </a:rPr>
              <a:t>Contingency</a:t>
            </a:r>
            <a:pPr algn="l" indent="0" marL="0">
              <a:buNone/>
            </a:pPr>
            <a:r>
              <a:rPr lang="en-US" sz="1050" dirty="0">
                <a:solidFill>
                  <a:schemeClr val="tx1"/>
                </a:solidFill>
              </a:rPr>
              <a:t>: ₹5L (₹35L authorised)</a:t>
            </a:r>
            <a:endParaRPr lang="en-US" sz="1050" dirty="0"/>
          </a:p>
        </p:txBody>
      </p:sp>
      <p:sp>
        <p:nvSpPr>
          <p:cNvPr id="27" name="Tranche 4"/>
          <p:cNvSpPr/>
          <p:nvPr/>
        </p:nvSpPr>
        <p:spPr>
          <a:xfrm>
            <a:off x="8933688" y="4105656"/>
            <a:ext cx="1161288" cy="475488"/>
          </a:xfrm>
          <a:prstGeom prst="roundRect">
            <a:avLst>
              <a:gd name="adj" fmla="val 11538"/>
            </a:avLst>
          </a:prstGeom>
          <a:solidFill>
            <a:srgbClr val="F1EAE5"/>
          </a:solidFill>
          <a:ln/>
        </p:spPr>
      </p:sp>
      <p:sp>
        <p:nvSpPr>
          <p:cNvPr id="28" name="Tranche text 4"/>
          <p:cNvSpPr txBox="1"/>
          <p:nvPr/>
        </p:nvSpPr>
        <p:spPr>
          <a:xfrm>
            <a:off x="9043416" y="4142232"/>
            <a:ext cx="941832" cy="402336"/>
          </a:xfrm>
          <a:prstGeom prst="rect">
            <a:avLst/>
          </a:prstGeom>
          <a:noFill/>
          <a:ln/>
        </p:spPr>
        <p:txBody>
          <a:bodyPr wrap="square" lIns="0" tIns="0" rIns="0" bIns="0" rtlCol="0" anchor="ctr"/>
          <a:lstStyle/>
          <a:p>
            <a:pPr algn="l" indent="0" marL="0">
              <a:buNone/>
            </a:pPr>
            <a:r>
              <a:rPr lang="en-US" sz="1050" b="1" dirty="0">
                <a:solidFill>
                  <a:schemeClr val="tx1"/>
                </a:solidFill>
              </a:rPr>
              <a:t>T3 Extend</a:t>
            </a:r>
            <a:pPr algn="l" indent="0" marL="0">
              <a:buNone/>
            </a:pPr>
            <a:r>
              <a:rPr lang="en-US" sz="1050" dirty="0">
                <a:solidFill>
                  <a:schemeClr val="tx1"/>
                </a:solidFill>
              </a:rPr>
              <a:t> (G2, Year 2): ₹4–10L</a:t>
            </a:r>
            <a:endParaRPr lang="en-US" sz="1050" dirty="0"/>
          </a:p>
        </p:txBody>
      </p:sp>
      <p:sp>
        <p:nvSpPr>
          <p:cNvPr id="29" name="Tranche 5"/>
          <p:cNvSpPr/>
          <p:nvPr/>
        </p:nvSpPr>
        <p:spPr>
          <a:xfrm>
            <a:off x="10177272" y="4105656"/>
            <a:ext cx="1465783" cy="475488"/>
          </a:xfrm>
          <a:prstGeom prst="roundRect">
            <a:avLst>
              <a:gd name="adj" fmla="val 11538"/>
            </a:avLst>
          </a:prstGeom>
          <a:solidFill>
            <a:srgbClr val="F1EAE5"/>
          </a:solidFill>
          <a:ln/>
        </p:spPr>
      </p:sp>
      <p:sp>
        <p:nvSpPr>
          <p:cNvPr id="30" name="Tranche text 5"/>
          <p:cNvSpPr txBox="1"/>
          <p:nvPr/>
        </p:nvSpPr>
        <p:spPr>
          <a:xfrm>
            <a:off x="10287000" y="4142232"/>
            <a:ext cx="1246327" cy="402336"/>
          </a:xfrm>
          <a:prstGeom prst="rect">
            <a:avLst/>
          </a:prstGeom>
          <a:noFill/>
          <a:ln/>
        </p:spPr>
        <p:txBody>
          <a:bodyPr wrap="square" lIns="0" tIns="0" rIns="0" bIns="0" rtlCol="0" anchor="ctr"/>
          <a:lstStyle/>
          <a:p>
            <a:pPr algn="l" indent="0" marL="0">
              <a:buNone/>
            </a:pPr>
            <a:r>
              <a:rPr lang="en-US" sz="1050" b="1" dirty="0">
                <a:solidFill>
                  <a:schemeClr val="tx1"/>
                </a:solidFill>
              </a:rPr>
              <a:t>T4 Site</a:t>
            </a:r>
            <a:pPr algn="l" indent="0" marL="0">
              <a:buNone/>
            </a:pPr>
            <a:r>
              <a:rPr lang="en-US" sz="1050" dirty="0">
                <a:solidFill>
                  <a:schemeClr val="tx1"/>
                </a:solidFill>
              </a:rPr>
              <a:t> (G3a): ₹2–5L per partner site</a:t>
            </a:r>
            <a:endParaRPr lang="en-US" sz="1050" dirty="0"/>
          </a:p>
        </p:txBody>
      </p:sp>
      <p:sp>
        <p:nvSpPr>
          <p:cNvPr id="31" name="Label"/>
          <p:cNvSpPr txBox="1"/>
          <p:nvPr/>
        </p:nvSpPr>
        <p:spPr>
          <a:xfrm>
            <a:off x="548640" y="4700016"/>
            <a:ext cx="4572000" cy="219456"/>
          </a:xfrm>
          <a:prstGeom prst="rect">
            <a:avLst/>
          </a:prstGeom>
          <a:noFill/>
          <a:ln/>
        </p:spPr>
        <p:txBody>
          <a:bodyPr wrap="square" lIns="0" tIns="0" rIns="0" bIns="0" rtlCol="0" anchor="ctr"/>
          <a:lstStyle/>
          <a:p>
            <a:pPr algn="l" indent="0" marL="0">
              <a:buNone/>
            </a:pPr>
            <a:r>
              <a:rPr lang="en-US" sz="1050" b="1" dirty="0">
                <a:solidFill>
                  <a:srgbClr val="A4513F"/>
                </a:solidFill>
              </a:rPr>
              <a:t>WHAT ₹35L CAN LOSE, CASH BY OCT 2027</a:t>
            </a:r>
            <a:endParaRPr lang="en-US" sz="1050" dirty="0"/>
          </a:p>
        </p:txBody>
      </p:sp>
      <p:sp>
        <p:nvSpPr>
          <p:cNvPr id="32" name="Badge ESTIMATE 3"/>
          <p:cNvSpPr txBox="1"/>
          <p:nvPr/>
        </p:nvSpPr>
        <p:spPr>
          <a:xfrm>
            <a:off x="7633387" y="470001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33" name="Loss path"/>
          <p:cNvSpPr txBox="1"/>
          <p:nvPr/>
        </p:nvSpPr>
        <p:spPr>
          <a:xfrm>
            <a:off x="603504" y="4965192"/>
            <a:ext cx="2916936" cy="314029"/>
          </a:xfrm>
          <a:prstGeom prst="rect">
            <a:avLst/>
          </a:prstGeom>
          <a:noFill/>
          <a:ln/>
        </p:spPr>
        <p:txBody>
          <a:bodyPr wrap="square" lIns="0" tIns="0" rIns="0" bIns="0" rtlCol="0" anchor="ctr"/>
          <a:lstStyle/>
          <a:p>
            <a:pPr algn="l" indent="0" marL="0">
              <a:buNone/>
            </a:pPr>
            <a:r>
              <a:rPr lang="en-US" sz="1050" dirty="0">
                <a:solidFill>
                  <a:schemeClr val="tx1"/>
                </a:solidFill>
              </a:rPr>
              <a:t>Funnel fails, nobody acts</a:t>
            </a:r>
            <a:endParaRPr lang="en-US" sz="1050" dirty="0"/>
          </a:p>
        </p:txBody>
      </p:sp>
      <p:sp>
        <p:nvSpPr>
          <p:cNvPr id="34" name="Loss value"/>
          <p:cNvSpPr txBox="1"/>
          <p:nvPr/>
        </p:nvSpPr>
        <p:spPr>
          <a:xfrm>
            <a:off x="3566160" y="4965192"/>
            <a:ext cx="749808" cy="314029"/>
          </a:xfrm>
          <a:prstGeom prst="rect">
            <a:avLst/>
          </a:prstGeom>
          <a:noFill/>
          <a:ln/>
        </p:spPr>
        <p:txBody>
          <a:bodyPr wrap="square" lIns="0" tIns="0" rIns="0" bIns="0" rtlCol="0" anchor="ctr"/>
          <a:lstStyle/>
          <a:p>
            <a:pPr algn="l" indent="0" marL="0">
              <a:buNone/>
            </a:pPr>
            <a:r>
              <a:rPr lang="en-US" sz="1500" b="1" dirty="0">
                <a:solidFill>
                  <a:schemeClr val="tx2"/>
                </a:solidFill>
                <a:latin typeface="+mn-lt" pitchFamily="34" charset="0"/>
                <a:ea typeface="+mn-lt" pitchFamily="34" charset="-122"/>
                <a:cs typeface="+mn-lt" pitchFamily="34" charset="-120"/>
              </a:rPr>
              <a:t>₹</a:t>
            </a:r>
            <a:pPr algn="l" indent="0" marL="0">
              <a:buNone/>
            </a:pPr>
            <a:r>
              <a:rPr lang="en-US" sz="1500" b="1" dirty="0">
                <a:solidFill>
                  <a:schemeClr val="tx2"/>
                </a:solidFill>
                <a:latin typeface="+mj-lt" pitchFamily="34" charset="0"/>
                <a:ea typeface="+mj-lt" pitchFamily="34" charset="-122"/>
                <a:cs typeface="+mj-lt" pitchFamily="34" charset="-120"/>
              </a:rPr>
              <a:t>36.2L</a:t>
            </a:r>
            <a:endParaRPr lang="en-US" sz="1500" dirty="0"/>
          </a:p>
        </p:txBody>
      </p:sp>
      <p:sp>
        <p:nvSpPr>
          <p:cNvPr id="35" name="Loss consequence"/>
          <p:cNvSpPr txBox="1"/>
          <p:nvPr/>
        </p:nvSpPr>
        <p:spPr>
          <a:xfrm>
            <a:off x="4379976" y="4965192"/>
            <a:ext cx="4005072" cy="314029"/>
          </a:xfrm>
          <a:prstGeom prst="rect">
            <a:avLst/>
          </a:prstGeom>
          <a:noFill/>
          <a:ln/>
        </p:spPr>
        <p:txBody>
          <a:bodyPr wrap="square" lIns="0" tIns="0" rIns="0" bIns="0" rtlCol="0" anchor="ctr"/>
          <a:lstStyle/>
          <a:p>
            <a:pPr algn="l" indent="0" marL="0">
              <a:buNone/>
            </a:pPr>
            <a:r>
              <a:rPr lang="en-US" sz="1050" dirty="0">
                <a:solidFill>
                  <a:srgbClr val="6B5F67"/>
                </a:solidFill>
              </a:rPr>
              <a:t>Rising ≈₹2.3L/month; visible Feb 2027</a:t>
            </a:r>
            <a:endParaRPr lang="en-US" sz="1050" dirty="0"/>
          </a:p>
        </p:txBody>
      </p:sp>
      <p:sp>
        <p:nvSpPr>
          <p:cNvPr id="36" name="Adopted rule highlight"/>
          <p:cNvSpPr/>
          <p:nvPr/>
        </p:nvSpPr>
        <p:spPr>
          <a:xfrm>
            <a:off x="548640" y="5288365"/>
            <a:ext cx="7863840" cy="332317"/>
          </a:xfrm>
          <a:prstGeom prst="rect">
            <a:avLst/>
          </a:prstGeom>
          <a:solidFill>
            <a:srgbClr val="F7E7E1"/>
          </a:solidFill>
          <a:ln/>
        </p:spPr>
      </p:sp>
      <p:sp>
        <p:nvSpPr>
          <p:cNvPr id="37" name="Loss rule"/>
          <p:cNvSpPr/>
          <p:nvPr/>
        </p:nvSpPr>
        <p:spPr>
          <a:xfrm>
            <a:off x="548640" y="5288365"/>
            <a:ext cx="7863840" cy="0"/>
          </a:xfrm>
          <a:prstGeom prst="line">
            <a:avLst/>
          </a:prstGeom>
          <a:noFill/>
          <a:ln w="6350">
            <a:solidFill>
              <a:srgbClr val="E4DAD5"/>
            </a:solidFill>
            <a:prstDash val="solid"/>
          </a:ln>
        </p:spPr>
      </p:sp>
      <p:sp>
        <p:nvSpPr>
          <p:cNvPr id="38" name="Loss path 2"/>
          <p:cNvSpPr txBox="1"/>
          <p:nvPr/>
        </p:nvSpPr>
        <p:spPr>
          <a:xfrm>
            <a:off x="603504" y="5297509"/>
            <a:ext cx="2916936" cy="314029"/>
          </a:xfrm>
          <a:prstGeom prst="rect">
            <a:avLst/>
          </a:prstGeom>
          <a:noFill/>
          <a:ln/>
        </p:spPr>
        <p:txBody>
          <a:bodyPr wrap="square" lIns="0" tIns="0" rIns="0" bIns="0" rtlCol="0" anchor="ctr"/>
          <a:lstStyle/>
          <a:p>
            <a:pPr algn="l" indent="0" marL="0">
              <a:buNone/>
            </a:pPr>
            <a:r>
              <a:rPr lang="en-US" sz="1000" b="1" dirty="0">
                <a:solidFill>
                  <a:schemeClr val="tx2"/>
                </a:solidFill>
              </a:rPr>
              <a:t>Funnel fails, KT-1a deep cut at the March review (the rule as adopted)</a:t>
            </a:r>
            <a:endParaRPr lang="en-US" sz="1000" dirty="0"/>
          </a:p>
        </p:txBody>
      </p:sp>
      <p:sp>
        <p:nvSpPr>
          <p:cNvPr id="39" name="Loss value 2"/>
          <p:cNvSpPr txBox="1"/>
          <p:nvPr/>
        </p:nvSpPr>
        <p:spPr>
          <a:xfrm>
            <a:off x="3566160" y="5297509"/>
            <a:ext cx="749808" cy="314029"/>
          </a:xfrm>
          <a:prstGeom prst="rect">
            <a:avLst/>
          </a:prstGeom>
          <a:noFill/>
          <a:ln/>
        </p:spPr>
        <p:txBody>
          <a:bodyPr wrap="square" lIns="0" tIns="0" rIns="0" bIns="0" rtlCol="0" anchor="ctr"/>
          <a:lstStyle/>
          <a:p>
            <a:pPr algn="l" indent="0" marL="0">
              <a:buNone/>
            </a:pPr>
            <a:r>
              <a:rPr lang="en-US" sz="1500" b="1" dirty="0">
                <a:solidFill>
                  <a:srgbClr val="A4513F"/>
                </a:solidFill>
                <a:latin typeface="+mn-lt" pitchFamily="34" charset="0"/>
                <a:ea typeface="+mn-lt" pitchFamily="34" charset="-122"/>
                <a:cs typeface="+mn-lt" pitchFamily="34" charset="-120"/>
              </a:rPr>
              <a:t>₹</a:t>
            </a:r>
            <a:pPr algn="l" indent="0" marL="0">
              <a:buNone/>
            </a:pPr>
            <a:r>
              <a:rPr lang="en-US" sz="1500" b="1" dirty="0">
                <a:solidFill>
                  <a:srgbClr val="A4513F"/>
                </a:solidFill>
                <a:latin typeface="+mj-lt" pitchFamily="34" charset="0"/>
                <a:ea typeface="+mj-lt" pitchFamily="34" charset="-122"/>
                <a:cs typeface="+mj-lt" pitchFamily="34" charset="-120"/>
              </a:rPr>
              <a:t>25.4L</a:t>
            </a:r>
            <a:endParaRPr lang="en-US" sz="1500" dirty="0"/>
          </a:p>
        </p:txBody>
      </p:sp>
      <p:sp>
        <p:nvSpPr>
          <p:cNvPr id="40" name="Loss consequence 2"/>
          <p:cNvSpPr txBox="1"/>
          <p:nvPr/>
        </p:nvSpPr>
        <p:spPr>
          <a:xfrm>
            <a:off x="4379976" y="5297509"/>
            <a:ext cx="4005072" cy="314029"/>
          </a:xfrm>
          <a:prstGeom prst="rect">
            <a:avLst/>
          </a:prstGeom>
          <a:noFill/>
          <a:ln/>
        </p:spPr>
        <p:txBody>
          <a:bodyPr wrap="square" lIns="0" tIns="0" rIns="0" bIns="0" rtlCol="0" anchor="ctr"/>
          <a:lstStyle/>
          <a:p>
            <a:pPr algn="l" indent="0" marL="0">
              <a:buNone/>
            </a:pPr>
            <a:r>
              <a:rPr lang="en-US" sz="1050" dirty="0">
                <a:solidFill>
                  <a:srgbClr val="6B5F67"/>
                </a:solidFill>
              </a:rPr>
              <a:t>Still burning ≈₹0.9L/month → revert to the boutique model</a:t>
            </a:r>
            <a:endParaRPr lang="en-US" sz="1050" dirty="0"/>
          </a:p>
        </p:txBody>
      </p:sp>
      <p:sp>
        <p:nvSpPr>
          <p:cNvPr id="41" name="Loss rule 2"/>
          <p:cNvSpPr/>
          <p:nvPr/>
        </p:nvSpPr>
        <p:spPr>
          <a:xfrm>
            <a:off x="548640" y="5620681"/>
            <a:ext cx="7863840" cy="0"/>
          </a:xfrm>
          <a:prstGeom prst="line">
            <a:avLst/>
          </a:prstGeom>
          <a:noFill/>
          <a:ln w="6350">
            <a:solidFill>
              <a:srgbClr val="E4DAD5"/>
            </a:solidFill>
            <a:prstDash val="solid"/>
          </a:ln>
        </p:spPr>
      </p:sp>
      <p:sp>
        <p:nvSpPr>
          <p:cNvPr id="42" name="Loss path 3"/>
          <p:cNvSpPr txBox="1"/>
          <p:nvPr/>
        </p:nvSpPr>
        <p:spPr>
          <a:xfrm>
            <a:off x="603504" y="5629825"/>
            <a:ext cx="2916936" cy="314029"/>
          </a:xfrm>
          <a:prstGeom prst="rect">
            <a:avLst/>
          </a:prstGeom>
          <a:noFill/>
          <a:ln/>
        </p:spPr>
        <p:txBody>
          <a:bodyPr wrap="square" lIns="0" tIns="0" rIns="0" bIns="0" rtlCol="0" anchor="ctr"/>
          <a:lstStyle/>
          <a:p>
            <a:pPr algn="l" indent="0" marL="0">
              <a:buNone/>
            </a:pPr>
            <a:r>
              <a:rPr lang="en-US" sz="1050" dirty="0">
                <a:solidFill>
                  <a:schemeClr val="tx1"/>
                </a:solidFill>
              </a:rPr>
              <a:t>False-positive G1, peak season fails after the move</a:t>
            </a:r>
            <a:endParaRPr lang="en-US" sz="1050" dirty="0"/>
          </a:p>
        </p:txBody>
      </p:sp>
      <p:sp>
        <p:nvSpPr>
          <p:cNvPr id="43" name="Loss value 3"/>
          <p:cNvSpPr txBox="1"/>
          <p:nvPr/>
        </p:nvSpPr>
        <p:spPr>
          <a:xfrm>
            <a:off x="3566160" y="5629825"/>
            <a:ext cx="749808" cy="314029"/>
          </a:xfrm>
          <a:prstGeom prst="rect">
            <a:avLst/>
          </a:prstGeom>
          <a:noFill/>
          <a:ln/>
        </p:spPr>
        <p:txBody>
          <a:bodyPr wrap="square" lIns="0" tIns="0" rIns="0" bIns="0" rtlCol="0" anchor="ctr"/>
          <a:lstStyle/>
          <a:p>
            <a:pPr algn="l" indent="0" marL="0">
              <a:buNone/>
            </a:pPr>
            <a:r>
              <a:rPr lang="en-US" sz="1500" b="1" dirty="0">
                <a:solidFill>
                  <a:schemeClr val="tx2"/>
                </a:solidFill>
                <a:latin typeface="+mn-lt" pitchFamily="34" charset="0"/>
                <a:ea typeface="+mn-lt" pitchFamily="34" charset="-122"/>
                <a:cs typeface="+mn-lt" pitchFamily="34" charset="-120"/>
              </a:rPr>
              <a:t>₹</a:t>
            </a:r>
            <a:pPr algn="l" indent="0" marL="0">
              <a:buNone/>
            </a:pPr>
            <a:r>
              <a:rPr lang="en-US" sz="1500" b="1" dirty="0">
                <a:solidFill>
                  <a:schemeClr val="tx2"/>
                </a:solidFill>
                <a:latin typeface="+mj-lt" pitchFamily="34" charset="0"/>
                <a:ea typeface="+mj-lt" pitchFamily="34" charset="-122"/>
                <a:cs typeface="+mj-lt" pitchFamily="34" charset="-120"/>
              </a:rPr>
              <a:t>32.7L</a:t>
            </a:r>
            <a:endParaRPr lang="en-US" sz="1500" dirty="0"/>
          </a:p>
        </p:txBody>
      </p:sp>
      <p:sp>
        <p:nvSpPr>
          <p:cNvPr id="44" name="Loss consequence 3"/>
          <p:cNvSpPr txBox="1"/>
          <p:nvPr/>
        </p:nvSpPr>
        <p:spPr>
          <a:xfrm>
            <a:off x="4379976" y="5629825"/>
            <a:ext cx="4005072" cy="314029"/>
          </a:xfrm>
          <a:prstGeom prst="rect">
            <a:avLst/>
          </a:prstGeom>
          <a:noFill/>
          <a:ln/>
        </p:spPr>
        <p:txBody>
          <a:bodyPr wrap="square" lIns="0" tIns="0" rIns="0" bIns="0" rtlCol="0" anchor="ctr"/>
          <a:lstStyle/>
          <a:p>
            <a:pPr algn="l" indent="0" marL="0">
              <a:buNone/>
            </a:pPr>
            <a:r>
              <a:rPr lang="en-US" sz="1000" dirty="0">
                <a:solidFill>
                  <a:srgbClr val="6B5F67"/>
                </a:solidFill>
              </a:rPr>
              <a:t>Visible Sep 2027; exit ₹4.9L (₹3.1L notice + ₹1.8L severance); ₹11.6L sunk, ₹3.1L deposit recoverable</a:t>
            </a:r>
            <a:endParaRPr lang="en-US" sz="1000" dirty="0"/>
          </a:p>
        </p:txBody>
      </p:sp>
      <p:sp>
        <p:nvSpPr>
          <p:cNvPr id="45" name="Loss reference"/>
          <p:cNvSpPr txBox="1"/>
          <p:nvPr/>
        </p:nvSpPr>
        <p:spPr>
          <a:xfrm>
            <a:off x="548640" y="5989574"/>
            <a:ext cx="7863840" cy="155194"/>
          </a:xfrm>
          <a:prstGeom prst="rect">
            <a:avLst/>
          </a:prstGeom>
          <a:noFill/>
          <a:ln/>
        </p:spPr>
        <p:txBody>
          <a:bodyPr wrap="square" lIns="0" tIns="0" rIns="0" bIns="0" rtlCol="0" anchor="t"/>
          <a:lstStyle/>
          <a:p>
            <a:pPr algn="l" indent="0" marL="0">
              <a:buNone/>
            </a:pPr>
            <a:r>
              <a:rPr lang="en-US" sz="1000" i="1" dirty="0">
                <a:solidFill>
                  <a:srgbClr val="6B5F67"/>
                </a:solidFill>
              </a:rPr>
              <a:t>Reference only: shallow cut ₹28.7L; cut only at M10 (old rule) ₹33.9L (full table: A6). Capex + deposits Year 1 ₹17.2L.</a:t>
            </a:r>
            <a:endParaRPr lang="en-US" sz="1000" dirty="0"/>
          </a:p>
        </p:txBody>
      </p:sp>
      <p:sp>
        <p:nvSpPr>
          <p:cNvPr id="46" name="Label 2"/>
          <p:cNvSpPr txBox="1"/>
          <p:nvPr/>
        </p:nvSpPr>
        <p:spPr>
          <a:xfrm>
            <a:off x="8641080" y="4700016"/>
            <a:ext cx="1676095" cy="219456"/>
          </a:xfrm>
          <a:prstGeom prst="rect">
            <a:avLst/>
          </a:prstGeom>
          <a:noFill/>
          <a:ln/>
        </p:spPr>
        <p:txBody>
          <a:bodyPr wrap="square" lIns="0" tIns="0" rIns="0" bIns="0" rtlCol="0" anchor="ctr"/>
          <a:lstStyle/>
          <a:p>
            <a:pPr algn="l" indent="0" marL="0">
              <a:buNone/>
            </a:pPr>
            <a:r>
              <a:rPr lang="en-US" sz="1050" b="1" dirty="0">
                <a:solidFill>
                  <a:srgbClr val="A4513F"/>
                </a:solidFill>
              </a:rPr>
              <a:t>THREE HARD RULES</a:t>
            </a:r>
            <a:endParaRPr lang="en-US" sz="1050" dirty="0"/>
          </a:p>
        </p:txBody>
      </p:sp>
      <p:sp>
        <p:nvSpPr>
          <p:cNvPr id="47" name="Badge RECOMMENDATION"/>
          <p:cNvSpPr txBox="1"/>
          <p:nvPr/>
        </p:nvSpPr>
        <p:spPr>
          <a:xfrm>
            <a:off x="10311638" y="4700016"/>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48" name="Rule chip"/>
          <p:cNvSpPr/>
          <p:nvPr/>
        </p:nvSpPr>
        <p:spPr>
          <a:xfrm>
            <a:off x="8641080" y="4974336"/>
            <a:ext cx="3001975" cy="347472"/>
          </a:xfrm>
          <a:prstGeom prst="roundRect">
            <a:avLst>
              <a:gd name="adj" fmla="val 15789"/>
            </a:avLst>
          </a:prstGeom>
          <a:solidFill>
            <a:schemeClr val="tx2"/>
          </a:solidFill>
          <a:ln/>
        </p:spPr>
      </p:sp>
      <p:sp>
        <p:nvSpPr>
          <p:cNvPr id="49" name="Rule text"/>
          <p:cNvSpPr txBox="1"/>
          <p:nvPr/>
        </p:nvSpPr>
        <p:spPr>
          <a:xfrm>
            <a:off x="8769096" y="4974336"/>
            <a:ext cx="2745943" cy="347472"/>
          </a:xfrm>
          <a:prstGeom prst="rect">
            <a:avLst/>
          </a:prstGeom>
          <a:noFill/>
          <a:ln/>
        </p:spPr>
        <p:txBody>
          <a:bodyPr wrap="square" lIns="0" tIns="0" rIns="0" bIns="0" rtlCol="0" anchor="ctr"/>
          <a:lstStyle/>
          <a:p>
            <a:pPr algn="l" indent="0" marL="0">
              <a:buNone/>
            </a:pPr>
            <a:r>
              <a:rPr lang="en-US" sz="1100" b="1" dirty="0">
                <a:solidFill>
                  <a:schemeClr val="bg1"/>
                </a:solidFill>
              </a:rPr>
              <a:t>KT-1a mandatory cut at the March 2027 review</a:t>
            </a:r>
            <a:endParaRPr lang="en-US" sz="1100" dirty="0"/>
          </a:p>
        </p:txBody>
      </p:sp>
      <p:sp>
        <p:nvSpPr>
          <p:cNvPr id="50" name="Rule chip 2"/>
          <p:cNvSpPr/>
          <p:nvPr/>
        </p:nvSpPr>
        <p:spPr>
          <a:xfrm>
            <a:off x="8641080" y="5385816"/>
            <a:ext cx="3001975" cy="347472"/>
          </a:xfrm>
          <a:prstGeom prst="roundRect">
            <a:avLst>
              <a:gd name="adj" fmla="val 15789"/>
            </a:avLst>
          </a:prstGeom>
          <a:solidFill>
            <a:schemeClr val="tx2"/>
          </a:solidFill>
          <a:ln/>
        </p:spPr>
      </p:sp>
      <p:sp>
        <p:nvSpPr>
          <p:cNvPr id="51" name="Rule text 2"/>
          <p:cNvSpPr txBox="1"/>
          <p:nvPr/>
        </p:nvSpPr>
        <p:spPr>
          <a:xfrm>
            <a:off x="8769096" y="5385816"/>
            <a:ext cx="2745943" cy="347472"/>
          </a:xfrm>
          <a:prstGeom prst="rect">
            <a:avLst/>
          </a:prstGeom>
          <a:noFill/>
          <a:ln/>
        </p:spPr>
        <p:txBody>
          <a:bodyPr wrap="square" lIns="0" tIns="0" rIns="0" bIns="0" rtlCol="0" anchor="ctr"/>
          <a:lstStyle/>
          <a:p>
            <a:pPr algn="l" indent="0" marL="0">
              <a:buNone/>
            </a:pPr>
            <a:r>
              <a:rPr lang="en-US" sz="1100" b="1" dirty="0">
                <a:solidFill>
                  <a:schemeClr val="bg1"/>
                </a:solidFill>
              </a:rPr>
              <a:t>No lease before G1 is green on May–July actuals</a:t>
            </a:r>
            <a:endParaRPr lang="en-US" sz="1100" dirty="0"/>
          </a:p>
        </p:txBody>
      </p:sp>
      <p:sp>
        <p:nvSpPr>
          <p:cNvPr id="52" name="Rule chip 3"/>
          <p:cNvSpPr/>
          <p:nvPr/>
        </p:nvSpPr>
        <p:spPr>
          <a:xfrm>
            <a:off x="8641080" y="5797296"/>
            <a:ext cx="3001975" cy="347472"/>
          </a:xfrm>
          <a:prstGeom prst="roundRect">
            <a:avLst>
              <a:gd name="adj" fmla="val 15789"/>
            </a:avLst>
          </a:prstGeom>
          <a:solidFill>
            <a:schemeClr val="tx2"/>
          </a:solidFill>
          <a:ln/>
        </p:spPr>
      </p:sp>
      <p:sp>
        <p:nvSpPr>
          <p:cNvPr id="53" name="Rule text 3"/>
          <p:cNvSpPr txBox="1"/>
          <p:nvPr/>
        </p:nvSpPr>
        <p:spPr>
          <a:xfrm>
            <a:off x="8769096" y="5797296"/>
            <a:ext cx="2745943" cy="347472"/>
          </a:xfrm>
          <a:prstGeom prst="rect">
            <a:avLst/>
          </a:prstGeom>
          <a:noFill/>
          <a:ln/>
        </p:spPr>
        <p:txBody>
          <a:bodyPr wrap="square" lIns="0" tIns="0" rIns="0" bIns="0" rtlCol="0" anchor="ctr"/>
          <a:lstStyle/>
          <a:p>
            <a:pPr algn="l" indent="0" marL="0">
              <a:buNone/>
            </a:pPr>
            <a:r>
              <a:rPr lang="en-US" sz="1100" b="1" dirty="0">
                <a:solidFill>
                  <a:schemeClr val="bg1"/>
                </a:solidFill>
              </a:rPr>
              <a:t>KT-10 post-move stop-loss</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ECONOMICS · THREE-YEAR DIRECTIONAL VIEW</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A third of Year-3 revenue sits behind gates; cash returns in month 29 before salary</a:t>
            </a:r>
            <a:endParaRPr lang="en-US" sz="2800" dirty="0"/>
          </a:p>
        </p:txBody>
      </p:sp>
      <p:sp>
        <p:nvSpPr>
          <p:cNvPr id="4" name="Subtitle"/>
          <p:cNvSpPr txBox="1"/>
          <p:nvPr/>
        </p:nvSpPr>
        <p:spPr>
          <a:xfrm>
            <a:off x="548640" y="1531112"/>
            <a:ext cx="11094415" cy="269367"/>
          </a:xfrm>
          <a:prstGeom prst="rect">
            <a:avLst/>
          </a:prstGeom>
          <a:noFill/>
          <a:ln/>
        </p:spPr>
        <p:txBody>
          <a:bodyPr wrap="square" lIns="0" tIns="0" rIns="0" bIns="0" rtlCol="0" anchor="t"/>
          <a:lstStyle/>
          <a:p>
            <a:pPr algn="l" indent="0" marL="0">
              <a:buNone/>
            </a:pPr>
            <a:r>
              <a:rPr lang="en-US" sz="1500" dirty="0">
                <a:solidFill>
                  <a:srgbClr val="6B5F67"/>
                </a:solidFill>
              </a:rPr>
              <a:t>₹162.9L / ₹39.3L in Year 3 with every gate passed; ₹108.8L and roughly zero EBITDA without price step 2 and the regional engine.</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§1A (3-year rows), §1A.3, §1A.4, §1B rows 22–23; recommended_strategy.md §1 (8), §3 Q7 ("Year 3 is a gated number"), §7.2</a:t>
            </a:r>
            <a:pPr algn="l" indent="0" marL="0">
              <a:buNone/>
            </a:pPr>
            <a:r>
              <a:rPr lang="en-US" sz="900" b="1" dirty="0">
                <a:solidFill>
                  <a:srgbClr val="6B5F67"/>
                </a:solidFill>
              </a:rPr>
              <a:t>   Note: </a:t>
            </a:r>
            <a:pPr algn="l" indent="0" marL="0">
              <a:buNone/>
            </a:pPr>
            <a:r>
              <a:rPr lang="en-US" sz="900" dirty="0">
                <a:solidFill>
                  <a:srgbClr val="6B5F67"/>
                </a:solidFill>
              </a:rPr>
              <a:t>₹ lakh ex-GST; FY ending Oct 2027/2028/2029; IRR on cash actually drawn (₹25–33L); cash before tax and GST timing.</a:t>
            </a:r>
            <a:endParaRPr lang="en-US" sz="900" dirty="0"/>
          </a:p>
        </p:txBody>
      </p:sp>
      <p:sp>
        <p:nvSpPr>
          <p:cNvPr id="7" name="Chart card"/>
          <p:cNvSpPr/>
          <p:nvPr/>
        </p:nvSpPr>
        <p:spPr>
          <a:xfrm>
            <a:off x="548640" y="1920240"/>
            <a:ext cx="3931920" cy="3584448"/>
          </a:xfrm>
          <a:prstGeom prst="roundRect">
            <a:avLst>
              <a:gd name="adj" fmla="val 2041"/>
            </a:avLst>
          </a:prstGeom>
          <a:solidFill>
            <a:schemeClr val="bg1"/>
          </a:solidFill>
          <a:ln w="9525">
            <a:solidFill>
              <a:srgbClr val="E4DAD5"/>
            </a:solidFill>
            <a:prstDash val="solid"/>
          </a:ln>
        </p:spPr>
      </p:sp>
      <p:sp>
        <p:nvSpPr>
          <p:cNvPr id="8" name="Badge ESTIMATE"/>
          <p:cNvSpPr txBox="1"/>
          <p:nvPr/>
        </p:nvSpPr>
        <p:spPr>
          <a:xfrm>
            <a:off x="3536875" y="20848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Chart title"/>
          <p:cNvSpPr txBox="1"/>
          <p:nvPr/>
        </p:nvSpPr>
        <p:spPr>
          <a:xfrm>
            <a:off x="713232" y="2084832"/>
            <a:ext cx="2713915" cy="406273"/>
          </a:xfrm>
          <a:prstGeom prst="rect">
            <a:avLst/>
          </a:prstGeom>
          <a:noFill/>
          <a:ln/>
        </p:spPr>
        <p:txBody>
          <a:bodyPr wrap="square" lIns="0" tIns="0" rIns="0" bIns="0" rtlCol="0" anchor="t"/>
          <a:lstStyle/>
          <a:p>
            <a:pPr algn="l" indent="0" marL="0">
              <a:buNone/>
            </a:pPr>
            <a:r>
              <a:rPr lang="en-US" sz="1250" b="1" dirty="0">
                <a:solidFill>
                  <a:schemeClr val="tx1"/>
                </a:solidFill>
              </a:rPr>
              <a:t>Year-3 revenue, ₹ lakh, planning case: ₹162.9L all gates</a:t>
            </a:r>
            <a:endParaRPr lang="en-US" sz="1250" dirty="0"/>
          </a:p>
        </p:txBody>
      </p:sp>
      <p:sp>
        <p:nvSpPr>
          <p:cNvPr id="10" name="Chart unit"/>
          <p:cNvSpPr txBox="1"/>
          <p:nvPr/>
        </p:nvSpPr>
        <p:spPr>
          <a:xfrm>
            <a:off x="713232" y="2500249"/>
            <a:ext cx="3602736" cy="181242"/>
          </a:xfrm>
          <a:prstGeom prst="rect">
            <a:avLst/>
          </a:prstGeom>
          <a:noFill/>
          <a:ln/>
        </p:spPr>
        <p:txBody>
          <a:bodyPr wrap="square" lIns="0" tIns="0" rIns="0" bIns="0" rtlCol="0" anchor="t"/>
          <a:lstStyle/>
          <a:p>
            <a:pPr algn="l" indent="0" marL="0">
              <a:buNone/>
            </a:pPr>
            <a:r>
              <a:rPr lang="en-US" sz="1050" dirty="0">
                <a:solidFill>
                  <a:srgbClr val="6B5F67"/>
                </a:solidFill>
              </a:rPr>
              <a:t>₹108.8L base business + ₹54.1L (33%) gated</a:t>
            </a:r>
            <a:endParaRPr lang="en-US" sz="1050" dirty="0"/>
          </a:p>
        </p:txBody>
      </p:sp>
      <p:graphicFrame>
        <p:nvGraphicFramePr>
          <p:cNvPr id="11" name="Year-3 revenue chart" descr="Year-3 revenue chart"/>
          <p:cNvGraphicFramePr/>
          <p:nvPr/>
        </p:nvGraphicFramePr>
        <p:xfrm>
          <a:off x="630936" y="2718067"/>
          <a:ext cx="3767328" cy="2000237"/>
        </p:xfrm>
        <a:graphic xmlns:a="http://schemas.openxmlformats.org/drawingml/2006/main">
          <a:graphicData uri="http://schemas.openxmlformats.org/drawingml/2006/chart">
            <c:chart xmlns:c="http://schemas.openxmlformats.org/drawingml/2006/chart" r:id="rId1"/>
          </a:graphicData>
        </a:graphic>
      </p:graphicFrame>
      <p:sp>
        <p:nvSpPr>
          <p:cNvPr id="12" name="EBITDA tile"/>
          <p:cNvSpPr/>
          <p:nvPr/>
        </p:nvSpPr>
        <p:spPr>
          <a:xfrm>
            <a:off x="713232" y="4764024"/>
            <a:ext cx="1746504" cy="612648"/>
          </a:xfrm>
          <a:prstGeom prst="roundRect">
            <a:avLst>
              <a:gd name="adj" fmla="val 8955"/>
            </a:avLst>
          </a:prstGeom>
          <a:solidFill>
            <a:srgbClr val="F1EAE5"/>
          </a:solidFill>
          <a:ln/>
        </p:spPr>
      </p:sp>
      <p:sp>
        <p:nvSpPr>
          <p:cNvPr id="13" name="EBITDA tile text"/>
          <p:cNvSpPr txBox="1"/>
          <p:nvPr/>
        </p:nvSpPr>
        <p:spPr>
          <a:xfrm>
            <a:off x="804672" y="4800600"/>
            <a:ext cx="1563624" cy="539496"/>
          </a:xfrm>
          <a:prstGeom prst="rect">
            <a:avLst/>
          </a:prstGeom>
          <a:noFill/>
          <a:ln/>
        </p:spPr>
        <p:txBody>
          <a:bodyPr wrap="square" lIns="0" tIns="0" rIns="0" bIns="0" rtlCol="0" anchor="ctr"/>
          <a:lstStyle/>
          <a:p>
            <a:pPr algn="l" indent="0" marL="0">
              <a:spcAft>
                <a:spcPts val="100"/>
              </a:spcAft>
              <a:buNone/>
            </a:pPr>
            <a:r>
              <a:rPr lang="en-US" sz="1000" dirty="0">
                <a:solidFill>
                  <a:srgbClr val="6B5F67"/>
                </a:solidFill>
              </a:rPr>
              <a:t>Year-3 EBITDA, base business</a:t>
            </a:r>
            <a:endParaRPr lang="en-US" sz="1100" dirty="0"/>
          </a:p>
          <a:p>
            <a:pPr algn="l" indent="0" marL="0">
              <a:buNone/>
            </a:pPr>
            <a:r>
              <a:rPr lang="en-US" sz="1100" b="1" dirty="0">
                <a:solidFill>
                  <a:schemeClr val="tx2"/>
                </a:solidFill>
              </a:rPr>
              <a:t>−₹0.4L</a:t>
            </a:r>
            <a:pPr algn="l" indent="0" marL="0">
              <a:buNone/>
            </a:pPr>
            <a:r>
              <a:rPr lang="en-US" sz="1100" dirty="0">
                <a:solidFill>
                  <a:schemeClr val="tx2"/>
                </a:solidFill>
              </a:rPr>
              <a:t>  −₹10.9L after salary</a:t>
            </a:r>
            <a:endParaRPr lang="en-US" sz="1100" dirty="0"/>
          </a:p>
        </p:txBody>
      </p:sp>
      <p:sp>
        <p:nvSpPr>
          <p:cNvPr id="14" name="EBITDA tile 2"/>
          <p:cNvSpPr/>
          <p:nvPr/>
        </p:nvSpPr>
        <p:spPr>
          <a:xfrm>
            <a:off x="2569464" y="4764024"/>
            <a:ext cx="1746504" cy="612648"/>
          </a:xfrm>
          <a:prstGeom prst="roundRect">
            <a:avLst>
              <a:gd name="adj" fmla="val 8955"/>
            </a:avLst>
          </a:prstGeom>
          <a:solidFill>
            <a:schemeClr val="tx2"/>
          </a:solidFill>
          <a:ln/>
        </p:spPr>
      </p:sp>
      <p:sp>
        <p:nvSpPr>
          <p:cNvPr id="15" name="EBITDA tile text 2"/>
          <p:cNvSpPr txBox="1"/>
          <p:nvPr/>
        </p:nvSpPr>
        <p:spPr>
          <a:xfrm>
            <a:off x="2660904" y="4800600"/>
            <a:ext cx="1563624" cy="539496"/>
          </a:xfrm>
          <a:prstGeom prst="rect">
            <a:avLst/>
          </a:prstGeom>
          <a:noFill/>
          <a:ln/>
        </p:spPr>
        <p:txBody>
          <a:bodyPr wrap="square" lIns="0" tIns="0" rIns="0" bIns="0" rtlCol="0" anchor="ctr"/>
          <a:lstStyle/>
          <a:p>
            <a:pPr algn="l" indent="0" marL="0">
              <a:spcAft>
                <a:spcPts val="100"/>
              </a:spcAft>
              <a:buNone/>
            </a:pPr>
            <a:r>
              <a:rPr lang="en-US" sz="1000" dirty="0">
                <a:solidFill>
                  <a:srgbClr val="D9C9D3"/>
                </a:solidFill>
              </a:rPr>
              <a:t>Year-3 EBITDA, all gates</a:t>
            </a:r>
            <a:endParaRPr lang="en-US" sz="1100" dirty="0"/>
          </a:p>
          <a:p>
            <a:pPr algn="l" indent="0" marL="0">
              <a:buNone/>
            </a:pPr>
            <a:r>
              <a:rPr lang="en-US" sz="1100" b="1" dirty="0">
                <a:solidFill>
                  <a:schemeClr val="bg1"/>
                </a:solidFill>
              </a:rPr>
              <a:t>₹39.3L</a:t>
            </a:r>
            <a:pPr algn="l" indent="0" marL="0">
              <a:buNone/>
            </a:pPr>
            <a:r>
              <a:rPr lang="en-US" sz="1100" dirty="0">
                <a:solidFill>
                  <a:schemeClr val="bg1"/>
                </a:solidFill>
              </a:rPr>
              <a:t>  ₹28.8L after salary</a:t>
            </a:r>
            <a:endParaRPr lang="en-US" sz="1100" dirty="0"/>
          </a:p>
        </p:txBody>
      </p:sp>
      <p:sp>
        <p:nvSpPr>
          <p:cNvPr id="16" name="Chart card 2"/>
          <p:cNvSpPr/>
          <p:nvPr/>
        </p:nvSpPr>
        <p:spPr>
          <a:xfrm>
            <a:off x="4709160" y="1920240"/>
            <a:ext cx="4526280" cy="2066544"/>
          </a:xfrm>
          <a:prstGeom prst="roundRect">
            <a:avLst>
              <a:gd name="adj" fmla="val 3540"/>
            </a:avLst>
          </a:prstGeom>
          <a:solidFill>
            <a:schemeClr val="bg1"/>
          </a:solidFill>
          <a:ln w="9525">
            <a:solidFill>
              <a:srgbClr val="E4DAD5"/>
            </a:solidFill>
            <a:prstDash val="solid"/>
          </a:ln>
        </p:spPr>
      </p:sp>
      <p:sp>
        <p:nvSpPr>
          <p:cNvPr id="17" name="Badge ESTIMATE 2"/>
          <p:cNvSpPr txBox="1"/>
          <p:nvPr/>
        </p:nvSpPr>
        <p:spPr>
          <a:xfrm>
            <a:off x="8291755" y="20848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8" name="Chart title 2"/>
          <p:cNvSpPr txBox="1"/>
          <p:nvPr/>
        </p:nvSpPr>
        <p:spPr>
          <a:xfrm>
            <a:off x="4873752" y="2084832"/>
            <a:ext cx="3308275" cy="406273"/>
          </a:xfrm>
          <a:prstGeom prst="rect">
            <a:avLst/>
          </a:prstGeom>
          <a:noFill/>
          <a:ln/>
        </p:spPr>
        <p:txBody>
          <a:bodyPr wrap="square" lIns="0" tIns="0" rIns="0" bIns="0" rtlCol="0" anchor="t"/>
          <a:lstStyle/>
          <a:p>
            <a:pPr algn="l" indent="0" marL="0">
              <a:buNone/>
            </a:pPr>
            <a:r>
              <a:rPr lang="en-US" sz="1250" b="1" dirty="0">
                <a:solidFill>
                  <a:schemeClr val="tx1"/>
                </a:solidFill>
              </a:rPr>
              <a:t>Cumulative cash, end of year, ₹ lakh (before salary)</a:t>
            </a:r>
            <a:endParaRPr lang="en-US" sz="1250" dirty="0"/>
          </a:p>
        </p:txBody>
      </p:sp>
      <p:graphicFrame>
        <p:nvGraphicFramePr>
          <p:cNvPr id="19" name="Cumulative cash chart" descr="Cumulative cash chart"/>
          <p:cNvGraphicFramePr/>
          <p:nvPr/>
        </p:nvGraphicFramePr>
        <p:xfrm>
          <a:off x="4791456" y="2536825"/>
          <a:ext cx="4361688" cy="1001903"/>
        </p:xfrm>
        <a:graphic xmlns:a="http://schemas.openxmlformats.org/drawingml/2006/main">
          <a:graphicData uri="http://schemas.openxmlformats.org/drawingml/2006/chart">
            <c:chart xmlns:c="http://schemas.openxmlformats.org/drawingml/2006/chart" r:id="rId2"/>
          </a:graphicData>
        </a:graphic>
      </p:graphicFrame>
      <p:sp>
        <p:nvSpPr>
          <p:cNvPr id="20" name="Payback marks"/>
          <p:cNvSpPr txBox="1"/>
          <p:nvPr/>
        </p:nvSpPr>
        <p:spPr>
          <a:xfrm>
            <a:off x="4873752" y="3547872"/>
            <a:ext cx="4197096" cy="338328"/>
          </a:xfrm>
          <a:prstGeom prst="rect">
            <a:avLst/>
          </a:prstGeom>
          <a:noFill/>
          <a:ln/>
        </p:spPr>
        <p:txBody>
          <a:bodyPr wrap="square" lIns="0" tIns="0" rIns="0" bIns="0" rtlCol="0" anchor="t"/>
          <a:lstStyle/>
          <a:p>
            <a:pPr algn="l" indent="0" marL="0">
              <a:spcAft>
                <a:spcPts val="100"/>
              </a:spcAft>
              <a:buNone/>
            </a:pPr>
            <a:r>
              <a:rPr lang="en-US" sz="1000" b="1" dirty="0">
                <a:solidFill>
                  <a:srgbClr val="A4513F"/>
                </a:solidFill>
              </a:rPr>
              <a:t>Payback M29 (Mar 2029) before salary</a:t>
            </a:r>
            <a:endParaRPr lang="en-US" sz="1000" dirty="0"/>
          </a:p>
          <a:p>
            <a:pPr algn="l" indent="0" marL="0">
              <a:buNone/>
            </a:pPr>
            <a:r>
              <a:rPr lang="en-US" sz="1000" dirty="0">
                <a:solidFill>
                  <a:srgbClr val="6B5F67"/>
                </a:solidFill>
              </a:rPr>
              <a:t>M40 (Feb 2030) after salary; after-salary cash at M36: −₹6.3L</a:t>
            </a:r>
            <a:endParaRPr lang="en-US" sz="1000" dirty="0"/>
          </a:p>
        </p:txBody>
      </p:sp>
      <p:graphicFrame>
        <p:nvGraphicFramePr>
          <p:cNvPr id="21" name="Three-year table"/>
          <p:cNvGraphicFramePr>
            <a:graphicFrameLocks noGrp="1"/>
          </p:cNvGraphicFramePr>
          <p:nvPr>
            <p:extLst>
              <p:ext uri="{D42A27DB-BD31-4B8C-83A1-F6EECF244321}">
                <p14:modId xmlns:p14="http://schemas.microsoft.com/office/powerpoint/2010/main" val="1579011935"/>
              </p:ext>
            </p:extLst>
          </p:nvPr>
        </p:nvGraphicFramePr>
        <p:xfrm>
          <a:off x="4709160" y="4114800"/>
          <a:ext cx="4526280" cy="914400"/>
        </p:xfrm>
        <a:graphic>
          <a:graphicData uri="http://schemas.openxmlformats.org/drawingml/2006/table">
            <a:tbl>
              <a:tblPr/>
              <a:tblGrid>
                <a:gridCol w="2548779"/>
                <a:gridCol w="659167"/>
                <a:gridCol w="659167"/>
                <a:gridCol w="659167"/>
              </a:tblGrid>
              <a:tr h="274066">
                <a:tc>
                  <a:txBody>
                    <a:bodyPr/>
                    <a:lstStyle/>
                    <a:p>
                      <a:pPr algn="l" indent="0" marL="0">
                        <a:buNone/>
                      </a:pPr>
                      <a:r>
                        <a:rPr lang="en-US" sz="1000" b="1" dirty="0">
                          <a:solidFill>
                            <a:srgbClr val="FFFFFF"/>
                          </a:solidFill>
                        </a:rPr>
                        <a:t>₹ lakh</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r" indent="0" marL="0">
                        <a:buNone/>
                      </a:pPr>
                      <a:r>
                        <a:rPr lang="en-US" sz="1000" b="1" dirty="0">
                          <a:solidFill>
                            <a:srgbClr val="FFFFFF"/>
                          </a:solidFill>
                        </a:rPr>
                        <a:t>Y1</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r" indent="0" marL="0">
                        <a:buNone/>
                      </a:pPr>
                      <a:r>
                        <a:rPr lang="en-US" sz="1000" b="1" dirty="0">
                          <a:solidFill>
                            <a:srgbClr val="FFFFFF"/>
                          </a:solidFill>
                        </a:rPr>
                        <a:t>Y2</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r" indent="0" marL="0">
                        <a:buNone/>
                      </a:pPr>
                      <a:r>
                        <a:rPr lang="en-US" sz="1000" b="1" dirty="0">
                          <a:solidFill>
                            <a:srgbClr val="FFFFFF"/>
                          </a:solidFill>
                        </a:rPr>
                        <a:t>Y3</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274066">
                <a:tc>
                  <a:txBody>
                    <a:bodyPr/>
                    <a:lstStyle/>
                    <a:p>
                      <a:pPr algn="l" indent="0" marL="0">
                        <a:buNone/>
                      </a:pPr>
                      <a:r>
                        <a:rPr lang="en-US" sz="1000" b="1" dirty="0">
                          <a:solidFill>
                            <a:srgbClr val="2B2129"/>
                          </a:solidFill>
                        </a:rPr>
                        <a:t>Revenue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B2129"/>
                          </a:solidFill>
                        </a:rPr>
                        <a:t>60.6</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B2129"/>
                          </a:solidFill>
                        </a:rPr>
                        <a:t>113.7</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B2129"/>
                          </a:solidFill>
                        </a:rPr>
                        <a:t>162.9</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b="1" dirty="0">
                          <a:solidFill>
                            <a:srgbClr val="2B2129"/>
                          </a:solidFill>
                        </a:rPr>
                        <a:t>EBITDA before founder salary</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000" dirty="0">
                          <a:solidFill>
                            <a:srgbClr val="2B2129"/>
                          </a:solidFill>
                        </a:rPr>
                        <a:t>−2.8</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000" dirty="0">
                          <a:solidFill>
                            <a:srgbClr val="2B2129"/>
                          </a:solidFill>
                        </a:rPr>
                        <a:t>16.3</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000" dirty="0">
                          <a:solidFill>
                            <a:srgbClr val="2B2129"/>
                          </a:solidFill>
                        </a:rPr>
                        <a:t>39.3</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b="1" dirty="0">
                          <a:solidFill>
                            <a:srgbClr val="2B2129"/>
                          </a:solidFill>
                        </a:rPr>
                        <a:t>EBITDA after ₹75k/month salary (+8%/yr)</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B2129"/>
                          </a:solidFill>
                        </a:rPr>
                        <a:t>−11.8</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B2129"/>
                          </a:solidFill>
                        </a:rPr>
                        <a:t>6.6</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000" dirty="0">
                          <a:solidFill>
                            <a:srgbClr val="2B2129"/>
                          </a:solidFill>
                        </a:rPr>
                        <a:t>28.8</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b="1" dirty="0">
                          <a:solidFill>
                            <a:srgbClr val="2B2129"/>
                          </a:solidFill>
                        </a:rPr>
                        <a:t>Cumulative cash, end of year</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000" dirty="0">
                          <a:solidFill>
                            <a:srgbClr val="2B2129"/>
                          </a:solidFill>
                        </a:rPr>
                        <a:t>−22.5</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000" dirty="0">
                          <a:solidFill>
                            <a:srgbClr val="2B2129"/>
                          </a:solidFill>
                        </a:rPr>
                        <a:t>−12.8</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000" dirty="0">
                          <a:solidFill>
                            <a:srgbClr val="2B2129"/>
                          </a:solidFill>
                        </a:rPr>
                        <a:t>+22.9</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22" name="IRR tile"/>
          <p:cNvSpPr/>
          <p:nvPr/>
        </p:nvSpPr>
        <p:spPr>
          <a:xfrm>
            <a:off x="9464040" y="1920240"/>
            <a:ext cx="2179015" cy="1121664"/>
          </a:xfrm>
          <a:prstGeom prst="roundRect">
            <a:avLst>
              <a:gd name="adj" fmla="val 6522"/>
            </a:avLst>
          </a:prstGeom>
          <a:solidFill>
            <a:schemeClr val="tx2"/>
          </a:solidFill>
          <a:ln/>
        </p:spPr>
      </p:sp>
      <p:sp>
        <p:nvSpPr>
          <p:cNvPr id="23" name="Badge ESTIMATE 3"/>
          <p:cNvSpPr txBox="1"/>
          <p:nvPr/>
        </p:nvSpPr>
        <p:spPr>
          <a:xfrm>
            <a:off x="10717658" y="2029968"/>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4" name="IRR value"/>
          <p:cNvSpPr txBox="1"/>
          <p:nvPr/>
        </p:nvSpPr>
        <p:spPr>
          <a:xfrm>
            <a:off x="9610344" y="2249424"/>
            <a:ext cx="1886407" cy="365760"/>
          </a:xfrm>
          <a:prstGeom prst="rect">
            <a:avLst/>
          </a:prstGeom>
          <a:noFill/>
          <a:ln/>
        </p:spPr>
        <p:txBody>
          <a:bodyPr wrap="square" lIns="0" tIns="0" rIns="0" bIns="0" rtlCol="0" anchor="t"/>
          <a:lstStyle/>
          <a:p>
            <a:pPr algn="l" indent="0" marL="0">
              <a:buNone/>
            </a:pPr>
            <a:r>
              <a:rPr lang="en-US" sz="2100" dirty="0">
                <a:solidFill>
                  <a:schemeClr val="bg1"/>
                </a:solidFill>
                <a:latin typeface="+mj-lt" pitchFamily="34" charset="0"/>
                <a:ea typeface="+mj-lt" pitchFamily="34" charset="-122"/>
                <a:cs typeface="+mj-lt" pitchFamily="34" charset="-120"/>
              </a:rPr>
              <a:t>46% / −10%</a:t>
            </a:r>
            <a:endParaRPr lang="en-US" sz="2100" dirty="0"/>
          </a:p>
        </p:txBody>
      </p:sp>
      <p:sp>
        <p:nvSpPr>
          <p:cNvPr id="25" name="IRR label"/>
          <p:cNvSpPr txBox="1"/>
          <p:nvPr/>
        </p:nvSpPr>
        <p:spPr>
          <a:xfrm>
            <a:off x="9610344" y="2615184"/>
            <a:ext cx="1886407" cy="390144"/>
          </a:xfrm>
          <a:prstGeom prst="rect">
            <a:avLst/>
          </a:prstGeom>
          <a:noFill/>
          <a:ln/>
        </p:spPr>
        <p:txBody>
          <a:bodyPr wrap="square" lIns="0" tIns="0" rIns="0" bIns="0" rtlCol="0" anchor="t"/>
          <a:lstStyle/>
          <a:p>
            <a:pPr algn="l" indent="0" marL="0">
              <a:buNone/>
            </a:pPr>
            <a:r>
              <a:rPr lang="en-US" sz="1100" dirty="0">
                <a:solidFill>
                  <a:srgbClr val="D9C9D3"/>
                </a:solidFill>
              </a:rPr>
              <a:t>IRR to M36, before / after salary</a:t>
            </a:r>
            <a:endParaRPr lang="en-US" sz="1100" dirty="0"/>
          </a:p>
        </p:txBody>
      </p:sp>
      <p:sp>
        <p:nvSpPr>
          <p:cNvPr id="26" name="IRR tile 2"/>
          <p:cNvSpPr/>
          <p:nvPr/>
        </p:nvSpPr>
        <p:spPr>
          <a:xfrm>
            <a:off x="9464040" y="3151632"/>
            <a:ext cx="2179015" cy="1121664"/>
          </a:xfrm>
          <a:prstGeom prst="roundRect">
            <a:avLst>
              <a:gd name="adj" fmla="val 6522"/>
            </a:avLst>
          </a:prstGeom>
          <a:solidFill>
            <a:schemeClr val="bg1"/>
          </a:solidFill>
          <a:ln w="9525">
            <a:solidFill>
              <a:srgbClr val="E4DAD5"/>
            </a:solidFill>
            <a:prstDash val="solid"/>
          </a:ln>
        </p:spPr>
      </p:sp>
      <p:sp>
        <p:nvSpPr>
          <p:cNvPr id="27" name="Badge ESTIMATE 4"/>
          <p:cNvSpPr txBox="1"/>
          <p:nvPr/>
        </p:nvSpPr>
        <p:spPr>
          <a:xfrm>
            <a:off x="10717658" y="326136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28" name="IRR value 2"/>
          <p:cNvSpPr txBox="1"/>
          <p:nvPr/>
        </p:nvSpPr>
        <p:spPr>
          <a:xfrm>
            <a:off x="9610344" y="3480816"/>
            <a:ext cx="1886407" cy="365760"/>
          </a:xfrm>
          <a:prstGeom prst="rect">
            <a:avLst/>
          </a:prstGeom>
          <a:noFill/>
          <a:ln/>
        </p:spPr>
        <p:txBody>
          <a:bodyPr wrap="square" lIns="0" tIns="0" rIns="0" bIns="0" rtlCol="0" anchor="t"/>
          <a:lstStyle/>
          <a:p>
            <a:pPr algn="l" indent="0" marL="0">
              <a:buNone/>
            </a:pPr>
            <a:r>
              <a:rPr lang="en-US" sz="2100" dirty="0">
                <a:solidFill>
                  <a:schemeClr val="tx2"/>
                </a:solidFill>
                <a:latin typeface="+mj-lt" pitchFamily="34" charset="0"/>
                <a:ea typeface="+mj-lt" pitchFamily="34" charset="-122"/>
                <a:cs typeface="+mj-lt" pitchFamily="34" charset="-120"/>
              </a:rPr>
              <a:t>87% / 33%</a:t>
            </a:r>
            <a:endParaRPr lang="en-US" sz="2100" dirty="0"/>
          </a:p>
        </p:txBody>
      </p:sp>
      <p:sp>
        <p:nvSpPr>
          <p:cNvPr id="29" name="IRR label 2"/>
          <p:cNvSpPr txBox="1"/>
          <p:nvPr/>
        </p:nvSpPr>
        <p:spPr>
          <a:xfrm>
            <a:off x="9610344" y="3846576"/>
            <a:ext cx="1886407" cy="390144"/>
          </a:xfrm>
          <a:prstGeom prst="rect">
            <a:avLst/>
          </a:prstGeom>
          <a:noFill/>
          <a:ln/>
        </p:spPr>
        <p:txBody>
          <a:bodyPr wrap="square" lIns="0" tIns="0" rIns="0" bIns="0" rtlCol="0" anchor="t"/>
          <a:lstStyle/>
          <a:p>
            <a:pPr algn="l" indent="0" marL="0">
              <a:buNone/>
            </a:pPr>
            <a:r>
              <a:rPr lang="en-US" sz="1100" dirty="0">
                <a:solidFill>
                  <a:schemeClr val="tx1"/>
                </a:solidFill>
              </a:rPr>
              <a:t>IRR to M60 (Years 4–5 flat, no terminal value)</a:t>
            </a:r>
            <a:endParaRPr lang="en-US" sz="1100" dirty="0"/>
          </a:p>
        </p:txBody>
      </p:sp>
      <p:sp>
        <p:nvSpPr>
          <p:cNvPr id="30" name="IRR tile 3"/>
          <p:cNvSpPr/>
          <p:nvPr/>
        </p:nvSpPr>
        <p:spPr>
          <a:xfrm>
            <a:off x="9464040" y="4383024"/>
            <a:ext cx="2179015" cy="1121664"/>
          </a:xfrm>
          <a:prstGeom prst="roundRect">
            <a:avLst>
              <a:gd name="adj" fmla="val 6522"/>
            </a:avLst>
          </a:prstGeom>
          <a:solidFill>
            <a:srgbClr val="F8EBD4"/>
          </a:solidFill>
          <a:ln/>
        </p:spPr>
      </p:sp>
      <p:sp>
        <p:nvSpPr>
          <p:cNvPr id="31" name="Badge ESTIMATE 5"/>
          <p:cNvSpPr txBox="1"/>
          <p:nvPr/>
        </p:nvSpPr>
        <p:spPr>
          <a:xfrm>
            <a:off x="10717658" y="449275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32" name="IRR value 3"/>
          <p:cNvSpPr txBox="1"/>
          <p:nvPr/>
        </p:nvSpPr>
        <p:spPr>
          <a:xfrm>
            <a:off x="9610344" y="4712208"/>
            <a:ext cx="1886407" cy="365760"/>
          </a:xfrm>
          <a:prstGeom prst="rect">
            <a:avLst/>
          </a:prstGeom>
          <a:noFill/>
          <a:ln/>
        </p:spPr>
        <p:txBody>
          <a:bodyPr wrap="square" lIns="0" tIns="0" rIns="0" bIns="0" rtlCol="0" anchor="t"/>
          <a:lstStyle/>
          <a:p>
            <a:pPr algn="l" indent="0" marL="0">
              <a:buNone/>
            </a:pPr>
            <a:r>
              <a:rPr lang="en-US" sz="2100" dirty="0">
                <a:solidFill>
                  <a:srgbClr val="7A4B0C"/>
                </a:solidFill>
                <a:latin typeface="+mj-lt" pitchFamily="34" charset="0"/>
                <a:ea typeface="+mj-lt" pitchFamily="34" charset="-122"/>
                <a:cs typeface="+mj-lt" pitchFamily="34" charset="-120"/>
              </a:rPr>
              <a:t>None</a:t>
            </a:r>
            <a:endParaRPr lang="en-US" sz="2100" dirty="0"/>
          </a:p>
        </p:txBody>
      </p:sp>
      <p:sp>
        <p:nvSpPr>
          <p:cNvPr id="33" name="IRR label 3"/>
          <p:cNvSpPr txBox="1"/>
          <p:nvPr/>
        </p:nvSpPr>
        <p:spPr>
          <a:xfrm>
            <a:off x="9610344" y="5077968"/>
            <a:ext cx="1886407" cy="390144"/>
          </a:xfrm>
          <a:prstGeom prst="rect">
            <a:avLst/>
          </a:prstGeom>
          <a:noFill/>
          <a:ln/>
        </p:spPr>
        <p:txBody>
          <a:bodyPr wrap="square" lIns="0" tIns="0" rIns="0" bIns="0" rtlCol="0" anchor="t"/>
          <a:lstStyle/>
          <a:p>
            <a:pPr algn="l" indent="0" marL="0">
              <a:buNone/>
            </a:pPr>
            <a:r>
              <a:rPr lang="en-US" sz="1100" dirty="0">
                <a:solidFill>
                  <a:schemeClr val="tx1"/>
                </a:solidFill>
              </a:rPr>
              <a:t>Base business only: no payback within 5 years</a:t>
            </a:r>
            <a:endParaRPr lang="en-US" sz="1100" dirty="0"/>
          </a:p>
        </p:txBody>
      </p:sp>
      <p:sp>
        <p:nvSpPr>
          <p:cNvPr id="34" name="Step-2 strip"/>
          <p:cNvSpPr/>
          <p:nvPr/>
        </p:nvSpPr>
        <p:spPr>
          <a:xfrm>
            <a:off x="548640" y="5632704"/>
            <a:ext cx="11094415" cy="512064"/>
          </a:xfrm>
          <a:prstGeom prst="roundRect">
            <a:avLst>
              <a:gd name="adj" fmla="val 14286"/>
            </a:avLst>
          </a:prstGeom>
          <a:solidFill>
            <a:srgbClr val="F1EAE5"/>
          </a:solidFill>
          <a:ln/>
        </p:spPr>
      </p:sp>
      <p:sp>
        <p:nvSpPr>
          <p:cNvPr id="35" name="Step-2 text"/>
          <p:cNvSpPr txBox="1"/>
          <p:nvPr/>
        </p:nvSpPr>
        <p:spPr>
          <a:xfrm>
            <a:off x="731520" y="5660136"/>
            <a:ext cx="10728655" cy="457200"/>
          </a:xfrm>
          <a:prstGeom prst="rect">
            <a:avLst/>
          </a:prstGeom>
          <a:noFill/>
          <a:ln/>
        </p:spPr>
        <p:txBody>
          <a:bodyPr wrap="square" lIns="0" tIns="0" rIns="0" bIns="0" rtlCol="0" anchor="ctr"/>
          <a:lstStyle/>
          <a:p>
            <a:pPr algn="l" indent="0" marL="0">
              <a:spcAft>
                <a:spcPts val="100"/>
              </a:spcAft>
              <a:buNone/>
            </a:pPr>
            <a:r>
              <a:rPr lang="en-US" sz="1100" dirty="0">
                <a:solidFill>
                  <a:schemeClr val="tx1"/>
                </a:solidFill>
              </a:rPr>
              <a:t>Step 2 adds ₹14.5L of Year-3 EBITDA at no conversion loss, ₹7.5L at −10%, ₹0.4L at −20%; it stops adding value at ≈21% loss.</a:t>
            </a:r>
            <a:endParaRPr lang="en-US" sz="1100" dirty="0"/>
          </a:p>
          <a:p>
            <a:pPr algn="l" indent="0" marL="0">
              <a:buNone/>
            </a:pPr>
            <a:r>
              <a:rPr lang="en-US" sz="1100" i="1" dirty="0">
                <a:solidFill>
                  <a:srgbClr val="6B5F67"/>
                </a:solidFill>
              </a:rPr>
              <a:t>Labelled "all gates passed"; the Conservative reference reaches ₹36.7L revenue and −₹9.6L EBITDA in Year 3.</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EXECUTION · FIRST 90 DAYS (19 OCT 2026 – 17 JAN 2027)</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Ninety days to see the funnel, answer in minutes, publish proof, start cohort one</a:t>
            </a:r>
            <a:endParaRPr lang="en-US" sz="2800" dirty="0"/>
          </a:p>
        </p:txBody>
      </p:sp>
      <p:sp>
        <p:nvSpPr>
          <p:cNvPr id="4" name="Subtitle"/>
          <p:cNvSpPr txBox="1"/>
          <p:nvPr/>
        </p:nvSpPr>
        <p:spPr>
          <a:xfrm>
            <a:off x="548640" y="1531112"/>
            <a:ext cx="11094415" cy="253848"/>
          </a:xfrm>
          <a:prstGeom prst="rect">
            <a:avLst/>
          </a:prstGeom>
          <a:noFill/>
          <a:ln/>
        </p:spPr>
        <p:txBody>
          <a:bodyPr wrap="square" lIns="0" tIns="0" rIns="0" bIns="0" rtlCol="0" anchor="t"/>
          <a:lstStyle/>
          <a:p>
            <a:pPr algn="l" indent="0" marL="0">
              <a:buNone/>
            </a:pPr>
            <a:r>
              <a:rPr lang="en-US" sz="1400" dirty="0">
                <a:solidFill>
                  <a:srgbClr val="6B5F67"/>
                </a:solidFill>
              </a:rPr>
              <a:t>Hire the Operations Lead in November, make the funnel visible, publish fees at today's price, start cohort 1 on 4 January, pass G0 on 15 January.</a:t>
            </a:r>
            <a:endParaRPr lang="en-US" sz="14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§3 Q8 (90 days), §7.1 G0, §9.2; execution/first_90_days.md §0, §3, §6, §7; execution/marketing_channel_plan.md §4</a:t>
            </a:r>
            <a:pPr algn="l" indent="0" marL="0">
              <a:buNone/>
            </a:pPr>
            <a:r>
              <a:rPr lang="en-US" sz="900" b="1" dirty="0">
                <a:solidFill>
                  <a:srgbClr val="6B5F67"/>
                </a:solidFill>
              </a:rPr>
              <a:t>   Note: </a:t>
            </a:r>
            <a:pPr algn="l" indent="0" marL="0">
              <a:buNone/>
            </a:pPr>
            <a:r>
              <a:rPr lang="en-US" sz="900" dirty="0">
                <a:solidFill>
                  <a:srgbClr val="6B5F67"/>
                </a:solidFill>
              </a:rPr>
              <a:t>₹ lakh ex-GST, 19 Oct 2026–17 Jan 2027; day 0 = 19 Oct. Cohort 1 ≈3 students (ESTIMATE). Plan, dates, G0 criteria: RECOMMENDATION.</a:t>
            </a:r>
            <a:endParaRPr lang="en-US" sz="900" dirty="0"/>
          </a:p>
        </p:txBody>
      </p:sp>
      <p:sp>
        <p:nvSpPr>
          <p:cNvPr id="7" name="Grid group"/>
          <p:cNvSpPr txBox="1"/>
          <p:nvPr/>
        </p:nvSpPr>
        <p:spPr>
          <a:xfrm>
            <a:off x="2368296" y="1920240"/>
            <a:ext cx="855316" cy="219456"/>
          </a:xfrm>
          <a:prstGeom prst="rect">
            <a:avLst/>
          </a:prstGeom>
          <a:noFill/>
          <a:ln/>
        </p:spPr>
        <p:txBody>
          <a:bodyPr wrap="square" lIns="0" tIns="0" rIns="0" bIns="0" rtlCol="0" anchor="ctr"/>
          <a:lstStyle/>
          <a:p>
            <a:pPr algn="l" indent="0" marL="0">
              <a:buNone/>
            </a:pPr>
            <a:r>
              <a:rPr lang="en-US" sz="1050" b="1" dirty="0">
                <a:solidFill>
                  <a:schemeClr val="tx2"/>
                </a:solidFill>
              </a:rPr>
              <a:t>Oct 2026</a:t>
            </a:r>
            <a:endParaRPr lang="en-US" sz="1050" dirty="0"/>
          </a:p>
        </p:txBody>
      </p:sp>
      <p:sp>
        <p:nvSpPr>
          <p:cNvPr id="8" name="Grid group 2"/>
          <p:cNvSpPr txBox="1"/>
          <p:nvPr/>
        </p:nvSpPr>
        <p:spPr>
          <a:xfrm>
            <a:off x="3296764" y="1920240"/>
            <a:ext cx="2248017" cy="219456"/>
          </a:xfrm>
          <a:prstGeom prst="rect">
            <a:avLst/>
          </a:prstGeom>
          <a:noFill/>
          <a:ln/>
        </p:spPr>
        <p:txBody>
          <a:bodyPr wrap="square" lIns="0" tIns="0" rIns="0" bIns="0" rtlCol="0" anchor="ctr"/>
          <a:lstStyle/>
          <a:p>
            <a:pPr algn="l" indent="0" marL="0">
              <a:buNone/>
            </a:pPr>
            <a:r>
              <a:rPr lang="en-US" sz="1050" b="1" dirty="0">
                <a:solidFill>
                  <a:schemeClr val="tx2"/>
                </a:solidFill>
              </a:rPr>
              <a:t>Nov</a:t>
            </a:r>
            <a:endParaRPr lang="en-US" sz="1050" dirty="0"/>
          </a:p>
        </p:txBody>
      </p:sp>
      <p:sp>
        <p:nvSpPr>
          <p:cNvPr id="9" name="Grid group 3"/>
          <p:cNvSpPr txBox="1"/>
          <p:nvPr/>
        </p:nvSpPr>
        <p:spPr>
          <a:xfrm>
            <a:off x="5617933" y="1920240"/>
            <a:ext cx="1783783" cy="219456"/>
          </a:xfrm>
          <a:prstGeom prst="rect">
            <a:avLst/>
          </a:prstGeom>
          <a:noFill/>
          <a:ln/>
        </p:spPr>
        <p:txBody>
          <a:bodyPr wrap="square" lIns="0" tIns="0" rIns="0" bIns="0" rtlCol="0" anchor="ctr"/>
          <a:lstStyle/>
          <a:p>
            <a:pPr algn="l" indent="0" marL="0">
              <a:buNone/>
            </a:pPr>
            <a:r>
              <a:rPr lang="en-US" sz="1050" b="1" dirty="0">
                <a:solidFill>
                  <a:schemeClr val="tx2"/>
                </a:solidFill>
              </a:rPr>
              <a:t>Dec</a:t>
            </a:r>
            <a:endParaRPr lang="en-US" sz="1050" dirty="0"/>
          </a:p>
        </p:txBody>
      </p:sp>
      <p:sp>
        <p:nvSpPr>
          <p:cNvPr id="10" name="Grid group 4"/>
          <p:cNvSpPr txBox="1"/>
          <p:nvPr/>
        </p:nvSpPr>
        <p:spPr>
          <a:xfrm>
            <a:off x="7474868" y="1920240"/>
            <a:ext cx="855316" cy="219456"/>
          </a:xfrm>
          <a:prstGeom prst="rect">
            <a:avLst/>
          </a:prstGeom>
          <a:noFill/>
          <a:ln/>
        </p:spPr>
        <p:txBody>
          <a:bodyPr wrap="square" lIns="0" tIns="0" rIns="0" bIns="0" rtlCol="0" anchor="ctr"/>
          <a:lstStyle/>
          <a:p>
            <a:pPr algn="l" indent="0" marL="0">
              <a:buNone/>
            </a:pPr>
            <a:r>
              <a:rPr lang="en-US" sz="1050" b="1" dirty="0">
                <a:solidFill>
                  <a:schemeClr val="tx2"/>
                </a:solidFill>
              </a:rPr>
              <a:t>Jan 2027</a:t>
            </a:r>
            <a:endParaRPr lang="en-US" sz="1050" dirty="0"/>
          </a:p>
        </p:txBody>
      </p:sp>
      <p:sp>
        <p:nvSpPr>
          <p:cNvPr id="11" name="Grid period"/>
          <p:cNvSpPr txBox="1"/>
          <p:nvPr/>
        </p:nvSpPr>
        <p:spPr>
          <a:xfrm>
            <a:off x="2331720"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W1</a:t>
            </a:r>
            <a:endParaRPr lang="en-US" sz="1000" dirty="0"/>
          </a:p>
        </p:txBody>
      </p:sp>
      <p:sp>
        <p:nvSpPr>
          <p:cNvPr id="12" name="Grid period 2"/>
          <p:cNvSpPr txBox="1"/>
          <p:nvPr/>
        </p:nvSpPr>
        <p:spPr>
          <a:xfrm>
            <a:off x="2795954"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W2</a:t>
            </a:r>
            <a:endParaRPr lang="en-US" sz="1000" dirty="0"/>
          </a:p>
        </p:txBody>
      </p:sp>
      <p:sp>
        <p:nvSpPr>
          <p:cNvPr id="13" name="Grid period 3"/>
          <p:cNvSpPr txBox="1"/>
          <p:nvPr/>
        </p:nvSpPr>
        <p:spPr>
          <a:xfrm>
            <a:off x="3260188"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W3</a:t>
            </a:r>
            <a:endParaRPr lang="en-US" sz="1000" dirty="0"/>
          </a:p>
        </p:txBody>
      </p:sp>
      <p:sp>
        <p:nvSpPr>
          <p:cNvPr id="14" name="Grid period 4"/>
          <p:cNvSpPr txBox="1"/>
          <p:nvPr/>
        </p:nvSpPr>
        <p:spPr>
          <a:xfrm>
            <a:off x="3724422"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W4</a:t>
            </a:r>
            <a:endParaRPr lang="en-US" sz="1000" dirty="0"/>
          </a:p>
        </p:txBody>
      </p:sp>
      <p:sp>
        <p:nvSpPr>
          <p:cNvPr id="15" name="Grid period 5"/>
          <p:cNvSpPr txBox="1"/>
          <p:nvPr/>
        </p:nvSpPr>
        <p:spPr>
          <a:xfrm>
            <a:off x="4188655"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W5</a:t>
            </a:r>
            <a:endParaRPr lang="en-US" sz="1000" dirty="0"/>
          </a:p>
        </p:txBody>
      </p:sp>
      <p:sp>
        <p:nvSpPr>
          <p:cNvPr id="16" name="Grid period 6"/>
          <p:cNvSpPr txBox="1"/>
          <p:nvPr/>
        </p:nvSpPr>
        <p:spPr>
          <a:xfrm>
            <a:off x="4652889"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W6</a:t>
            </a:r>
            <a:endParaRPr lang="en-US" sz="1000" dirty="0"/>
          </a:p>
        </p:txBody>
      </p:sp>
      <p:sp>
        <p:nvSpPr>
          <p:cNvPr id="17" name="Grid period 7"/>
          <p:cNvSpPr txBox="1"/>
          <p:nvPr/>
        </p:nvSpPr>
        <p:spPr>
          <a:xfrm>
            <a:off x="5117123"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W7</a:t>
            </a:r>
            <a:endParaRPr lang="en-US" sz="1000" dirty="0"/>
          </a:p>
        </p:txBody>
      </p:sp>
      <p:sp>
        <p:nvSpPr>
          <p:cNvPr id="18" name="Grid period 8"/>
          <p:cNvSpPr txBox="1"/>
          <p:nvPr/>
        </p:nvSpPr>
        <p:spPr>
          <a:xfrm>
            <a:off x="5581357"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W8</a:t>
            </a:r>
            <a:endParaRPr lang="en-US" sz="1000" dirty="0"/>
          </a:p>
        </p:txBody>
      </p:sp>
      <p:sp>
        <p:nvSpPr>
          <p:cNvPr id="19" name="Grid period 9"/>
          <p:cNvSpPr txBox="1"/>
          <p:nvPr/>
        </p:nvSpPr>
        <p:spPr>
          <a:xfrm>
            <a:off x="6045591"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W9</a:t>
            </a:r>
            <a:endParaRPr lang="en-US" sz="1000" dirty="0"/>
          </a:p>
        </p:txBody>
      </p:sp>
      <p:sp>
        <p:nvSpPr>
          <p:cNvPr id="20" name="Grid period 10"/>
          <p:cNvSpPr txBox="1"/>
          <p:nvPr/>
        </p:nvSpPr>
        <p:spPr>
          <a:xfrm>
            <a:off x="6509825"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W10</a:t>
            </a:r>
            <a:endParaRPr lang="en-US" sz="1000" dirty="0"/>
          </a:p>
        </p:txBody>
      </p:sp>
      <p:sp>
        <p:nvSpPr>
          <p:cNvPr id="21" name="Grid period 11"/>
          <p:cNvSpPr txBox="1"/>
          <p:nvPr/>
        </p:nvSpPr>
        <p:spPr>
          <a:xfrm>
            <a:off x="6974058"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W11</a:t>
            </a:r>
            <a:endParaRPr lang="en-US" sz="1000" dirty="0"/>
          </a:p>
        </p:txBody>
      </p:sp>
      <p:sp>
        <p:nvSpPr>
          <p:cNvPr id="22" name="Grid period 12"/>
          <p:cNvSpPr txBox="1"/>
          <p:nvPr/>
        </p:nvSpPr>
        <p:spPr>
          <a:xfrm>
            <a:off x="7438292"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W12</a:t>
            </a:r>
            <a:endParaRPr lang="en-US" sz="1000" dirty="0"/>
          </a:p>
        </p:txBody>
      </p:sp>
      <p:sp>
        <p:nvSpPr>
          <p:cNvPr id="23" name="Grid period 13"/>
          <p:cNvSpPr txBox="1"/>
          <p:nvPr/>
        </p:nvSpPr>
        <p:spPr>
          <a:xfrm>
            <a:off x="7902526" y="2139696"/>
            <a:ext cx="464234" cy="219456"/>
          </a:xfrm>
          <a:prstGeom prst="rect">
            <a:avLst/>
          </a:prstGeom>
          <a:noFill/>
          <a:ln/>
        </p:spPr>
        <p:txBody>
          <a:bodyPr wrap="square" lIns="0" tIns="0" rIns="0" bIns="0" rtlCol="0" anchor="ctr"/>
          <a:lstStyle/>
          <a:p>
            <a:pPr algn="ctr" indent="0" marL="0">
              <a:buNone/>
            </a:pPr>
            <a:r>
              <a:rPr lang="en-US" sz="1000" dirty="0">
                <a:solidFill>
                  <a:srgbClr val="6B5F67"/>
                </a:solidFill>
              </a:rPr>
              <a:t>W13</a:t>
            </a:r>
            <a:endParaRPr lang="en-US" sz="1000" dirty="0"/>
          </a:p>
        </p:txBody>
      </p:sp>
      <p:sp>
        <p:nvSpPr>
          <p:cNvPr id="24" name="Grid group rule"/>
          <p:cNvSpPr/>
          <p:nvPr/>
        </p:nvSpPr>
        <p:spPr>
          <a:xfrm>
            <a:off x="3260188" y="1920240"/>
            <a:ext cx="0" cy="4151376"/>
          </a:xfrm>
          <a:prstGeom prst="line">
            <a:avLst/>
          </a:prstGeom>
          <a:noFill/>
          <a:ln w="9525">
            <a:solidFill>
              <a:srgbClr val="C9BCB5"/>
            </a:solidFill>
            <a:prstDash val="solid"/>
          </a:ln>
        </p:spPr>
      </p:sp>
      <p:sp>
        <p:nvSpPr>
          <p:cNvPr id="25" name="Grid group rule 2"/>
          <p:cNvSpPr/>
          <p:nvPr/>
        </p:nvSpPr>
        <p:spPr>
          <a:xfrm>
            <a:off x="5581357" y="1920240"/>
            <a:ext cx="0" cy="4151376"/>
          </a:xfrm>
          <a:prstGeom prst="line">
            <a:avLst/>
          </a:prstGeom>
          <a:noFill/>
          <a:ln w="9525">
            <a:solidFill>
              <a:srgbClr val="C9BCB5"/>
            </a:solidFill>
            <a:prstDash val="solid"/>
          </a:ln>
        </p:spPr>
      </p:sp>
      <p:sp>
        <p:nvSpPr>
          <p:cNvPr id="26" name="Grid group rule 3"/>
          <p:cNvSpPr/>
          <p:nvPr/>
        </p:nvSpPr>
        <p:spPr>
          <a:xfrm>
            <a:off x="7438292" y="1920240"/>
            <a:ext cx="0" cy="4151376"/>
          </a:xfrm>
          <a:prstGeom prst="line">
            <a:avLst/>
          </a:prstGeom>
          <a:noFill/>
          <a:ln w="9525">
            <a:solidFill>
              <a:srgbClr val="C9BCB5"/>
            </a:solidFill>
            <a:prstDash val="solid"/>
          </a:ln>
        </p:spPr>
      </p:sp>
      <p:sp>
        <p:nvSpPr>
          <p:cNvPr id="27" name="Grid column rule"/>
          <p:cNvSpPr/>
          <p:nvPr/>
        </p:nvSpPr>
        <p:spPr>
          <a:xfrm>
            <a:off x="2795954" y="2670048"/>
            <a:ext cx="0" cy="3401568"/>
          </a:xfrm>
          <a:prstGeom prst="line">
            <a:avLst/>
          </a:prstGeom>
          <a:noFill/>
          <a:ln w="6350">
            <a:solidFill>
              <a:srgbClr val="E4DAD5"/>
            </a:solidFill>
            <a:prstDash val="solid"/>
          </a:ln>
        </p:spPr>
      </p:sp>
      <p:sp>
        <p:nvSpPr>
          <p:cNvPr id="28" name="Grid column rule 2"/>
          <p:cNvSpPr/>
          <p:nvPr/>
        </p:nvSpPr>
        <p:spPr>
          <a:xfrm>
            <a:off x="3260188" y="2670048"/>
            <a:ext cx="0" cy="3401568"/>
          </a:xfrm>
          <a:prstGeom prst="line">
            <a:avLst/>
          </a:prstGeom>
          <a:noFill/>
          <a:ln w="6350">
            <a:solidFill>
              <a:srgbClr val="E4DAD5"/>
            </a:solidFill>
            <a:prstDash val="solid"/>
          </a:ln>
        </p:spPr>
      </p:sp>
      <p:sp>
        <p:nvSpPr>
          <p:cNvPr id="29" name="Grid column rule 3"/>
          <p:cNvSpPr/>
          <p:nvPr/>
        </p:nvSpPr>
        <p:spPr>
          <a:xfrm>
            <a:off x="3724422" y="2670048"/>
            <a:ext cx="0" cy="3401568"/>
          </a:xfrm>
          <a:prstGeom prst="line">
            <a:avLst/>
          </a:prstGeom>
          <a:noFill/>
          <a:ln w="6350">
            <a:solidFill>
              <a:srgbClr val="E4DAD5"/>
            </a:solidFill>
            <a:prstDash val="solid"/>
          </a:ln>
        </p:spPr>
      </p:sp>
      <p:sp>
        <p:nvSpPr>
          <p:cNvPr id="30" name="Grid column rule 4"/>
          <p:cNvSpPr/>
          <p:nvPr/>
        </p:nvSpPr>
        <p:spPr>
          <a:xfrm>
            <a:off x="4188655" y="2670048"/>
            <a:ext cx="0" cy="3401568"/>
          </a:xfrm>
          <a:prstGeom prst="line">
            <a:avLst/>
          </a:prstGeom>
          <a:noFill/>
          <a:ln w="6350">
            <a:solidFill>
              <a:srgbClr val="E4DAD5"/>
            </a:solidFill>
            <a:prstDash val="solid"/>
          </a:ln>
        </p:spPr>
      </p:sp>
      <p:sp>
        <p:nvSpPr>
          <p:cNvPr id="31" name="Grid column rule 5"/>
          <p:cNvSpPr/>
          <p:nvPr/>
        </p:nvSpPr>
        <p:spPr>
          <a:xfrm>
            <a:off x="4652889" y="2670048"/>
            <a:ext cx="0" cy="3401568"/>
          </a:xfrm>
          <a:prstGeom prst="line">
            <a:avLst/>
          </a:prstGeom>
          <a:noFill/>
          <a:ln w="6350">
            <a:solidFill>
              <a:srgbClr val="E4DAD5"/>
            </a:solidFill>
            <a:prstDash val="solid"/>
          </a:ln>
        </p:spPr>
      </p:sp>
      <p:sp>
        <p:nvSpPr>
          <p:cNvPr id="32" name="Grid column rule 6"/>
          <p:cNvSpPr/>
          <p:nvPr/>
        </p:nvSpPr>
        <p:spPr>
          <a:xfrm>
            <a:off x="5117123" y="2670048"/>
            <a:ext cx="0" cy="3401568"/>
          </a:xfrm>
          <a:prstGeom prst="line">
            <a:avLst/>
          </a:prstGeom>
          <a:noFill/>
          <a:ln w="6350">
            <a:solidFill>
              <a:srgbClr val="E4DAD5"/>
            </a:solidFill>
            <a:prstDash val="solid"/>
          </a:ln>
        </p:spPr>
      </p:sp>
      <p:sp>
        <p:nvSpPr>
          <p:cNvPr id="33" name="Grid column rule 7"/>
          <p:cNvSpPr/>
          <p:nvPr/>
        </p:nvSpPr>
        <p:spPr>
          <a:xfrm>
            <a:off x="5581357" y="2670048"/>
            <a:ext cx="0" cy="3401568"/>
          </a:xfrm>
          <a:prstGeom prst="line">
            <a:avLst/>
          </a:prstGeom>
          <a:noFill/>
          <a:ln w="6350">
            <a:solidFill>
              <a:srgbClr val="E4DAD5"/>
            </a:solidFill>
            <a:prstDash val="solid"/>
          </a:ln>
        </p:spPr>
      </p:sp>
      <p:sp>
        <p:nvSpPr>
          <p:cNvPr id="34" name="Grid column rule 8"/>
          <p:cNvSpPr/>
          <p:nvPr/>
        </p:nvSpPr>
        <p:spPr>
          <a:xfrm>
            <a:off x="6045591" y="2670048"/>
            <a:ext cx="0" cy="3401568"/>
          </a:xfrm>
          <a:prstGeom prst="line">
            <a:avLst/>
          </a:prstGeom>
          <a:noFill/>
          <a:ln w="6350">
            <a:solidFill>
              <a:srgbClr val="E4DAD5"/>
            </a:solidFill>
            <a:prstDash val="solid"/>
          </a:ln>
        </p:spPr>
      </p:sp>
      <p:sp>
        <p:nvSpPr>
          <p:cNvPr id="35" name="Grid column rule 9"/>
          <p:cNvSpPr/>
          <p:nvPr/>
        </p:nvSpPr>
        <p:spPr>
          <a:xfrm>
            <a:off x="6509825" y="2670048"/>
            <a:ext cx="0" cy="3401568"/>
          </a:xfrm>
          <a:prstGeom prst="line">
            <a:avLst/>
          </a:prstGeom>
          <a:noFill/>
          <a:ln w="6350">
            <a:solidFill>
              <a:srgbClr val="E4DAD5"/>
            </a:solidFill>
            <a:prstDash val="solid"/>
          </a:ln>
        </p:spPr>
      </p:sp>
      <p:sp>
        <p:nvSpPr>
          <p:cNvPr id="36" name="Grid column rule 10"/>
          <p:cNvSpPr/>
          <p:nvPr/>
        </p:nvSpPr>
        <p:spPr>
          <a:xfrm>
            <a:off x="6974058" y="2670048"/>
            <a:ext cx="0" cy="3401568"/>
          </a:xfrm>
          <a:prstGeom prst="line">
            <a:avLst/>
          </a:prstGeom>
          <a:noFill/>
          <a:ln w="6350">
            <a:solidFill>
              <a:srgbClr val="E4DAD5"/>
            </a:solidFill>
            <a:prstDash val="solid"/>
          </a:ln>
        </p:spPr>
      </p:sp>
      <p:sp>
        <p:nvSpPr>
          <p:cNvPr id="37" name="Grid column rule 11"/>
          <p:cNvSpPr/>
          <p:nvPr/>
        </p:nvSpPr>
        <p:spPr>
          <a:xfrm>
            <a:off x="7438292" y="2670048"/>
            <a:ext cx="0" cy="3401568"/>
          </a:xfrm>
          <a:prstGeom prst="line">
            <a:avLst/>
          </a:prstGeom>
          <a:noFill/>
          <a:ln w="6350">
            <a:solidFill>
              <a:srgbClr val="E4DAD5"/>
            </a:solidFill>
            <a:prstDash val="solid"/>
          </a:ln>
        </p:spPr>
      </p:sp>
      <p:sp>
        <p:nvSpPr>
          <p:cNvPr id="38" name="Grid column rule 12"/>
          <p:cNvSpPr/>
          <p:nvPr/>
        </p:nvSpPr>
        <p:spPr>
          <a:xfrm>
            <a:off x="7902526" y="2670048"/>
            <a:ext cx="0" cy="3401568"/>
          </a:xfrm>
          <a:prstGeom prst="line">
            <a:avLst/>
          </a:prstGeom>
          <a:noFill/>
          <a:ln w="6350">
            <a:solidFill>
              <a:srgbClr val="E4DAD5"/>
            </a:solidFill>
            <a:prstDash val="solid"/>
          </a:ln>
        </p:spPr>
      </p:sp>
      <p:sp>
        <p:nvSpPr>
          <p:cNvPr id="39" name="Grid header rule"/>
          <p:cNvSpPr/>
          <p:nvPr/>
        </p:nvSpPr>
        <p:spPr>
          <a:xfrm>
            <a:off x="548640" y="2670048"/>
            <a:ext cx="7818120" cy="0"/>
          </a:xfrm>
          <a:prstGeom prst="line">
            <a:avLst/>
          </a:prstGeom>
          <a:noFill/>
          <a:ln w="12700">
            <a:solidFill>
              <a:srgbClr val="C9BCB5"/>
            </a:solidFill>
            <a:prstDash val="solid"/>
          </a:ln>
        </p:spPr>
      </p:sp>
      <p:sp>
        <p:nvSpPr>
          <p:cNvPr id="40" name="Grid marker"/>
          <p:cNvSpPr/>
          <p:nvPr/>
        </p:nvSpPr>
        <p:spPr>
          <a:xfrm>
            <a:off x="8167139" y="2606040"/>
            <a:ext cx="0" cy="3465576"/>
          </a:xfrm>
          <a:prstGeom prst="line">
            <a:avLst/>
          </a:prstGeom>
          <a:noFill/>
          <a:ln w="15875">
            <a:solidFill>
              <a:schemeClr val="accent2"/>
            </a:solidFill>
            <a:prstDash val="dash"/>
          </a:ln>
        </p:spPr>
      </p:sp>
      <p:sp>
        <p:nvSpPr>
          <p:cNvPr id="41" name="Grid marker label"/>
          <p:cNvSpPr txBox="1"/>
          <p:nvPr/>
        </p:nvSpPr>
        <p:spPr>
          <a:xfrm>
            <a:off x="7528095" y="2377440"/>
            <a:ext cx="838665"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G0 Fri 15 Jan</a:t>
            </a:r>
            <a:endParaRPr lang="en-US" sz="900" dirty="0"/>
          </a:p>
        </p:txBody>
      </p:sp>
      <p:sp>
        <p:nvSpPr>
          <p:cNvPr id="42" name="Grid row label"/>
          <p:cNvSpPr txBox="1"/>
          <p:nvPr/>
        </p:nvSpPr>
        <p:spPr>
          <a:xfrm>
            <a:off x="548640" y="2688336"/>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Decisions &amp; data pull</a:t>
            </a:r>
            <a:endParaRPr lang="en-US" sz="1050" dirty="0"/>
          </a:p>
        </p:txBody>
      </p:sp>
      <p:sp>
        <p:nvSpPr>
          <p:cNvPr id="43" name="Grid bar"/>
          <p:cNvSpPr/>
          <p:nvPr/>
        </p:nvSpPr>
        <p:spPr>
          <a:xfrm>
            <a:off x="2350008" y="2763774"/>
            <a:ext cx="659775" cy="237744"/>
          </a:xfrm>
          <a:prstGeom prst="roundRect">
            <a:avLst>
              <a:gd name="adj" fmla="val 50000"/>
            </a:avLst>
          </a:prstGeom>
          <a:solidFill>
            <a:schemeClr val="tx2"/>
          </a:solidFill>
          <a:ln/>
        </p:spPr>
      </p:sp>
      <p:sp>
        <p:nvSpPr>
          <p:cNvPr id="44" name="Grid bar label"/>
          <p:cNvSpPr txBox="1"/>
          <p:nvPr/>
        </p:nvSpPr>
        <p:spPr>
          <a:xfrm>
            <a:off x="3064647" y="2791333"/>
            <a:ext cx="979306"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D1–D9 days 0–10</a:t>
            </a:r>
            <a:endParaRPr lang="en-US" sz="1000" dirty="0"/>
          </a:p>
        </p:txBody>
      </p:sp>
      <p:sp>
        <p:nvSpPr>
          <p:cNvPr id="45" name="Grid row rule"/>
          <p:cNvSpPr/>
          <p:nvPr/>
        </p:nvSpPr>
        <p:spPr>
          <a:xfrm>
            <a:off x="548640" y="3095244"/>
            <a:ext cx="7818120" cy="0"/>
          </a:xfrm>
          <a:prstGeom prst="line">
            <a:avLst/>
          </a:prstGeom>
          <a:noFill/>
          <a:ln w="6350">
            <a:solidFill>
              <a:srgbClr val="E4DAD5"/>
            </a:solidFill>
            <a:prstDash val="solid"/>
          </a:ln>
        </p:spPr>
      </p:sp>
      <p:sp>
        <p:nvSpPr>
          <p:cNvPr id="46" name="Grid row label 2"/>
          <p:cNvSpPr txBox="1"/>
          <p:nvPr/>
        </p:nvSpPr>
        <p:spPr>
          <a:xfrm>
            <a:off x="548640" y="3113532"/>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Ops Lead + CRM/WhatsApp + SLA</a:t>
            </a:r>
            <a:endParaRPr lang="en-US" sz="1050" dirty="0"/>
          </a:p>
        </p:txBody>
      </p:sp>
      <p:sp>
        <p:nvSpPr>
          <p:cNvPr id="47" name="Grid bar 2"/>
          <p:cNvSpPr/>
          <p:nvPr/>
        </p:nvSpPr>
        <p:spPr>
          <a:xfrm>
            <a:off x="2350008" y="3188970"/>
            <a:ext cx="1291133" cy="237744"/>
          </a:xfrm>
          <a:prstGeom prst="roundRect">
            <a:avLst>
              <a:gd name="adj" fmla="val 50000"/>
            </a:avLst>
          </a:prstGeom>
          <a:solidFill>
            <a:schemeClr val="tx2"/>
          </a:solidFill>
          <a:ln/>
        </p:spPr>
      </p:sp>
      <p:sp>
        <p:nvSpPr>
          <p:cNvPr id="48" name="Grid bar label 2"/>
          <p:cNvSpPr txBox="1"/>
          <p:nvPr/>
        </p:nvSpPr>
        <p:spPr>
          <a:xfrm>
            <a:off x="2350008" y="3188970"/>
            <a:ext cx="1291133" cy="237744"/>
          </a:xfrm>
          <a:prstGeom prst="rect">
            <a:avLst/>
          </a:prstGeom>
          <a:noFill/>
          <a:ln/>
        </p:spPr>
        <p:txBody>
          <a:bodyPr wrap="square" lIns="0" tIns="0" rIns="0" bIns="0" rtlCol="0" anchor="ctr"/>
          <a:lstStyle/>
          <a:p>
            <a:pPr algn="ctr" indent="0" marL="0">
              <a:buNone/>
            </a:pPr>
            <a:r>
              <a:rPr lang="en-US" sz="1000" b="1" dirty="0">
                <a:solidFill>
                  <a:schemeClr val="bg1"/>
                </a:solidFill>
              </a:rPr>
              <a:t>Set up</a:t>
            </a:r>
            <a:endParaRPr lang="en-US" sz="1000" dirty="0"/>
          </a:p>
        </p:txBody>
      </p:sp>
      <p:sp>
        <p:nvSpPr>
          <p:cNvPr id="49" name="Grid bar 3"/>
          <p:cNvSpPr/>
          <p:nvPr/>
        </p:nvSpPr>
        <p:spPr>
          <a:xfrm>
            <a:off x="3677717" y="3188970"/>
            <a:ext cx="4670755" cy="237744"/>
          </a:xfrm>
          <a:prstGeom prst="roundRect">
            <a:avLst>
              <a:gd name="adj" fmla="val 50000"/>
            </a:avLst>
          </a:prstGeom>
          <a:solidFill>
            <a:schemeClr val="accent3"/>
          </a:solidFill>
          <a:ln/>
        </p:spPr>
      </p:sp>
      <p:sp>
        <p:nvSpPr>
          <p:cNvPr id="50" name="Grid bar label 3"/>
          <p:cNvSpPr txBox="1"/>
          <p:nvPr/>
        </p:nvSpPr>
        <p:spPr>
          <a:xfrm>
            <a:off x="3677717" y="3188970"/>
            <a:ext cx="4670755" cy="237744"/>
          </a:xfrm>
          <a:prstGeom prst="rect">
            <a:avLst/>
          </a:prstGeom>
          <a:noFill/>
          <a:ln/>
        </p:spPr>
        <p:txBody>
          <a:bodyPr wrap="square" lIns="0" tIns="0" rIns="0" bIns="0" rtlCol="0" anchor="ctr"/>
          <a:lstStyle/>
          <a:p>
            <a:pPr algn="ctr" indent="0" marL="0">
              <a:buNone/>
            </a:pPr>
            <a:r>
              <a:rPr lang="en-US" sz="1000" b="1" dirty="0">
                <a:solidFill>
                  <a:schemeClr val="tx1"/>
                </a:solidFill>
              </a:rPr>
              <a:t>Live day 20 · Ops Lead in post 2 Nov · median reply ≤15 min</a:t>
            </a:r>
            <a:endParaRPr lang="en-US" sz="1000" dirty="0"/>
          </a:p>
        </p:txBody>
      </p:sp>
      <p:sp>
        <p:nvSpPr>
          <p:cNvPr id="51" name="Grid row rule 2"/>
          <p:cNvSpPr/>
          <p:nvPr/>
        </p:nvSpPr>
        <p:spPr>
          <a:xfrm>
            <a:off x="548640" y="3520440"/>
            <a:ext cx="7818120" cy="0"/>
          </a:xfrm>
          <a:prstGeom prst="line">
            <a:avLst/>
          </a:prstGeom>
          <a:noFill/>
          <a:ln w="6350">
            <a:solidFill>
              <a:srgbClr val="E4DAD5"/>
            </a:solidFill>
            <a:prstDash val="solid"/>
          </a:ln>
        </p:spPr>
      </p:sp>
      <p:sp>
        <p:nvSpPr>
          <p:cNvPr id="52" name="Grid row label 3"/>
          <p:cNvSpPr txBox="1"/>
          <p:nvPr/>
        </p:nvSpPr>
        <p:spPr>
          <a:xfrm>
            <a:off x="548640" y="3538728"/>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GBP + academy Instagram</a:t>
            </a:r>
            <a:endParaRPr lang="en-US" sz="1050" dirty="0"/>
          </a:p>
        </p:txBody>
      </p:sp>
      <p:sp>
        <p:nvSpPr>
          <p:cNvPr id="53" name="Grid milestone"/>
          <p:cNvSpPr/>
          <p:nvPr/>
        </p:nvSpPr>
        <p:spPr>
          <a:xfrm>
            <a:off x="3173320" y="3646170"/>
            <a:ext cx="173736" cy="173736"/>
          </a:xfrm>
          <a:prstGeom prst="diamond">
            <a:avLst/>
          </a:prstGeom>
          <a:solidFill>
            <a:schemeClr val="accent2"/>
          </a:solidFill>
          <a:ln w="12700">
            <a:solidFill>
              <a:schemeClr val="bg1"/>
            </a:solidFill>
            <a:prstDash val="solid"/>
          </a:ln>
        </p:spPr>
      </p:sp>
      <p:sp>
        <p:nvSpPr>
          <p:cNvPr id="54" name="Grid point label"/>
          <p:cNvSpPr txBox="1"/>
          <p:nvPr/>
        </p:nvSpPr>
        <p:spPr>
          <a:xfrm>
            <a:off x="3392776" y="3641725"/>
            <a:ext cx="659004"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GBP day 14</a:t>
            </a:r>
            <a:endParaRPr lang="en-US" sz="1000" dirty="0"/>
          </a:p>
        </p:txBody>
      </p:sp>
      <p:sp>
        <p:nvSpPr>
          <p:cNvPr id="55" name="Grid milestone 2"/>
          <p:cNvSpPr/>
          <p:nvPr/>
        </p:nvSpPr>
        <p:spPr>
          <a:xfrm>
            <a:off x="4501028" y="3646170"/>
            <a:ext cx="173736" cy="173736"/>
          </a:xfrm>
          <a:prstGeom prst="diamond">
            <a:avLst/>
          </a:prstGeom>
          <a:solidFill>
            <a:schemeClr val="accent2"/>
          </a:solidFill>
          <a:ln w="12700">
            <a:solidFill>
              <a:schemeClr val="bg1"/>
            </a:solidFill>
            <a:prstDash val="solid"/>
          </a:ln>
        </p:spPr>
      </p:sp>
      <p:sp>
        <p:nvSpPr>
          <p:cNvPr id="56" name="Grid point label 2"/>
          <p:cNvSpPr txBox="1"/>
          <p:nvPr/>
        </p:nvSpPr>
        <p:spPr>
          <a:xfrm>
            <a:off x="4720484" y="3641725"/>
            <a:ext cx="971673"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Instagram day 34</a:t>
            </a:r>
            <a:endParaRPr lang="en-US" sz="1000" dirty="0"/>
          </a:p>
        </p:txBody>
      </p:sp>
      <p:sp>
        <p:nvSpPr>
          <p:cNvPr id="57" name="Grid row rule 3"/>
          <p:cNvSpPr/>
          <p:nvPr/>
        </p:nvSpPr>
        <p:spPr>
          <a:xfrm>
            <a:off x="548640" y="3945636"/>
            <a:ext cx="7818120" cy="0"/>
          </a:xfrm>
          <a:prstGeom prst="line">
            <a:avLst/>
          </a:prstGeom>
          <a:noFill/>
          <a:ln w="6350">
            <a:solidFill>
              <a:srgbClr val="E4DAD5"/>
            </a:solidFill>
            <a:prstDash val="solid"/>
          </a:ln>
        </p:spPr>
      </p:sp>
      <p:sp>
        <p:nvSpPr>
          <p:cNvPr id="58" name="Grid row label 4"/>
          <p:cNvSpPr txBox="1"/>
          <p:nvPr/>
        </p:nvSpPr>
        <p:spPr>
          <a:xfrm>
            <a:off x="548640" y="3963924"/>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Website: 5 core pages + fee ladder</a:t>
            </a:r>
            <a:endParaRPr lang="en-US" sz="1050" dirty="0"/>
          </a:p>
        </p:txBody>
      </p:sp>
      <p:sp>
        <p:nvSpPr>
          <p:cNvPr id="59" name="Grid bar 4"/>
          <p:cNvSpPr/>
          <p:nvPr/>
        </p:nvSpPr>
        <p:spPr>
          <a:xfrm>
            <a:off x="2350008" y="4039362"/>
            <a:ext cx="1755367" cy="237744"/>
          </a:xfrm>
          <a:prstGeom prst="roundRect">
            <a:avLst>
              <a:gd name="adj" fmla="val 50000"/>
            </a:avLst>
          </a:prstGeom>
          <a:solidFill>
            <a:schemeClr val="accent1"/>
          </a:solidFill>
          <a:ln/>
        </p:spPr>
      </p:sp>
      <p:sp>
        <p:nvSpPr>
          <p:cNvPr id="60" name="Grid bar label 4"/>
          <p:cNvSpPr txBox="1"/>
          <p:nvPr/>
        </p:nvSpPr>
        <p:spPr>
          <a:xfrm>
            <a:off x="2350008" y="4039362"/>
            <a:ext cx="1755367" cy="237744"/>
          </a:xfrm>
          <a:prstGeom prst="rect">
            <a:avLst/>
          </a:prstGeom>
          <a:noFill/>
          <a:ln/>
        </p:spPr>
        <p:txBody>
          <a:bodyPr wrap="square" lIns="0" tIns="0" rIns="0" bIns="0" rtlCol="0" anchor="ctr"/>
          <a:lstStyle/>
          <a:p>
            <a:pPr algn="ctr" indent="0" marL="0">
              <a:buNone/>
            </a:pPr>
            <a:r>
              <a:rPr lang="en-US" sz="1000" b="1" dirty="0">
                <a:solidFill>
                  <a:schemeClr val="bg1"/>
                </a:solidFill>
              </a:rPr>
              <a:t>Build</a:t>
            </a:r>
            <a:endParaRPr lang="en-US" sz="1000" dirty="0"/>
          </a:p>
        </p:txBody>
      </p:sp>
      <p:sp>
        <p:nvSpPr>
          <p:cNvPr id="61" name="Grid milestone 3"/>
          <p:cNvSpPr/>
          <p:nvPr/>
        </p:nvSpPr>
        <p:spPr>
          <a:xfrm>
            <a:off x="4036795" y="4071366"/>
            <a:ext cx="173736" cy="173736"/>
          </a:xfrm>
          <a:prstGeom prst="diamond">
            <a:avLst/>
          </a:prstGeom>
          <a:solidFill>
            <a:schemeClr val="accent2"/>
          </a:solidFill>
          <a:ln w="12700">
            <a:solidFill>
              <a:schemeClr val="bg1"/>
            </a:solidFill>
            <a:prstDash val="solid"/>
          </a:ln>
        </p:spPr>
      </p:sp>
      <p:sp>
        <p:nvSpPr>
          <p:cNvPr id="62" name="Grid point label 3"/>
          <p:cNvSpPr txBox="1"/>
          <p:nvPr/>
        </p:nvSpPr>
        <p:spPr>
          <a:xfrm>
            <a:off x="4256251" y="4066921"/>
            <a:ext cx="646920"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Live day 27</a:t>
            </a:r>
            <a:endParaRPr lang="en-US" sz="1000" dirty="0"/>
          </a:p>
        </p:txBody>
      </p:sp>
      <p:sp>
        <p:nvSpPr>
          <p:cNvPr id="63" name="Grid row rule 4"/>
          <p:cNvSpPr/>
          <p:nvPr/>
        </p:nvSpPr>
        <p:spPr>
          <a:xfrm>
            <a:off x="548640" y="4370832"/>
            <a:ext cx="7818120" cy="0"/>
          </a:xfrm>
          <a:prstGeom prst="line">
            <a:avLst/>
          </a:prstGeom>
          <a:noFill/>
          <a:ln w="6350">
            <a:solidFill>
              <a:srgbClr val="E4DAD5"/>
            </a:solidFill>
            <a:prstDash val="solid"/>
          </a:ln>
        </p:spPr>
      </p:sp>
      <p:sp>
        <p:nvSpPr>
          <p:cNvPr id="64" name="Grid row label 5"/>
          <p:cNvSpPr txBox="1"/>
          <p:nvPr/>
        </p:nvSpPr>
        <p:spPr>
          <a:xfrm>
            <a:off x="548640" y="4389120"/>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Lead Trainer</a:t>
            </a:r>
            <a:endParaRPr lang="en-US" sz="1050" dirty="0"/>
          </a:p>
        </p:txBody>
      </p:sp>
      <p:sp>
        <p:nvSpPr>
          <p:cNvPr id="65" name="Grid bar 5"/>
          <p:cNvSpPr/>
          <p:nvPr/>
        </p:nvSpPr>
        <p:spPr>
          <a:xfrm>
            <a:off x="2350008" y="4464558"/>
            <a:ext cx="2813820" cy="237744"/>
          </a:xfrm>
          <a:prstGeom prst="roundRect">
            <a:avLst>
              <a:gd name="adj" fmla="val 50000"/>
            </a:avLst>
          </a:prstGeom>
          <a:solidFill>
            <a:schemeClr val="accent3"/>
          </a:solidFill>
          <a:ln/>
        </p:spPr>
      </p:sp>
      <p:sp>
        <p:nvSpPr>
          <p:cNvPr id="66" name="Grid bar label 5"/>
          <p:cNvSpPr txBox="1"/>
          <p:nvPr/>
        </p:nvSpPr>
        <p:spPr>
          <a:xfrm>
            <a:off x="2350008" y="4464558"/>
            <a:ext cx="2813820" cy="237744"/>
          </a:xfrm>
          <a:prstGeom prst="rect">
            <a:avLst/>
          </a:prstGeom>
          <a:noFill/>
          <a:ln/>
        </p:spPr>
        <p:txBody>
          <a:bodyPr wrap="square" lIns="0" tIns="0" rIns="0" bIns="0" rtlCol="0" anchor="ctr"/>
          <a:lstStyle/>
          <a:p>
            <a:pPr algn="ctr" indent="0" marL="0">
              <a:buNone/>
            </a:pPr>
            <a:r>
              <a:rPr lang="en-US" sz="1000" b="1" dirty="0">
                <a:solidFill>
                  <a:schemeClr val="tx1"/>
                </a:solidFill>
              </a:rPr>
              <a:t>Search: two finalists</a:t>
            </a:r>
            <a:endParaRPr lang="en-US" sz="1000" dirty="0"/>
          </a:p>
        </p:txBody>
      </p:sp>
      <p:sp>
        <p:nvSpPr>
          <p:cNvPr id="67" name="Grid bar 6"/>
          <p:cNvSpPr/>
          <p:nvPr/>
        </p:nvSpPr>
        <p:spPr>
          <a:xfrm>
            <a:off x="5200404" y="4464558"/>
            <a:ext cx="2219600" cy="237744"/>
          </a:xfrm>
          <a:prstGeom prst="roundRect">
            <a:avLst>
              <a:gd name="adj" fmla="val 50000"/>
            </a:avLst>
          </a:prstGeom>
          <a:solidFill>
            <a:schemeClr val="accent1"/>
          </a:solidFill>
          <a:ln/>
        </p:spPr>
      </p:sp>
      <p:sp>
        <p:nvSpPr>
          <p:cNvPr id="68" name="Grid bar label 6"/>
          <p:cNvSpPr txBox="1"/>
          <p:nvPr/>
        </p:nvSpPr>
        <p:spPr>
          <a:xfrm>
            <a:off x="5200404" y="4464558"/>
            <a:ext cx="2219600" cy="237744"/>
          </a:xfrm>
          <a:prstGeom prst="rect">
            <a:avLst/>
          </a:prstGeom>
          <a:noFill/>
          <a:ln/>
        </p:spPr>
        <p:txBody>
          <a:bodyPr wrap="square" lIns="0" tIns="0" rIns="0" bIns="0" rtlCol="0" anchor="ctr"/>
          <a:lstStyle/>
          <a:p>
            <a:pPr algn="ctr" indent="0" marL="0">
              <a:buNone/>
            </a:pPr>
            <a:r>
              <a:rPr lang="en-US" sz="1000" b="1" dirty="0">
                <a:solidFill>
                  <a:schemeClr val="bg1"/>
                </a:solidFill>
              </a:rPr>
              <a:t>Shadowing from 1 Dec</a:t>
            </a:r>
            <a:endParaRPr lang="en-US" sz="1000" dirty="0"/>
          </a:p>
        </p:txBody>
      </p:sp>
      <p:sp>
        <p:nvSpPr>
          <p:cNvPr id="69" name="Grid bar 7"/>
          <p:cNvSpPr/>
          <p:nvPr/>
        </p:nvSpPr>
        <p:spPr>
          <a:xfrm>
            <a:off x="7456580" y="4464558"/>
            <a:ext cx="891892" cy="237744"/>
          </a:xfrm>
          <a:prstGeom prst="roundRect">
            <a:avLst>
              <a:gd name="adj" fmla="val 50000"/>
            </a:avLst>
          </a:prstGeom>
          <a:solidFill>
            <a:schemeClr val="accent2"/>
          </a:solidFill>
          <a:ln/>
        </p:spPr>
      </p:sp>
      <p:sp>
        <p:nvSpPr>
          <p:cNvPr id="70" name="Grid bar label 7"/>
          <p:cNvSpPr txBox="1"/>
          <p:nvPr/>
        </p:nvSpPr>
        <p:spPr>
          <a:xfrm>
            <a:off x="7456580" y="4464558"/>
            <a:ext cx="891892" cy="237744"/>
          </a:xfrm>
          <a:prstGeom prst="rect">
            <a:avLst/>
          </a:prstGeom>
          <a:noFill/>
          <a:ln/>
        </p:spPr>
        <p:txBody>
          <a:bodyPr wrap="square" lIns="0" tIns="0" rIns="0" bIns="0" rtlCol="0" anchor="ctr"/>
          <a:lstStyle/>
          <a:p>
            <a:pPr algn="ctr" indent="0" marL="0">
              <a:buNone/>
            </a:pPr>
            <a:r>
              <a:rPr lang="en-US" sz="1000" b="1" dirty="0">
                <a:solidFill>
                  <a:schemeClr val="tx1"/>
                </a:solidFill>
              </a:rPr>
              <a:t>Co-teach</a:t>
            </a:r>
            <a:endParaRPr lang="en-US" sz="1000" dirty="0"/>
          </a:p>
        </p:txBody>
      </p:sp>
      <p:sp>
        <p:nvSpPr>
          <p:cNvPr id="71" name="Grid row rule 5"/>
          <p:cNvSpPr/>
          <p:nvPr/>
        </p:nvSpPr>
        <p:spPr>
          <a:xfrm>
            <a:off x="548640" y="4796028"/>
            <a:ext cx="7818120" cy="0"/>
          </a:xfrm>
          <a:prstGeom prst="line">
            <a:avLst/>
          </a:prstGeom>
          <a:noFill/>
          <a:ln w="6350">
            <a:solidFill>
              <a:srgbClr val="E4DAD5"/>
            </a:solidFill>
            <a:prstDash val="solid"/>
          </a:ln>
        </p:spPr>
      </p:sp>
      <p:sp>
        <p:nvSpPr>
          <p:cNvPr id="72" name="Grid row label 6"/>
          <p:cNvSpPr txBox="1"/>
          <p:nvPr/>
        </p:nvSpPr>
        <p:spPr>
          <a:xfrm>
            <a:off x="548640" y="4814316"/>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Proof assets</a:t>
            </a:r>
            <a:endParaRPr lang="en-US" sz="1050" dirty="0"/>
          </a:p>
        </p:txBody>
      </p:sp>
      <p:sp>
        <p:nvSpPr>
          <p:cNvPr id="73" name="Grid milestone 4"/>
          <p:cNvSpPr/>
          <p:nvPr/>
        </p:nvSpPr>
        <p:spPr>
          <a:xfrm>
            <a:off x="3572561" y="4921758"/>
            <a:ext cx="173736" cy="173736"/>
          </a:xfrm>
          <a:prstGeom prst="diamond">
            <a:avLst/>
          </a:prstGeom>
          <a:solidFill>
            <a:schemeClr val="accent2"/>
          </a:solidFill>
          <a:ln w="12700">
            <a:solidFill>
              <a:schemeClr val="bg1"/>
            </a:solidFill>
            <a:prstDash val="solid"/>
          </a:ln>
        </p:spPr>
      </p:sp>
      <p:sp>
        <p:nvSpPr>
          <p:cNvPr id="74" name="Grid point label 4"/>
          <p:cNvSpPr txBox="1"/>
          <p:nvPr/>
        </p:nvSpPr>
        <p:spPr>
          <a:xfrm>
            <a:off x="2386584" y="4839716"/>
            <a:ext cx="1140257" cy="337820"/>
          </a:xfrm>
          <a:prstGeom prst="rect">
            <a:avLst/>
          </a:prstGeom>
          <a:solidFill>
            <a:schemeClr val="bg2"/>
          </a:solidFill>
          <a:ln/>
        </p:spPr>
        <p:txBody>
          <a:bodyPr wrap="square" lIns="0" tIns="0" rIns="0" bIns="0" rtlCol="0" anchor="ctr"/>
          <a:lstStyle/>
          <a:p>
            <a:pPr algn="r" indent="0" marL="0">
              <a:buNone/>
            </a:pPr>
            <a:r>
              <a:rPr lang="en-US" sz="1000" dirty="0">
                <a:solidFill>
                  <a:schemeClr val="tx1"/>
                </a:solidFill>
              </a:rPr>
              <a:t>Portfolio-day shoot; alumni survey day 20</a:t>
            </a:r>
            <a:endParaRPr lang="en-US" sz="1000" dirty="0"/>
          </a:p>
        </p:txBody>
      </p:sp>
      <p:sp>
        <p:nvSpPr>
          <p:cNvPr id="75" name="Grid text"/>
          <p:cNvSpPr txBox="1"/>
          <p:nvPr/>
        </p:nvSpPr>
        <p:spPr>
          <a:xfrm>
            <a:off x="6788365" y="4917313"/>
            <a:ext cx="1528980" cy="182626"/>
          </a:xfrm>
          <a:prstGeom prst="rect">
            <a:avLst/>
          </a:prstGeom>
          <a:solidFill>
            <a:schemeClr val="bg2"/>
          </a:solidFill>
          <a:ln/>
        </p:spPr>
        <p:txBody>
          <a:bodyPr wrap="square" lIns="0" tIns="0" rIns="0" bIns="0" rtlCol="0" anchor="ctr"/>
          <a:lstStyle/>
          <a:p>
            <a:pPr algn="l" indent="0" marL="0">
              <a:buNone/>
            </a:pPr>
            <a:r>
              <a:rPr lang="en-US" sz="1000" b="1" dirty="0">
                <a:solidFill>
                  <a:srgbClr val="A4513F"/>
                </a:solidFill>
              </a:rPr>
              <a:t>Outcomes Report 31 Jan →</a:t>
            </a:r>
            <a:endParaRPr lang="en-US" sz="1000" dirty="0"/>
          </a:p>
        </p:txBody>
      </p:sp>
      <p:sp>
        <p:nvSpPr>
          <p:cNvPr id="76" name="Grid row rule 6"/>
          <p:cNvSpPr/>
          <p:nvPr/>
        </p:nvSpPr>
        <p:spPr>
          <a:xfrm>
            <a:off x="548640" y="5221224"/>
            <a:ext cx="7818120" cy="0"/>
          </a:xfrm>
          <a:prstGeom prst="line">
            <a:avLst/>
          </a:prstGeom>
          <a:noFill/>
          <a:ln w="6350">
            <a:solidFill>
              <a:srgbClr val="E4DAD5"/>
            </a:solidFill>
            <a:prstDash val="solid"/>
          </a:ln>
        </p:spPr>
      </p:sp>
      <p:sp>
        <p:nvSpPr>
          <p:cNvPr id="77" name="Grid row label 7"/>
          <p:cNvSpPr txBox="1"/>
          <p:nvPr/>
        </p:nvSpPr>
        <p:spPr>
          <a:xfrm>
            <a:off x="548640" y="5239512"/>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Paid tests</a:t>
            </a:r>
            <a:endParaRPr lang="en-US" sz="1050" dirty="0"/>
          </a:p>
        </p:txBody>
      </p:sp>
      <p:sp>
        <p:nvSpPr>
          <p:cNvPr id="78" name="Grid bar 8"/>
          <p:cNvSpPr/>
          <p:nvPr/>
        </p:nvSpPr>
        <p:spPr>
          <a:xfrm>
            <a:off x="3278476" y="5314950"/>
            <a:ext cx="1820359" cy="237744"/>
          </a:xfrm>
          <a:prstGeom prst="roundRect">
            <a:avLst>
              <a:gd name="adj" fmla="val 50000"/>
            </a:avLst>
          </a:prstGeom>
          <a:solidFill>
            <a:schemeClr val="accent3"/>
          </a:solidFill>
          <a:ln/>
        </p:spPr>
      </p:sp>
      <p:sp>
        <p:nvSpPr>
          <p:cNvPr id="79" name="Grid bar label 8"/>
          <p:cNvSpPr txBox="1"/>
          <p:nvPr/>
        </p:nvSpPr>
        <p:spPr>
          <a:xfrm>
            <a:off x="3278476" y="5314950"/>
            <a:ext cx="1820359" cy="237744"/>
          </a:xfrm>
          <a:prstGeom prst="rect">
            <a:avLst/>
          </a:prstGeom>
          <a:noFill/>
          <a:ln/>
        </p:spPr>
        <p:txBody>
          <a:bodyPr wrap="square" lIns="0" tIns="0" rIns="0" bIns="0" rtlCol="0" anchor="ctr"/>
          <a:lstStyle/>
          <a:p>
            <a:pPr algn="ctr" indent="0" marL="0">
              <a:buNone/>
            </a:pPr>
            <a:r>
              <a:rPr lang="en-US" sz="1000" b="1" dirty="0">
                <a:solidFill>
                  <a:schemeClr val="tx1"/>
                </a:solidFill>
              </a:rPr>
              <a:t>Plumbing test Nov</a:t>
            </a:r>
            <a:endParaRPr lang="en-US" sz="1000" dirty="0"/>
          </a:p>
        </p:txBody>
      </p:sp>
      <p:sp>
        <p:nvSpPr>
          <p:cNvPr id="80" name="Grid bar 9"/>
          <p:cNvSpPr/>
          <p:nvPr/>
        </p:nvSpPr>
        <p:spPr>
          <a:xfrm>
            <a:off x="5135411" y="5314950"/>
            <a:ext cx="2052476" cy="237744"/>
          </a:xfrm>
          <a:prstGeom prst="roundRect">
            <a:avLst>
              <a:gd name="adj" fmla="val 50000"/>
            </a:avLst>
          </a:prstGeom>
          <a:solidFill>
            <a:schemeClr val="accent1"/>
          </a:solidFill>
          <a:ln/>
        </p:spPr>
      </p:sp>
      <p:sp>
        <p:nvSpPr>
          <p:cNvPr id="81" name="Grid bar label 9"/>
          <p:cNvSpPr txBox="1"/>
          <p:nvPr/>
        </p:nvSpPr>
        <p:spPr>
          <a:xfrm>
            <a:off x="5135411" y="5314950"/>
            <a:ext cx="2052476" cy="237744"/>
          </a:xfrm>
          <a:prstGeom prst="rect">
            <a:avLst/>
          </a:prstGeom>
          <a:noFill/>
          <a:ln/>
        </p:spPr>
        <p:txBody>
          <a:bodyPr wrap="square" lIns="0" tIns="0" rIns="0" bIns="0" rtlCol="0" anchor="ctr"/>
          <a:lstStyle/>
          <a:p>
            <a:pPr algn="ctr" indent="0" marL="0">
              <a:buNone/>
            </a:pPr>
            <a:r>
              <a:rPr lang="en-US" sz="1000" b="1" dirty="0">
                <a:solidFill>
                  <a:schemeClr val="bg1"/>
                </a:solidFill>
              </a:rPr>
              <a:t>T3 taster Dec</a:t>
            </a:r>
            <a:endParaRPr lang="en-US" sz="1000" dirty="0"/>
          </a:p>
        </p:txBody>
      </p:sp>
      <p:sp>
        <p:nvSpPr>
          <p:cNvPr id="82" name="Grid text 2"/>
          <p:cNvSpPr txBox="1"/>
          <p:nvPr/>
        </p:nvSpPr>
        <p:spPr>
          <a:xfrm>
            <a:off x="7252599" y="5342509"/>
            <a:ext cx="1038106" cy="182626"/>
          </a:xfrm>
          <a:prstGeom prst="rect">
            <a:avLst/>
          </a:prstGeom>
          <a:solidFill>
            <a:schemeClr val="bg2"/>
          </a:solidFill>
          <a:ln/>
        </p:spPr>
        <p:txBody>
          <a:bodyPr wrap="square" lIns="0" tIns="0" rIns="0" bIns="0" rtlCol="0" anchor="ctr"/>
          <a:lstStyle/>
          <a:p>
            <a:pPr algn="l" indent="0" marL="0">
              <a:buNone/>
            </a:pPr>
            <a:r>
              <a:rPr lang="en-US" sz="1000" b="1" dirty="0">
                <a:solidFill>
                  <a:srgbClr val="A4513F"/>
                </a:solidFill>
              </a:rPr>
              <a:t>T1/T2 from 18 Jan</a:t>
            </a:r>
            <a:endParaRPr lang="en-US" sz="1000" dirty="0"/>
          </a:p>
        </p:txBody>
      </p:sp>
      <p:sp>
        <p:nvSpPr>
          <p:cNvPr id="83" name="Grid row rule 7"/>
          <p:cNvSpPr/>
          <p:nvPr/>
        </p:nvSpPr>
        <p:spPr>
          <a:xfrm>
            <a:off x="548640" y="5646420"/>
            <a:ext cx="7818120" cy="0"/>
          </a:xfrm>
          <a:prstGeom prst="line">
            <a:avLst/>
          </a:prstGeom>
          <a:noFill/>
          <a:ln w="6350">
            <a:solidFill>
              <a:srgbClr val="E4DAD5"/>
            </a:solidFill>
            <a:prstDash val="solid"/>
          </a:ln>
        </p:spPr>
      </p:sp>
      <p:sp>
        <p:nvSpPr>
          <p:cNvPr id="84" name="Grid row label 8"/>
          <p:cNvSpPr txBox="1"/>
          <p:nvPr/>
        </p:nvSpPr>
        <p:spPr>
          <a:xfrm>
            <a:off x="548640" y="5664708"/>
            <a:ext cx="1691640" cy="388620"/>
          </a:xfrm>
          <a:prstGeom prst="rect">
            <a:avLst/>
          </a:prstGeom>
          <a:noFill/>
          <a:ln/>
        </p:spPr>
        <p:txBody>
          <a:bodyPr wrap="square" lIns="0" tIns="0" rIns="0" bIns="0" rtlCol="0" anchor="ctr"/>
          <a:lstStyle/>
          <a:p>
            <a:pPr algn="l" indent="0" marL="0">
              <a:buNone/>
            </a:pPr>
            <a:r>
              <a:rPr lang="en-US" sz="1050" dirty="0">
                <a:solidFill>
                  <a:schemeClr val="tx1"/>
                </a:solidFill>
              </a:rPr>
              <a:t>Legal / GST / B&amp;WSSC</a:t>
            </a:r>
            <a:endParaRPr lang="en-US" sz="1050" dirty="0"/>
          </a:p>
        </p:txBody>
      </p:sp>
      <p:sp>
        <p:nvSpPr>
          <p:cNvPr id="85" name="Grid milestone 5"/>
          <p:cNvSpPr/>
          <p:nvPr/>
        </p:nvSpPr>
        <p:spPr>
          <a:xfrm>
            <a:off x="3637554" y="5772150"/>
            <a:ext cx="173736" cy="173736"/>
          </a:xfrm>
          <a:prstGeom prst="diamond">
            <a:avLst/>
          </a:prstGeom>
          <a:solidFill>
            <a:schemeClr val="accent2"/>
          </a:solidFill>
          <a:ln w="12700">
            <a:solidFill>
              <a:schemeClr val="bg1"/>
            </a:solidFill>
            <a:prstDash val="solid"/>
          </a:ln>
        </p:spPr>
      </p:sp>
      <p:sp>
        <p:nvSpPr>
          <p:cNvPr id="86" name="Grid point label 5"/>
          <p:cNvSpPr txBox="1"/>
          <p:nvPr/>
        </p:nvSpPr>
        <p:spPr>
          <a:xfrm>
            <a:off x="3857010" y="5767705"/>
            <a:ext cx="1017249"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CA opinion day 21</a:t>
            </a:r>
            <a:endParaRPr lang="en-US" sz="1000" dirty="0"/>
          </a:p>
        </p:txBody>
      </p:sp>
      <p:sp>
        <p:nvSpPr>
          <p:cNvPr id="87" name="Grid milestone 6"/>
          <p:cNvSpPr/>
          <p:nvPr/>
        </p:nvSpPr>
        <p:spPr>
          <a:xfrm>
            <a:off x="7286432" y="5772150"/>
            <a:ext cx="173736" cy="173736"/>
          </a:xfrm>
          <a:prstGeom prst="diamond">
            <a:avLst/>
          </a:prstGeom>
          <a:solidFill>
            <a:schemeClr val="accent2"/>
          </a:solidFill>
          <a:ln w="12700">
            <a:solidFill>
              <a:schemeClr val="bg1"/>
            </a:solidFill>
            <a:prstDash val="solid"/>
          </a:ln>
        </p:spPr>
      </p:sp>
      <p:sp>
        <p:nvSpPr>
          <p:cNvPr id="88" name="Grid point label 6"/>
          <p:cNvSpPr txBox="1"/>
          <p:nvPr/>
        </p:nvSpPr>
        <p:spPr>
          <a:xfrm>
            <a:off x="5742303" y="5767705"/>
            <a:ext cx="1498409" cy="182626"/>
          </a:xfrm>
          <a:prstGeom prst="rect">
            <a:avLst/>
          </a:prstGeom>
          <a:solidFill>
            <a:schemeClr val="bg2"/>
          </a:solidFill>
          <a:ln/>
        </p:spPr>
        <p:txBody>
          <a:bodyPr wrap="square" lIns="0" tIns="0" rIns="0" bIns="0" rtlCol="0" anchor="ctr"/>
          <a:lstStyle/>
          <a:p>
            <a:pPr algn="r" indent="0" marL="0">
              <a:buNone/>
            </a:pPr>
            <a:r>
              <a:rPr lang="en-US" sz="1000" dirty="0">
                <a:solidFill>
                  <a:schemeClr val="tx1"/>
                </a:solidFill>
              </a:rPr>
              <a:t>B&amp;WSSC enquiry by day 76</a:t>
            </a:r>
            <a:endParaRPr lang="en-US" sz="1000" dirty="0"/>
          </a:p>
        </p:txBody>
      </p:sp>
      <p:sp>
        <p:nvSpPr>
          <p:cNvPr id="89" name="Grid bottom rule"/>
          <p:cNvSpPr/>
          <p:nvPr/>
        </p:nvSpPr>
        <p:spPr>
          <a:xfrm>
            <a:off x="548640" y="6071616"/>
            <a:ext cx="7818120" cy="0"/>
          </a:xfrm>
          <a:prstGeom prst="line">
            <a:avLst/>
          </a:prstGeom>
          <a:noFill/>
          <a:ln w="12700">
            <a:solidFill>
              <a:srgbClr val="C9BCB5"/>
            </a:solidFill>
            <a:prstDash val="solid"/>
          </a:ln>
        </p:spPr>
      </p:sp>
      <p:sp>
        <p:nvSpPr>
          <p:cNvPr id="90" name="G0 card"/>
          <p:cNvSpPr/>
          <p:nvPr/>
        </p:nvSpPr>
        <p:spPr>
          <a:xfrm>
            <a:off x="8641080" y="1920240"/>
            <a:ext cx="3001975" cy="2761488"/>
          </a:xfrm>
          <a:prstGeom prst="roundRect">
            <a:avLst>
              <a:gd name="adj" fmla="val 2649"/>
            </a:avLst>
          </a:prstGeom>
          <a:solidFill>
            <a:srgbClr val="F2EAF0"/>
          </a:solidFill>
          <a:ln/>
        </p:spPr>
      </p:sp>
      <p:sp>
        <p:nvSpPr>
          <p:cNvPr id="91" name="Label"/>
          <p:cNvSpPr txBox="1"/>
          <p:nvPr/>
        </p:nvSpPr>
        <p:spPr>
          <a:xfrm>
            <a:off x="8823960" y="2048256"/>
            <a:ext cx="2636215" cy="219456"/>
          </a:xfrm>
          <a:prstGeom prst="rect">
            <a:avLst/>
          </a:prstGeom>
          <a:noFill/>
          <a:ln/>
        </p:spPr>
        <p:txBody>
          <a:bodyPr wrap="square" lIns="0" tIns="0" rIns="0" bIns="0" rtlCol="0" anchor="ctr"/>
          <a:lstStyle/>
          <a:p>
            <a:pPr algn="l" indent="0" marL="0">
              <a:buNone/>
            </a:pPr>
            <a:r>
              <a:rPr lang="en-US" sz="1050" b="1" dirty="0">
                <a:solidFill>
                  <a:srgbClr val="A4513F"/>
                </a:solidFill>
              </a:rPr>
              <a:t>G0 PASS CRITERIA (ALL EIGHT)</a:t>
            </a:r>
            <a:endParaRPr lang="en-US" sz="1050" dirty="0"/>
          </a:p>
        </p:txBody>
      </p:sp>
      <p:sp>
        <p:nvSpPr>
          <p:cNvPr id="92" name="Badge RECOMMENDATION"/>
          <p:cNvSpPr txBox="1"/>
          <p:nvPr/>
        </p:nvSpPr>
        <p:spPr>
          <a:xfrm>
            <a:off x="8823960" y="4352544"/>
            <a:ext cx="1331417"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93" name="G0 criteria"/>
          <p:cNvSpPr txBox="1"/>
          <p:nvPr/>
        </p:nvSpPr>
        <p:spPr>
          <a:xfrm>
            <a:off x="8823960" y="2340864"/>
            <a:ext cx="2636215" cy="1956816"/>
          </a:xfrm>
          <a:prstGeom prst="rect">
            <a:avLst/>
          </a:prstGeom>
          <a:noFill/>
          <a:ln/>
        </p:spPr>
        <p:txBody>
          <a:bodyPr wrap="square" lIns="0" tIns="0" rIns="0" bIns="0" rtlCol="0" anchor="t"/>
          <a:lstStyle/>
          <a:p>
            <a:pPr algn="l" marL="177800" indent="-177800">
              <a:spcAft>
                <a:spcPts val="300"/>
              </a:spcAft>
              <a:buSzPct val="100000"/>
              <a:buFont typeface="+mj-lt"/>
              <a:buAutoNum type="arabicPeriod" startAt="1"/>
            </a:pPr>
            <a:r>
              <a:rPr lang="en-US" sz="1050" dirty="0">
                <a:solidFill>
                  <a:schemeClr val="tx2"/>
                </a:solidFill>
              </a:rPr>
              <a:t>Founder data pull complete</a:t>
            </a:r>
            <a:endParaRPr lang="en-US" sz="1050" dirty="0"/>
          </a:p>
          <a:p>
            <a:pPr algn="l" marL="177800" indent="-177800">
              <a:spcAft>
                <a:spcPts val="300"/>
              </a:spcAft>
              <a:buSzPct val="100000"/>
              <a:buFont typeface="+mj-lt"/>
              <a:buAutoNum type="arabicPeriod" startAt="1"/>
            </a:pPr>
            <a:r>
              <a:rPr lang="en-US" sz="1050" dirty="0">
                <a:solidFill>
                  <a:schemeClr val="tx2"/>
                </a:solidFill>
              </a:rPr>
              <a:t>CRM + WhatsApp live, ≥95% tagged</a:t>
            </a:r>
            <a:endParaRPr lang="en-US" sz="1050" dirty="0"/>
          </a:p>
          <a:p>
            <a:pPr algn="l" marL="177800" indent="-177800">
              <a:spcAft>
                <a:spcPts val="300"/>
              </a:spcAft>
              <a:buSzPct val="100000"/>
              <a:buFont typeface="+mj-lt"/>
              <a:buAutoNum type="arabicPeriod" startAt="1"/>
            </a:pPr>
            <a:r>
              <a:rPr lang="en-US" sz="1050" dirty="0">
                <a:solidFill>
                  <a:schemeClr val="tx2"/>
                </a:solidFill>
              </a:rPr>
              <a:t>Median first reply ≤15 min</a:t>
            </a:r>
            <a:endParaRPr lang="en-US" sz="1050" dirty="0"/>
          </a:p>
          <a:p>
            <a:pPr algn="l" marL="177800" indent="-177800">
              <a:spcAft>
                <a:spcPts val="300"/>
              </a:spcAft>
              <a:buSzPct val="100000"/>
              <a:buFont typeface="+mj-lt"/>
              <a:buAutoNum type="arabicPeriod" startAt="1"/>
            </a:pPr>
            <a:r>
              <a:rPr lang="en-US" sz="1050" dirty="0">
                <a:solidFill>
                  <a:schemeClr val="tx2"/>
                </a:solidFill>
              </a:rPr>
              <a:t>Fee ladder, course pages, refund/EMI policy and GBP published</a:t>
            </a:r>
            <a:endParaRPr lang="en-US" sz="1050" dirty="0"/>
          </a:p>
          <a:p>
            <a:pPr algn="l" marL="177800" indent="-177800">
              <a:spcAft>
                <a:spcPts val="300"/>
              </a:spcAft>
              <a:buSzPct val="100000"/>
              <a:buFont typeface="+mj-lt"/>
              <a:buAutoNum type="arabicPeriod" startAt="1"/>
            </a:pPr>
            <a:r>
              <a:rPr lang="en-US" sz="1050" dirty="0">
                <a:solidFill>
                  <a:schemeClr val="tx2"/>
                </a:solidFill>
              </a:rPr>
              <a:t>Lead Trainer hired and shadow-teaching</a:t>
            </a:r>
            <a:endParaRPr lang="en-US" sz="1050" dirty="0"/>
          </a:p>
          <a:p>
            <a:pPr algn="l" marL="177800" indent="-177800">
              <a:spcAft>
                <a:spcPts val="300"/>
              </a:spcAft>
              <a:buSzPct val="100000"/>
              <a:buFont typeface="+mj-lt"/>
              <a:buAutoNum type="arabicPeriod" startAt="1"/>
            </a:pPr>
            <a:r>
              <a:rPr lang="en-US" sz="1050" dirty="0">
                <a:solidFill>
                  <a:schemeClr val="tx2"/>
                </a:solidFill>
              </a:rPr>
              <a:t>Academy Instagram live</a:t>
            </a:r>
            <a:endParaRPr lang="en-US" sz="1050" dirty="0"/>
          </a:p>
          <a:p>
            <a:pPr algn="l" marL="177800" indent="-177800">
              <a:spcAft>
                <a:spcPts val="300"/>
              </a:spcAft>
              <a:buSzPct val="100000"/>
              <a:buFont typeface="+mj-lt"/>
              <a:buAutoNum type="arabicPeriod" startAt="1"/>
            </a:pPr>
            <a:r>
              <a:rPr lang="en-US" sz="1050" dirty="0">
                <a:solidFill>
                  <a:schemeClr val="tx2"/>
                </a:solidFill>
              </a:rPr>
              <a:t>B&amp;WSSC enquiry lodged and CA opinion obtained</a:t>
            </a:r>
            <a:endParaRPr lang="en-US" sz="1050" dirty="0"/>
          </a:p>
          <a:p>
            <a:pPr algn="l" marL="177800" indent="-177800">
              <a:buSzPct val="100000"/>
              <a:buFont typeface="+mj-lt"/>
              <a:buAutoNum type="arabicPeriod" startAt="1"/>
            </a:pPr>
            <a:r>
              <a:rPr lang="en-US" sz="1050" dirty="0">
                <a:solidFill>
                  <a:schemeClr val="tx2"/>
                </a:solidFill>
              </a:rPr>
              <a:t>Consent forms in use, alumni survey sent</a:t>
            </a:r>
            <a:endParaRPr lang="en-US" sz="1050" dirty="0"/>
          </a:p>
        </p:txBody>
      </p:sp>
      <p:sp>
        <p:nvSpPr>
          <p:cNvPr id="94" name="Cost card"/>
          <p:cNvSpPr/>
          <p:nvPr/>
        </p:nvSpPr>
        <p:spPr>
          <a:xfrm>
            <a:off x="8641080" y="4818888"/>
            <a:ext cx="3001975" cy="1325880"/>
          </a:xfrm>
          <a:prstGeom prst="roundRect">
            <a:avLst>
              <a:gd name="adj" fmla="val 5517"/>
            </a:avLst>
          </a:prstGeom>
          <a:solidFill>
            <a:srgbClr val="F1EAE5"/>
          </a:solidFill>
          <a:ln/>
        </p:spPr>
      </p:sp>
      <p:sp>
        <p:nvSpPr>
          <p:cNvPr id="95" name="Badge ESTIMATE"/>
          <p:cNvSpPr txBox="1"/>
          <p:nvPr/>
        </p:nvSpPr>
        <p:spPr>
          <a:xfrm>
            <a:off x="8823960" y="4928616"/>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6" name="Cost text"/>
          <p:cNvSpPr txBox="1"/>
          <p:nvPr/>
        </p:nvSpPr>
        <p:spPr>
          <a:xfrm>
            <a:off x="8823960" y="5202936"/>
            <a:ext cx="2636215" cy="868680"/>
          </a:xfrm>
          <a:prstGeom prst="rect">
            <a:avLst/>
          </a:prstGeom>
          <a:noFill/>
          <a:ln/>
        </p:spPr>
        <p:txBody>
          <a:bodyPr wrap="square" lIns="0" tIns="0" rIns="0" bIns="0" rtlCol="0" anchor="t"/>
          <a:lstStyle/>
          <a:p>
            <a:pPr algn="l" indent="0" marL="0">
              <a:buNone/>
            </a:pPr>
            <a:r>
              <a:rPr lang="en-US" sz="1100" dirty="0">
                <a:solidFill>
                  <a:schemeClr val="tx1"/>
                </a:solidFill>
              </a:rPr>
              <a:t>90-day new spend </a:t>
            </a:r>
            <a:pPr algn="l" indent="0" marL="0">
              <a:buNone/>
            </a:pPr>
            <a:r>
              <a:rPr lang="en-US" sz="1100" b="1" dirty="0">
                <a:solidFill>
                  <a:schemeClr val="tx1"/>
                </a:solidFill>
              </a:rPr>
              <a:t>₹11.5L</a:t>
            </a:r>
            <a:pPr algn="l" indent="0" marL="0">
              <a:buNone/>
            </a:pPr>
            <a:r>
              <a:rPr lang="en-US" sz="1100" dirty="0">
                <a:solidFill>
                  <a:schemeClr val="tx1"/>
                </a:solidFill>
              </a:rPr>
              <a:t> (incl. the Operations Lead at ₹40k/month) plus </a:t>
            </a:r>
            <a:pPr algn="l" indent="0" marL="0">
              <a:buNone/>
            </a:pPr>
            <a:r>
              <a:rPr lang="en-US" sz="1100" b="1" dirty="0">
                <a:solidFill>
                  <a:schemeClr val="tx1"/>
                </a:solidFill>
              </a:rPr>
              <a:t>₹3.2L</a:t>
            </a:r>
            <a:pPr algn="l" indent="0" marL="0">
              <a:buNone/>
            </a:pPr>
            <a:r>
              <a:rPr lang="en-US" sz="1100" dirty="0">
                <a:solidFill>
                  <a:schemeClr val="tx1"/>
                </a:solidFill>
              </a:rPr>
              <a:t> running costs; revenue </a:t>
            </a:r>
            <a:pPr algn="l" indent="0" marL="0">
              <a:buNone/>
            </a:pPr>
            <a:r>
              <a:rPr lang="en-US" sz="1100" b="1" dirty="0">
                <a:solidFill>
                  <a:schemeClr val="tx1"/>
                </a:solidFill>
              </a:rPr>
              <a:t>₹5.5L</a:t>
            </a:r>
            <a:pPr algn="l" indent="0" marL="0">
              <a:buNone/>
            </a:pPr>
            <a:r>
              <a:rPr lang="en-US" sz="1100" dirty="0">
                <a:solidFill>
                  <a:schemeClr val="tx1"/>
                </a:solidFill>
              </a:rPr>
              <a:t>; net cash </a:t>
            </a:r>
            <a:pPr algn="l" indent="0" marL="0">
              <a:buNone/>
            </a:pPr>
            <a:r>
              <a:rPr lang="en-US" sz="1100" b="1" dirty="0">
                <a:solidFill>
                  <a:schemeClr val="tx1"/>
                </a:solidFill>
              </a:rPr>
              <a:t>−₹9.97L</a:t>
            </a:r>
            <a:pPr algn="l" indent="0" marL="0">
              <a:buNone/>
            </a:pPr>
            <a:r>
              <a:rPr lang="en-US" sz="1100" dirty="0">
                <a:solidFill>
                  <a:schemeClr val="tx1"/>
                </a:solidFill>
              </a:rPr>
              <a:t> to end-January; T1 high </a:t>
            </a:r>
            <a:pPr algn="l" indent="0" marL="0">
              <a:buNone/>
            </a:pPr>
            <a:r>
              <a:rPr lang="en-US" sz="1100" b="1" dirty="0">
                <a:solidFill>
                  <a:schemeClr val="tx1"/>
                </a:solidFill>
              </a:rPr>
              <a:t>₹11.8L</a:t>
            </a:r>
            <a:pPr algn="l" indent="0" marL="0">
              <a:buNone/>
            </a:pPr>
            <a:r>
              <a:rPr lang="en-US" sz="1100" dirty="0">
                <a:solidFill>
                  <a:schemeClr val="tx1"/>
                </a:solidFill>
              </a:rPr>
              <a:t> in April against the ₹15L cap.</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EXECUTION · TWELVE-MONTH MILESTONES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750" dirty="0">
                <a:solidFill>
                  <a:schemeClr val="tx2"/>
                </a:solidFill>
                <a:latin typeface="+mj-lt" pitchFamily="34" charset="0"/>
                <a:ea typeface="+mj-lt" pitchFamily="34" charset="-122"/>
                <a:cs typeface="+mj-lt" pitchFamily="34" charset="-120"/>
              </a:rPr>
              <a:t>Prove in the studio by July, build at G1, run the new academy by October</a:t>
            </a:r>
            <a:endParaRPr lang="en-US" sz="2800" dirty="0"/>
          </a:p>
        </p:txBody>
      </p:sp>
      <p:sp>
        <p:nvSpPr>
          <p:cNvPr id="4" name="Subtitle"/>
          <p:cNvSpPr txBox="1"/>
          <p:nvPr/>
        </p:nvSpPr>
        <p:spPr>
          <a:xfrm>
            <a:off x="548640" y="1114870"/>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G0 (15 Jan) → KT-1a cash check (26 Feb) and cut review (5 Mar) → G1 on May–July actuals (26 Jul) → lease, move, second trainer, price step 1 and the media decision (Aug) → Destination pilot (16 Aug, 20 Sep) → Year-1 review (29 Oct).</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execution/twelve_month_roadmap.md §0, §1, §3, §3.1, §4.1, §4.3, §5, §7, §9 (re-based to Staged_G1M9); recommended_strategy.md §3 Q8, §7.1 G1, §9.2, §10 row 32; economics §1A.6</a:t>
            </a:r>
            <a:pPr algn="l" indent="0" marL="0">
              <a:buNone/>
            </a:pPr>
            <a:r>
              <a:rPr lang="en-US" sz="900" b="1" dirty="0">
                <a:solidFill>
                  <a:srgbClr val="6B5F67"/>
                </a:solidFill>
              </a:rPr>
              <a:t>   Note: </a:t>
            </a:r>
            <a:pPr algn="l" indent="0" marL="0">
              <a:buNone/>
            </a:pPr>
            <a:r>
              <a:rPr lang="en-US" sz="900" dirty="0">
                <a:solidFill>
                  <a:srgbClr val="6B5F67"/>
                </a:solidFill>
              </a:rPr>
              <a:t>Nov 2026–Oct 2027; ₹ lakh ex-GST; hours per month, planning case. Cohorts, hours, cash: ESTIMATE.</a:t>
            </a:r>
            <a:endParaRPr lang="en-US" sz="900" dirty="0"/>
          </a:p>
        </p:txBody>
      </p:sp>
      <p:sp>
        <p:nvSpPr>
          <p:cNvPr id="7" name="Grid group"/>
          <p:cNvSpPr txBox="1"/>
          <p:nvPr/>
        </p:nvSpPr>
        <p:spPr>
          <a:xfrm>
            <a:off x="2231136" y="1783080"/>
            <a:ext cx="1501597" cy="219456"/>
          </a:xfrm>
          <a:prstGeom prst="rect">
            <a:avLst/>
          </a:prstGeom>
          <a:noFill/>
          <a:ln/>
        </p:spPr>
        <p:txBody>
          <a:bodyPr wrap="square" lIns="0" tIns="0" rIns="0" bIns="0" rtlCol="0" anchor="ctr"/>
          <a:lstStyle/>
          <a:p>
            <a:pPr algn="l" indent="0" marL="0">
              <a:buNone/>
            </a:pPr>
            <a:r>
              <a:rPr lang="en-US" sz="1050" b="1" dirty="0">
                <a:solidFill>
                  <a:schemeClr val="tx2"/>
                </a:solidFill>
              </a:rPr>
              <a:t>2026</a:t>
            </a:r>
            <a:endParaRPr lang="en-US" sz="1050" dirty="0"/>
          </a:p>
        </p:txBody>
      </p:sp>
      <p:sp>
        <p:nvSpPr>
          <p:cNvPr id="8" name="Grid group 2"/>
          <p:cNvSpPr txBox="1"/>
          <p:nvPr/>
        </p:nvSpPr>
        <p:spPr>
          <a:xfrm>
            <a:off x="3805885" y="1783080"/>
            <a:ext cx="7800594" cy="219456"/>
          </a:xfrm>
          <a:prstGeom prst="rect">
            <a:avLst/>
          </a:prstGeom>
          <a:noFill/>
          <a:ln/>
        </p:spPr>
        <p:txBody>
          <a:bodyPr wrap="square" lIns="0" tIns="0" rIns="0" bIns="0" rtlCol="0" anchor="ctr"/>
          <a:lstStyle/>
          <a:p>
            <a:pPr algn="l" indent="0" marL="0">
              <a:buNone/>
            </a:pPr>
            <a:r>
              <a:rPr lang="en-US" sz="1050" b="1" dirty="0">
                <a:solidFill>
                  <a:schemeClr val="tx2"/>
                </a:solidFill>
              </a:rPr>
              <a:t>2027</a:t>
            </a:r>
            <a:endParaRPr lang="en-US" sz="1050" dirty="0"/>
          </a:p>
        </p:txBody>
      </p:sp>
      <p:sp>
        <p:nvSpPr>
          <p:cNvPr id="9" name="Grid period"/>
          <p:cNvSpPr txBox="1"/>
          <p:nvPr/>
        </p:nvSpPr>
        <p:spPr>
          <a:xfrm>
            <a:off x="2194560"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Nov</a:t>
            </a:r>
            <a:endParaRPr lang="en-US" sz="1000" dirty="0"/>
          </a:p>
        </p:txBody>
      </p:sp>
      <p:sp>
        <p:nvSpPr>
          <p:cNvPr id="10" name="Grid period 2"/>
          <p:cNvSpPr txBox="1"/>
          <p:nvPr/>
        </p:nvSpPr>
        <p:spPr>
          <a:xfrm>
            <a:off x="2981935"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Dec</a:t>
            </a:r>
            <a:endParaRPr lang="en-US" sz="1000" dirty="0"/>
          </a:p>
        </p:txBody>
      </p:sp>
      <p:sp>
        <p:nvSpPr>
          <p:cNvPr id="11" name="Grid period 3"/>
          <p:cNvSpPr txBox="1"/>
          <p:nvPr/>
        </p:nvSpPr>
        <p:spPr>
          <a:xfrm>
            <a:off x="3769309"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Jan</a:t>
            </a:r>
            <a:endParaRPr lang="en-US" sz="1000" dirty="0"/>
          </a:p>
        </p:txBody>
      </p:sp>
      <p:sp>
        <p:nvSpPr>
          <p:cNvPr id="12" name="Grid period 4"/>
          <p:cNvSpPr txBox="1"/>
          <p:nvPr/>
        </p:nvSpPr>
        <p:spPr>
          <a:xfrm>
            <a:off x="4556684"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Feb</a:t>
            </a:r>
            <a:endParaRPr lang="en-US" sz="1000" dirty="0"/>
          </a:p>
        </p:txBody>
      </p:sp>
      <p:sp>
        <p:nvSpPr>
          <p:cNvPr id="13" name="Grid period 5"/>
          <p:cNvSpPr txBox="1"/>
          <p:nvPr/>
        </p:nvSpPr>
        <p:spPr>
          <a:xfrm>
            <a:off x="5344058"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Mar</a:t>
            </a:r>
            <a:endParaRPr lang="en-US" sz="1000" dirty="0"/>
          </a:p>
        </p:txBody>
      </p:sp>
      <p:sp>
        <p:nvSpPr>
          <p:cNvPr id="14" name="Grid period 6"/>
          <p:cNvSpPr txBox="1"/>
          <p:nvPr/>
        </p:nvSpPr>
        <p:spPr>
          <a:xfrm>
            <a:off x="6131433"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Apr</a:t>
            </a:r>
            <a:endParaRPr lang="en-US" sz="1000" dirty="0"/>
          </a:p>
        </p:txBody>
      </p:sp>
      <p:sp>
        <p:nvSpPr>
          <p:cNvPr id="15" name="Grid period 7"/>
          <p:cNvSpPr txBox="1"/>
          <p:nvPr/>
        </p:nvSpPr>
        <p:spPr>
          <a:xfrm>
            <a:off x="6918808"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May</a:t>
            </a:r>
            <a:endParaRPr lang="en-US" sz="1000" dirty="0"/>
          </a:p>
        </p:txBody>
      </p:sp>
      <p:sp>
        <p:nvSpPr>
          <p:cNvPr id="16" name="Grid period 8"/>
          <p:cNvSpPr txBox="1"/>
          <p:nvPr/>
        </p:nvSpPr>
        <p:spPr>
          <a:xfrm>
            <a:off x="7706182"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Jun</a:t>
            </a:r>
            <a:endParaRPr lang="en-US" sz="1000" dirty="0"/>
          </a:p>
        </p:txBody>
      </p:sp>
      <p:sp>
        <p:nvSpPr>
          <p:cNvPr id="17" name="Grid period 9"/>
          <p:cNvSpPr txBox="1"/>
          <p:nvPr/>
        </p:nvSpPr>
        <p:spPr>
          <a:xfrm>
            <a:off x="8493557"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Jul</a:t>
            </a:r>
            <a:endParaRPr lang="en-US" sz="1000" dirty="0"/>
          </a:p>
        </p:txBody>
      </p:sp>
      <p:sp>
        <p:nvSpPr>
          <p:cNvPr id="18" name="Grid period 10"/>
          <p:cNvSpPr txBox="1"/>
          <p:nvPr/>
        </p:nvSpPr>
        <p:spPr>
          <a:xfrm>
            <a:off x="9280931"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Aug</a:t>
            </a:r>
            <a:endParaRPr lang="en-US" sz="1000" dirty="0"/>
          </a:p>
        </p:txBody>
      </p:sp>
      <p:sp>
        <p:nvSpPr>
          <p:cNvPr id="19" name="Grid period 11"/>
          <p:cNvSpPr txBox="1"/>
          <p:nvPr/>
        </p:nvSpPr>
        <p:spPr>
          <a:xfrm>
            <a:off x="10068306"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Sep</a:t>
            </a:r>
            <a:endParaRPr lang="en-US" sz="1000" dirty="0"/>
          </a:p>
        </p:txBody>
      </p:sp>
      <p:sp>
        <p:nvSpPr>
          <p:cNvPr id="20" name="Grid period 12"/>
          <p:cNvSpPr txBox="1"/>
          <p:nvPr/>
        </p:nvSpPr>
        <p:spPr>
          <a:xfrm>
            <a:off x="10855681" y="2002536"/>
            <a:ext cx="787375" cy="219456"/>
          </a:xfrm>
          <a:prstGeom prst="rect">
            <a:avLst/>
          </a:prstGeom>
          <a:noFill/>
          <a:ln/>
        </p:spPr>
        <p:txBody>
          <a:bodyPr wrap="square" lIns="0" tIns="0" rIns="0" bIns="0" rtlCol="0" anchor="ctr"/>
          <a:lstStyle/>
          <a:p>
            <a:pPr algn="ctr" indent="0" marL="0">
              <a:buNone/>
            </a:pPr>
            <a:r>
              <a:rPr lang="en-US" sz="1000" dirty="0">
                <a:solidFill>
                  <a:srgbClr val="6B5F67"/>
                </a:solidFill>
              </a:rPr>
              <a:t>Oct</a:t>
            </a:r>
            <a:endParaRPr lang="en-US" sz="1000" dirty="0"/>
          </a:p>
        </p:txBody>
      </p:sp>
      <p:sp>
        <p:nvSpPr>
          <p:cNvPr id="21" name="Grid group rule"/>
          <p:cNvSpPr/>
          <p:nvPr/>
        </p:nvSpPr>
        <p:spPr>
          <a:xfrm>
            <a:off x="3769309" y="1783080"/>
            <a:ext cx="0" cy="3968496"/>
          </a:xfrm>
          <a:prstGeom prst="line">
            <a:avLst/>
          </a:prstGeom>
          <a:noFill/>
          <a:ln w="9525">
            <a:solidFill>
              <a:srgbClr val="C9BCB5"/>
            </a:solidFill>
            <a:prstDash val="solid"/>
          </a:ln>
        </p:spPr>
      </p:sp>
      <p:sp>
        <p:nvSpPr>
          <p:cNvPr id="22" name="Grid column rule"/>
          <p:cNvSpPr/>
          <p:nvPr/>
        </p:nvSpPr>
        <p:spPr>
          <a:xfrm>
            <a:off x="2981935" y="2532888"/>
            <a:ext cx="0" cy="3218688"/>
          </a:xfrm>
          <a:prstGeom prst="line">
            <a:avLst/>
          </a:prstGeom>
          <a:noFill/>
          <a:ln w="6350">
            <a:solidFill>
              <a:srgbClr val="E4DAD5"/>
            </a:solidFill>
            <a:prstDash val="solid"/>
          </a:ln>
        </p:spPr>
      </p:sp>
      <p:sp>
        <p:nvSpPr>
          <p:cNvPr id="23" name="Grid column rule 2"/>
          <p:cNvSpPr/>
          <p:nvPr/>
        </p:nvSpPr>
        <p:spPr>
          <a:xfrm>
            <a:off x="3769309" y="2532888"/>
            <a:ext cx="0" cy="3218688"/>
          </a:xfrm>
          <a:prstGeom prst="line">
            <a:avLst/>
          </a:prstGeom>
          <a:noFill/>
          <a:ln w="6350">
            <a:solidFill>
              <a:srgbClr val="E4DAD5"/>
            </a:solidFill>
            <a:prstDash val="solid"/>
          </a:ln>
        </p:spPr>
      </p:sp>
      <p:sp>
        <p:nvSpPr>
          <p:cNvPr id="24" name="Grid column rule 3"/>
          <p:cNvSpPr/>
          <p:nvPr/>
        </p:nvSpPr>
        <p:spPr>
          <a:xfrm>
            <a:off x="4556684" y="2532888"/>
            <a:ext cx="0" cy="3218688"/>
          </a:xfrm>
          <a:prstGeom prst="line">
            <a:avLst/>
          </a:prstGeom>
          <a:noFill/>
          <a:ln w="6350">
            <a:solidFill>
              <a:srgbClr val="E4DAD5"/>
            </a:solidFill>
            <a:prstDash val="solid"/>
          </a:ln>
        </p:spPr>
      </p:sp>
      <p:sp>
        <p:nvSpPr>
          <p:cNvPr id="25" name="Grid column rule 4"/>
          <p:cNvSpPr/>
          <p:nvPr/>
        </p:nvSpPr>
        <p:spPr>
          <a:xfrm>
            <a:off x="5344058" y="2532888"/>
            <a:ext cx="0" cy="3218688"/>
          </a:xfrm>
          <a:prstGeom prst="line">
            <a:avLst/>
          </a:prstGeom>
          <a:noFill/>
          <a:ln w="6350">
            <a:solidFill>
              <a:srgbClr val="E4DAD5"/>
            </a:solidFill>
            <a:prstDash val="solid"/>
          </a:ln>
        </p:spPr>
      </p:sp>
      <p:sp>
        <p:nvSpPr>
          <p:cNvPr id="26" name="Grid column rule 5"/>
          <p:cNvSpPr/>
          <p:nvPr/>
        </p:nvSpPr>
        <p:spPr>
          <a:xfrm>
            <a:off x="6131433" y="2532888"/>
            <a:ext cx="0" cy="3218688"/>
          </a:xfrm>
          <a:prstGeom prst="line">
            <a:avLst/>
          </a:prstGeom>
          <a:noFill/>
          <a:ln w="6350">
            <a:solidFill>
              <a:srgbClr val="E4DAD5"/>
            </a:solidFill>
            <a:prstDash val="solid"/>
          </a:ln>
        </p:spPr>
      </p:sp>
      <p:sp>
        <p:nvSpPr>
          <p:cNvPr id="27" name="Grid column rule 6"/>
          <p:cNvSpPr/>
          <p:nvPr/>
        </p:nvSpPr>
        <p:spPr>
          <a:xfrm>
            <a:off x="6918808" y="2532888"/>
            <a:ext cx="0" cy="3218688"/>
          </a:xfrm>
          <a:prstGeom prst="line">
            <a:avLst/>
          </a:prstGeom>
          <a:noFill/>
          <a:ln w="6350">
            <a:solidFill>
              <a:srgbClr val="E4DAD5"/>
            </a:solidFill>
            <a:prstDash val="solid"/>
          </a:ln>
        </p:spPr>
      </p:sp>
      <p:sp>
        <p:nvSpPr>
          <p:cNvPr id="28" name="Grid column rule 7"/>
          <p:cNvSpPr/>
          <p:nvPr/>
        </p:nvSpPr>
        <p:spPr>
          <a:xfrm>
            <a:off x="7706182" y="2532888"/>
            <a:ext cx="0" cy="3218688"/>
          </a:xfrm>
          <a:prstGeom prst="line">
            <a:avLst/>
          </a:prstGeom>
          <a:noFill/>
          <a:ln w="6350">
            <a:solidFill>
              <a:srgbClr val="E4DAD5"/>
            </a:solidFill>
            <a:prstDash val="solid"/>
          </a:ln>
        </p:spPr>
      </p:sp>
      <p:sp>
        <p:nvSpPr>
          <p:cNvPr id="29" name="Grid column rule 8"/>
          <p:cNvSpPr/>
          <p:nvPr/>
        </p:nvSpPr>
        <p:spPr>
          <a:xfrm>
            <a:off x="8493557" y="2532888"/>
            <a:ext cx="0" cy="3218688"/>
          </a:xfrm>
          <a:prstGeom prst="line">
            <a:avLst/>
          </a:prstGeom>
          <a:noFill/>
          <a:ln w="6350">
            <a:solidFill>
              <a:srgbClr val="E4DAD5"/>
            </a:solidFill>
            <a:prstDash val="solid"/>
          </a:ln>
        </p:spPr>
      </p:sp>
      <p:sp>
        <p:nvSpPr>
          <p:cNvPr id="30" name="Grid column rule 9"/>
          <p:cNvSpPr/>
          <p:nvPr/>
        </p:nvSpPr>
        <p:spPr>
          <a:xfrm>
            <a:off x="9280931" y="2532888"/>
            <a:ext cx="0" cy="3218688"/>
          </a:xfrm>
          <a:prstGeom prst="line">
            <a:avLst/>
          </a:prstGeom>
          <a:noFill/>
          <a:ln w="6350">
            <a:solidFill>
              <a:srgbClr val="E4DAD5"/>
            </a:solidFill>
            <a:prstDash val="solid"/>
          </a:ln>
        </p:spPr>
      </p:sp>
      <p:sp>
        <p:nvSpPr>
          <p:cNvPr id="31" name="Grid column rule 10"/>
          <p:cNvSpPr/>
          <p:nvPr/>
        </p:nvSpPr>
        <p:spPr>
          <a:xfrm>
            <a:off x="10068306" y="2532888"/>
            <a:ext cx="0" cy="3218688"/>
          </a:xfrm>
          <a:prstGeom prst="line">
            <a:avLst/>
          </a:prstGeom>
          <a:noFill/>
          <a:ln w="6350">
            <a:solidFill>
              <a:srgbClr val="E4DAD5"/>
            </a:solidFill>
            <a:prstDash val="solid"/>
          </a:ln>
        </p:spPr>
      </p:sp>
      <p:sp>
        <p:nvSpPr>
          <p:cNvPr id="32" name="Grid column rule 11"/>
          <p:cNvSpPr/>
          <p:nvPr/>
        </p:nvSpPr>
        <p:spPr>
          <a:xfrm>
            <a:off x="10855681" y="2532888"/>
            <a:ext cx="0" cy="3218688"/>
          </a:xfrm>
          <a:prstGeom prst="line">
            <a:avLst/>
          </a:prstGeom>
          <a:noFill/>
          <a:ln w="6350">
            <a:solidFill>
              <a:srgbClr val="E4DAD5"/>
            </a:solidFill>
            <a:prstDash val="solid"/>
          </a:ln>
        </p:spPr>
      </p:sp>
      <p:sp>
        <p:nvSpPr>
          <p:cNvPr id="33" name="Grid header rule"/>
          <p:cNvSpPr/>
          <p:nvPr/>
        </p:nvSpPr>
        <p:spPr>
          <a:xfrm>
            <a:off x="548640" y="2532888"/>
            <a:ext cx="11094415" cy="0"/>
          </a:xfrm>
          <a:prstGeom prst="line">
            <a:avLst/>
          </a:prstGeom>
          <a:noFill/>
          <a:ln w="12700">
            <a:solidFill>
              <a:srgbClr val="C9BCB5"/>
            </a:solidFill>
            <a:prstDash val="solid"/>
          </a:ln>
        </p:spPr>
      </p:sp>
      <p:sp>
        <p:nvSpPr>
          <p:cNvPr id="34" name="Grid marker"/>
          <p:cNvSpPr/>
          <p:nvPr/>
        </p:nvSpPr>
        <p:spPr>
          <a:xfrm>
            <a:off x="4123628" y="2468880"/>
            <a:ext cx="0" cy="3282696"/>
          </a:xfrm>
          <a:prstGeom prst="line">
            <a:avLst/>
          </a:prstGeom>
          <a:noFill/>
          <a:ln w="15875">
            <a:solidFill>
              <a:schemeClr val="accent2"/>
            </a:solidFill>
            <a:prstDash val="dash"/>
          </a:ln>
        </p:spPr>
      </p:sp>
      <p:sp>
        <p:nvSpPr>
          <p:cNvPr id="35" name="Grid marker label"/>
          <p:cNvSpPr txBox="1"/>
          <p:nvPr/>
        </p:nvSpPr>
        <p:spPr>
          <a:xfrm>
            <a:off x="3777802" y="2240280"/>
            <a:ext cx="691652"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G0 15 Jan</a:t>
            </a:r>
            <a:endParaRPr lang="en-US" sz="900" dirty="0"/>
          </a:p>
        </p:txBody>
      </p:sp>
      <p:sp>
        <p:nvSpPr>
          <p:cNvPr id="36" name="Grid marker 2"/>
          <p:cNvSpPr/>
          <p:nvPr/>
        </p:nvSpPr>
        <p:spPr>
          <a:xfrm>
            <a:off x="5344058" y="2468880"/>
            <a:ext cx="0" cy="3282696"/>
          </a:xfrm>
          <a:prstGeom prst="line">
            <a:avLst/>
          </a:prstGeom>
          <a:noFill/>
          <a:ln w="15875">
            <a:solidFill>
              <a:schemeClr val="accent2"/>
            </a:solidFill>
            <a:prstDash val="dash"/>
          </a:ln>
        </p:spPr>
      </p:sp>
      <p:sp>
        <p:nvSpPr>
          <p:cNvPr id="37" name="Grid marker label 2"/>
          <p:cNvSpPr txBox="1"/>
          <p:nvPr/>
        </p:nvSpPr>
        <p:spPr>
          <a:xfrm>
            <a:off x="4565584" y="2240280"/>
            <a:ext cx="1556949"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KT-1a 26 Feb · review 5 Mar</a:t>
            </a:r>
            <a:endParaRPr lang="en-US" sz="900" dirty="0"/>
          </a:p>
        </p:txBody>
      </p:sp>
      <p:sp>
        <p:nvSpPr>
          <p:cNvPr id="38" name="Grid marker 3"/>
          <p:cNvSpPr/>
          <p:nvPr/>
        </p:nvSpPr>
        <p:spPr>
          <a:xfrm>
            <a:off x="6895186" y="2468880"/>
            <a:ext cx="0" cy="3282696"/>
          </a:xfrm>
          <a:prstGeom prst="line">
            <a:avLst/>
          </a:prstGeom>
          <a:noFill/>
          <a:ln w="15875">
            <a:solidFill>
              <a:schemeClr val="accent2"/>
            </a:solidFill>
            <a:prstDash val="dash"/>
          </a:ln>
        </p:spPr>
      </p:sp>
      <p:sp>
        <p:nvSpPr>
          <p:cNvPr id="39" name="Grid marker label 3"/>
          <p:cNvSpPr txBox="1"/>
          <p:nvPr/>
        </p:nvSpPr>
        <p:spPr>
          <a:xfrm>
            <a:off x="6216759" y="2240280"/>
            <a:ext cx="1356855"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Upside G1 check 30 Apr</a:t>
            </a:r>
            <a:endParaRPr lang="en-US" sz="900" dirty="0"/>
          </a:p>
        </p:txBody>
      </p:sp>
      <p:sp>
        <p:nvSpPr>
          <p:cNvPr id="40" name="Grid marker 4"/>
          <p:cNvSpPr/>
          <p:nvPr/>
        </p:nvSpPr>
        <p:spPr>
          <a:xfrm>
            <a:off x="9131330" y="2468880"/>
            <a:ext cx="0" cy="3282696"/>
          </a:xfrm>
          <a:prstGeom prst="line">
            <a:avLst/>
          </a:prstGeom>
          <a:noFill/>
          <a:ln w="15875">
            <a:solidFill>
              <a:schemeClr val="accent2"/>
            </a:solidFill>
            <a:prstDash val="dash"/>
          </a:ln>
        </p:spPr>
      </p:sp>
      <p:sp>
        <p:nvSpPr>
          <p:cNvPr id="41" name="Grid marker label 4"/>
          <p:cNvSpPr txBox="1"/>
          <p:nvPr/>
        </p:nvSpPr>
        <p:spPr>
          <a:xfrm>
            <a:off x="8799683" y="2240280"/>
            <a:ext cx="663294"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G1 26 Jul</a:t>
            </a:r>
            <a:endParaRPr lang="en-US" sz="900" dirty="0"/>
          </a:p>
        </p:txBody>
      </p:sp>
      <p:sp>
        <p:nvSpPr>
          <p:cNvPr id="42" name="Grid marker 5"/>
          <p:cNvSpPr/>
          <p:nvPr/>
        </p:nvSpPr>
        <p:spPr>
          <a:xfrm>
            <a:off x="11564318" y="2468880"/>
            <a:ext cx="0" cy="3282696"/>
          </a:xfrm>
          <a:prstGeom prst="line">
            <a:avLst/>
          </a:prstGeom>
          <a:noFill/>
          <a:ln w="15875">
            <a:solidFill>
              <a:schemeClr val="accent2"/>
            </a:solidFill>
            <a:prstDash val="dash"/>
          </a:ln>
        </p:spPr>
      </p:sp>
      <p:sp>
        <p:nvSpPr>
          <p:cNvPr id="43" name="Grid marker label 5"/>
          <p:cNvSpPr txBox="1"/>
          <p:nvPr/>
        </p:nvSpPr>
        <p:spPr>
          <a:xfrm>
            <a:off x="10417233" y="2240280"/>
            <a:ext cx="1225822" cy="219456"/>
          </a:xfrm>
          <a:prstGeom prst="roundRect">
            <a:avLst>
              <a:gd name="adj" fmla="val 50000"/>
            </a:avLst>
          </a:prstGeom>
          <a:solidFill>
            <a:srgbClr val="A4513F"/>
          </a:solidFill>
          <a:ln/>
        </p:spPr>
        <p:txBody>
          <a:bodyPr wrap="square" lIns="0" tIns="0" rIns="0" bIns="0" rtlCol="0" anchor="ctr"/>
          <a:lstStyle/>
          <a:p>
            <a:pPr algn="ctr" indent="0" marL="0">
              <a:buNone/>
            </a:pPr>
            <a:r>
              <a:rPr lang="en-US" sz="900" b="1" dirty="0">
                <a:solidFill>
                  <a:schemeClr val="bg1"/>
                </a:solidFill>
              </a:rPr>
              <a:t>Year-1 review 29 Oct</a:t>
            </a:r>
            <a:endParaRPr lang="en-US" sz="900" dirty="0"/>
          </a:p>
        </p:txBody>
      </p:sp>
      <p:sp>
        <p:nvSpPr>
          <p:cNvPr id="44" name="Grid row label"/>
          <p:cNvSpPr txBox="1"/>
          <p:nvPr/>
        </p:nvSpPr>
        <p:spPr>
          <a:xfrm>
            <a:off x="548640" y="2551176"/>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Funding</a:t>
            </a:r>
            <a:endParaRPr lang="en-US" sz="1050" dirty="0"/>
          </a:p>
        </p:txBody>
      </p:sp>
      <p:sp>
        <p:nvSpPr>
          <p:cNvPr id="45" name="Grid bar"/>
          <p:cNvSpPr/>
          <p:nvPr/>
        </p:nvSpPr>
        <p:spPr>
          <a:xfrm>
            <a:off x="2212848" y="2588484"/>
            <a:ext cx="6900194" cy="181417"/>
          </a:xfrm>
          <a:prstGeom prst="roundRect">
            <a:avLst>
              <a:gd name="adj" fmla="val 50000"/>
            </a:avLst>
          </a:prstGeom>
          <a:solidFill>
            <a:schemeClr val="accent3"/>
          </a:solidFill>
          <a:ln/>
        </p:spPr>
      </p:sp>
      <p:sp>
        <p:nvSpPr>
          <p:cNvPr id="46" name="Grid bar label"/>
          <p:cNvSpPr txBox="1"/>
          <p:nvPr/>
        </p:nvSpPr>
        <p:spPr>
          <a:xfrm>
            <a:off x="2212848" y="2588484"/>
            <a:ext cx="6900194" cy="181417"/>
          </a:xfrm>
          <a:prstGeom prst="rect">
            <a:avLst/>
          </a:prstGeom>
          <a:noFill/>
          <a:ln/>
        </p:spPr>
        <p:txBody>
          <a:bodyPr wrap="square" lIns="0" tIns="0" rIns="0" bIns="0" rtlCol="0" anchor="ctr"/>
          <a:lstStyle/>
          <a:p>
            <a:pPr algn="ctr" indent="0" marL="0">
              <a:buNone/>
            </a:pPr>
            <a:r>
              <a:rPr lang="en-US" sz="1000" b="1" dirty="0">
                <a:solidFill>
                  <a:schemeClr val="tx1"/>
                </a:solidFill>
              </a:rPr>
              <a:t>T1 ≤₹15L</a:t>
            </a:r>
            <a:endParaRPr lang="en-US" sz="1000" dirty="0"/>
          </a:p>
        </p:txBody>
      </p:sp>
      <p:sp>
        <p:nvSpPr>
          <p:cNvPr id="47" name="Grid bar 2"/>
          <p:cNvSpPr/>
          <p:nvPr/>
        </p:nvSpPr>
        <p:spPr>
          <a:xfrm>
            <a:off x="9149618" y="2588484"/>
            <a:ext cx="2475149" cy="181417"/>
          </a:xfrm>
          <a:prstGeom prst="roundRect">
            <a:avLst>
              <a:gd name="adj" fmla="val 50000"/>
            </a:avLst>
          </a:prstGeom>
          <a:solidFill>
            <a:schemeClr val="tx2"/>
          </a:solidFill>
          <a:ln/>
        </p:spPr>
      </p:sp>
      <p:sp>
        <p:nvSpPr>
          <p:cNvPr id="48" name="Grid bar label 2"/>
          <p:cNvSpPr txBox="1"/>
          <p:nvPr/>
        </p:nvSpPr>
        <p:spPr>
          <a:xfrm>
            <a:off x="9149618" y="2588484"/>
            <a:ext cx="2475149" cy="181417"/>
          </a:xfrm>
          <a:prstGeom prst="rect">
            <a:avLst/>
          </a:prstGeom>
          <a:noFill/>
          <a:ln/>
        </p:spPr>
        <p:txBody>
          <a:bodyPr wrap="square" lIns="0" tIns="0" rIns="0" bIns="0" rtlCol="0" anchor="ctr"/>
          <a:lstStyle/>
          <a:p>
            <a:pPr algn="ctr" indent="0" marL="0">
              <a:buNone/>
            </a:pPr>
            <a:r>
              <a:rPr lang="en-US" sz="1000" b="1" dirty="0">
                <a:solidFill>
                  <a:schemeClr val="bg1"/>
                </a:solidFill>
              </a:rPr>
              <a:t>T2 ≤₹15L + ₹5L contingency · T3 prep Oct</a:t>
            </a:r>
            <a:endParaRPr lang="en-US" sz="1000" dirty="0"/>
          </a:p>
        </p:txBody>
      </p:sp>
      <p:sp>
        <p:nvSpPr>
          <p:cNvPr id="49" name="Grid row rule"/>
          <p:cNvSpPr/>
          <p:nvPr/>
        </p:nvSpPr>
        <p:spPr>
          <a:xfrm>
            <a:off x="548640" y="2825496"/>
            <a:ext cx="11094415" cy="0"/>
          </a:xfrm>
          <a:prstGeom prst="line">
            <a:avLst/>
          </a:prstGeom>
          <a:noFill/>
          <a:ln w="6350">
            <a:solidFill>
              <a:srgbClr val="E4DAD5"/>
            </a:solidFill>
            <a:prstDash val="solid"/>
          </a:ln>
        </p:spPr>
      </p:sp>
      <p:sp>
        <p:nvSpPr>
          <p:cNvPr id="50" name="Grid row label 2"/>
          <p:cNvSpPr txBox="1"/>
          <p:nvPr/>
        </p:nvSpPr>
        <p:spPr>
          <a:xfrm>
            <a:off x="548640" y="2843784"/>
            <a:ext cx="1554480" cy="329184"/>
          </a:xfrm>
          <a:prstGeom prst="rect">
            <a:avLst/>
          </a:prstGeom>
          <a:noFill/>
          <a:ln/>
        </p:spPr>
        <p:txBody>
          <a:bodyPr wrap="square" lIns="0" tIns="0" rIns="0" bIns="0" rtlCol="0" anchor="ctr"/>
          <a:lstStyle/>
          <a:p>
            <a:pPr algn="l" indent="0" marL="0">
              <a:buNone/>
            </a:pPr>
            <a:r>
              <a:rPr lang="en-US" sz="1050" dirty="0">
                <a:solidFill>
                  <a:schemeClr val="tx1"/>
                </a:solidFill>
              </a:rPr>
              <a:t>L3 cohorts (students)</a:t>
            </a:r>
            <a:endParaRPr lang="en-US" sz="1050" dirty="0"/>
          </a:p>
        </p:txBody>
      </p:sp>
      <p:sp>
        <p:nvSpPr>
          <p:cNvPr id="51" name="Grid value"/>
          <p:cNvSpPr txBox="1"/>
          <p:nvPr/>
        </p:nvSpPr>
        <p:spPr>
          <a:xfrm>
            <a:off x="3906317" y="2834894"/>
            <a:ext cx="513359" cy="346964"/>
          </a:xfrm>
          <a:prstGeom prst="rect">
            <a:avLst/>
          </a:prstGeom>
          <a:solidFill>
            <a:schemeClr val="bg2"/>
          </a:solidFill>
          <a:ln/>
        </p:spPr>
        <p:txBody>
          <a:bodyPr wrap="square" lIns="0" tIns="0" rIns="0" bIns="0" rtlCol="0" anchor="ctr"/>
          <a:lstStyle/>
          <a:p>
            <a:pPr algn="ctr" indent="0" marL="0">
              <a:buNone/>
            </a:pPr>
            <a:r>
              <a:rPr lang="en-US" sz="1000" dirty="0">
                <a:solidFill>
                  <a:schemeClr val="tx1"/>
                </a:solidFill>
              </a:rPr>
              <a:t>C1 4 Jan</a:t>
            </a:r>
            <a:endParaRPr lang="en-US" sz="1000" dirty="0"/>
          </a:p>
          <a:p>
            <a:pPr algn="ctr" indent="0" marL="0">
              <a:buNone/>
            </a:pPr>
            <a:r>
              <a:rPr lang="en-US" sz="1000" dirty="0">
                <a:solidFill>
                  <a:schemeClr val="tx1"/>
                </a:solidFill>
              </a:rPr>
              <a:t>3.2</a:t>
            </a:r>
            <a:endParaRPr lang="en-US" sz="1000" dirty="0"/>
          </a:p>
        </p:txBody>
      </p:sp>
      <p:sp>
        <p:nvSpPr>
          <p:cNvPr id="52" name="Grid value 2"/>
          <p:cNvSpPr txBox="1"/>
          <p:nvPr/>
        </p:nvSpPr>
        <p:spPr>
          <a:xfrm>
            <a:off x="5458244" y="2834894"/>
            <a:ext cx="559003" cy="346964"/>
          </a:xfrm>
          <a:prstGeom prst="rect">
            <a:avLst/>
          </a:prstGeom>
          <a:solidFill>
            <a:schemeClr val="bg2"/>
          </a:solidFill>
          <a:ln/>
        </p:spPr>
        <p:txBody>
          <a:bodyPr wrap="square" lIns="0" tIns="0" rIns="0" bIns="0" rtlCol="0" anchor="ctr"/>
          <a:lstStyle/>
          <a:p>
            <a:pPr algn="ctr" indent="0" marL="0">
              <a:buNone/>
            </a:pPr>
            <a:r>
              <a:rPr lang="en-US" sz="1000" dirty="0">
                <a:solidFill>
                  <a:schemeClr val="tx1"/>
                </a:solidFill>
              </a:rPr>
              <a:t>C2 1 Mar</a:t>
            </a:r>
            <a:endParaRPr lang="en-US" sz="1000" dirty="0"/>
          </a:p>
          <a:p>
            <a:pPr algn="ctr" indent="0" marL="0">
              <a:buNone/>
            </a:pPr>
            <a:r>
              <a:rPr lang="en-US" sz="1000" dirty="0">
                <a:solidFill>
                  <a:schemeClr val="tx1"/>
                </a:solidFill>
              </a:rPr>
              <a:t>5.6</a:t>
            </a:r>
            <a:endParaRPr lang="en-US" sz="1000" dirty="0"/>
          </a:p>
        </p:txBody>
      </p:sp>
      <p:sp>
        <p:nvSpPr>
          <p:cNvPr id="53" name="Grid value 3"/>
          <p:cNvSpPr txBox="1"/>
          <p:nvPr/>
        </p:nvSpPr>
        <p:spPr>
          <a:xfrm>
            <a:off x="6228042" y="2834894"/>
            <a:ext cx="594157" cy="346964"/>
          </a:xfrm>
          <a:prstGeom prst="rect">
            <a:avLst/>
          </a:prstGeom>
          <a:solidFill>
            <a:schemeClr val="bg2"/>
          </a:solidFill>
          <a:ln/>
        </p:spPr>
        <p:txBody>
          <a:bodyPr wrap="square" lIns="0" tIns="0" rIns="0" bIns="0" rtlCol="0" anchor="ctr"/>
          <a:lstStyle/>
          <a:p>
            <a:pPr algn="ctr" indent="0" marL="0">
              <a:buNone/>
            </a:pPr>
            <a:r>
              <a:rPr lang="en-US" sz="1000" dirty="0">
                <a:solidFill>
                  <a:schemeClr val="tx1"/>
                </a:solidFill>
              </a:rPr>
              <a:t>C3 26 Apr</a:t>
            </a:r>
            <a:endParaRPr lang="en-US" sz="1000" dirty="0"/>
          </a:p>
          <a:p>
            <a:pPr algn="ctr" indent="0" marL="0">
              <a:buNone/>
            </a:pPr>
            <a:r>
              <a:rPr lang="en-US" sz="1000" dirty="0">
                <a:solidFill>
                  <a:schemeClr val="tx1"/>
                </a:solidFill>
              </a:rPr>
              <a:t>8.7</a:t>
            </a:r>
            <a:endParaRPr lang="en-US" sz="1000" dirty="0"/>
          </a:p>
        </p:txBody>
      </p:sp>
      <p:sp>
        <p:nvSpPr>
          <p:cNvPr id="54" name="Grid value 4"/>
          <p:cNvSpPr txBox="1"/>
          <p:nvPr/>
        </p:nvSpPr>
        <p:spPr>
          <a:xfrm>
            <a:off x="7806106" y="2834894"/>
            <a:ext cx="587527" cy="346964"/>
          </a:xfrm>
          <a:prstGeom prst="rect">
            <a:avLst/>
          </a:prstGeom>
          <a:solidFill>
            <a:schemeClr val="bg2"/>
          </a:solidFill>
          <a:ln/>
        </p:spPr>
        <p:txBody>
          <a:bodyPr wrap="square" lIns="0" tIns="0" rIns="0" bIns="0" rtlCol="0" anchor="ctr"/>
          <a:lstStyle/>
          <a:p>
            <a:pPr algn="ctr" indent="0" marL="0">
              <a:buNone/>
            </a:pPr>
            <a:r>
              <a:rPr lang="en-US" sz="1000" b="1" dirty="0">
                <a:solidFill>
                  <a:srgbClr val="A4513F"/>
                </a:solidFill>
              </a:rPr>
              <a:t>C4 21 Jun</a:t>
            </a:r>
            <a:endParaRPr lang="en-US" sz="1000" dirty="0"/>
          </a:p>
          <a:p>
            <a:pPr algn="ctr" indent="0" marL="0">
              <a:buNone/>
            </a:pPr>
            <a:r>
              <a:rPr lang="en-US" sz="1000" b="1" dirty="0">
                <a:solidFill>
                  <a:srgbClr val="A4513F"/>
                </a:solidFill>
              </a:rPr>
              <a:t>9.4</a:t>
            </a:r>
            <a:endParaRPr lang="en-US" sz="1000" dirty="0"/>
          </a:p>
        </p:txBody>
      </p:sp>
      <p:sp>
        <p:nvSpPr>
          <p:cNvPr id="55" name="Grid value 5"/>
          <p:cNvSpPr txBox="1"/>
          <p:nvPr/>
        </p:nvSpPr>
        <p:spPr>
          <a:xfrm>
            <a:off x="9369787" y="2834894"/>
            <a:ext cx="609664" cy="346964"/>
          </a:xfrm>
          <a:prstGeom prst="rect">
            <a:avLst/>
          </a:prstGeom>
          <a:solidFill>
            <a:schemeClr val="bg2"/>
          </a:solidFill>
          <a:ln/>
        </p:spPr>
        <p:txBody>
          <a:bodyPr wrap="square" lIns="0" tIns="0" rIns="0" bIns="0" rtlCol="0" anchor="ctr"/>
          <a:lstStyle/>
          <a:p>
            <a:pPr algn="ctr" indent="0" marL="0">
              <a:buNone/>
            </a:pPr>
            <a:r>
              <a:rPr lang="en-US" sz="1000" dirty="0">
                <a:solidFill>
                  <a:schemeClr val="tx1"/>
                </a:solidFill>
              </a:rPr>
              <a:t>C5 16 Aug</a:t>
            </a:r>
            <a:endParaRPr lang="en-US" sz="1000" dirty="0"/>
          </a:p>
          <a:p>
            <a:pPr algn="ctr" indent="0" marL="0">
              <a:buNone/>
            </a:pPr>
            <a:r>
              <a:rPr lang="en-US" sz="1000" dirty="0">
                <a:solidFill>
                  <a:schemeClr val="tx1"/>
                </a:solidFill>
              </a:rPr>
              <a:t>9.1</a:t>
            </a:r>
            <a:endParaRPr lang="en-US" sz="1000" dirty="0"/>
          </a:p>
        </p:txBody>
      </p:sp>
      <p:sp>
        <p:nvSpPr>
          <p:cNvPr id="56" name="Grid value 6"/>
          <p:cNvSpPr txBox="1"/>
          <p:nvPr/>
        </p:nvSpPr>
        <p:spPr>
          <a:xfrm>
            <a:off x="10954360" y="2834894"/>
            <a:ext cx="590017" cy="346964"/>
          </a:xfrm>
          <a:prstGeom prst="rect">
            <a:avLst/>
          </a:prstGeom>
          <a:solidFill>
            <a:schemeClr val="bg2"/>
          </a:solidFill>
          <a:ln/>
        </p:spPr>
        <p:txBody>
          <a:bodyPr wrap="square" lIns="0" tIns="0" rIns="0" bIns="0" rtlCol="0" anchor="ctr"/>
          <a:lstStyle/>
          <a:p>
            <a:pPr algn="ctr" indent="0" marL="0">
              <a:buNone/>
            </a:pPr>
            <a:r>
              <a:rPr lang="en-US" sz="1000" dirty="0">
                <a:solidFill>
                  <a:schemeClr val="tx1"/>
                </a:solidFill>
              </a:rPr>
              <a:t>C6 11 Oct</a:t>
            </a:r>
            <a:endParaRPr lang="en-US" sz="1000" dirty="0"/>
          </a:p>
          <a:p>
            <a:pPr algn="ctr" indent="0" marL="0">
              <a:buNone/>
            </a:pPr>
            <a:r>
              <a:rPr lang="en-US" sz="1000" dirty="0">
                <a:solidFill>
                  <a:schemeClr val="tx1"/>
                </a:solidFill>
              </a:rPr>
              <a:t>10.1</a:t>
            </a:r>
            <a:endParaRPr lang="en-US" sz="1000" dirty="0"/>
          </a:p>
        </p:txBody>
      </p:sp>
      <p:sp>
        <p:nvSpPr>
          <p:cNvPr id="57" name="Grid row rule 2"/>
          <p:cNvSpPr/>
          <p:nvPr/>
        </p:nvSpPr>
        <p:spPr>
          <a:xfrm>
            <a:off x="548640" y="3191256"/>
            <a:ext cx="11094415" cy="0"/>
          </a:xfrm>
          <a:prstGeom prst="line">
            <a:avLst/>
          </a:prstGeom>
          <a:noFill/>
          <a:ln w="6350">
            <a:solidFill>
              <a:srgbClr val="E4DAD5"/>
            </a:solidFill>
            <a:prstDash val="solid"/>
          </a:ln>
        </p:spPr>
      </p:sp>
      <p:sp>
        <p:nvSpPr>
          <p:cNvPr id="58" name="Grid row label 3"/>
          <p:cNvSpPr txBox="1"/>
          <p:nvPr/>
        </p:nvSpPr>
        <p:spPr>
          <a:xfrm>
            <a:off x="548640" y="3209544"/>
            <a:ext cx="1554480" cy="475488"/>
          </a:xfrm>
          <a:prstGeom prst="rect">
            <a:avLst/>
          </a:prstGeom>
          <a:noFill/>
          <a:ln/>
        </p:spPr>
        <p:txBody>
          <a:bodyPr wrap="square" lIns="0" tIns="0" rIns="0" bIns="0" rtlCol="0" anchor="ctr"/>
          <a:lstStyle/>
          <a:p>
            <a:pPr algn="l" indent="0" marL="0">
              <a:buNone/>
            </a:pPr>
            <a:r>
              <a:rPr lang="en-US" sz="1050" dirty="0">
                <a:solidFill>
                  <a:schemeClr val="tx1"/>
                </a:solidFill>
              </a:rPr>
              <a:t>Team</a:t>
            </a:r>
            <a:endParaRPr lang="en-US" sz="1050" dirty="0"/>
          </a:p>
        </p:txBody>
      </p:sp>
      <p:sp>
        <p:nvSpPr>
          <p:cNvPr id="59" name="Grid milestone"/>
          <p:cNvSpPr/>
          <p:nvPr/>
        </p:nvSpPr>
        <p:spPr>
          <a:xfrm>
            <a:off x="2131313" y="3360420"/>
            <a:ext cx="173736" cy="173736"/>
          </a:xfrm>
          <a:prstGeom prst="diamond">
            <a:avLst/>
          </a:prstGeom>
          <a:solidFill>
            <a:schemeClr val="accent2"/>
          </a:solidFill>
          <a:ln w="12700">
            <a:solidFill>
              <a:schemeClr val="bg1"/>
            </a:solidFill>
            <a:prstDash val="solid"/>
          </a:ln>
        </p:spPr>
      </p:sp>
      <p:sp>
        <p:nvSpPr>
          <p:cNvPr id="60" name="Grid point label"/>
          <p:cNvSpPr txBox="1"/>
          <p:nvPr/>
        </p:nvSpPr>
        <p:spPr>
          <a:xfrm>
            <a:off x="2350769" y="3278378"/>
            <a:ext cx="521437" cy="337820"/>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Ops Lead 2 Nov</a:t>
            </a:r>
            <a:endParaRPr lang="en-US" sz="1000" dirty="0"/>
          </a:p>
        </p:txBody>
      </p:sp>
      <p:sp>
        <p:nvSpPr>
          <p:cNvPr id="61" name="Grid milestone 2"/>
          <p:cNvSpPr/>
          <p:nvPr/>
        </p:nvSpPr>
        <p:spPr>
          <a:xfrm>
            <a:off x="2895067" y="3360420"/>
            <a:ext cx="173736" cy="173736"/>
          </a:xfrm>
          <a:prstGeom prst="diamond">
            <a:avLst/>
          </a:prstGeom>
          <a:solidFill>
            <a:schemeClr val="accent2"/>
          </a:solidFill>
          <a:ln w="12700">
            <a:solidFill>
              <a:schemeClr val="bg1"/>
            </a:solidFill>
            <a:prstDash val="solid"/>
          </a:ln>
        </p:spPr>
      </p:sp>
      <p:sp>
        <p:nvSpPr>
          <p:cNvPr id="62" name="Grid point label 2"/>
          <p:cNvSpPr txBox="1"/>
          <p:nvPr/>
        </p:nvSpPr>
        <p:spPr>
          <a:xfrm>
            <a:off x="3114523" y="3355975"/>
            <a:ext cx="1044574"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Lead Trainer 1 Dec</a:t>
            </a:r>
            <a:endParaRPr lang="en-US" sz="1000" dirty="0"/>
          </a:p>
        </p:txBody>
      </p:sp>
      <p:sp>
        <p:nvSpPr>
          <p:cNvPr id="63" name="Grid milestone 3"/>
          <p:cNvSpPr/>
          <p:nvPr/>
        </p:nvSpPr>
        <p:spPr>
          <a:xfrm>
            <a:off x="4469816" y="3360420"/>
            <a:ext cx="173736" cy="173736"/>
          </a:xfrm>
          <a:prstGeom prst="diamond">
            <a:avLst/>
          </a:prstGeom>
          <a:solidFill>
            <a:schemeClr val="accent2"/>
          </a:solidFill>
          <a:ln w="12700">
            <a:solidFill>
              <a:schemeClr val="bg1"/>
            </a:solidFill>
            <a:prstDash val="solid"/>
          </a:ln>
        </p:spPr>
      </p:sp>
      <p:sp>
        <p:nvSpPr>
          <p:cNvPr id="64" name="Grid point label 3"/>
          <p:cNvSpPr txBox="1"/>
          <p:nvPr/>
        </p:nvSpPr>
        <p:spPr>
          <a:xfrm>
            <a:off x="4689272" y="3355975"/>
            <a:ext cx="1481938"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Retainer senior trainer Feb</a:t>
            </a:r>
            <a:endParaRPr lang="en-US" sz="1000" dirty="0"/>
          </a:p>
        </p:txBody>
      </p:sp>
      <p:sp>
        <p:nvSpPr>
          <p:cNvPr id="65" name="Grid milestone 4"/>
          <p:cNvSpPr/>
          <p:nvPr/>
        </p:nvSpPr>
        <p:spPr>
          <a:xfrm>
            <a:off x="6257156" y="3360420"/>
            <a:ext cx="173736" cy="173736"/>
          </a:xfrm>
          <a:prstGeom prst="diamond">
            <a:avLst/>
          </a:prstGeom>
          <a:solidFill>
            <a:schemeClr val="accent2"/>
          </a:solidFill>
          <a:ln w="12700">
            <a:solidFill>
              <a:schemeClr val="bg1"/>
            </a:solidFill>
            <a:prstDash val="solid"/>
          </a:ln>
        </p:spPr>
      </p:sp>
      <p:sp>
        <p:nvSpPr>
          <p:cNvPr id="66" name="Grid point label 4"/>
          <p:cNvSpPr txBox="1"/>
          <p:nvPr/>
        </p:nvSpPr>
        <p:spPr>
          <a:xfrm>
            <a:off x="6476612" y="3355975"/>
            <a:ext cx="1507312"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Lead Trainer certified 9 Apr</a:t>
            </a:r>
            <a:endParaRPr lang="en-US" sz="1000" dirty="0"/>
          </a:p>
        </p:txBody>
      </p:sp>
      <p:sp>
        <p:nvSpPr>
          <p:cNvPr id="67" name="Grid milestone 5"/>
          <p:cNvSpPr/>
          <p:nvPr/>
        </p:nvSpPr>
        <p:spPr>
          <a:xfrm>
            <a:off x="9217685" y="3360420"/>
            <a:ext cx="173736" cy="173736"/>
          </a:xfrm>
          <a:prstGeom prst="diamond">
            <a:avLst/>
          </a:prstGeom>
          <a:solidFill>
            <a:schemeClr val="accent2"/>
          </a:solidFill>
          <a:ln w="12700">
            <a:solidFill>
              <a:schemeClr val="bg1"/>
            </a:solidFill>
            <a:prstDash val="solid"/>
          </a:ln>
        </p:spPr>
      </p:sp>
      <p:sp>
        <p:nvSpPr>
          <p:cNvPr id="68" name="Grid point label 5"/>
          <p:cNvSpPr txBox="1"/>
          <p:nvPr/>
        </p:nvSpPr>
        <p:spPr>
          <a:xfrm>
            <a:off x="9437141" y="3209544"/>
            <a:ext cx="2169339" cy="475488"/>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2 Aug: second trainer, second counsellor (0.5 FTE), Assistant #2, front desk; Academy Manager M13</a:t>
            </a:r>
            <a:endParaRPr lang="en-US" sz="1000" dirty="0"/>
          </a:p>
        </p:txBody>
      </p:sp>
      <p:sp>
        <p:nvSpPr>
          <p:cNvPr id="69" name="Grid row rule 3"/>
          <p:cNvSpPr/>
          <p:nvPr/>
        </p:nvSpPr>
        <p:spPr>
          <a:xfrm>
            <a:off x="548640" y="3703320"/>
            <a:ext cx="11094415" cy="0"/>
          </a:xfrm>
          <a:prstGeom prst="line">
            <a:avLst/>
          </a:prstGeom>
          <a:noFill/>
          <a:ln w="6350">
            <a:solidFill>
              <a:srgbClr val="E4DAD5"/>
            </a:solidFill>
            <a:prstDash val="solid"/>
          </a:ln>
        </p:spPr>
      </p:sp>
      <p:sp>
        <p:nvSpPr>
          <p:cNvPr id="70" name="Grid row label 4"/>
          <p:cNvSpPr txBox="1"/>
          <p:nvPr/>
        </p:nvSpPr>
        <p:spPr>
          <a:xfrm>
            <a:off x="548640" y="3721608"/>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Space</a:t>
            </a:r>
            <a:endParaRPr lang="en-US" sz="1050" dirty="0"/>
          </a:p>
        </p:txBody>
      </p:sp>
      <p:sp>
        <p:nvSpPr>
          <p:cNvPr id="71" name="Grid bar 3"/>
          <p:cNvSpPr/>
          <p:nvPr/>
        </p:nvSpPr>
        <p:spPr>
          <a:xfrm>
            <a:off x="2212848" y="3758916"/>
            <a:ext cx="3246776" cy="181417"/>
          </a:xfrm>
          <a:prstGeom prst="roundRect">
            <a:avLst>
              <a:gd name="adj" fmla="val 50000"/>
            </a:avLst>
          </a:prstGeom>
          <a:solidFill>
            <a:schemeClr val="accent3"/>
          </a:solidFill>
          <a:ln/>
        </p:spPr>
      </p:sp>
      <p:sp>
        <p:nvSpPr>
          <p:cNvPr id="72" name="Grid bar label 3"/>
          <p:cNvSpPr txBox="1"/>
          <p:nvPr/>
        </p:nvSpPr>
        <p:spPr>
          <a:xfrm>
            <a:off x="2212848" y="3758916"/>
            <a:ext cx="3246776" cy="181417"/>
          </a:xfrm>
          <a:prstGeom prst="rect">
            <a:avLst/>
          </a:prstGeom>
          <a:noFill/>
          <a:ln/>
        </p:spPr>
        <p:txBody>
          <a:bodyPr wrap="square" lIns="0" tIns="0" rIns="0" bIns="0" rtlCol="0" anchor="ctr"/>
          <a:lstStyle/>
          <a:p>
            <a:pPr algn="ctr" indent="0" marL="0">
              <a:buNone/>
            </a:pPr>
            <a:r>
              <a:rPr lang="en-US" sz="1000" b="1" dirty="0">
                <a:solidFill>
                  <a:schemeClr val="tx1"/>
                </a:solidFill>
              </a:rPr>
              <a:t>Studio</a:t>
            </a:r>
            <a:endParaRPr lang="en-US" sz="1000" dirty="0"/>
          </a:p>
        </p:txBody>
      </p:sp>
      <p:sp>
        <p:nvSpPr>
          <p:cNvPr id="73" name="Grid bar 4"/>
          <p:cNvSpPr/>
          <p:nvPr/>
        </p:nvSpPr>
        <p:spPr>
          <a:xfrm>
            <a:off x="5496200" y="3758916"/>
            <a:ext cx="1404320" cy="181417"/>
          </a:xfrm>
          <a:prstGeom prst="roundRect">
            <a:avLst>
              <a:gd name="adj" fmla="val 50000"/>
            </a:avLst>
          </a:prstGeom>
          <a:solidFill>
            <a:schemeClr val="accent3"/>
          </a:solidFill>
          <a:ln/>
        </p:spPr>
      </p:sp>
      <p:sp>
        <p:nvSpPr>
          <p:cNvPr id="74" name="Grid bar label 4"/>
          <p:cNvSpPr txBox="1"/>
          <p:nvPr/>
        </p:nvSpPr>
        <p:spPr>
          <a:xfrm>
            <a:off x="5496200" y="3758916"/>
            <a:ext cx="1404320" cy="181417"/>
          </a:xfrm>
          <a:prstGeom prst="rect">
            <a:avLst/>
          </a:prstGeom>
          <a:noFill/>
          <a:ln/>
        </p:spPr>
        <p:txBody>
          <a:bodyPr wrap="square" lIns="0" tIns="0" rIns="0" bIns="0" rtlCol="0" anchor="ctr"/>
          <a:lstStyle/>
          <a:p>
            <a:pPr algn="ctr" indent="0" marL="0">
              <a:buNone/>
            </a:pPr>
            <a:r>
              <a:rPr lang="en-US" sz="1000" b="1" dirty="0">
                <a:solidFill>
                  <a:schemeClr val="tx1"/>
                </a:solidFill>
              </a:rPr>
              <a:t>+ evening slot 6 Mar</a:t>
            </a:r>
            <a:endParaRPr lang="en-US" sz="1000" dirty="0"/>
          </a:p>
        </p:txBody>
      </p:sp>
      <p:sp>
        <p:nvSpPr>
          <p:cNvPr id="75" name="Grid bar 5"/>
          <p:cNvSpPr/>
          <p:nvPr/>
        </p:nvSpPr>
        <p:spPr>
          <a:xfrm>
            <a:off x="6937096" y="3758916"/>
            <a:ext cx="2175947" cy="181417"/>
          </a:xfrm>
          <a:prstGeom prst="roundRect">
            <a:avLst>
              <a:gd name="adj" fmla="val 50000"/>
            </a:avLst>
          </a:prstGeom>
          <a:solidFill>
            <a:schemeClr val="accent2"/>
          </a:solidFill>
          <a:ln/>
        </p:spPr>
      </p:sp>
      <p:sp>
        <p:nvSpPr>
          <p:cNvPr id="76" name="Grid bar label 5"/>
          <p:cNvSpPr txBox="1"/>
          <p:nvPr/>
        </p:nvSpPr>
        <p:spPr>
          <a:xfrm>
            <a:off x="6937096" y="3758916"/>
            <a:ext cx="2175947" cy="181417"/>
          </a:xfrm>
          <a:prstGeom prst="rect">
            <a:avLst/>
          </a:prstGeom>
          <a:noFill/>
          <a:ln/>
        </p:spPr>
        <p:txBody>
          <a:bodyPr wrap="square" lIns="0" tIns="0" rIns="0" bIns="0" rtlCol="0" anchor="ctr"/>
          <a:lstStyle/>
          <a:p>
            <a:pPr algn="ctr" indent="0" marL="0">
              <a:buNone/>
            </a:pPr>
            <a:r>
              <a:rPr lang="en-US" sz="1000" b="1" dirty="0">
                <a:solidFill>
                  <a:schemeClr val="tx1"/>
                </a:solidFill>
              </a:rPr>
              <a:t>Seats bind May–Jul</a:t>
            </a:r>
            <a:endParaRPr lang="en-US" sz="1000" dirty="0"/>
          </a:p>
        </p:txBody>
      </p:sp>
      <p:sp>
        <p:nvSpPr>
          <p:cNvPr id="77" name="Grid bar 6"/>
          <p:cNvSpPr/>
          <p:nvPr/>
        </p:nvSpPr>
        <p:spPr>
          <a:xfrm>
            <a:off x="9299219" y="3758916"/>
            <a:ext cx="2325548" cy="181417"/>
          </a:xfrm>
          <a:prstGeom prst="roundRect">
            <a:avLst>
              <a:gd name="adj" fmla="val 50000"/>
            </a:avLst>
          </a:prstGeom>
          <a:solidFill>
            <a:schemeClr val="tx2"/>
          </a:solidFill>
          <a:ln/>
        </p:spPr>
      </p:sp>
      <p:sp>
        <p:nvSpPr>
          <p:cNvPr id="78" name="Grid bar label 6"/>
          <p:cNvSpPr txBox="1"/>
          <p:nvPr/>
        </p:nvSpPr>
        <p:spPr>
          <a:xfrm>
            <a:off x="9299219" y="3758916"/>
            <a:ext cx="2325548" cy="181417"/>
          </a:xfrm>
          <a:prstGeom prst="rect">
            <a:avLst/>
          </a:prstGeom>
          <a:noFill/>
          <a:ln/>
        </p:spPr>
        <p:txBody>
          <a:bodyPr wrap="square" lIns="0" tIns="0" rIns="0" bIns="0" rtlCol="0" anchor="ctr"/>
          <a:lstStyle/>
          <a:p>
            <a:pPr algn="ctr" indent="0" marL="0">
              <a:buNone/>
            </a:pPr>
            <a:r>
              <a:rPr lang="en-US" sz="1000" b="1" dirty="0">
                <a:solidFill>
                  <a:schemeClr val="bg1"/>
                </a:solidFill>
              </a:rPr>
              <a:t>Move Aug, 12 stations · KT-10 watch</a:t>
            </a:r>
            <a:endParaRPr lang="en-US" sz="1000" dirty="0"/>
          </a:p>
        </p:txBody>
      </p:sp>
      <p:sp>
        <p:nvSpPr>
          <p:cNvPr id="79" name="Grid row rule 4"/>
          <p:cNvSpPr/>
          <p:nvPr/>
        </p:nvSpPr>
        <p:spPr>
          <a:xfrm>
            <a:off x="548640" y="3995928"/>
            <a:ext cx="11094415" cy="0"/>
          </a:xfrm>
          <a:prstGeom prst="line">
            <a:avLst/>
          </a:prstGeom>
          <a:noFill/>
          <a:ln w="6350">
            <a:solidFill>
              <a:srgbClr val="E4DAD5"/>
            </a:solidFill>
            <a:prstDash val="solid"/>
          </a:ln>
        </p:spPr>
      </p:sp>
      <p:sp>
        <p:nvSpPr>
          <p:cNvPr id="80" name="Grid row label 5"/>
          <p:cNvSpPr txBox="1"/>
          <p:nvPr/>
        </p:nvSpPr>
        <p:spPr>
          <a:xfrm>
            <a:off x="548640" y="4014216"/>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Price</a:t>
            </a:r>
            <a:endParaRPr lang="en-US" sz="1050" dirty="0"/>
          </a:p>
        </p:txBody>
      </p:sp>
      <p:sp>
        <p:nvSpPr>
          <p:cNvPr id="81" name="Grid bar 7"/>
          <p:cNvSpPr/>
          <p:nvPr/>
        </p:nvSpPr>
        <p:spPr>
          <a:xfrm>
            <a:off x="2212848" y="4051524"/>
            <a:ext cx="7049795" cy="181417"/>
          </a:xfrm>
          <a:prstGeom prst="roundRect">
            <a:avLst>
              <a:gd name="adj" fmla="val 50000"/>
            </a:avLst>
          </a:prstGeom>
          <a:solidFill>
            <a:schemeClr val="accent3"/>
          </a:solidFill>
          <a:ln/>
        </p:spPr>
      </p:sp>
      <p:sp>
        <p:nvSpPr>
          <p:cNvPr id="82" name="Grid bar label 7"/>
          <p:cNvSpPr txBox="1"/>
          <p:nvPr/>
        </p:nvSpPr>
        <p:spPr>
          <a:xfrm>
            <a:off x="2212848" y="4051524"/>
            <a:ext cx="7049795" cy="181417"/>
          </a:xfrm>
          <a:prstGeom prst="rect">
            <a:avLst/>
          </a:prstGeom>
          <a:noFill/>
          <a:ln/>
        </p:spPr>
        <p:txBody>
          <a:bodyPr wrap="square" lIns="0" tIns="0" rIns="0" bIns="0" rtlCol="0" anchor="ctr"/>
          <a:lstStyle/>
          <a:p>
            <a:pPr algn="ctr" indent="0" marL="0">
              <a:buNone/>
            </a:pPr>
            <a:r>
              <a:rPr lang="en-US" sz="1000" b="1" dirty="0">
                <a:solidFill>
                  <a:schemeClr val="tx1"/>
                </a:solidFill>
              </a:rPr>
              <a:t>Today's fee</a:t>
            </a:r>
            <a:endParaRPr lang="en-US" sz="1000" dirty="0"/>
          </a:p>
        </p:txBody>
      </p:sp>
      <p:sp>
        <p:nvSpPr>
          <p:cNvPr id="83" name="Grid bar 8"/>
          <p:cNvSpPr/>
          <p:nvPr/>
        </p:nvSpPr>
        <p:spPr>
          <a:xfrm>
            <a:off x="9299219" y="4051524"/>
            <a:ext cx="2325548" cy="181417"/>
          </a:xfrm>
          <a:prstGeom prst="roundRect">
            <a:avLst>
              <a:gd name="adj" fmla="val 50000"/>
            </a:avLst>
          </a:prstGeom>
          <a:solidFill>
            <a:schemeClr val="accent2"/>
          </a:solidFill>
          <a:ln/>
        </p:spPr>
      </p:sp>
      <p:sp>
        <p:nvSpPr>
          <p:cNvPr id="84" name="Grid bar label 8"/>
          <p:cNvSpPr txBox="1"/>
          <p:nvPr/>
        </p:nvSpPr>
        <p:spPr>
          <a:xfrm>
            <a:off x="9299219" y="4051524"/>
            <a:ext cx="2325548" cy="181417"/>
          </a:xfrm>
          <a:prstGeom prst="rect">
            <a:avLst/>
          </a:prstGeom>
          <a:noFill/>
          <a:ln/>
        </p:spPr>
        <p:txBody>
          <a:bodyPr wrap="square" lIns="0" tIns="0" rIns="0" bIns="0" rtlCol="0" anchor="ctr"/>
          <a:lstStyle/>
          <a:p>
            <a:pPr algn="ctr" indent="0" marL="0">
              <a:buNone/>
            </a:pPr>
            <a:r>
              <a:rPr lang="en-US" sz="1000" b="1" dirty="0">
                <a:solidFill>
                  <a:schemeClr val="tx1"/>
                </a:solidFill>
              </a:rPr>
              <a:t>₹75k list from 1 Aug; ₹90k M16</a:t>
            </a:r>
            <a:endParaRPr lang="en-US" sz="1000" dirty="0"/>
          </a:p>
        </p:txBody>
      </p:sp>
      <p:sp>
        <p:nvSpPr>
          <p:cNvPr id="85" name="Grid row rule 5"/>
          <p:cNvSpPr/>
          <p:nvPr/>
        </p:nvSpPr>
        <p:spPr>
          <a:xfrm>
            <a:off x="548640" y="4288536"/>
            <a:ext cx="11094415" cy="0"/>
          </a:xfrm>
          <a:prstGeom prst="line">
            <a:avLst/>
          </a:prstGeom>
          <a:noFill/>
          <a:ln w="6350">
            <a:solidFill>
              <a:srgbClr val="E4DAD5"/>
            </a:solidFill>
            <a:prstDash val="solid"/>
          </a:ln>
        </p:spPr>
      </p:sp>
      <p:sp>
        <p:nvSpPr>
          <p:cNvPr id="86" name="Grid row label 6"/>
          <p:cNvSpPr txBox="1"/>
          <p:nvPr/>
        </p:nvSpPr>
        <p:spPr>
          <a:xfrm>
            <a:off x="548640" y="4306824"/>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Paid media, ₹k/month</a:t>
            </a:r>
            <a:endParaRPr lang="en-US" sz="1050" dirty="0"/>
          </a:p>
        </p:txBody>
      </p:sp>
      <p:sp>
        <p:nvSpPr>
          <p:cNvPr id="87" name="Grid value 7"/>
          <p:cNvSpPr txBox="1"/>
          <p:nvPr/>
        </p:nvSpPr>
        <p:spPr>
          <a:xfrm>
            <a:off x="2474946"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15</a:t>
            </a:r>
            <a:endParaRPr lang="en-US" sz="1050" dirty="0"/>
          </a:p>
        </p:txBody>
      </p:sp>
      <p:sp>
        <p:nvSpPr>
          <p:cNvPr id="88" name="Grid value 8"/>
          <p:cNvSpPr txBox="1"/>
          <p:nvPr/>
        </p:nvSpPr>
        <p:spPr>
          <a:xfrm>
            <a:off x="3262320"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15</a:t>
            </a:r>
            <a:endParaRPr lang="en-US" sz="1050" dirty="0"/>
          </a:p>
        </p:txBody>
      </p:sp>
      <p:sp>
        <p:nvSpPr>
          <p:cNvPr id="89" name="Grid value 9"/>
          <p:cNvSpPr txBox="1"/>
          <p:nvPr/>
        </p:nvSpPr>
        <p:spPr>
          <a:xfrm>
            <a:off x="4049695"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40</a:t>
            </a:r>
            <a:endParaRPr lang="en-US" sz="1050" dirty="0"/>
          </a:p>
        </p:txBody>
      </p:sp>
      <p:sp>
        <p:nvSpPr>
          <p:cNvPr id="90" name="Grid value 10"/>
          <p:cNvSpPr txBox="1"/>
          <p:nvPr/>
        </p:nvSpPr>
        <p:spPr>
          <a:xfrm>
            <a:off x="4837069"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50</a:t>
            </a:r>
            <a:endParaRPr lang="en-US" sz="1050" dirty="0"/>
          </a:p>
        </p:txBody>
      </p:sp>
      <p:sp>
        <p:nvSpPr>
          <p:cNvPr id="91" name="Grid value 11"/>
          <p:cNvSpPr txBox="1"/>
          <p:nvPr/>
        </p:nvSpPr>
        <p:spPr>
          <a:xfrm>
            <a:off x="5624444"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60</a:t>
            </a:r>
            <a:endParaRPr lang="en-US" sz="1050" dirty="0"/>
          </a:p>
        </p:txBody>
      </p:sp>
      <p:sp>
        <p:nvSpPr>
          <p:cNvPr id="92" name="Grid value 12"/>
          <p:cNvSpPr txBox="1"/>
          <p:nvPr/>
        </p:nvSpPr>
        <p:spPr>
          <a:xfrm>
            <a:off x="6411819"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60</a:t>
            </a:r>
            <a:endParaRPr lang="en-US" sz="1050" dirty="0"/>
          </a:p>
        </p:txBody>
      </p:sp>
      <p:sp>
        <p:nvSpPr>
          <p:cNvPr id="93" name="Grid value 13"/>
          <p:cNvSpPr txBox="1"/>
          <p:nvPr/>
        </p:nvSpPr>
        <p:spPr>
          <a:xfrm>
            <a:off x="7199193"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60</a:t>
            </a:r>
            <a:endParaRPr lang="en-US" sz="1050" dirty="0"/>
          </a:p>
        </p:txBody>
      </p:sp>
      <p:sp>
        <p:nvSpPr>
          <p:cNvPr id="94" name="Grid value 14"/>
          <p:cNvSpPr txBox="1"/>
          <p:nvPr/>
        </p:nvSpPr>
        <p:spPr>
          <a:xfrm>
            <a:off x="7986568"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60</a:t>
            </a:r>
            <a:endParaRPr lang="en-US" sz="1050" dirty="0"/>
          </a:p>
        </p:txBody>
      </p:sp>
      <p:sp>
        <p:nvSpPr>
          <p:cNvPr id="95" name="Grid value 15"/>
          <p:cNvSpPr txBox="1"/>
          <p:nvPr/>
        </p:nvSpPr>
        <p:spPr>
          <a:xfrm>
            <a:off x="8773942" y="4335075"/>
            <a:ext cx="22660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60</a:t>
            </a:r>
            <a:endParaRPr lang="en-US" sz="1050" dirty="0"/>
          </a:p>
        </p:txBody>
      </p:sp>
      <p:sp>
        <p:nvSpPr>
          <p:cNvPr id="96" name="Grid value 16"/>
          <p:cNvSpPr txBox="1"/>
          <p:nvPr/>
        </p:nvSpPr>
        <p:spPr>
          <a:xfrm>
            <a:off x="9528113" y="4335075"/>
            <a:ext cx="293012"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80*</a:t>
            </a:r>
            <a:endParaRPr lang="en-US" sz="1050" dirty="0"/>
          </a:p>
        </p:txBody>
      </p:sp>
      <p:sp>
        <p:nvSpPr>
          <p:cNvPr id="97" name="Grid value 17"/>
          <p:cNvSpPr txBox="1"/>
          <p:nvPr/>
        </p:nvSpPr>
        <p:spPr>
          <a:xfrm>
            <a:off x="10281696" y="4335075"/>
            <a:ext cx="360594"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100*</a:t>
            </a:r>
            <a:endParaRPr lang="en-US" sz="1050" dirty="0"/>
          </a:p>
        </p:txBody>
      </p:sp>
      <p:sp>
        <p:nvSpPr>
          <p:cNvPr id="98" name="Grid value 18"/>
          <p:cNvSpPr txBox="1"/>
          <p:nvPr/>
        </p:nvSpPr>
        <p:spPr>
          <a:xfrm>
            <a:off x="11069071" y="4335075"/>
            <a:ext cx="360594"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100*</a:t>
            </a:r>
            <a:endParaRPr lang="en-US" sz="1050" dirty="0"/>
          </a:p>
        </p:txBody>
      </p:sp>
      <p:sp>
        <p:nvSpPr>
          <p:cNvPr id="99" name="Grid row rule 6"/>
          <p:cNvSpPr/>
          <p:nvPr/>
        </p:nvSpPr>
        <p:spPr>
          <a:xfrm>
            <a:off x="548640" y="4581144"/>
            <a:ext cx="11094415" cy="0"/>
          </a:xfrm>
          <a:prstGeom prst="line">
            <a:avLst/>
          </a:prstGeom>
          <a:noFill/>
          <a:ln w="6350">
            <a:solidFill>
              <a:srgbClr val="E4DAD5"/>
            </a:solidFill>
            <a:prstDash val="solid"/>
          </a:ln>
        </p:spPr>
      </p:sp>
      <p:sp>
        <p:nvSpPr>
          <p:cNvPr id="100" name="Grid row label 7"/>
          <p:cNvSpPr txBox="1"/>
          <p:nvPr/>
        </p:nvSpPr>
        <p:spPr>
          <a:xfrm>
            <a:off x="548640" y="4599432"/>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Proof</a:t>
            </a:r>
            <a:endParaRPr lang="en-US" sz="1050" dirty="0"/>
          </a:p>
        </p:txBody>
      </p:sp>
      <p:sp>
        <p:nvSpPr>
          <p:cNvPr id="101" name="Grid milestone 6"/>
          <p:cNvSpPr/>
          <p:nvPr/>
        </p:nvSpPr>
        <p:spPr>
          <a:xfrm>
            <a:off x="4446195" y="4640580"/>
            <a:ext cx="173736" cy="173736"/>
          </a:xfrm>
          <a:prstGeom prst="diamond">
            <a:avLst/>
          </a:prstGeom>
          <a:solidFill>
            <a:schemeClr val="accent2"/>
          </a:solidFill>
          <a:ln w="12700">
            <a:solidFill>
              <a:schemeClr val="bg1"/>
            </a:solidFill>
            <a:prstDash val="solid"/>
          </a:ln>
        </p:spPr>
      </p:sp>
      <p:sp>
        <p:nvSpPr>
          <p:cNvPr id="102" name="Grid point label 6"/>
          <p:cNvSpPr txBox="1"/>
          <p:nvPr/>
        </p:nvSpPr>
        <p:spPr>
          <a:xfrm>
            <a:off x="3042591" y="4636135"/>
            <a:ext cx="1357884" cy="182626"/>
          </a:xfrm>
          <a:prstGeom prst="rect">
            <a:avLst/>
          </a:prstGeom>
          <a:solidFill>
            <a:schemeClr val="bg2"/>
          </a:solidFill>
          <a:ln/>
        </p:spPr>
        <p:txBody>
          <a:bodyPr wrap="square" lIns="0" tIns="0" rIns="0" bIns="0" rtlCol="0" anchor="ctr"/>
          <a:lstStyle/>
          <a:p>
            <a:pPr algn="r" indent="0" marL="0">
              <a:buNone/>
            </a:pPr>
            <a:r>
              <a:rPr lang="en-US" sz="1000" dirty="0">
                <a:solidFill>
                  <a:schemeClr val="tx1"/>
                </a:solidFill>
              </a:rPr>
              <a:t>Outcomes Report 31 Jan</a:t>
            </a:r>
            <a:endParaRPr lang="en-US" sz="1000" dirty="0"/>
          </a:p>
        </p:txBody>
      </p:sp>
      <p:sp>
        <p:nvSpPr>
          <p:cNvPr id="103" name="Grid milestone 7"/>
          <p:cNvSpPr/>
          <p:nvPr/>
        </p:nvSpPr>
        <p:spPr>
          <a:xfrm>
            <a:off x="5170579" y="4640580"/>
            <a:ext cx="173736" cy="173736"/>
          </a:xfrm>
          <a:prstGeom prst="diamond">
            <a:avLst/>
          </a:prstGeom>
          <a:solidFill>
            <a:schemeClr val="accent2"/>
          </a:solidFill>
          <a:ln w="12700">
            <a:solidFill>
              <a:schemeClr val="bg1"/>
            </a:solidFill>
            <a:prstDash val="solid"/>
          </a:ln>
        </p:spPr>
      </p:sp>
      <p:sp>
        <p:nvSpPr>
          <p:cNvPr id="104" name="Grid point label 7"/>
          <p:cNvSpPr txBox="1"/>
          <p:nvPr/>
        </p:nvSpPr>
        <p:spPr>
          <a:xfrm>
            <a:off x="5390035" y="4636135"/>
            <a:ext cx="1235964"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≥30 reviews by 26 Feb</a:t>
            </a:r>
            <a:endParaRPr lang="en-US" sz="1000" dirty="0"/>
          </a:p>
        </p:txBody>
      </p:sp>
      <p:sp>
        <p:nvSpPr>
          <p:cNvPr id="105" name="Grid milestone 8"/>
          <p:cNvSpPr/>
          <p:nvPr/>
        </p:nvSpPr>
        <p:spPr>
          <a:xfrm>
            <a:off x="10375125" y="4640580"/>
            <a:ext cx="173736" cy="173736"/>
          </a:xfrm>
          <a:prstGeom prst="diamond">
            <a:avLst/>
          </a:prstGeom>
          <a:solidFill>
            <a:schemeClr val="accent2"/>
          </a:solidFill>
          <a:ln w="12700">
            <a:solidFill>
              <a:schemeClr val="bg1"/>
            </a:solidFill>
            <a:prstDash val="solid"/>
          </a:ln>
        </p:spPr>
      </p:sp>
      <p:sp>
        <p:nvSpPr>
          <p:cNvPr id="106" name="Grid point label 8"/>
          <p:cNvSpPr txBox="1"/>
          <p:nvPr/>
        </p:nvSpPr>
        <p:spPr>
          <a:xfrm>
            <a:off x="10594581" y="4636135"/>
            <a:ext cx="803300" cy="182626"/>
          </a:xfrm>
          <a:prstGeom prst="rect">
            <a:avLst/>
          </a:prstGeom>
          <a:solidFill>
            <a:schemeClr val="bg2"/>
          </a:solidFill>
          <a:ln/>
        </p:spPr>
        <p:txBody>
          <a:bodyPr wrap="square" lIns="0" tIns="0" rIns="0" bIns="0" rtlCol="0" anchor="ctr"/>
          <a:lstStyle/>
          <a:p>
            <a:pPr algn="l" indent="0" marL="0">
              <a:buNone/>
            </a:pPr>
            <a:r>
              <a:rPr lang="en-US" sz="1000" dirty="0">
                <a:solidFill>
                  <a:schemeClr val="tx1"/>
                </a:solidFill>
              </a:rPr>
              <a:t>Report #2 Sep</a:t>
            </a:r>
            <a:endParaRPr lang="en-US" sz="1000" dirty="0"/>
          </a:p>
        </p:txBody>
      </p:sp>
      <p:sp>
        <p:nvSpPr>
          <p:cNvPr id="107" name="Grid row rule 7"/>
          <p:cNvSpPr/>
          <p:nvPr/>
        </p:nvSpPr>
        <p:spPr>
          <a:xfrm>
            <a:off x="548640" y="4873752"/>
            <a:ext cx="11094415" cy="0"/>
          </a:xfrm>
          <a:prstGeom prst="line">
            <a:avLst/>
          </a:prstGeom>
          <a:noFill/>
          <a:ln w="6350">
            <a:solidFill>
              <a:srgbClr val="E4DAD5"/>
            </a:solidFill>
            <a:prstDash val="solid"/>
          </a:ln>
        </p:spPr>
      </p:sp>
      <p:sp>
        <p:nvSpPr>
          <p:cNvPr id="108" name="Grid row label 8"/>
          <p:cNvSpPr txBox="1"/>
          <p:nvPr/>
        </p:nvSpPr>
        <p:spPr>
          <a:xfrm>
            <a:off x="548640" y="4892040"/>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Destination &amp; regional</a:t>
            </a:r>
            <a:endParaRPr lang="en-US" sz="1050" dirty="0"/>
          </a:p>
        </p:txBody>
      </p:sp>
      <p:sp>
        <p:nvSpPr>
          <p:cNvPr id="109" name="Grid bar 9"/>
          <p:cNvSpPr/>
          <p:nvPr/>
        </p:nvSpPr>
        <p:spPr>
          <a:xfrm>
            <a:off x="2212848" y="4929348"/>
            <a:ext cx="3112922" cy="181417"/>
          </a:xfrm>
          <a:prstGeom prst="roundRect">
            <a:avLst>
              <a:gd name="adj" fmla="val 50000"/>
            </a:avLst>
          </a:prstGeom>
          <a:solidFill>
            <a:schemeClr val="accent3"/>
          </a:solidFill>
          <a:ln/>
        </p:spPr>
      </p:sp>
      <p:sp>
        <p:nvSpPr>
          <p:cNvPr id="110" name="Grid bar label 9"/>
          <p:cNvSpPr txBox="1"/>
          <p:nvPr/>
        </p:nvSpPr>
        <p:spPr>
          <a:xfrm>
            <a:off x="2212848" y="4929348"/>
            <a:ext cx="3112922" cy="181417"/>
          </a:xfrm>
          <a:prstGeom prst="rect">
            <a:avLst/>
          </a:prstGeom>
          <a:noFill/>
          <a:ln/>
        </p:spPr>
        <p:txBody>
          <a:bodyPr wrap="square" lIns="0" tIns="0" rIns="0" bIns="0" rtlCol="0" anchor="ctr"/>
          <a:lstStyle/>
          <a:p>
            <a:pPr algn="ctr" indent="0" marL="0">
              <a:buNone/>
            </a:pPr>
            <a:r>
              <a:rPr lang="en-US" sz="1000" b="1" dirty="0">
                <a:solidFill>
                  <a:schemeClr val="tx1"/>
                </a:solidFill>
              </a:rPr>
              <a:t>City tags from M1</a:t>
            </a:r>
            <a:endParaRPr lang="en-US" sz="1000" dirty="0"/>
          </a:p>
        </p:txBody>
      </p:sp>
      <p:sp>
        <p:nvSpPr>
          <p:cNvPr id="111" name="Grid bar 10"/>
          <p:cNvSpPr/>
          <p:nvPr/>
        </p:nvSpPr>
        <p:spPr>
          <a:xfrm>
            <a:off x="5362346" y="4929348"/>
            <a:ext cx="1538173" cy="181417"/>
          </a:xfrm>
          <a:prstGeom prst="roundRect">
            <a:avLst>
              <a:gd name="adj" fmla="val 50000"/>
            </a:avLst>
          </a:prstGeom>
          <a:solidFill>
            <a:schemeClr val="accent1"/>
          </a:solidFill>
          <a:ln/>
        </p:spPr>
      </p:sp>
      <p:sp>
        <p:nvSpPr>
          <p:cNvPr id="112" name="Grid bar label 10"/>
          <p:cNvSpPr txBox="1"/>
          <p:nvPr/>
        </p:nvSpPr>
        <p:spPr>
          <a:xfrm>
            <a:off x="5362346" y="4929348"/>
            <a:ext cx="1538173" cy="181417"/>
          </a:xfrm>
          <a:prstGeom prst="rect">
            <a:avLst/>
          </a:prstGeom>
          <a:noFill/>
          <a:ln/>
        </p:spPr>
        <p:txBody>
          <a:bodyPr wrap="square" lIns="0" tIns="0" rIns="0" bIns="0" rtlCol="0" anchor="ctr"/>
          <a:lstStyle/>
          <a:p>
            <a:pPr algn="ctr" indent="0" marL="0">
              <a:buNone/>
            </a:pPr>
            <a:r>
              <a:rPr lang="en-US" sz="1000" b="1" dirty="0">
                <a:solidFill>
                  <a:schemeClr val="bg1"/>
                </a:solidFill>
              </a:rPr>
              <a:t>Partners Mar–Apr</a:t>
            </a:r>
            <a:endParaRPr lang="en-US" sz="1000" dirty="0"/>
          </a:p>
        </p:txBody>
      </p:sp>
      <p:sp>
        <p:nvSpPr>
          <p:cNvPr id="113" name="Grid bar 11"/>
          <p:cNvSpPr/>
          <p:nvPr/>
        </p:nvSpPr>
        <p:spPr>
          <a:xfrm>
            <a:off x="9677159" y="4929348"/>
            <a:ext cx="1947608" cy="181417"/>
          </a:xfrm>
          <a:prstGeom prst="roundRect">
            <a:avLst>
              <a:gd name="adj" fmla="val 50000"/>
            </a:avLst>
          </a:prstGeom>
          <a:solidFill>
            <a:schemeClr val="accent2"/>
          </a:solidFill>
          <a:ln/>
        </p:spPr>
      </p:sp>
      <p:sp>
        <p:nvSpPr>
          <p:cNvPr id="114" name="Grid bar label 11"/>
          <p:cNvSpPr txBox="1"/>
          <p:nvPr/>
        </p:nvSpPr>
        <p:spPr>
          <a:xfrm>
            <a:off x="9677159" y="4929348"/>
            <a:ext cx="1947608" cy="181417"/>
          </a:xfrm>
          <a:prstGeom prst="rect">
            <a:avLst/>
          </a:prstGeom>
          <a:noFill/>
          <a:ln/>
        </p:spPr>
        <p:txBody>
          <a:bodyPr wrap="square" lIns="0" tIns="0" rIns="0" bIns="0" rtlCol="0" anchor="ctr"/>
          <a:lstStyle/>
          <a:p>
            <a:pPr algn="ctr" indent="0" marL="0">
              <a:buNone/>
            </a:pPr>
            <a:r>
              <a:rPr lang="en-US" sz="1000" b="1" dirty="0">
                <a:solidFill>
                  <a:schemeClr val="tx1"/>
                </a:solidFill>
              </a:rPr>
              <a:t>Pilot 16 Aug + 20 Sep; pop-ups</a:t>
            </a:r>
            <a:endParaRPr lang="en-US" sz="1000" dirty="0"/>
          </a:p>
        </p:txBody>
      </p:sp>
      <p:sp>
        <p:nvSpPr>
          <p:cNvPr id="115" name="Grid row rule 8"/>
          <p:cNvSpPr/>
          <p:nvPr/>
        </p:nvSpPr>
        <p:spPr>
          <a:xfrm>
            <a:off x="548640" y="5166360"/>
            <a:ext cx="11094415" cy="0"/>
          </a:xfrm>
          <a:prstGeom prst="line">
            <a:avLst/>
          </a:prstGeom>
          <a:noFill/>
          <a:ln w="6350">
            <a:solidFill>
              <a:srgbClr val="E4DAD5"/>
            </a:solidFill>
            <a:prstDash val="solid"/>
          </a:ln>
        </p:spPr>
      </p:sp>
      <p:sp>
        <p:nvSpPr>
          <p:cNvPr id="116" name="Grid row label 9"/>
          <p:cNvSpPr txBox="1"/>
          <p:nvPr/>
        </p:nvSpPr>
        <p:spPr>
          <a:xfrm>
            <a:off x="548640" y="5184648"/>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Founder share / teaching h</a:t>
            </a:r>
            <a:endParaRPr lang="en-US" sz="1050" dirty="0"/>
          </a:p>
        </p:txBody>
      </p:sp>
      <p:sp>
        <p:nvSpPr>
          <p:cNvPr id="117" name="Grid value 19"/>
          <p:cNvSpPr txBox="1"/>
          <p:nvPr/>
        </p:nvSpPr>
        <p:spPr>
          <a:xfrm>
            <a:off x="2312725"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92% · 81</a:t>
            </a:r>
            <a:endParaRPr lang="en-US" sz="1050" dirty="0"/>
          </a:p>
        </p:txBody>
      </p:sp>
      <p:sp>
        <p:nvSpPr>
          <p:cNvPr id="118" name="Grid value 20"/>
          <p:cNvSpPr txBox="1"/>
          <p:nvPr/>
        </p:nvSpPr>
        <p:spPr>
          <a:xfrm>
            <a:off x="3100100"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83% · 73</a:t>
            </a:r>
            <a:endParaRPr lang="en-US" sz="1050" dirty="0"/>
          </a:p>
        </p:txBody>
      </p:sp>
      <p:sp>
        <p:nvSpPr>
          <p:cNvPr id="119" name="Grid value 21"/>
          <p:cNvSpPr txBox="1"/>
          <p:nvPr/>
        </p:nvSpPr>
        <p:spPr>
          <a:xfrm>
            <a:off x="3887474"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75% · 66</a:t>
            </a:r>
            <a:endParaRPr lang="en-US" sz="1050" dirty="0"/>
          </a:p>
        </p:txBody>
      </p:sp>
      <p:sp>
        <p:nvSpPr>
          <p:cNvPr id="120" name="Grid value 22"/>
          <p:cNvSpPr txBox="1"/>
          <p:nvPr/>
        </p:nvSpPr>
        <p:spPr>
          <a:xfrm>
            <a:off x="4674849"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67% · 59</a:t>
            </a:r>
            <a:endParaRPr lang="en-US" sz="1050" dirty="0"/>
          </a:p>
        </p:txBody>
      </p:sp>
      <p:sp>
        <p:nvSpPr>
          <p:cNvPr id="121" name="Grid value 23"/>
          <p:cNvSpPr txBox="1"/>
          <p:nvPr/>
        </p:nvSpPr>
        <p:spPr>
          <a:xfrm>
            <a:off x="5428433" y="5212899"/>
            <a:ext cx="618626"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58% · 103</a:t>
            </a:r>
            <a:endParaRPr lang="en-US" sz="1050" dirty="0"/>
          </a:p>
        </p:txBody>
      </p:sp>
      <p:sp>
        <p:nvSpPr>
          <p:cNvPr id="122" name="Grid value 24"/>
          <p:cNvSpPr txBox="1"/>
          <p:nvPr/>
        </p:nvSpPr>
        <p:spPr>
          <a:xfrm>
            <a:off x="6249598"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50% · 88</a:t>
            </a:r>
            <a:endParaRPr lang="en-US" sz="1050" dirty="0"/>
          </a:p>
        </p:txBody>
      </p:sp>
      <p:sp>
        <p:nvSpPr>
          <p:cNvPr id="123" name="Grid value 25"/>
          <p:cNvSpPr txBox="1"/>
          <p:nvPr/>
        </p:nvSpPr>
        <p:spPr>
          <a:xfrm>
            <a:off x="7036973"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48% · 85</a:t>
            </a:r>
            <a:endParaRPr lang="en-US" sz="1050" dirty="0"/>
          </a:p>
        </p:txBody>
      </p:sp>
      <p:sp>
        <p:nvSpPr>
          <p:cNvPr id="124" name="Grid value 26"/>
          <p:cNvSpPr txBox="1"/>
          <p:nvPr/>
        </p:nvSpPr>
        <p:spPr>
          <a:xfrm>
            <a:off x="7824347"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47% · 82</a:t>
            </a:r>
            <a:endParaRPr lang="en-US" sz="1050" dirty="0"/>
          </a:p>
        </p:txBody>
      </p:sp>
      <p:sp>
        <p:nvSpPr>
          <p:cNvPr id="125" name="Grid value 27"/>
          <p:cNvSpPr txBox="1"/>
          <p:nvPr/>
        </p:nvSpPr>
        <p:spPr>
          <a:xfrm>
            <a:off x="8611722" y="5212899"/>
            <a:ext cx="551044"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45% · 79</a:t>
            </a:r>
            <a:endParaRPr lang="en-US" sz="1050" dirty="0"/>
          </a:p>
        </p:txBody>
      </p:sp>
      <p:sp>
        <p:nvSpPr>
          <p:cNvPr id="126" name="Grid value 28"/>
          <p:cNvSpPr txBox="1"/>
          <p:nvPr/>
        </p:nvSpPr>
        <p:spPr>
          <a:xfrm>
            <a:off x="9363346" y="5212899"/>
            <a:ext cx="622546"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43% · 114</a:t>
            </a:r>
            <a:endParaRPr lang="en-US" sz="1050" dirty="0"/>
          </a:p>
        </p:txBody>
      </p:sp>
      <p:sp>
        <p:nvSpPr>
          <p:cNvPr id="127" name="Grid value 29"/>
          <p:cNvSpPr txBox="1"/>
          <p:nvPr/>
        </p:nvSpPr>
        <p:spPr>
          <a:xfrm>
            <a:off x="10152680" y="5212899"/>
            <a:ext cx="618626"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42% · 110</a:t>
            </a:r>
            <a:endParaRPr lang="en-US" sz="1050" dirty="0"/>
          </a:p>
        </p:txBody>
      </p:sp>
      <p:sp>
        <p:nvSpPr>
          <p:cNvPr id="128" name="Grid value 30"/>
          <p:cNvSpPr txBox="1"/>
          <p:nvPr/>
        </p:nvSpPr>
        <p:spPr>
          <a:xfrm>
            <a:off x="10940055" y="5212899"/>
            <a:ext cx="618626"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40% · 106</a:t>
            </a:r>
            <a:endParaRPr lang="en-US" sz="1050" dirty="0"/>
          </a:p>
        </p:txBody>
      </p:sp>
      <p:sp>
        <p:nvSpPr>
          <p:cNvPr id="129" name="Grid row rule 9"/>
          <p:cNvSpPr/>
          <p:nvPr/>
        </p:nvSpPr>
        <p:spPr>
          <a:xfrm>
            <a:off x="548640" y="5458968"/>
            <a:ext cx="11094415" cy="0"/>
          </a:xfrm>
          <a:prstGeom prst="line">
            <a:avLst/>
          </a:prstGeom>
          <a:noFill/>
          <a:ln w="6350">
            <a:solidFill>
              <a:srgbClr val="E4DAD5"/>
            </a:solidFill>
            <a:prstDash val="solid"/>
          </a:ln>
        </p:spPr>
      </p:sp>
      <p:sp>
        <p:nvSpPr>
          <p:cNvPr id="130" name="Grid row label 10"/>
          <p:cNvSpPr txBox="1"/>
          <p:nvPr/>
        </p:nvSpPr>
        <p:spPr>
          <a:xfrm>
            <a:off x="548640" y="5477256"/>
            <a:ext cx="1554480" cy="256032"/>
          </a:xfrm>
          <a:prstGeom prst="rect">
            <a:avLst/>
          </a:prstGeom>
          <a:noFill/>
          <a:ln/>
        </p:spPr>
        <p:txBody>
          <a:bodyPr wrap="square" lIns="0" tIns="0" rIns="0" bIns="0" rtlCol="0" anchor="ctr"/>
          <a:lstStyle/>
          <a:p>
            <a:pPr algn="l" indent="0" marL="0">
              <a:buNone/>
            </a:pPr>
            <a:r>
              <a:rPr lang="en-US" sz="1050" dirty="0">
                <a:solidFill>
                  <a:schemeClr val="tx1"/>
                </a:solidFill>
              </a:rPr>
              <a:t>Cumulative cash, ₹L</a:t>
            </a:r>
            <a:endParaRPr lang="en-US" sz="1050" dirty="0"/>
          </a:p>
        </p:txBody>
      </p:sp>
      <p:sp>
        <p:nvSpPr>
          <p:cNvPr id="131" name="Grid value 31"/>
          <p:cNvSpPr txBox="1"/>
          <p:nvPr/>
        </p:nvSpPr>
        <p:spPr>
          <a:xfrm>
            <a:off x="2386988" y="5505507"/>
            <a:ext cx="402519"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−3.93</a:t>
            </a:r>
            <a:endParaRPr lang="en-US" sz="1050" dirty="0"/>
          </a:p>
        </p:txBody>
      </p:sp>
      <p:sp>
        <p:nvSpPr>
          <p:cNvPr id="132" name="Grid value 32"/>
          <p:cNvSpPr txBox="1"/>
          <p:nvPr/>
        </p:nvSpPr>
        <p:spPr>
          <a:xfrm>
            <a:off x="3174362" y="5505507"/>
            <a:ext cx="402519"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−5.85</a:t>
            </a:r>
            <a:endParaRPr lang="en-US" sz="1050" dirty="0"/>
          </a:p>
        </p:txBody>
      </p:sp>
      <p:sp>
        <p:nvSpPr>
          <p:cNvPr id="133" name="Grid value 33"/>
          <p:cNvSpPr txBox="1"/>
          <p:nvPr/>
        </p:nvSpPr>
        <p:spPr>
          <a:xfrm>
            <a:off x="3961737" y="5505507"/>
            <a:ext cx="402519"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−9.97</a:t>
            </a:r>
            <a:endParaRPr lang="en-US" sz="1050" dirty="0"/>
          </a:p>
        </p:txBody>
      </p:sp>
      <p:sp>
        <p:nvSpPr>
          <p:cNvPr id="134" name="Grid value 34"/>
          <p:cNvSpPr txBox="1"/>
          <p:nvPr/>
        </p:nvSpPr>
        <p:spPr>
          <a:xfrm>
            <a:off x="4715321"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−11.00</a:t>
            </a:r>
            <a:endParaRPr lang="en-US" sz="1050" dirty="0"/>
          </a:p>
        </p:txBody>
      </p:sp>
      <p:sp>
        <p:nvSpPr>
          <p:cNvPr id="135" name="Grid value 35"/>
          <p:cNvSpPr txBox="1"/>
          <p:nvPr/>
        </p:nvSpPr>
        <p:spPr>
          <a:xfrm>
            <a:off x="5502695"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−11.71</a:t>
            </a:r>
            <a:endParaRPr lang="en-US" sz="1050" dirty="0"/>
          </a:p>
        </p:txBody>
      </p:sp>
      <p:sp>
        <p:nvSpPr>
          <p:cNvPr id="136" name="Grid value 36"/>
          <p:cNvSpPr txBox="1"/>
          <p:nvPr/>
        </p:nvSpPr>
        <p:spPr>
          <a:xfrm>
            <a:off x="6290070"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−11.80</a:t>
            </a:r>
            <a:endParaRPr lang="en-US" sz="1050" dirty="0"/>
          </a:p>
        </p:txBody>
      </p:sp>
      <p:sp>
        <p:nvSpPr>
          <p:cNvPr id="137" name="Grid value 37"/>
          <p:cNvSpPr txBox="1"/>
          <p:nvPr/>
        </p:nvSpPr>
        <p:spPr>
          <a:xfrm>
            <a:off x="7077445"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−11.43</a:t>
            </a:r>
            <a:endParaRPr lang="en-US" sz="1050" dirty="0"/>
          </a:p>
        </p:txBody>
      </p:sp>
      <p:sp>
        <p:nvSpPr>
          <p:cNvPr id="138" name="Grid value 38"/>
          <p:cNvSpPr txBox="1"/>
          <p:nvPr/>
        </p:nvSpPr>
        <p:spPr>
          <a:xfrm>
            <a:off x="7864819"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−10.84</a:t>
            </a:r>
            <a:endParaRPr lang="en-US" sz="1050" dirty="0"/>
          </a:p>
        </p:txBody>
      </p:sp>
      <p:sp>
        <p:nvSpPr>
          <p:cNvPr id="139" name="Grid value 39"/>
          <p:cNvSpPr txBox="1"/>
          <p:nvPr/>
        </p:nvSpPr>
        <p:spPr>
          <a:xfrm>
            <a:off x="8651214" y="5505507"/>
            <a:ext cx="472061" cy="199530"/>
          </a:xfrm>
          <a:prstGeom prst="rect">
            <a:avLst/>
          </a:prstGeom>
          <a:solidFill>
            <a:schemeClr val="bg2"/>
          </a:solidFill>
          <a:ln/>
        </p:spPr>
        <p:txBody>
          <a:bodyPr wrap="square" lIns="0" tIns="0" rIns="0" bIns="0" rtlCol="0" anchor="ctr"/>
          <a:lstStyle/>
          <a:p>
            <a:pPr algn="ctr" indent="0" marL="0">
              <a:buNone/>
            </a:pPr>
            <a:r>
              <a:rPr lang="en-US" sz="1050" b="1" dirty="0">
                <a:solidFill>
                  <a:srgbClr val="A4513F"/>
                </a:solidFill>
              </a:rPr>
              <a:t>−25.18</a:t>
            </a:r>
            <a:endParaRPr lang="en-US" sz="1050" dirty="0"/>
          </a:p>
        </p:txBody>
      </p:sp>
      <p:sp>
        <p:nvSpPr>
          <p:cNvPr id="140" name="Grid value 40"/>
          <p:cNvSpPr txBox="1"/>
          <p:nvPr/>
        </p:nvSpPr>
        <p:spPr>
          <a:xfrm>
            <a:off x="9439568"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−25.06</a:t>
            </a:r>
            <a:endParaRPr lang="en-US" sz="1050" dirty="0"/>
          </a:p>
        </p:txBody>
      </p:sp>
      <p:sp>
        <p:nvSpPr>
          <p:cNvPr id="141" name="Grid value 41"/>
          <p:cNvSpPr txBox="1"/>
          <p:nvPr/>
        </p:nvSpPr>
        <p:spPr>
          <a:xfrm>
            <a:off x="10226943"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−23.79</a:t>
            </a:r>
            <a:endParaRPr lang="en-US" sz="1050" dirty="0"/>
          </a:p>
        </p:txBody>
      </p:sp>
      <p:sp>
        <p:nvSpPr>
          <p:cNvPr id="142" name="Grid value 42"/>
          <p:cNvSpPr txBox="1"/>
          <p:nvPr/>
        </p:nvSpPr>
        <p:spPr>
          <a:xfrm>
            <a:off x="11014318" y="5505507"/>
            <a:ext cx="470101" cy="199530"/>
          </a:xfrm>
          <a:prstGeom prst="rect">
            <a:avLst/>
          </a:prstGeom>
          <a:solidFill>
            <a:schemeClr val="bg2"/>
          </a:solidFill>
          <a:ln/>
        </p:spPr>
        <p:txBody>
          <a:bodyPr wrap="square" lIns="0" tIns="0" rIns="0" bIns="0" rtlCol="0" anchor="ctr"/>
          <a:lstStyle/>
          <a:p>
            <a:pPr algn="ctr" indent="0" marL="0">
              <a:buNone/>
            </a:pPr>
            <a:r>
              <a:rPr lang="en-US" sz="1050" dirty="0">
                <a:solidFill>
                  <a:schemeClr val="tx1"/>
                </a:solidFill>
              </a:rPr>
              <a:t>−22.54</a:t>
            </a:r>
            <a:endParaRPr lang="en-US" sz="1050" dirty="0"/>
          </a:p>
        </p:txBody>
      </p:sp>
      <p:sp>
        <p:nvSpPr>
          <p:cNvPr id="143" name="Grid bottom rule"/>
          <p:cNvSpPr/>
          <p:nvPr/>
        </p:nvSpPr>
        <p:spPr>
          <a:xfrm>
            <a:off x="548640" y="5751576"/>
            <a:ext cx="11094415" cy="0"/>
          </a:xfrm>
          <a:prstGeom prst="line">
            <a:avLst/>
          </a:prstGeom>
          <a:noFill/>
          <a:ln w="12700">
            <a:solidFill>
              <a:srgbClr val="C9BCB5"/>
            </a:solidFill>
            <a:prstDash val="solid"/>
          </a:ln>
        </p:spPr>
      </p:sp>
      <p:sp>
        <p:nvSpPr>
          <p:cNvPr id="144" name="Disclosure chip"/>
          <p:cNvSpPr/>
          <p:nvPr/>
        </p:nvSpPr>
        <p:spPr>
          <a:xfrm>
            <a:off x="548640" y="5843016"/>
            <a:ext cx="11094415" cy="301752"/>
          </a:xfrm>
          <a:prstGeom prst="roundRect">
            <a:avLst>
              <a:gd name="adj" fmla="val 24242"/>
            </a:avLst>
          </a:prstGeom>
          <a:solidFill>
            <a:srgbClr val="F8EBD4"/>
          </a:solidFill>
          <a:ln/>
        </p:spPr>
      </p:sp>
      <p:sp>
        <p:nvSpPr>
          <p:cNvPr id="145" name="Disclosure text"/>
          <p:cNvSpPr txBox="1"/>
          <p:nvPr/>
        </p:nvSpPr>
        <p:spPr>
          <a:xfrm>
            <a:off x="731520" y="5843016"/>
            <a:ext cx="10728655" cy="301752"/>
          </a:xfrm>
          <a:prstGeom prst="rect">
            <a:avLst/>
          </a:prstGeom>
          <a:noFill/>
          <a:ln/>
        </p:spPr>
        <p:txBody>
          <a:bodyPr wrap="square" lIns="0" tIns="0" rIns="0" bIns="0" rtlCol="0" anchor="ctr"/>
          <a:lstStyle/>
          <a:p>
            <a:pPr algn="l" indent="0" marL="0">
              <a:buNone/>
            </a:pPr>
            <a:r>
              <a:rPr lang="en-US" sz="1050" b="1" dirty="0">
                <a:solidFill>
                  <a:srgbClr val="7A4B0C"/>
                </a:solidFill>
              </a:rPr>
              <a:t>Lowered bar (G1):</a:t>
            </a:r>
            <a:pPr algn="l" indent="0" marL="0">
              <a:buNone/>
            </a:pPr>
            <a:r>
              <a:rPr lang="en-US" sz="1050" dirty="0">
                <a:solidFill>
                  <a:srgbClr val="7A4B0C"/>
                </a:solidFill>
              </a:rPr>
              <a:t> the station test replaces the original ≥75%-of-12 test, which no run meets in Year 1; revenue timing on the 8-weekly calendar is not yet modelled.   * = founder decision at G1.</a:t>
            </a:r>
            <a:endParaRPr lang="en-US" sz="10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NEXT STEPS · RISKS AND VALIDATION TESTS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Price, the post-move downside and founder load are the risks; seven tests decide them</a:t>
            </a:r>
            <a:endParaRPr lang="en-US" sz="2800" dirty="0"/>
          </a:p>
        </p:txBody>
      </p:sp>
      <p:sp>
        <p:nvSpPr>
          <p:cNvPr id="4" name="Subtitle"/>
          <p:cNvSpPr txBox="1"/>
          <p:nvPr/>
        </p:nvSpPr>
        <p:spPr>
          <a:xfrm>
            <a:off x="548640" y="1531112"/>
            <a:ext cx="11094415" cy="238328"/>
          </a:xfrm>
          <a:prstGeom prst="rect">
            <a:avLst/>
          </a:prstGeom>
          <a:noFill/>
          <a:ln/>
        </p:spPr>
        <p:txBody>
          <a:bodyPr wrap="square" lIns="0" tIns="0" rIns="0" bIns="0" rtlCol="0" anchor="t"/>
          <a:lstStyle/>
          <a:p>
            <a:pPr algn="l" indent="0" marL="0">
              <a:buNone/>
            </a:pPr>
            <a:r>
              <a:rPr lang="en-US" sz="1300" dirty="0">
                <a:solidFill>
                  <a:srgbClr val="6B5F67"/>
                </a:solidFill>
              </a:rPr>
              <a:t>Ten named risks with owners; the paid tests, the willingness-to-pay block, the SLA pilot and the Destination pilot replace the weakest assumptions by mid-2027.</a:t>
            </a:r>
            <a:endParaRPr lang="en-US" sz="13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§4.5 (how each hypothesis is tested), §7.3, §8; economics §1A.5 (tornado, named stresses); execution/first_90_days.md §3 (V1–V7, W5–W7); S-CHD-18/20; S-NC-04</a:t>
            </a:r>
            <a:pPr algn="l" indent="0" marL="0">
              <a:buNone/>
            </a:pPr>
            <a:r>
              <a:rPr lang="en-US" sz="900" b="1" dirty="0">
                <a:solidFill>
                  <a:srgbClr val="6B5F67"/>
                </a:solidFill>
              </a:rPr>
              <a:t>   Note: </a:t>
            </a:r>
            <a:pPr algn="l" indent="0" marL="0">
              <a:buNone/>
            </a:pPr>
            <a:r>
              <a:rPr lang="en-US" sz="900" dirty="0">
                <a:solidFill>
                  <a:srgbClr val="6B5F67"/>
                </a:solidFill>
              </a:rPr>
              <a:t>₹ lakh, Year 1, planning case. Risk ranking, mitigations, tests and triggers: RECOMMENDATION; thresholds HYPOTHESIS; tornado ESTIMATE (full version: A5).</a:t>
            </a:r>
            <a:endParaRPr lang="en-US" sz="900" dirty="0"/>
          </a:p>
        </p:txBody>
      </p:sp>
      <p:sp>
        <p:nvSpPr>
          <p:cNvPr id="7" name="Risk header"/>
          <p:cNvSpPr/>
          <p:nvPr/>
        </p:nvSpPr>
        <p:spPr>
          <a:xfrm>
            <a:off x="548640" y="1920240"/>
            <a:ext cx="11094415" cy="256032"/>
          </a:xfrm>
          <a:prstGeom prst="rect">
            <a:avLst/>
          </a:prstGeom>
          <a:solidFill>
            <a:schemeClr val="tx2"/>
          </a:solidFill>
          <a:ln/>
        </p:spPr>
      </p:sp>
      <p:sp>
        <p:nvSpPr>
          <p:cNvPr id="8" name="Risk header text"/>
          <p:cNvSpPr txBox="1"/>
          <p:nvPr/>
        </p:nvSpPr>
        <p:spPr>
          <a:xfrm>
            <a:off x="603504" y="1920240"/>
            <a:ext cx="182880" cy="256032"/>
          </a:xfrm>
          <a:prstGeom prst="rect">
            <a:avLst/>
          </a:prstGeom>
          <a:noFill/>
          <a:ln/>
        </p:spPr>
        <p:txBody>
          <a:bodyPr wrap="square" lIns="0" tIns="0" rIns="0" bIns="0" rtlCol="0" anchor="ctr"/>
          <a:lstStyle/>
          <a:p>
            <a:pPr algn="l" indent="0" marL="0">
              <a:buNone/>
            </a:pPr>
            <a:r>
              <a:rPr lang="en-US" sz="1050" b="1" dirty="0">
                <a:solidFill>
                  <a:schemeClr val="bg1"/>
                </a:solidFill>
              </a:rPr>
              <a:t>#</a:t>
            </a:r>
            <a:endParaRPr lang="en-US" sz="1050" dirty="0"/>
          </a:p>
        </p:txBody>
      </p:sp>
      <p:sp>
        <p:nvSpPr>
          <p:cNvPr id="9" name="Risk header text 2"/>
          <p:cNvSpPr txBox="1"/>
          <p:nvPr/>
        </p:nvSpPr>
        <p:spPr>
          <a:xfrm>
            <a:off x="877824" y="1920240"/>
            <a:ext cx="2194560" cy="256032"/>
          </a:xfrm>
          <a:prstGeom prst="rect">
            <a:avLst/>
          </a:prstGeom>
          <a:noFill/>
          <a:ln/>
        </p:spPr>
        <p:txBody>
          <a:bodyPr wrap="square" lIns="0" tIns="0" rIns="0" bIns="0" rtlCol="0" anchor="ctr"/>
          <a:lstStyle/>
          <a:p>
            <a:pPr algn="l" indent="0" marL="0">
              <a:buNone/>
            </a:pPr>
            <a:r>
              <a:rPr lang="en-US" sz="1050" b="1" dirty="0">
                <a:solidFill>
                  <a:schemeClr val="bg1"/>
                </a:solidFill>
              </a:rPr>
              <a:t>Risk</a:t>
            </a:r>
            <a:endParaRPr lang="en-US" sz="1050" dirty="0"/>
          </a:p>
        </p:txBody>
      </p:sp>
      <p:sp>
        <p:nvSpPr>
          <p:cNvPr id="10" name="Risk header text 3"/>
          <p:cNvSpPr txBox="1"/>
          <p:nvPr/>
        </p:nvSpPr>
        <p:spPr>
          <a:xfrm>
            <a:off x="3163824" y="1920240"/>
            <a:ext cx="4023360" cy="256032"/>
          </a:xfrm>
          <a:prstGeom prst="rect">
            <a:avLst/>
          </a:prstGeom>
          <a:noFill/>
          <a:ln/>
        </p:spPr>
        <p:txBody>
          <a:bodyPr wrap="square" lIns="0" tIns="0" rIns="0" bIns="0" rtlCol="0" anchor="ctr"/>
          <a:lstStyle/>
          <a:p>
            <a:pPr algn="l" indent="0" marL="0">
              <a:buNone/>
            </a:pPr>
            <a:r>
              <a:rPr lang="en-US" sz="1050" b="1" dirty="0">
                <a:solidFill>
                  <a:schemeClr val="bg1"/>
                </a:solidFill>
              </a:rPr>
              <a:t>Evidence (one figure)</a:t>
            </a:r>
            <a:endParaRPr lang="en-US" sz="1050" dirty="0"/>
          </a:p>
        </p:txBody>
      </p:sp>
      <p:sp>
        <p:nvSpPr>
          <p:cNvPr id="11" name="Risk header text 4"/>
          <p:cNvSpPr txBox="1"/>
          <p:nvPr/>
        </p:nvSpPr>
        <p:spPr>
          <a:xfrm>
            <a:off x="7278624" y="1920240"/>
            <a:ext cx="3063240" cy="256032"/>
          </a:xfrm>
          <a:prstGeom prst="rect">
            <a:avLst/>
          </a:prstGeom>
          <a:noFill/>
          <a:ln/>
        </p:spPr>
        <p:txBody>
          <a:bodyPr wrap="square" lIns="0" tIns="0" rIns="0" bIns="0" rtlCol="0" anchor="ctr"/>
          <a:lstStyle/>
          <a:p>
            <a:pPr algn="l" indent="0" marL="0">
              <a:buNone/>
            </a:pPr>
            <a:r>
              <a:rPr lang="en-US" sz="1050" b="1" dirty="0">
                <a:solidFill>
                  <a:schemeClr val="bg1"/>
                </a:solidFill>
              </a:rPr>
              <a:t>Mitigation</a:t>
            </a:r>
            <a:endParaRPr lang="en-US" sz="1050" dirty="0"/>
          </a:p>
        </p:txBody>
      </p:sp>
      <p:sp>
        <p:nvSpPr>
          <p:cNvPr id="12" name="Risk header text 5"/>
          <p:cNvSpPr txBox="1"/>
          <p:nvPr/>
        </p:nvSpPr>
        <p:spPr>
          <a:xfrm>
            <a:off x="10433304" y="1920240"/>
            <a:ext cx="1173175" cy="256032"/>
          </a:xfrm>
          <a:prstGeom prst="rect">
            <a:avLst/>
          </a:prstGeom>
          <a:noFill/>
          <a:ln/>
        </p:spPr>
        <p:txBody>
          <a:bodyPr wrap="square" lIns="0" tIns="0" rIns="0" bIns="0" rtlCol="0" anchor="ctr"/>
          <a:lstStyle/>
          <a:p>
            <a:pPr algn="l" indent="0" marL="0">
              <a:buNone/>
            </a:pPr>
            <a:r>
              <a:rPr lang="en-US" sz="1050" b="1" dirty="0">
                <a:solidFill>
                  <a:schemeClr val="bg1"/>
                </a:solidFill>
              </a:rPr>
              <a:t>Owner</a:t>
            </a:r>
            <a:endParaRPr lang="en-US" sz="1050" dirty="0"/>
          </a:p>
        </p:txBody>
      </p:sp>
      <p:sp>
        <p:nvSpPr>
          <p:cNvPr id="13" name="Risk cell"/>
          <p:cNvSpPr txBox="1"/>
          <p:nvPr/>
        </p:nvSpPr>
        <p:spPr>
          <a:xfrm>
            <a:off x="603504" y="21762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1</a:t>
            </a:r>
            <a:endParaRPr lang="en-US" sz="1050" dirty="0"/>
          </a:p>
        </p:txBody>
      </p:sp>
      <p:sp>
        <p:nvSpPr>
          <p:cNvPr id="14" name="Risk cell 2"/>
          <p:cNvSpPr txBox="1"/>
          <p:nvPr/>
        </p:nvSpPr>
        <p:spPr>
          <a:xfrm>
            <a:off x="877824" y="21762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Price realisation fails</a:t>
            </a:r>
            <a:endParaRPr lang="en-US" sz="1050" dirty="0"/>
          </a:p>
        </p:txBody>
      </p:sp>
      <p:sp>
        <p:nvSpPr>
          <p:cNvPr id="15" name="Risk cell 3"/>
          <p:cNvSpPr txBox="1"/>
          <p:nvPr/>
        </p:nvSpPr>
        <p:spPr>
          <a:xfrm>
            <a:off x="3163824" y="21762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₹19.7L Year-1 EBITDA swing; zero elasticity modelled; all-in cost +45%</a:t>
            </a:r>
            <a:endParaRPr lang="en-US" sz="1050" dirty="0"/>
          </a:p>
        </p:txBody>
      </p:sp>
      <p:sp>
        <p:nvSpPr>
          <p:cNvPr id="16" name="Risk cell 4"/>
          <p:cNvSpPr txBox="1"/>
          <p:nvPr/>
        </p:nvSpPr>
        <p:spPr>
          <a:xfrm>
            <a:off x="7278624" y="21762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Two gated steps; KT-5 rollback; WTP block in V3</a:t>
            </a:r>
            <a:endParaRPr lang="en-US" sz="1050" dirty="0"/>
          </a:p>
        </p:txBody>
      </p:sp>
      <p:sp>
        <p:nvSpPr>
          <p:cNvPr id="17" name="Risk cell 5"/>
          <p:cNvSpPr txBox="1"/>
          <p:nvPr/>
        </p:nvSpPr>
        <p:spPr>
          <a:xfrm>
            <a:off x="10433304" y="21762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Founder + Ops Lead</a:t>
            </a:r>
            <a:endParaRPr lang="en-US" sz="1050" dirty="0"/>
          </a:p>
        </p:txBody>
      </p:sp>
      <p:sp>
        <p:nvSpPr>
          <p:cNvPr id="18" name="Risk zebra"/>
          <p:cNvSpPr/>
          <p:nvPr/>
        </p:nvSpPr>
        <p:spPr>
          <a:xfrm>
            <a:off x="548640" y="2404872"/>
            <a:ext cx="11094415" cy="228600"/>
          </a:xfrm>
          <a:prstGeom prst="rect">
            <a:avLst/>
          </a:prstGeom>
          <a:solidFill>
            <a:srgbClr val="F1EAE5"/>
          </a:solidFill>
          <a:ln/>
        </p:spPr>
      </p:sp>
      <p:sp>
        <p:nvSpPr>
          <p:cNvPr id="19" name="Risk cell 6"/>
          <p:cNvSpPr txBox="1"/>
          <p:nvPr/>
        </p:nvSpPr>
        <p:spPr>
          <a:xfrm>
            <a:off x="603504" y="24048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2</a:t>
            </a:r>
            <a:endParaRPr lang="en-US" sz="1050" dirty="0"/>
          </a:p>
        </p:txBody>
      </p:sp>
      <p:sp>
        <p:nvSpPr>
          <p:cNvPr id="20" name="Risk cell 7"/>
          <p:cNvSpPr txBox="1"/>
          <p:nvPr/>
        </p:nvSpPr>
        <p:spPr>
          <a:xfrm>
            <a:off x="877824" y="24048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Downside after the move</a:t>
            </a:r>
            <a:endParaRPr lang="en-US" sz="1050" dirty="0"/>
          </a:p>
        </p:txBody>
      </p:sp>
      <p:sp>
        <p:nvSpPr>
          <p:cNvPr id="21" name="Risk cell 8"/>
          <p:cNvSpPr txBox="1"/>
          <p:nvPr/>
        </p:nvSpPr>
        <p:spPr>
          <a:xfrm>
            <a:off x="3163824" y="24048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₹14.7L committed on the G1 reading; ≈₹33L if the peak fails</a:t>
            </a:r>
            <a:endParaRPr lang="en-US" sz="1050" dirty="0"/>
          </a:p>
        </p:txBody>
      </p:sp>
      <p:sp>
        <p:nvSpPr>
          <p:cNvPr id="22" name="Risk cell 9"/>
          <p:cNvSpPr txBox="1"/>
          <p:nvPr/>
        </p:nvSpPr>
        <p:spPr>
          <a:xfrm>
            <a:off x="7278624" y="24048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G1 on May–July actuals; ≤3-month notice; KT-10</a:t>
            </a:r>
            <a:endParaRPr lang="en-US" sz="1050" dirty="0"/>
          </a:p>
        </p:txBody>
      </p:sp>
      <p:sp>
        <p:nvSpPr>
          <p:cNvPr id="23" name="Risk cell 10"/>
          <p:cNvSpPr txBox="1"/>
          <p:nvPr/>
        </p:nvSpPr>
        <p:spPr>
          <a:xfrm>
            <a:off x="10433304" y="24048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Founder</a:t>
            </a:r>
            <a:endParaRPr lang="en-US" sz="1050" dirty="0"/>
          </a:p>
        </p:txBody>
      </p:sp>
      <p:sp>
        <p:nvSpPr>
          <p:cNvPr id="24" name="Risk cell 11"/>
          <p:cNvSpPr txBox="1"/>
          <p:nvPr/>
        </p:nvSpPr>
        <p:spPr>
          <a:xfrm>
            <a:off x="603504" y="26334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3</a:t>
            </a:r>
            <a:endParaRPr lang="en-US" sz="1050" dirty="0"/>
          </a:p>
        </p:txBody>
      </p:sp>
      <p:sp>
        <p:nvSpPr>
          <p:cNvPr id="25" name="Risk cell 12"/>
          <p:cNvSpPr txBox="1"/>
          <p:nvPr/>
        </p:nvSpPr>
        <p:spPr>
          <a:xfrm>
            <a:off x="877824" y="26334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Downside before the move</a:t>
            </a:r>
            <a:endParaRPr lang="en-US" sz="1050" dirty="0"/>
          </a:p>
        </p:txBody>
      </p:sp>
      <p:sp>
        <p:nvSpPr>
          <p:cNvPr id="26" name="Risk cell 13"/>
          <p:cNvSpPr txBox="1"/>
          <p:nvPr/>
        </p:nvSpPr>
        <p:spPr>
          <a:xfrm>
            <a:off x="3163824" y="26334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₹2.3L/month burn; ≈₹36L with no cut</a:t>
            </a:r>
            <a:endParaRPr lang="en-US" sz="1050" dirty="0"/>
          </a:p>
        </p:txBody>
      </p:sp>
      <p:sp>
        <p:nvSpPr>
          <p:cNvPr id="27" name="Risk cell 14"/>
          <p:cNvSpPr txBox="1"/>
          <p:nvPr/>
        </p:nvSpPr>
        <p:spPr>
          <a:xfrm>
            <a:off x="7278624" y="26334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KT-1a mandatory deep cut in March</a:t>
            </a:r>
            <a:endParaRPr lang="en-US" sz="1050" dirty="0"/>
          </a:p>
        </p:txBody>
      </p:sp>
      <p:sp>
        <p:nvSpPr>
          <p:cNvPr id="28" name="Risk cell 15"/>
          <p:cNvSpPr txBox="1"/>
          <p:nvPr/>
        </p:nvSpPr>
        <p:spPr>
          <a:xfrm>
            <a:off x="10433304" y="26334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Founder + Ops Lead</a:t>
            </a:r>
            <a:endParaRPr lang="en-US" sz="1050" dirty="0"/>
          </a:p>
        </p:txBody>
      </p:sp>
      <p:sp>
        <p:nvSpPr>
          <p:cNvPr id="29" name="Risk zebra 2"/>
          <p:cNvSpPr/>
          <p:nvPr/>
        </p:nvSpPr>
        <p:spPr>
          <a:xfrm>
            <a:off x="548640" y="2862072"/>
            <a:ext cx="11094415" cy="228600"/>
          </a:xfrm>
          <a:prstGeom prst="rect">
            <a:avLst/>
          </a:prstGeom>
          <a:solidFill>
            <a:srgbClr val="F1EAE5"/>
          </a:solidFill>
          <a:ln/>
        </p:spPr>
      </p:sp>
      <p:sp>
        <p:nvSpPr>
          <p:cNvPr id="30" name="Risk cell 16"/>
          <p:cNvSpPr txBox="1"/>
          <p:nvPr/>
        </p:nvSpPr>
        <p:spPr>
          <a:xfrm>
            <a:off x="603504" y="28620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4</a:t>
            </a:r>
            <a:endParaRPr lang="en-US" sz="1050" dirty="0"/>
          </a:p>
        </p:txBody>
      </p:sp>
      <p:sp>
        <p:nvSpPr>
          <p:cNvPr id="31" name="Risk cell 17"/>
          <p:cNvSpPr txBox="1"/>
          <p:nvPr/>
        </p:nvSpPr>
        <p:spPr>
          <a:xfrm>
            <a:off x="877824" y="28620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Founder load shifted, not reduced</a:t>
            </a:r>
            <a:endParaRPr lang="en-US" sz="1050" dirty="0"/>
          </a:p>
        </p:txBody>
      </p:sp>
      <p:sp>
        <p:nvSpPr>
          <p:cNvPr id="32" name="Risk cell 18"/>
          <p:cNvSpPr txBox="1"/>
          <p:nvPr/>
        </p:nvSpPr>
        <p:spPr>
          <a:xfrm>
            <a:off x="3163824" y="28620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114 h in August (planning case); 128 h in May if G1 lands at M6</a:t>
            </a:r>
            <a:endParaRPr lang="en-US" sz="1050" dirty="0"/>
          </a:p>
        </p:txBody>
      </p:sp>
      <p:sp>
        <p:nvSpPr>
          <p:cNvPr id="33" name="Risk cell 19"/>
          <p:cNvSpPr txBox="1"/>
          <p:nvPr/>
        </p:nvSpPr>
        <p:spPr>
          <a:xfrm>
            <a:off x="7278624" y="28620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Hours disclosed; &gt;110 h twice pulls trainer 2 forward</a:t>
            </a:r>
            <a:endParaRPr lang="en-US" sz="1050" dirty="0"/>
          </a:p>
        </p:txBody>
      </p:sp>
      <p:sp>
        <p:nvSpPr>
          <p:cNvPr id="34" name="Risk cell 20"/>
          <p:cNvSpPr txBox="1"/>
          <p:nvPr/>
        </p:nvSpPr>
        <p:spPr>
          <a:xfrm>
            <a:off x="10433304" y="28620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Founder</a:t>
            </a:r>
            <a:endParaRPr lang="en-US" sz="1050" dirty="0"/>
          </a:p>
        </p:txBody>
      </p:sp>
      <p:sp>
        <p:nvSpPr>
          <p:cNvPr id="35" name="Risk cell 21"/>
          <p:cNvSpPr txBox="1"/>
          <p:nvPr/>
        </p:nvSpPr>
        <p:spPr>
          <a:xfrm>
            <a:off x="603504" y="30906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5</a:t>
            </a:r>
            <a:endParaRPr lang="en-US" sz="1050" dirty="0"/>
          </a:p>
        </p:txBody>
      </p:sp>
      <p:sp>
        <p:nvSpPr>
          <p:cNvPr id="36" name="Risk cell 22"/>
          <p:cNvSpPr txBox="1"/>
          <p:nvPr/>
        </p:nvSpPr>
        <p:spPr>
          <a:xfrm>
            <a:off x="877824" y="30906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Nobody owns execution</a:t>
            </a:r>
            <a:endParaRPr lang="en-US" sz="1050" dirty="0"/>
          </a:p>
        </p:txBody>
      </p:sp>
      <p:sp>
        <p:nvSpPr>
          <p:cNvPr id="37" name="Risk cell 23"/>
          <p:cNvSpPr txBox="1"/>
          <p:nvPr/>
        </p:nvSpPr>
        <p:spPr>
          <a:xfrm>
            <a:off x="3163824" y="30906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Thirteen workstreams and ~10 hires in 90 days</a:t>
            </a:r>
            <a:endParaRPr lang="en-US" sz="1050" dirty="0"/>
          </a:p>
        </p:txBody>
      </p:sp>
      <p:sp>
        <p:nvSpPr>
          <p:cNvPr id="38" name="Risk cell 24"/>
          <p:cNvSpPr txBox="1"/>
          <p:nvPr/>
        </p:nvSpPr>
        <p:spPr>
          <a:xfrm>
            <a:off x="7278624" y="30906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Ops Lead from M1 (D5a); scope cut to G0</a:t>
            </a:r>
            <a:endParaRPr lang="en-US" sz="1050" dirty="0"/>
          </a:p>
        </p:txBody>
      </p:sp>
      <p:sp>
        <p:nvSpPr>
          <p:cNvPr id="39" name="Risk cell 25"/>
          <p:cNvSpPr txBox="1"/>
          <p:nvPr/>
        </p:nvSpPr>
        <p:spPr>
          <a:xfrm>
            <a:off x="10433304" y="30906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Founder → Ops Lead</a:t>
            </a:r>
            <a:endParaRPr lang="en-US" sz="1050" dirty="0"/>
          </a:p>
        </p:txBody>
      </p:sp>
      <p:sp>
        <p:nvSpPr>
          <p:cNvPr id="40" name="Risk zebra 3"/>
          <p:cNvSpPr/>
          <p:nvPr/>
        </p:nvSpPr>
        <p:spPr>
          <a:xfrm>
            <a:off x="548640" y="3319272"/>
            <a:ext cx="11094415" cy="228600"/>
          </a:xfrm>
          <a:prstGeom prst="rect">
            <a:avLst/>
          </a:prstGeom>
          <a:solidFill>
            <a:srgbClr val="F1EAE5"/>
          </a:solidFill>
          <a:ln/>
        </p:spPr>
      </p:sp>
      <p:sp>
        <p:nvSpPr>
          <p:cNvPr id="41" name="Risk cell 26"/>
          <p:cNvSpPr txBox="1"/>
          <p:nvPr/>
        </p:nvSpPr>
        <p:spPr>
          <a:xfrm>
            <a:off x="603504" y="33192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6</a:t>
            </a:r>
            <a:endParaRPr lang="en-US" sz="1050" dirty="0"/>
          </a:p>
        </p:txBody>
      </p:sp>
      <p:sp>
        <p:nvSpPr>
          <p:cNvPr id="42" name="Risk cell 27"/>
          <p:cNvSpPr txBox="1"/>
          <p:nvPr/>
        </p:nvSpPr>
        <p:spPr>
          <a:xfrm>
            <a:off x="877824" y="33192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Optimistic funnel benchmarks</a:t>
            </a:r>
            <a:endParaRPr lang="en-US" sz="1050" dirty="0"/>
          </a:p>
        </p:txBody>
      </p:sp>
      <p:sp>
        <p:nvSpPr>
          <p:cNvPr id="43" name="Risk cell 28"/>
          <p:cNvSpPr txBox="1"/>
          <p:nvPr/>
        </p:nvSpPr>
        <p:spPr>
          <a:xfrm>
            <a:off x="3163824" y="3319272"/>
            <a:ext cx="4023360" cy="228600"/>
          </a:xfrm>
          <a:prstGeom prst="rect">
            <a:avLst/>
          </a:prstGeom>
          <a:noFill/>
          <a:ln/>
        </p:spPr>
        <p:txBody>
          <a:bodyPr wrap="square" lIns="0" tIns="0" rIns="0" bIns="0" rtlCol="0" anchor="ctr"/>
          <a:lstStyle/>
          <a:p>
            <a:pPr algn="l" indent="0" marL="0">
              <a:buNone/>
            </a:pPr>
            <a:r>
              <a:rPr lang="en-US" sz="1000" dirty="0">
                <a:solidFill>
                  <a:schemeClr val="tx1"/>
                </a:solidFill>
              </a:rPr>
              <a:t>9x range; calibration factor; organic flat −₹2.5L; masterclasses half −₹5.9L</a:t>
            </a:r>
            <a:endParaRPr lang="en-US" sz="1000" dirty="0"/>
          </a:p>
        </p:txBody>
      </p:sp>
      <p:sp>
        <p:nvSpPr>
          <p:cNvPr id="44" name="Risk cell 29"/>
          <p:cNvSpPr txBox="1"/>
          <p:nvPr/>
        </p:nvSpPr>
        <p:spPr>
          <a:xfrm>
            <a:off x="7278624" y="33192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Test level until SG1–SG5 green; KT-4</a:t>
            </a:r>
            <a:endParaRPr lang="en-US" sz="1050" dirty="0"/>
          </a:p>
        </p:txBody>
      </p:sp>
      <p:sp>
        <p:nvSpPr>
          <p:cNvPr id="45" name="Risk cell 30"/>
          <p:cNvSpPr txBox="1"/>
          <p:nvPr/>
        </p:nvSpPr>
        <p:spPr>
          <a:xfrm>
            <a:off x="10433304" y="33192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Ops Lead</a:t>
            </a:r>
            <a:endParaRPr lang="en-US" sz="1050" dirty="0"/>
          </a:p>
        </p:txBody>
      </p:sp>
      <p:sp>
        <p:nvSpPr>
          <p:cNvPr id="46" name="Risk cell 31"/>
          <p:cNvSpPr txBox="1"/>
          <p:nvPr/>
        </p:nvSpPr>
        <p:spPr>
          <a:xfrm>
            <a:off x="603504" y="35478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7</a:t>
            </a:r>
            <a:endParaRPr lang="en-US" sz="1050" dirty="0"/>
          </a:p>
        </p:txBody>
      </p:sp>
      <p:sp>
        <p:nvSpPr>
          <p:cNvPr id="47" name="Risk cell 32"/>
          <p:cNvSpPr txBox="1"/>
          <p:nvPr/>
        </p:nvSpPr>
        <p:spPr>
          <a:xfrm>
            <a:off x="877824" y="35478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Trainer hire and pay unsupported</a:t>
            </a:r>
            <a:endParaRPr lang="en-US" sz="1050" dirty="0"/>
          </a:p>
        </p:txBody>
      </p:sp>
      <p:sp>
        <p:nvSpPr>
          <p:cNvPr id="48" name="Risk cell 33"/>
          <p:cNvSpPr txBox="1"/>
          <p:nvPr/>
        </p:nvSpPr>
        <p:spPr>
          <a:xfrm>
            <a:off x="3163824" y="35478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₹60k unsourced (HYPOTHESIS)</a:t>
            </a:r>
            <a:endParaRPr lang="en-US" sz="1050" dirty="0"/>
          </a:p>
        </p:txBody>
      </p:sp>
      <p:sp>
        <p:nvSpPr>
          <p:cNvPr id="49" name="Risk cell 34"/>
          <p:cNvSpPr txBox="1"/>
          <p:nvPr/>
        </p:nvSpPr>
        <p:spPr>
          <a:xfrm>
            <a:off x="7278624" y="35478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Two finalists; retainer option; KT-12</a:t>
            </a:r>
            <a:endParaRPr lang="en-US" sz="1050" dirty="0"/>
          </a:p>
        </p:txBody>
      </p:sp>
      <p:sp>
        <p:nvSpPr>
          <p:cNvPr id="50" name="Risk cell 35"/>
          <p:cNvSpPr txBox="1"/>
          <p:nvPr/>
        </p:nvSpPr>
        <p:spPr>
          <a:xfrm>
            <a:off x="10433304" y="35478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Founder + Ops Lead</a:t>
            </a:r>
            <a:endParaRPr lang="en-US" sz="1050" dirty="0"/>
          </a:p>
        </p:txBody>
      </p:sp>
      <p:sp>
        <p:nvSpPr>
          <p:cNvPr id="51" name="Risk zebra 4"/>
          <p:cNvSpPr/>
          <p:nvPr/>
        </p:nvSpPr>
        <p:spPr>
          <a:xfrm>
            <a:off x="548640" y="3776472"/>
            <a:ext cx="11094415" cy="228600"/>
          </a:xfrm>
          <a:prstGeom prst="rect">
            <a:avLst/>
          </a:prstGeom>
          <a:solidFill>
            <a:srgbClr val="F1EAE5"/>
          </a:solidFill>
          <a:ln/>
        </p:spPr>
      </p:sp>
      <p:sp>
        <p:nvSpPr>
          <p:cNvPr id="52" name="Risk cell 36"/>
          <p:cNvSpPr txBox="1"/>
          <p:nvPr/>
        </p:nvSpPr>
        <p:spPr>
          <a:xfrm>
            <a:off x="603504" y="37764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8</a:t>
            </a:r>
            <a:endParaRPr lang="en-US" sz="1050" dirty="0"/>
          </a:p>
        </p:txBody>
      </p:sp>
      <p:sp>
        <p:nvSpPr>
          <p:cNvPr id="53" name="Risk cell 37"/>
          <p:cNvSpPr txBox="1"/>
          <p:nvPr/>
        </p:nvSpPr>
        <p:spPr>
          <a:xfrm>
            <a:off x="877824" y="37764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Capacity binds May–July</a:t>
            </a:r>
            <a:endParaRPr lang="en-US" sz="1050" dirty="0"/>
          </a:p>
        </p:txBody>
      </p:sp>
      <p:sp>
        <p:nvSpPr>
          <p:cNvPr id="54" name="Risk cell 38"/>
          <p:cNvSpPr txBox="1"/>
          <p:nvPr/>
        </p:nvSpPr>
        <p:spPr>
          <a:xfrm>
            <a:off x="3163824" y="37764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78% / 67% / 77% of demand fits</a:t>
            </a:r>
            <a:endParaRPr lang="en-US" sz="1050" dirty="0"/>
          </a:p>
        </p:txBody>
      </p:sp>
      <p:sp>
        <p:nvSpPr>
          <p:cNvPr id="55" name="Risk cell 39"/>
          <p:cNvSpPr txBox="1"/>
          <p:nvPr/>
        </p:nvSpPr>
        <p:spPr>
          <a:xfrm>
            <a:off x="7278624" y="37764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Evening slot from March; move at M10</a:t>
            </a:r>
            <a:endParaRPr lang="en-US" sz="1050" dirty="0"/>
          </a:p>
        </p:txBody>
      </p:sp>
      <p:sp>
        <p:nvSpPr>
          <p:cNvPr id="56" name="Risk cell 40"/>
          <p:cNvSpPr txBox="1"/>
          <p:nvPr/>
        </p:nvSpPr>
        <p:spPr>
          <a:xfrm>
            <a:off x="10433304" y="37764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Ops Lead</a:t>
            </a:r>
            <a:endParaRPr lang="en-US" sz="1050" dirty="0"/>
          </a:p>
        </p:txBody>
      </p:sp>
      <p:sp>
        <p:nvSpPr>
          <p:cNvPr id="57" name="Risk cell 41"/>
          <p:cNvSpPr txBox="1"/>
          <p:nvPr/>
        </p:nvSpPr>
        <p:spPr>
          <a:xfrm>
            <a:off x="603504" y="40050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9</a:t>
            </a:r>
            <a:endParaRPr lang="en-US" sz="1050" dirty="0"/>
          </a:p>
        </p:txBody>
      </p:sp>
      <p:sp>
        <p:nvSpPr>
          <p:cNvPr id="58" name="Risk cell 42"/>
          <p:cNvSpPr txBox="1"/>
          <p:nvPr/>
        </p:nvSpPr>
        <p:spPr>
          <a:xfrm>
            <a:off x="877824" y="40050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GST, lease, NOC</a:t>
            </a:r>
            <a:endParaRPr lang="en-US" sz="1050" dirty="0"/>
          </a:p>
        </p:txBody>
      </p:sp>
      <p:sp>
        <p:nvSpPr>
          <p:cNvPr id="59" name="Risk cell 43"/>
          <p:cNvSpPr txBox="1"/>
          <p:nvPr/>
        </p:nvSpPr>
        <p:spPr>
          <a:xfrm>
            <a:off x="3163824" y="40050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₹10.9L GST swing (planning case)</a:t>
            </a:r>
            <a:endParaRPr lang="en-US" sz="1050" dirty="0"/>
          </a:p>
        </p:txBody>
      </p:sp>
      <p:sp>
        <p:nvSpPr>
          <p:cNvPr id="60" name="Risk cell 44"/>
          <p:cNvSpPr txBox="1"/>
          <p:nvPr/>
        </p:nvSpPr>
        <p:spPr>
          <a:xfrm>
            <a:off x="7278624" y="4005072"/>
            <a:ext cx="3063240" cy="228600"/>
          </a:xfrm>
          <a:prstGeom prst="rect">
            <a:avLst/>
          </a:prstGeom>
          <a:noFill/>
          <a:ln/>
        </p:spPr>
        <p:txBody>
          <a:bodyPr wrap="square" lIns="0" tIns="0" rIns="0" bIns="0" rtlCol="0" anchor="ctr"/>
          <a:lstStyle/>
          <a:p>
            <a:pPr algn="l" indent="0" marL="0">
              <a:buNone/>
            </a:pPr>
            <a:r>
              <a:rPr lang="en-US" sz="1050" dirty="0">
                <a:solidFill>
                  <a:schemeClr val="tx1"/>
                </a:solidFill>
              </a:rPr>
              <a:t>CA opinion before fees; ≤3 months' notice</a:t>
            </a:r>
            <a:endParaRPr lang="en-US" sz="1050" dirty="0"/>
          </a:p>
        </p:txBody>
      </p:sp>
      <p:sp>
        <p:nvSpPr>
          <p:cNvPr id="61" name="Risk cell 45"/>
          <p:cNvSpPr txBox="1"/>
          <p:nvPr/>
        </p:nvSpPr>
        <p:spPr>
          <a:xfrm>
            <a:off x="10433304" y="40050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CA + Founder</a:t>
            </a:r>
            <a:endParaRPr lang="en-US" sz="1050" dirty="0"/>
          </a:p>
        </p:txBody>
      </p:sp>
      <p:sp>
        <p:nvSpPr>
          <p:cNvPr id="62" name="Risk zebra 5"/>
          <p:cNvSpPr/>
          <p:nvPr/>
        </p:nvSpPr>
        <p:spPr>
          <a:xfrm>
            <a:off x="548640" y="4233672"/>
            <a:ext cx="11094415" cy="228600"/>
          </a:xfrm>
          <a:prstGeom prst="rect">
            <a:avLst/>
          </a:prstGeom>
          <a:solidFill>
            <a:srgbClr val="F1EAE5"/>
          </a:solidFill>
          <a:ln/>
        </p:spPr>
      </p:sp>
      <p:sp>
        <p:nvSpPr>
          <p:cNvPr id="63" name="Risk cell 46"/>
          <p:cNvSpPr txBox="1"/>
          <p:nvPr/>
        </p:nvSpPr>
        <p:spPr>
          <a:xfrm>
            <a:off x="603504" y="4233672"/>
            <a:ext cx="182880" cy="228600"/>
          </a:xfrm>
          <a:prstGeom prst="rect">
            <a:avLst/>
          </a:prstGeom>
          <a:noFill/>
          <a:ln/>
        </p:spPr>
        <p:txBody>
          <a:bodyPr wrap="square" lIns="0" tIns="0" rIns="0" bIns="0" rtlCol="0" anchor="ctr"/>
          <a:lstStyle/>
          <a:p>
            <a:pPr algn="l" indent="0" marL="0">
              <a:buNone/>
            </a:pPr>
            <a:r>
              <a:rPr lang="en-US" sz="1050" dirty="0">
                <a:solidFill>
                  <a:schemeClr val="tx1"/>
                </a:solidFill>
              </a:rPr>
              <a:t>10</a:t>
            </a:r>
            <a:endParaRPr lang="en-US" sz="1050" dirty="0"/>
          </a:p>
        </p:txBody>
      </p:sp>
      <p:sp>
        <p:nvSpPr>
          <p:cNvPr id="64" name="Risk cell 47"/>
          <p:cNvSpPr txBox="1"/>
          <p:nvPr/>
        </p:nvSpPr>
        <p:spPr>
          <a:xfrm>
            <a:off x="877824" y="4233672"/>
            <a:ext cx="2194560" cy="228600"/>
          </a:xfrm>
          <a:prstGeom prst="rect">
            <a:avLst/>
          </a:prstGeom>
          <a:noFill/>
          <a:ln/>
        </p:spPr>
        <p:txBody>
          <a:bodyPr wrap="square" lIns="0" tIns="0" rIns="0" bIns="0" rtlCol="0" anchor="ctr"/>
          <a:lstStyle/>
          <a:p>
            <a:pPr algn="l" indent="0" marL="0">
              <a:buNone/>
            </a:pPr>
            <a:r>
              <a:rPr lang="en-US" sz="1050" b="1" dirty="0">
                <a:solidFill>
                  <a:schemeClr val="tx2"/>
                </a:solidFill>
              </a:rPr>
              <a:t>Out-of-town safety; misleading claims</a:t>
            </a:r>
            <a:endParaRPr lang="en-US" sz="1050" dirty="0"/>
          </a:p>
        </p:txBody>
      </p:sp>
      <p:sp>
        <p:nvSpPr>
          <p:cNvPr id="65" name="Risk cell 48"/>
          <p:cNvSpPr txBox="1"/>
          <p:nvPr/>
        </p:nvSpPr>
        <p:spPr>
          <a:xfrm>
            <a:off x="3163824" y="4233672"/>
            <a:ext cx="4023360" cy="228600"/>
          </a:xfrm>
          <a:prstGeom prst="rect">
            <a:avLst/>
          </a:prstGeom>
          <a:noFill/>
          <a:ln/>
        </p:spPr>
        <p:txBody>
          <a:bodyPr wrap="square" lIns="0" tIns="0" rIns="0" bIns="0" rtlCol="0" anchor="ctr"/>
          <a:lstStyle/>
          <a:p>
            <a:pPr algn="l" indent="0" marL="0">
              <a:buNone/>
            </a:pPr>
            <a:r>
              <a:rPr lang="en-US" sz="1050" dirty="0">
                <a:solidFill>
                  <a:schemeClr val="tx1"/>
                </a:solidFill>
              </a:rPr>
              <a:t>1 of 11 PG listings girls-only; "100% placement" is the norm</a:t>
            </a:r>
            <a:endParaRPr lang="en-US" sz="1050" dirty="0"/>
          </a:p>
        </p:txBody>
      </p:sp>
      <p:sp>
        <p:nvSpPr>
          <p:cNvPr id="66" name="Risk cell 49"/>
          <p:cNvSpPr txBox="1"/>
          <p:nvPr/>
        </p:nvSpPr>
        <p:spPr>
          <a:xfrm>
            <a:off x="7278624" y="4233672"/>
            <a:ext cx="3063240" cy="228600"/>
          </a:xfrm>
          <a:prstGeom prst="rect">
            <a:avLst/>
          </a:prstGeom>
          <a:noFill/>
          <a:ln/>
        </p:spPr>
        <p:txBody>
          <a:bodyPr wrap="square" lIns="0" tIns="0" rIns="0" bIns="0" rtlCol="0" anchor="ctr"/>
          <a:lstStyle/>
          <a:p>
            <a:pPr algn="l" indent="0" marL="0">
              <a:buNone/>
            </a:pPr>
            <a:r>
              <a:rPr lang="en-US" sz="1000" dirty="0">
                <a:solidFill>
                  <a:schemeClr val="tx1"/>
                </a:solidFill>
              </a:rPr>
              <a:t>Vetted women-only stays; KT-8; no placement promises</a:t>
            </a:r>
            <a:endParaRPr lang="en-US" sz="1000" dirty="0"/>
          </a:p>
        </p:txBody>
      </p:sp>
      <p:sp>
        <p:nvSpPr>
          <p:cNvPr id="67" name="Risk cell 50"/>
          <p:cNvSpPr txBox="1"/>
          <p:nvPr/>
        </p:nvSpPr>
        <p:spPr>
          <a:xfrm>
            <a:off x="10433304" y="4233672"/>
            <a:ext cx="1173175" cy="228600"/>
          </a:xfrm>
          <a:prstGeom prst="rect">
            <a:avLst/>
          </a:prstGeom>
          <a:noFill/>
          <a:ln/>
        </p:spPr>
        <p:txBody>
          <a:bodyPr wrap="square" lIns="0" tIns="0" rIns="0" bIns="0" rtlCol="0" anchor="ctr"/>
          <a:lstStyle/>
          <a:p>
            <a:pPr algn="l" indent="0" marL="0">
              <a:buNone/>
            </a:pPr>
            <a:r>
              <a:rPr lang="en-US" sz="1050" dirty="0">
                <a:solidFill>
                  <a:srgbClr val="6B5F67"/>
                </a:solidFill>
              </a:rPr>
              <a:t>Ops Lead + Founder</a:t>
            </a:r>
            <a:endParaRPr lang="en-US" sz="1050" dirty="0"/>
          </a:p>
        </p:txBody>
      </p:sp>
      <p:sp>
        <p:nvSpPr>
          <p:cNvPr id="68" name="Risk table rule"/>
          <p:cNvSpPr/>
          <p:nvPr/>
        </p:nvSpPr>
        <p:spPr>
          <a:xfrm>
            <a:off x="548640" y="4462272"/>
            <a:ext cx="11094415" cy="0"/>
          </a:xfrm>
          <a:prstGeom prst="line">
            <a:avLst/>
          </a:prstGeom>
          <a:noFill/>
          <a:ln w="9525">
            <a:solidFill>
              <a:srgbClr val="C9BCB5"/>
            </a:solidFill>
            <a:prstDash val="solid"/>
          </a:ln>
        </p:spPr>
      </p:sp>
      <p:sp>
        <p:nvSpPr>
          <p:cNvPr id="69" name="Tests card"/>
          <p:cNvSpPr/>
          <p:nvPr/>
        </p:nvSpPr>
        <p:spPr>
          <a:xfrm>
            <a:off x="548640" y="4608576"/>
            <a:ext cx="4846320" cy="1536192"/>
          </a:xfrm>
          <a:prstGeom prst="roundRect">
            <a:avLst>
              <a:gd name="adj" fmla="val 4762"/>
            </a:avLst>
          </a:prstGeom>
          <a:solidFill>
            <a:srgbClr val="F2EAF0"/>
          </a:solidFill>
          <a:ln/>
        </p:spPr>
      </p:sp>
      <p:sp>
        <p:nvSpPr>
          <p:cNvPr id="70" name="Label"/>
          <p:cNvSpPr txBox="1"/>
          <p:nvPr/>
        </p:nvSpPr>
        <p:spPr>
          <a:xfrm>
            <a:off x="694944" y="4681728"/>
            <a:ext cx="2286000" cy="219456"/>
          </a:xfrm>
          <a:prstGeom prst="rect">
            <a:avLst/>
          </a:prstGeom>
          <a:noFill/>
          <a:ln/>
        </p:spPr>
        <p:txBody>
          <a:bodyPr wrap="square" lIns="0" tIns="0" rIns="0" bIns="0" rtlCol="0" anchor="ctr"/>
          <a:lstStyle/>
          <a:p>
            <a:pPr algn="l" indent="0" marL="0">
              <a:buNone/>
            </a:pPr>
            <a:r>
              <a:rPr lang="en-US" sz="1050" b="1" dirty="0">
                <a:solidFill>
                  <a:srgbClr val="A4513F"/>
                </a:solidFill>
              </a:rPr>
              <a:t>VALIDATION TESTS</a:t>
            </a:r>
            <a:endParaRPr lang="en-US" sz="1050" dirty="0"/>
          </a:p>
        </p:txBody>
      </p:sp>
      <p:sp>
        <p:nvSpPr>
          <p:cNvPr id="71" name="Tests"/>
          <p:cNvSpPr txBox="1"/>
          <p:nvPr/>
        </p:nvSpPr>
        <p:spPr>
          <a:xfrm>
            <a:off x="694944" y="4919472"/>
            <a:ext cx="2231136" cy="1170432"/>
          </a:xfrm>
          <a:prstGeom prst="rect">
            <a:avLst/>
          </a:prstGeom>
          <a:noFill/>
          <a:ln/>
        </p:spPr>
        <p:txBody>
          <a:bodyPr wrap="square" lIns="0" tIns="0" rIns="0" bIns="0" rtlCol="0" anchor="t"/>
          <a:lstStyle/>
          <a:p>
            <a:pPr algn="l" indent="0" marL="0">
              <a:spcAft>
                <a:spcPts val="200"/>
              </a:spcAft>
              <a:buNone/>
            </a:pPr>
            <a:r>
              <a:rPr lang="en-US" sz="1050" b="1" dirty="0">
                <a:solidFill>
                  <a:schemeClr val="tx2"/>
                </a:solidFill>
              </a:rPr>
              <a:t>V1</a:t>
            </a:r>
            <a:pPr algn="l" indent="0" marL="0">
              <a:buNone/>
            </a:pPr>
            <a:r>
              <a:rPr lang="en-US" sz="1050" dirty="0">
                <a:solidFill>
                  <a:schemeClr val="tx2"/>
                </a:solidFill>
              </a:rPr>
              <a:t> founder data pull (day 10)</a:t>
            </a:r>
            <a:endParaRPr lang="en-US" sz="1050" dirty="0"/>
          </a:p>
          <a:p>
            <a:pPr algn="l" indent="0" marL="0">
              <a:spcAft>
                <a:spcPts val="200"/>
              </a:spcAft>
              <a:buNone/>
            </a:pPr>
            <a:r>
              <a:rPr lang="en-US" sz="1050" b="1" dirty="0">
                <a:solidFill>
                  <a:schemeClr val="tx2"/>
                </a:solidFill>
              </a:rPr>
              <a:t>V2</a:t>
            </a:r>
            <a:pPr algn="l" indent="0" marL="0">
              <a:buNone/>
            </a:pPr>
            <a:r>
              <a:rPr lang="en-US" sz="1050" dirty="0">
                <a:solidFill>
                  <a:schemeClr val="tx2"/>
                </a:solidFill>
              </a:rPr>
              <a:t> enquiry-log audit</a:t>
            </a:r>
            <a:endParaRPr lang="en-US" sz="1050" dirty="0"/>
          </a:p>
          <a:p>
            <a:pPr algn="l" indent="0" marL="0">
              <a:spcAft>
                <a:spcPts val="200"/>
              </a:spcAft>
              <a:buNone/>
            </a:pPr>
            <a:r>
              <a:rPr lang="en-US" sz="1050" b="1" dirty="0">
                <a:solidFill>
                  <a:schemeClr val="tx2"/>
                </a:solidFill>
              </a:rPr>
              <a:t>V3</a:t>
            </a:r>
            <a:pPr algn="l" indent="0" marL="0">
              <a:buNone/>
            </a:pPr>
            <a:r>
              <a:rPr lang="en-US" sz="1050" dirty="0">
                <a:solidFill>
                  <a:schemeClr val="tx2"/>
                </a:solidFill>
              </a:rPr>
              <a:t> 15–20 interviews, WTP block at ₹60k / 75k / 90k</a:t>
            </a:r>
            <a:endParaRPr lang="en-US" sz="1050" dirty="0"/>
          </a:p>
          <a:p>
            <a:pPr algn="l" indent="0" marL="0">
              <a:buNone/>
            </a:pPr>
            <a:r>
              <a:rPr lang="en-US" sz="1050" b="1" dirty="0">
                <a:solidFill>
                  <a:schemeClr val="tx2"/>
                </a:solidFill>
              </a:rPr>
              <a:t>V4</a:t>
            </a:r>
            <a:pPr algn="l" indent="0" marL="0">
              <a:buNone/>
            </a:pPr>
            <a:r>
              <a:rPr lang="en-US" sz="1050" dirty="0">
                <a:solidFill>
                  <a:schemeClr val="tx2"/>
                </a:solidFill>
              </a:rPr>
              <a:t> alumni survey n≥30 → Outcomes Report 31 Jan</a:t>
            </a:r>
            <a:endParaRPr lang="en-US" sz="1050" dirty="0"/>
          </a:p>
        </p:txBody>
      </p:sp>
      <p:sp>
        <p:nvSpPr>
          <p:cNvPr id="72" name="Tests 2"/>
          <p:cNvSpPr txBox="1"/>
          <p:nvPr/>
        </p:nvSpPr>
        <p:spPr>
          <a:xfrm>
            <a:off x="3017520" y="4919472"/>
            <a:ext cx="2231136" cy="1170432"/>
          </a:xfrm>
          <a:prstGeom prst="rect">
            <a:avLst/>
          </a:prstGeom>
          <a:noFill/>
          <a:ln/>
        </p:spPr>
        <p:txBody>
          <a:bodyPr wrap="square" lIns="0" tIns="0" rIns="0" bIns="0" rtlCol="0" anchor="t"/>
          <a:lstStyle/>
          <a:p>
            <a:pPr algn="l" indent="0" marL="0">
              <a:spcAft>
                <a:spcPts val="200"/>
              </a:spcAft>
              <a:buNone/>
            </a:pPr>
            <a:r>
              <a:rPr lang="en-US" sz="1000" b="1" dirty="0">
                <a:solidFill>
                  <a:schemeClr val="tx2"/>
                </a:solidFill>
              </a:rPr>
              <a:t>V5</a:t>
            </a:r>
            <a:pPr algn="l" indent="0" marL="0">
              <a:buNone/>
            </a:pPr>
            <a:r>
              <a:rPr lang="en-US" sz="1000" dirty="0">
                <a:solidFill>
                  <a:schemeClr val="tx2"/>
                </a:solidFill>
              </a:rPr>
              <a:t> mystery shopping of 6–8 competitors</a:t>
            </a:r>
            <a:endParaRPr lang="en-US" sz="1000" dirty="0"/>
          </a:p>
          <a:p>
            <a:pPr algn="l" indent="0" marL="0">
              <a:spcAft>
                <a:spcPts val="200"/>
              </a:spcAft>
              <a:buNone/>
            </a:pPr>
            <a:r>
              <a:rPr lang="en-US" sz="1000" b="1" dirty="0">
                <a:solidFill>
                  <a:schemeClr val="tx2"/>
                </a:solidFill>
              </a:rPr>
              <a:t>V6 / T1–T5</a:t>
            </a:r>
            <a:pPr algn="l" indent="0" marL="0">
              <a:buNone/>
            </a:pPr>
            <a:r>
              <a:rPr lang="en-US" sz="1000" dirty="0">
                <a:solidFill>
                  <a:schemeClr val="tx2"/>
                </a:solidFill>
              </a:rPr>
              <a:t> matched-budget paid tests Jan–Mar</a:t>
            </a:r>
            <a:endParaRPr lang="en-US" sz="1000" dirty="0"/>
          </a:p>
          <a:p>
            <a:pPr algn="l" indent="0" marL="0">
              <a:spcAft>
                <a:spcPts val="200"/>
              </a:spcAft>
              <a:buNone/>
            </a:pPr>
            <a:r>
              <a:rPr lang="en-US" sz="1000" b="1" dirty="0">
                <a:solidFill>
                  <a:schemeClr val="tx2"/>
                </a:solidFill>
              </a:rPr>
              <a:t>V7</a:t>
            </a:r>
            <a:pPr algn="l" indent="0" marL="0">
              <a:buNone/>
            </a:pPr>
            <a:r>
              <a:rPr lang="en-US" sz="1000" dirty="0">
                <a:solidFill>
                  <a:schemeClr val="tx2"/>
                </a:solidFill>
              </a:rPr>
              <a:t> speed-to-lead pilot Jan–Mar</a:t>
            </a:r>
            <a:endParaRPr lang="en-US" sz="1000" dirty="0"/>
          </a:p>
          <a:p>
            <a:pPr algn="l" indent="0" marL="0">
              <a:buNone/>
            </a:pPr>
            <a:r>
              <a:rPr lang="en-US" sz="1000" b="1" dirty="0">
                <a:solidFill>
                  <a:schemeClr val="tx2"/>
                </a:solidFill>
              </a:rPr>
              <a:t>Destination pilot</a:t>
            </a:r>
            <a:pPr algn="l" indent="0" marL="0">
              <a:buNone/>
            </a:pPr>
            <a:r>
              <a:rPr lang="en-US" sz="1000" dirty="0">
                <a:solidFill>
                  <a:schemeClr val="tx2"/>
                </a:solidFill>
              </a:rPr>
              <a:t> Aug–Sep: completion ≥85%, pass within 5 points, price ≥90% of Weekday</a:t>
            </a:r>
            <a:endParaRPr lang="en-US" sz="1000" dirty="0"/>
          </a:p>
        </p:txBody>
      </p:sp>
      <p:sp>
        <p:nvSpPr>
          <p:cNvPr id="73" name="Triggers card"/>
          <p:cNvSpPr/>
          <p:nvPr/>
        </p:nvSpPr>
        <p:spPr>
          <a:xfrm>
            <a:off x="5550408" y="4608576"/>
            <a:ext cx="2606040" cy="1536192"/>
          </a:xfrm>
          <a:prstGeom prst="roundRect">
            <a:avLst>
              <a:gd name="adj" fmla="val 4762"/>
            </a:avLst>
          </a:prstGeom>
          <a:solidFill>
            <a:srgbClr val="F1EAE5"/>
          </a:solidFill>
          <a:ln/>
        </p:spPr>
      </p:sp>
      <p:sp>
        <p:nvSpPr>
          <p:cNvPr id="74" name="Label 2"/>
          <p:cNvSpPr txBox="1"/>
          <p:nvPr/>
        </p:nvSpPr>
        <p:spPr>
          <a:xfrm>
            <a:off x="5696712" y="4681728"/>
            <a:ext cx="1828800" cy="219456"/>
          </a:xfrm>
          <a:prstGeom prst="rect">
            <a:avLst/>
          </a:prstGeom>
          <a:noFill/>
          <a:ln/>
        </p:spPr>
        <p:txBody>
          <a:bodyPr wrap="square" lIns="0" tIns="0" rIns="0" bIns="0" rtlCol="0" anchor="ctr"/>
          <a:lstStyle/>
          <a:p>
            <a:pPr algn="l" indent="0" marL="0">
              <a:buNone/>
            </a:pPr>
            <a:r>
              <a:rPr lang="en-US" sz="1050" b="1" dirty="0">
                <a:solidFill>
                  <a:srgbClr val="A4513F"/>
                </a:solidFill>
              </a:rPr>
              <a:t>KILL TRIGGERS</a:t>
            </a:r>
            <a:endParaRPr lang="en-US" sz="1050" dirty="0"/>
          </a:p>
        </p:txBody>
      </p:sp>
      <p:sp>
        <p:nvSpPr>
          <p:cNvPr id="75" name="Triggers"/>
          <p:cNvSpPr txBox="1"/>
          <p:nvPr/>
        </p:nvSpPr>
        <p:spPr>
          <a:xfrm>
            <a:off x="5696712" y="4919472"/>
            <a:ext cx="2313432" cy="1170432"/>
          </a:xfrm>
          <a:prstGeom prst="rect">
            <a:avLst/>
          </a:prstGeom>
          <a:noFill/>
          <a:ln/>
        </p:spPr>
        <p:txBody>
          <a:bodyPr wrap="square" lIns="0" tIns="0" rIns="0" bIns="0" rtlCol="0" anchor="t"/>
          <a:lstStyle/>
          <a:p>
            <a:pPr algn="l" indent="0" marL="0">
              <a:buNone/>
            </a:pPr>
            <a:r>
              <a:rPr lang="en-US" sz="1050" b="1" dirty="0">
                <a:solidFill>
                  <a:schemeClr val="tx2"/>
                </a:solidFill>
              </a:rPr>
              <a:t>KT-1a</a:t>
            </a:r>
            <a:pPr algn="l" indent="0" marL="0">
              <a:buNone/>
            </a:pPr>
            <a:r>
              <a:rPr lang="en-US" sz="1050" dirty="0">
                <a:solidFill>
                  <a:schemeClr val="tx2"/>
                </a:solidFill>
              </a:rPr>
              <a:t> March cut  ·  </a:t>
            </a:r>
            <a:pPr algn="l" indent="0" marL="0">
              <a:buNone/>
            </a:pPr>
            <a:r>
              <a:rPr lang="en-US" sz="1050" b="1" dirty="0">
                <a:solidFill>
                  <a:schemeClr val="tx2"/>
                </a:solidFill>
              </a:rPr>
              <a:t>KT-2</a:t>
            </a:r>
            <a:pPr algn="l" indent="0" marL="0">
              <a:buNone/>
            </a:pPr>
            <a:r>
              <a:rPr lang="en-US" sz="1050" dirty="0">
                <a:solidFill>
                  <a:schemeClr val="tx2"/>
                </a:solidFill>
              </a:rPr>
              <a:t> two cohorts &lt;5 from 26 Apr  ·  </a:t>
            </a:r>
            <a:pPr algn="l" indent="0" marL="0">
              <a:buNone/>
            </a:pPr>
            <a:r>
              <a:rPr lang="en-US" sz="1050" b="1" dirty="0">
                <a:solidFill>
                  <a:schemeClr val="tx2"/>
                </a:solidFill>
              </a:rPr>
              <a:t>KT-3</a:t>
            </a:r>
            <a:pPr algn="l" indent="0" marL="0">
              <a:buNone/>
            </a:pPr>
            <a:r>
              <a:rPr lang="en-US" sz="1050" dirty="0">
                <a:solidFill>
                  <a:schemeClr val="tx2"/>
                </a:solidFill>
              </a:rPr>
              <a:t> trainer parity  ·  </a:t>
            </a:r>
            <a:pPr algn="l" indent="0" marL="0">
              <a:buNone/>
            </a:pPr>
            <a:r>
              <a:rPr lang="en-US" sz="1050" b="1" dirty="0">
                <a:solidFill>
                  <a:schemeClr val="tx2"/>
                </a:solidFill>
              </a:rPr>
              <a:t>KT-5</a:t>
            </a:r>
            <a:pPr algn="l" indent="0" marL="0">
              <a:buNone/>
            </a:pPr>
            <a:r>
              <a:rPr lang="en-US" sz="1050" dirty="0">
                <a:solidFill>
                  <a:schemeClr val="tx2"/>
                </a:solidFill>
              </a:rPr>
              <a:t> price rollback if conversion falls &gt;20%  ·  </a:t>
            </a:r>
            <a:pPr algn="l" indent="0" marL="0">
              <a:buNone/>
            </a:pPr>
            <a:r>
              <a:rPr lang="en-US" sz="1050" b="1" dirty="0">
                <a:solidFill>
                  <a:schemeClr val="tx2"/>
                </a:solidFill>
              </a:rPr>
              <a:t>KT-10</a:t>
            </a:r>
            <a:pPr algn="l" indent="0" marL="0">
              <a:buNone/>
            </a:pPr>
            <a:r>
              <a:rPr lang="en-US" sz="1050" dirty="0">
                <a:solidFill>
                  <a:schemeClr val="tx2"/>
                </a:solidFill>
              </a:rPr>
              <a:t> post-move exit  ·  </a:t>
            </a:r>
            <a:pPr algn="l" indent="0" marL="0">
              <a:buNone/>
            </a:pPr>
            <a:r>
              <a:rPr lang="en-US" sz="1050" b="1" dirty="0">
                <a:solidFill>
                  <a:schemeClr val="tx2"/>
                </a:solidFill>
              </a:rPr>
              <a:t>KT-12</a:t>
            </a:r>
            <a:pPr algn="l" indent="0" marL="0">
              <a:buNone/>
            </a:pPr>
            <a:r>
              <a:rPr lang="en-US" sz="1050" dirty="0">
                <a:solidFill>
                  <a:schemeClr val="tx2"/>
                </a:solidFill>
              </a:rPr>
              <a:t> trainer attrition  ·  </a:t>
            </a:r>
            <a:pPr algn="l" indent="0" marL="0">
              <a:buNone/>
            </a:pPr>
            <a:r>
              <a:rPr lang="en-US" sz="1050" b="1" dirty="0">
                <a:solidFill>
                  <a:schemeClr val="tx2"/>
                </a:solidFill>
              </a:rPr>
              <a:t>KT-13</a:t>
            </a:r>
            <a:pPr algn="l" indent="0" marL="0">
              <a:buNone/>
            </a:pPr>
            <a:r>
              <a:rPr lang="en-US" sz="1050" dirty="0">
                <a:solidFill>
                  <a:schemeClr val="tx2"/>
                </a:solidFill>
              </a:rPr>
              <a:t> founder incapacity</a:t>
            </a:r>
            <a:endParaRPr lang="en-US" sz="1050" dirty="0"/>
          </a:p>
        </p:txBody>
      </p:sp>
      <p:sp>
        <p:nvSpPr>
          <p:cNvPr id="76" name="Chart card"/>
          <p:cNvSpPr/>
          <p:nvPr/>
        </p:nvSpPr>
        <p:spPr>
          <a:xfrm>
            <a:off x="8311896" y="4608576"/>
            <a:ext cx="3331159" cy="1536192"/>
          </a:xfrm>
          <a:prstGeom prst="roundRect">
            <a:avLst>
              <a:gd name="adj" fmla="val 4762"/>
            </a:avLst>
          </a:prstGeom>
          <a:solidFill>
            <a:schemeClr val="bg1"/>
          </a:solidFill>
          <a:ln w="9525">
            <a:solidFill>
              <a:srgbClr val="E4DAD5"/>
            </a:solidFill>
            <a:prstDash val="solid"/>
          </a:ln>
        </p:spPr>
      </p:sp>
      <p:sp>
        <p:nvSpPr>
          <p:cNvPr id="77" name="Badge ESTIMATE"/>
          <p:cNvSpPr txBox="1"/>
          <p:nvPr/>
        </p:nvSpPr>
        <p:spPr>
          <a:xfrm>
            <a:off x="10754234" y="4718304"/>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78" name="Chart title"/>
          <p:cNvSpPr txBox="1"/>
          <p:nvPr/>
        </p:nvSpPr>
        <p:spPr>
          <a:xfrm>
            <a:off x="8421624" y="4718304"/>
            <a:ext cx="2222882" cy="212281"/>
          </a:xfrm>
          <a:prstGeom prst="rect">
            <a:avLst/>
          </a:prstGeom>
          <a:noFill/>
          <a:ln/>
        </p:spPr>
        <p:txBody>
          <a:bodyPr wrap="square" lIns="0" tIns="0" rIns="0" bIns="0" rtlCol="0" anchor="t"/>
          <a:lstStyle/>
          <a:p>
            <a:pPr algn="l" indent="0" marL="0">
              <a:buNone/>
            </a:pPr>
            <a:r>
              <a:rPr lang="en-US" sz="1250" b="1" dirty="0">
                <a:solidFill>
                  <a:schemeClr val="tx1"/>
                </a:solidFill>
              </a:rPr>
              <a:t>Year-1 EBITDA swing, ₹ lakh</a:t>
            </a:r>
            <a:endParaRPr lang="en-US" sz="1250" dirty="0"/>
          </a:p>
        </p:txBody>
      </p:sp>
      <p:graphicFrame>
        <p:nvGraphicFramePr>
          <p:cNvPr id="79" name="Mini tornado" descr="Mini tornado"/>
          <p:cNvGraphicFramePr/>
          <p:nvPr/>
        </p:nvGraphicFramePr>
        <p:xfrm>
          <a:off x="8366760" y="5001768"/>
          <a:ext cx="3221431" cy="108813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NEXT STEPS · FOUNDER DECISIONS AND NEXT ACTIONS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Twelve decisions, three of them this week, decide which academy PNA becomes</a:t>
            </a:r>
            <a:endParaRPr lang="en-US" sz="2800" dirty="0"/>
          </a:p>
        </p:txBody>
      </p:sp>
      <p:sp>
        <p:nvSpPr>
          <p:cNvPr id="4" name="Subtitle"/>
          <p:cNvSpPr txBox="1"/>
          <p:nvPr/>
        </p:nvSpPr>
        <p:spPr>
          <a:xfrm>
            <a:off x="548640" y="1531112"/>
            <a:ext cx="11094415" cy="238328"/>
          </a:xfrm>
          <a:prstGeom prst="rect">
            <a:avLst/>
          </a:prstGeom>
          <a:noFill/>
          <a:ln/>
        </p:spPr>
        <p:txBody>
          <a:bodyPr wrap="square" lIns="0" tIns="0" rIns="0" bIns="0" rtlCol="0" anchor="t"/>
          <a:lstStyle/>
          <a:p>
            <a:pPr algn="l" indent="0" marL="0">
              <a:buNone/>
            </a:pPr>
            <a:r>
              <a:rPr lang="en-US" sz="1300" dirty="0">
                <a:solidFill>
                  <a:srgbClr val="6B5F67"/>
                </a:solidFill>
              </a:rPr>
              <a:t>Supply the numbers, choose boutique or institution, authorise Tranche 1 with the three hard rules, and hire the execution owner before anything else starts.</a:t>
            </a:r>
            <a:endParaRPr lang="en-US" sz="13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§9.1 (D1–D10, D5a, D6a, D6b), §9.2; final/executive_summary.md "Decisions needed"; execution/first_90_days.md §1 (dates)</a:t>
            </a:r>
            <a:pPr algn="l" indent="0" marL="0">
              <a:buNone/>
            </a:pPr>
            <a:r>
              <a:rPr lang="en-US" sz="900" b="1" dirty="0">
                <a:solidFill>
                  <a:srgbClr val="6B5F67"/>
                </a:solidFill>
              </a:rPr>
              <a:t>   Note: </a:t>
            </a:r>
            <a:pPr algn="l" indent="0" marL="0">
              <a:buNone/>
            </a:pPr>
            <a:r>
              <a:rPr lang="en-US" sz="900" dirty="0">
                <a:solidFill>
                  <a:srgbClr val="6B5F67"/>
                </a:solidFill>
              </a:rPr>
              <a:t>Dates relative to 19 Oct 2026. All items: RECOMMENDATION; figures quoted: ESTIMATE (economics §1A, §1B row 21).</a:t>
            </a:r>
            <a:endParaRPr lang="en-US" sz="900" dirty="0"/>
          </a:p>
        </p:txBody>
      </p:sp>
      <p:sp>
        <p:nvSpPr>
          <p:cNvPr id="7" name="Label"/>
          <p:cNvSpPr txBox="1"/>
          <p:nvPr/>
        </p:nvSpPr>
        <p:spPr>
          <a:xfrm>
            <a:off x="548640" y="1920240"/>
            <a:ext cx="4800600" cy="219456"/>
          </a:xfrm>
          <a:prstGeom prst="rect">
            <a:avLst/>
          </a:prstGeom>
          <a:noFill/>
          <a:ln/>
        </p:spPr>
        <p:txBody>
          <a:bodyPr wrap="square" lIns="0" tIns="0" rIns="0" bIns="0" rtlCol="0" anchor="ctr"/>
          <a:lstStyle/>
          <a:p>
            <a:pPr algn="l" indent="0" marL="0">
              <a:buNone/>
            </a:pPr>
            <a:r>
              <a:rPr lang="en-US" sz="1000" b="1" dirty="0">
                <a:solidFill>
                  <a:srgbClr val="A4513F"/>
                </a:solidFill>
              </a:rPr>
              <a:t>DECISION</a:t>
            </a:r>
            <a:endParaRPr lang="en-US" sz="1000" dirty="0"/>
          </a:p>
        </p:txBody>
      </p:sp>
      <p:sp>
        <p:nvSpPr>
          <p:cNvPr id="8" name="Label 2"/>
          <p:cNvSpPr txBox="1"/>
          <p:nvPr/>
        </p:nvSpPr>
        <p:spPr>
          <a:xfrm>
            <a:off x="5404104" y="1920240"/>
            <a:ext cx="1024128" cy="219456"/>
          </a:xfrm>
          <a:prstGeom prst="rect">
            <a:avLst/>
          </a:prstGeom>
          <a:noFill/>
          <a:ln/>
        </p:spPr>
        <p:txBody>
          <a:bodyPr wrap="square" lIns="0" tIns="0" rIns="0" bIns="0" rtlCol="0" anchor="ctr"/>
          <a:lstStyle/>
          <a:p>
            <a:pPr algn="l" indent="0" marL="0">
              <a:buNone/>
            </a:pPr>
            <a:r>
              <a:rPr lang="en-US" sz="1000" b="1" dirty="0">
                <a:solidFill>
                  <a:srgbClr val="A4513F"/>
                </a:solidFill>
              </a:rPr>
              <a:t>BY</a:t>
            </a:r>
            <a:endParaRPr lang="en-US" sz="1000" dirty="0"/>
          </a:p>
        </p:txBody>
      </p:sp>
      <p:sp>
        <p:nvSpPr>
          <p:cNvPr id="9" name="Label 3"/>
          <p:cNvSpPr txBox="1"/>
          <p:nvPr/>
        </p:nvSpPr>
        <p:spPr>
          <a:xfrm>
            <a:off x="6428232" y="1920240"/>
            <a:ext cx="1627632" cy="219456"/>
          </a:xfrm>
          <a:prstGeom prst="rect">
            <a:avLst/>
          </a:prstGeom>
          <a:noFill/>
          <a:ln/>
        </p:spPr>
        <p:txBody>
          <a:bodyPr wrap="square" lIns="0" tIns="0" rIns="0" bIns="0" rtlCol="0" anchor="ctr"/>
          <a:lstStyle/>
          <a:p>
            <a:pPr algn="l" indent="0" marL="0">
              <a:buNone/>
            </a:pPr>
            <a:r>
              <a:rPr lang="en-US" sz="1000" b="1" dirty="0">
                <a:solidFill>
                  <a:srgbClr val="A4513F"/>
                </a:solidFill>
              </a:rPr>
              <a:t>DEFAULT IF UNDECIDED</a:t>
            </a:r>
            <a:endParaRPr lang="en-US" sz="1000" dirty="0"/>
          </a:p>
        </p:txBody>
      </p:sp>
      <p:sp>
        <p:nvSpPr>
          <p:cNvPr id="10" name="Decision code"/>
          <p:cNvSpPr txBox="1"/>
          <p:nvPr/>
        </p:nvSpPr>
        <p:spPr>
          <a:xfrm>
            <a:off x="548640" y="2255243"/>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D1</a:t>
            </a:r>
            <a:endParaRPr lang="en-US" sz="950" dirty="0"/>
          </a:p>
        </p:txBody>
      </p:sp>
      <p:sp>
        <p:nvSpPr>
          <p:cNvPr id="11" name="Decision text"/>
          <p:cNvSpPr txBox="1"/>
          <p:nvPr/>
        </p:nvSpPr>
        <p:spPr>
          <a:xfrm>
            <a:off x="1453896" y="2212848"/>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Supply actual</a:t>
            </a:r>
            <a:pPr algn="l" indent="0" marL="0">
              <a:buNone/>
            </a:pPr>
            <a:r>
              <a:rPr lang="en-US" sz="1000" dirty="0">
                <a:solidFill>
                  <a:schemeClr val="tx1"/>
                </a:solidFill>
              </a:rPr>
              <a:t> enrolments, fees, enquiry log, stations, team costs</a:t>
            </a:r>
            <a:endParaRPr lang="en-US" sz="1000" dirty="0"/>
          </a:p>
        </p:txBody>
      </p:sp>
      <p:sp>
        <p:nvSpPr>
          <p:cNvPr id="12" name="Decide-by chip"/>
          <p:cNvSpPr txBox="1"/>
          <p:nvPr/>
        </p:nvSpPr>
        <p:spPr>
          <a:xfrm>
            <a:off x="5385816" y="2255243"/>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10</a:t>
            </a:r>
            <a:endParaRPr lang="en-US" sz="950" dirty="0"/>
          </a:p>
        </p:txBody>
      </p:sp>
      <p:sp>
        <p:nvSpPr>
          <p:cNvPr id="13" name="Decision default"/>
          <p:cNvSpPr txBox="1"/>
          <p:nvPr/>
        </p:nvSpPr>
        <p:spPr>
          <a:xfrm>
            <a:off x="6428232" y="2212848"/>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Models run on labelled assumptions</a:t>
            </a:r>
            <a:endParaRPr lang="en-US" sz="1000" dirty="0"/>
          </a:p>
        </p:txBody>
      </p:sp>
      <p:sp>
        <p:nvSpPr>
          <p:cNvPr id="14" name="Decision rule"/>
          <p:cNvSpPr/>
          <p:nvPr/>
        </p:nvSpPr>
        <p:spPr>
          <a:xfrm>
            <a:off x="548640" y="2553670"/>
            <a:ext cx="7452360" cy="0"/>
          </a:xfrm>
          <a:prstGeom prst="line">
            <a:avLst/>
          </a:prstGeom>
          <a:noFill/>
          <a:ln w="6350">
            <a:solidFill>
              <a:srgbClr val="E4DAD5"/>
            </a:solidFill>
            <a:prstDash val="solid"/>
          </a:ln>
        </p:spPr>
      </p:sp>
      <p:sp>
        <p:nvSpPr>
          <p:cNvPr id="15" name="Decision code 2"/>
          <p:cNvSpPr txBox="1"/>
          <p:nvPr/>
        </p:nvSpPr>
        <p:spPr>
          <a:xfrm>
            <a:off x="548640" y="2614353"/>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D2</a:t>
            </a:r>
            <a:endParaRPr lang="en-US" sz="950" dirty="0"/>
          </a:p>
        </p:txBody>
      </p:sp>
      <p:sp>
        <p:nvSpPr>
          <p:cNvPr id="16" name="Decision text 2"/>
          <p:cNvSpPr txBox="1"/>
          <p:nvPr/>
        </p:nvSpPr>
        <p:spPr>
          <a:xfrm>
            <a:off x="1453896" y="2571958"/>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Boutique</a:t>
            </a:r>
            <a:pPr algn="l" indent="0" marL="0">
              <a:buNone/>
            </a:pPr>
            <a:r>
              <a:rPr lang="en-US" sz="1000" dirty="0">
                <a:solidFill>
                  <a:schemeClr val="tx1"/>
                </a:solidFill>
              </a:rPr>
              <a:t> (₹10L, +₹10.8L/yr, she keeps teaching) </a:t>
            </a:r>
            <a:pPr algn="l" indent="0" marL="0">
              <a:buNone/>
            </a:pPr>
            <a:r>
              <a:rPr lang="en-US" sz="1000" b="1" dirty="0">
                <a:solidFill>
                  <a:schemeClr val="tx1"/>
                </a:solidFill>
              </a:rPr>
              <a:t>or institution</a:t>
            </a:r>
            <a:pPr algn="l" indent="0" marL="0">
              <a:buNone/>
            </a:pPr>
            <a:r>
              <a:rPr lang="en-US" sz="1000" dirty="0">
                <a:solidFill>
                  <a:schemeClr val="tx1"/>
                </a:solidFill>
              </a:rPr>
              <a:t> (₹35L authorised, −₹12L after salary in Year 1, cash back Year 3)</a:t>
            </a:r>
            <a:endParaRPr lang="en-US" sz="1000" dirty="0"/>
          </a:p>
        </p:txBody>
      </p:sp>
      <p:sp>
        <p:nvSpPr>
          <p:cNvPr id="17" name="Decide-by chip 2"/>
          <p:cNvSpPr txBox="1"/>
          <p:nvPr/>
        </p:nvSpPr>
        <p:spPr>
          <a:xfrm>
            <a:off x="5385816" y="2614353"/>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7</a:t>
            </a:r>
            <a:endParaRPr lang="en-US" sz="950" dirty="0"/>
          </a:p>
        </p:txBody>
      </p:sp>
      <p:sp>
        <p:nvSpPr>
          <p:cNvPr id="18" name="Decision default 2"/>
          <p:cNvSpPr txBox="1"/>
          <p:nvPr/>
        </p:nvSpPr>
        <p:spPr>
          <a:xfrm>
            <a:off x="6428232" y="2571958"/>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Staged plan</a:t>
            </a:r>
            <a:endParaRPr lang="en-US" sz="1000" dirty="0"/>
          </a:p>
        </p:txBody>
      </p:sp>
      <p:sp>
        <p:nvSpPr>
          <p:cNvPr id="19" name="Decision rule 2"/>
          <p:cNvSpPr/>
          <p:nvPr/>
        </p:nvSpPr>
        <p:spPr>
          <a:xfrm>
            <a:off x="548640" y="2912780"/>
            <a:ext cx="7452360" cy="0"/>
          </a:xfrm>
          <a:prstGeom prst="line">
            <a:avLst/>
          </a:prstGeom>
          <a:noFill/>
          <a:ln w="6350">
            <a:solidFill>
              <a:srgbClr val="E4DAD5"/>
            </a:solidFill>
            <a:prstDash val="solid"/>
          </a:ln>
        </p:spPr>
      </p:sp>
      <p:sp>
        <p:nvSpPr>
          <p:cNvPr id="20" name="Decision code 3"/>
          <p:cNvSpPr txBox="1"/>
          <p:nvPr/>
        </p:nvSpPr>
        <p:spPr>
          <a:xfrm>
            <a:off x="548640" y="2973463"/>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D3</a:t>
            </a:r>
            <a:endParaRPr lang="en-US" sz="950" dirty="0"/>
          </a:p>
        </p:txBody>
      </p:sp>
      <p:sp>
        <p:nvSpPr>
          <p:cNvPr id="21" name="Decision text 3"/>
          <p:cNvSpPr txBox="1"/>
          <p:nvPr/>
        </p:nvSpPr>
        <p:spPr>
          <a:xfrm>
            <a:off x="1453896" y="2931068"/>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Authorise Tranche 1</a:t>
            </a:r>
            <a:pPr algn="l" indent="0" marL="0">
              <a:buNone/>
            </a:pPr>
            <a:r>
              <a:rPr lang="en-US" sz="1000" dirty="0">
                <a:solidFill>
                  <a:schemeClr val="tx1"/>
                </a:solidFill>
              </a:rPr>
              <a:t> (≤₹15L) and the ₹30L + ₹5L envelope with the three rules</a:t>
            </a:r>
            <a:endParaRPr lang="en-US" sz="1000" dirty="0"/>
          </a:p>
        </p:txBody>
      </p:sp>
      <p:sp>
        <p:nvSpPr>
          <p:cNvPr id="22" name="Decide-by chip 3"/>
          <p:cNvSpPr txBox="1"/>
          <p:nvPr/>
        </p:nvSpPr>
        <p:spPr>
          <a:xfrm>
            <a:off x="5385816" y="2973463"/>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7</a:t>
            </a:r>
            <a:endParaRPr lang="en-US" sz="950" dirty="0"/>
          </a:p>
        </p:txBody>
      </p:sp>
      <p:sp>
        <p:nvSpPr>
          <p:cNvPr id="23" name="Decision default 3"/>
          <p:cNvSpPr txBox="1"/>
          <p:nvPr/>
        </p:nvSpPr>
        <p:spPr>
          <a:xfrm>
            <a:off x="6428232" y="2931068"/>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a:t>
            </a:r>
            <a:endParaRPr lang="en-US" sz="1000" dirty="0"/>
          </a:p>
        </p:txBody>
      </p:sp>
      <p:sp>
        <p:nvSpPr>
          <p:cNvPr id="24" name="Decision rule 3"/>
          <p:cNvSpPr/>
          <p:nvPr/>
        </p:nvSpPr>
        <p:spPr>
          <a:xfrm>
            <a:off x="548640" y="3271889"/>
            <a:ext cx="7452360" cy="0"/>
          </a:xfrm>
          <a:prstGeom prst="line">
            <a:avLst/>
          </a:prstGeom>
          <a:noFill/>
          <a:ln w="6350">
            <a:solidFill>
              <a:srgbClr val="E4DAD5"/>
            </a:solidFill>
            <a:prstDash val="solid"/>
          </a:ln>
        </p:spPr>
      </p:sp>
      <p:sp>
        <p:nvSpPr>
          <p:cNvPr id="25" name="Decision code 4"/>
          <p:cNvSpPr txBox="1"/>
          <p:nvPr/>
        </p:nvSpPr>
        <p:spPr>
          <a:xfrm>
            <a:off x="548640" y="3332572"/>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D4</a:t>
            </a:r>
            <a:endParaRPr lang="en-US" sz="950" dirty="0"/>
          </a:p>
        </p:txBody>
      </p:sp>
      <p:sp>
        <p:nvSpPr>
          <p:cNvPr id="26" name="Decision text 4"/>
          <p:cNvSpPr txBox="1"/>
          <p:nvPr/>
        </p:nvSpPr>
        <p:spPr>
          <a:xfrm>
            <a:off x="1453896" y="3290177"/>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Studio stays a separate P&amp;L</a:t>
            </a:r>
            <a:pPr algn="l" indent="0" marL="0">
              <a:buNone/>
            </a:pPr>
            <a:r>
              <a:rPr lang="en-US" sz="1000" dirty="0">
                <a:solidFill>
                  <a:schemeClr val="tx1"/>
                </a:solidFill>
              </a:rPr>
              <a:t> and the practice engine</a:t>
            </a:r>
            <a:endParaRPr lang="en-US" sz="1000" dirty="0"/>
          </a:p>
        </p:txBody>
      </p:sp>
      <p:sp>
        <p:nvSpPr>
          <p:cNvPr id="27" name="Decide-by chip 4"/>
          <p:cNvSpPr txBox="1"/>
          <p:nvPr/>
        </p:nvSpPr>
        <p:spPr>
          <a:xfrm>
            <a:off x="5385816" y="3332572"/>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30</a:t>
            </a:r>
            <a:endParaRPr lang="en-US" sz="950" dirty="0"/>
          </a:p>
        </p:txBody>
      </p:sp>
      <p:sp>
        <p:nvSpPr>
          <p:cNvPr id="28" name="Decision default 4"/>
          <p:cNvSpPr txBox="1"/>
          <p:nvPr/>
        </p:nvSpPr>
        <p:spPr>
          <a:xfrm>
            <a:off x="6428232" y="3290177"/>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Studio continues as Priyanka Nanda Studio</a:t>
            </a:r>
            <a:endParaRPr lang="en-US" sz="1000" dirty="0"/>
          </a:p>
        </p:txBody>
      </p:sp>
      <p:sp>
        <p:nvSpPr>
          <p:cNvPr id="29" name="Decision rule 4"/>
          <p:cNvSpPr/>
          <p:nvPr/>
        </p:nvSpPr>
        <p:spPr>
          <a:xfrm>
            <a:off x="548640" y="3630999"/>
            <a:ext cx="7452360" cy="0"/>
          </a:xfrm>
          <a:prstGeom prst="line">
            <a:avLst/>
          </a:prstGeom>
          <a:noFill/>
          <a:ln w="6350">
            <a:solidFill>
              <a:srgbClr val="E4DAD5"/>
            </a:solidFill>
            <a:prstDash val="solid"/>
          </a:ln>
        </p:spPr>
      </p:sp>
      <p:sp>
        <p:nvSpPr>
          <p:cNvPr id="30" name="Decision code 5"/>
          <p:cNvSpPr txBox="1"/>
          <p:nvPr/>
        </p:nvSpPr>
        <p:spPr>
          <a:xfrm>
            <a:off x="548640" y="3691682"/>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D5</a:t>
            </a:r>
            <a:endParaRPr lang="en-US" sz="950" dirty="0"/>
          </a:p>
        </p:txBody>
      </p:sp>
      <p:sp>
        <p:nvSpPr>
          <p:cNvPr id="31" name="Decision text 5"/>
          <p:cNvSpPr txBox="1"/>
          <p:nvPr/>
        </p:nvSpPr>
        <p:spPr>
          <a:xfrm>
            <a:off x="1453896" y="3649287"/>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Hire a Lead Trainer</a:t>
            </a:r>
            <a:pPr algn="l" indent="0" marL="0">
              <a:buNone/>
            </a:pPr>
            <a:r>
              <a:rPr lang="en-US" sz="1000" dirty="0">
                <a:solidFill>
                  <a:schemeClr val="tx1"/>
                </a:solidFill>
              </a:rPr>
              <a:t> at market pay with IP assignment; stop being the inbox</a:t>
            </a:r>
            <a:endParaRPr lang="en-US" sz="1000" dirty="0"/>
          </a:p>
        </p:txBody>
      </p:sp>
      <p:sp>
        <p:nvSpPr>
          <p:cNvPr id="32" name="Decide-by chip 5"/>
          <p:cNvSpPr txBox="1"/>
          <p:nvPr/>
        </p:nvSpPr>
        <p:spPr>
          <a:xfrm>
            <a:off x="5385816" y="3691682"/>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7</a:t>
            </a:r>
            <a:endParaRPr lang="en-US" sz="950" dirty="0"/>
          </a:p>
        </p:txBody>
      </p:sp>
      <p:sp>
        <p:nvSpPr>
          <p:cNvPr id="33" name="Decision default 5"/>
          <p:cNvSpPr txBox="1"/>
          <p:nvPr/>
        </p:nvSpPr>
        <p:spPr>
          <a:xfrm>
            <a:off x="6428232" y="3649287"/>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a:t>
            </a:r>
            <a:endParaRPr lang="en-US" sz="1000" dirty="0"/>
          </a:p>
        </p:txBody>
      </p:sp>
      <p:sp>
        <p:nvSpPr>
          <p:cNvPr id="34" name="Blocking highlight"/>
          <p:cNvSpPr/>
          <p:nvPr/>
        </p:nvSpPr>
        <p:spPr>
          <a:xfrm>
            <a:off x="548640" y="3999253"/>
            <a:ext cx="7452360" cy="340822"/>
          </a:xfrm>
          <a:prstGeom prst="rect">
            <a:avLst/>
          </a:prstGeom>
          <a:solidFill>
            <a:srgbClr val="F7E7E1"/>
          </a:solidFill>
          <a:ln/>
        </p:spPr>
      </p:sp>
      <p:sp>
        <p:nvSpPr>
          <p:cNvPr id="35" name="Decision rule 5"/>
          <p:cNvSpPr/>
          <p:nvPr/>
        </p:nvSpPr>
        <p:spPr>
          <a:xfrm>
            <a:off x="548640" y="3990109"/>
            <a:ext cx="7452360" cy="0"/>
          </a:xfrm>
          <a:prstGeom prst="line">
            <a:avLst/>
          </a:prstGeom>
          <a:noFill/>
          <a:ln w="6350">
            <a:solidFill>
              <a:srgbClr val="E4DAD5"/>
            </a:solidFill>
            <a:prstDash val="solid"/>
          </a:ln>
        </p:spPr>
      </p:sp>
      <p:sp>
        <p:nvSpPr>
          <p:cNvPr id="36" name="Decision code 6"/>
          <p:cNvSpPr txBox="1"/>
          <p:nvPr/>
        </p:nvSpPr>
        <p:spPr>
          <a:xfrm>
            <a:off x="548640" y="4050792"/>
            <a:ext cx="777240" cy="237744"/>
          </a:xfrm>
          <a:prstGeom prst="roundRect">
            <a:avLst>
              <a:gd name="adj" fmla="val 50000"/>
            </a:avLst>
          </a:prstGeom>
          <a:solidFill>
            <a:schemeClr val="accent2"/>
          </a:solidFill>
          <a:ln/>
        </p:spPr>
        <p:txBody>
          <a:bodyPr wrap="square" lIns="0" tIns="0" rIns="0" bIns="0" rtlCol="0" anchor="ctr"/>
          <a:lstStyle/>
          <a:p>
            <a:pPr algn="ctr" indent="0" marL="0">
              <a:buNone/>
            </a:pPr>
            <a:r>
              <a:rPr lang="en-US" sz="950" b="1" dirty="0">
                <a:solidFill>
                  <a:schemeClr val="bg1"/>
                </a:solidFill>
              </a:rPr>
              <a:t>D5a</a:t>
            </a:r>
            <a:endParaRPr lang="en-US" sz="950" dirty="0"/>
          </a:p>
        </p:txBody>
      </p:sp>
      <p:sp>
        <p:nvSpPr>
          <p:cNvPr id="37" name="Decision text 6"/>
          <p:cNvSpPr txBox="1"/>
          <p:nvPr/>
        </p:nvSpPr>
        <p:spPr>
          <a:xfrm>
            <a:off x="1453896" y="4008397"/>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Hire the Admissions &amp; Operations Lead in November</a:t>
            </a:r>
            <a:pPr algn="l" indent="0" marL="0">
              <a:buNone/>
            </a:pPr>
            <a:r>
              <a:rPr lang="en-US" sz="1000" dirty="0">
                <a:solidFill>
                  <a:schemeClr val="tx1"/>
                </a:solidFill>
              </a:rPr>
              <a:t> (counsellor pay + ₹15k/month, ₹1.8L/yr)</a:t>
            </a:r>
            <a:endParaRPr lang="en-US" sz="1000" dirty="0"/>
          </a:p>
        </p:txBody>
      </p:sp>
      <p:sp>
        <p:nvSpPr>
          <p:cNvPr id="38" name="Decide-by chip 6"/>
          <p:cNvSpPr txBox="1"/>
          <p:nvPr/>
        </p:nvSpPr>
        <p:spPr>
          <a:xfrm>
            <a:off x="5385816" y="4050792"/>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7</a:t>
            </a:r>
            <a:endParaRPr lang="en-US" sz="950" dirty="0"/>
          </a:p>
        </p:txBody>
      </p:sp>
      <p:sp>
        <p:nvSpPr>
          <p:cNvPr id="39" name="Decision default 6"/>
          <p:cNvSpPr txBox="1"/>
          <p:nvPr/>
        </p:nvSpPr>
        <p:spPr>
          <a:xfrm>
            <a:off x="6428232" y="4008397"/>
            <a:ext cx="1572768" cy="322534"/>
          </a:xfrm>
          <a:prstGeom prst="rect">
            <a:avLst/>
          </a:prstGeom>
          <a:noFill/>
          <a:ln/>
        </p:spPr>
        <p:txBody>
          <a:bodyPr wrap="square" lIns="0" tIns="0" rIns="0" bIns="0" rtlCol="0" anchor="ctr"/>
          <a:lstStyle/>
          <a:p>
            <a:pPr algn="l" indent="0" marL="0">
              <a:buNone/>
            </a:pPr>
            <a:r>
              <a:rPr lang="en-US" sz="1000" b="1" dirty="0">
                <a:solidFill>
                  <a:srgbClr val="A4513F"/>
                </a:solidFill>
              </a:rPr>
              <a:t>None acceptable: nothing else starts</a:t>
            </a:r>
            <a:endParaRPr lang="en-US" sz="1000" dirty="0"/>
          </a:p>
        </p:txBody>
      </p:sp>
      <p:sp>
        <p:nvSpPr>
          <p:cNvPr id="40" name="Decision rule 6"/>
          <p:cNvSpPr/>
          <p:nvPr/>
        </p:nvSpPr>
        <p:spPr>
          <a:xfrm>
            <a:off x="548640" y="4349219"/>
            <a:ext cx="7452360" cy="0"/>
          </a:xfrm>
          <a:prstGeom prst="line">
            <a:avLst/>
          </a:prstGeom>
          <a:noFill/>
          <a:ln w="6350">
            <a:solidFill>
              <a:srgbClr val="E4DAD5"/>
            </a:solidFill>
            <a:prstDash val="solid"/>
          </a:ln>
        </p:spPr>
      </p:sp>
      <p:sp>
        <p:nvSpPr>
          <p:cNvPr id="41" name="Decision code 7"/>
          <p:cNvSpPr txBox="1"/>
          <p:nvPr/>
        </p:nvSpPr>
        <p:spPr>
          <a:xfrm>
            <a:off x="548640" y="4409902"/>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D6 / 6a / 6b</a:t>
            </a:r>
            <a:endParaRPr lang="en-US" sz="950" dirty="0"/>
          </a:p>
        </p:txBody>
      </p:sp>
      <p:sp>
        <p:nvSpPr>
          <p:cNvPr id="42" name="Decision text 7"/>
          <p:cNvSpPr txBox="1"/>
          <p:nvPr/>
        </p:nvSpPr>
        <p:spPr>
          <a:xfrm>
            <a:off x="1453896" y="4367507"/>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Step-back path, 110-hour rule, Year-1 income:</a:t>
            </a:r>
            <a:pPr algn="l" indent="0" marL="0">
              <a:buNone/>
            </a:pPr>
            <a:r>
              <a:rPr lang="en-US" sz="1000" dirty="0">
                <a:solidFill>
                  <a:schemeClr val="tx1"/>
                </a:solidFill>
              </a:rPr>
              <a:t> the studio pays her (if the academy pays, peak cash ₹32.6L, contingency consumed)</a:t>
            </a:r>
            <a:endParaRPr lang="en-US" sz="1000" dirty="0"/>
          </a:p>
        </p:txBody>
      </p:sp>
      <p:sp>
        <p:nvSpPr>
          <p:cNvPr id="43" name="Decide-by chip 7"/>
          <p:cNvSpPr txBox="1"/>
          <p:nvPr/>
        </p:nvSpPr>
        <p:spPr>
          <a:xfrm>
            <a:off x="5385816" y="4409902"/>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7</a:t>
            </a:r>
            <a:endParaRPr lang="en-US" sz="950" dirty="0"/>
          </a:p>
        </p:txBody>
      </p:sp>
      <p:sp>
        <p:nvSpPr>
          <p:cNvPr id="44" name="Decision default 7"/>
          <p:cNvSpPr txBox="1"/>
          <p:nvPr/>
        </p:nvSpPr>
        <p:spPr>
          <a:xfrm>
            <a:off x="6428232" y="4367507"/>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Studio pays the founder</a:t>
            </a:r>
            <a:endParaRPr lang="en-US" sz="1000" dirty="0"/>
          </a:p>
        </p:txBody>
      </p:sp>
      <p:sp>
        <p:nvSpPr>
          <p:cNvPr id="45" name="Decision rule 7"/>
          <p:cNvSpPr/>
          <p:nvPr/>
        </p:nvSpPr>
        <p:spPr>
          <a:xfrm>
            <a:off x="548640" y="4708329"/>
            <a:ext cx="7452360" cy="0"/>
          </a:xfrm>
          <a:prstGeom prst="line">
            <a:avLst/>
          </a:prstGeom>
          <a:noFill/>
          <a:ln w="6350">
            <a:solidFill>
              <a:srgbClr val="E4DAD5"/>
            </a:solidFill>
            <a:prstDash val="solid"/>
          </a:ln>
        </p:spPr>
      </p:sp>
      <p:sp>
        <p:nvSpPr>
          <p:cNvPr id="46" name="Decision code 8"/>
          <p:cNvSpPr txBox="1"/>
          <p:nvPr/>
        </p:nvSpPr>
        <p:spPr>
          <a:xfrm>
            <a:off x="548640" y="4769012"/>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D7</a:t>
            </a:r>
            <a:endParaRPr lang="en-US" sz="950" dirty="0"/>
          </a:p>
        </p:txBody>
      </p:sp>
      <p:sp>
        <p:nvSpPr>
          <p:cNvPr id="47" name="Decision text 8"/>
          <p:cNvSpPr txBox="1"/>
          <p:nvPr/>
        </p:nvSpPr>
        <p:spPr>
          <a:xfrm>
            <a:off x="1453896" y="4726617"/>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Published fees</a:t>
            </a:r>
            <a:pPr algn="l" indent="0" marL="0">
              <a:buNone/>
            </a:pPr>
            <a:r>
              <a:rPr lang="en-US" sz="1000" dirty="0">
                <a:solidFill>
                  <a:schemeClr val="tx1"/>
                </a:solidFill>
              </a:rPr>
              <a:t> with all-in cost, EMI, refunds; no placement promises</a:t>
            </a:r>
            <a:endParaRPr lang="en-US" sz="1000" dirty="0"/>
          </a:p>
        </p:txBody>
      </p:sp>
      <p:sp>
        <p:nvSpPr>
          <p:cNvPr id="48" name="Decide-by chip 8"/>
          <p:cNvSpPr txBox="1"/>
          <p:nvPr/>
        </p:nvSpPr>
        <p:spPr>
          <a:xfrm>
            <a:off x="5385816" y="4769012"/>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24</a:t>
            </a:r>
            <a:endParaRPr lang="en-US" sz="950" dirty="0"/>
          </a:p>
        </p:txBody>
      </p:sp>
      <p:sp>
        <p:nvSpPr>
          <p:cNvPr id="49" name="Decision default 8"/>
          <p:cNvSpPr txBox="1"/>
          <p:nvPr/>
        </p:nvSpPr>
        <p:spPr>
          <a:xfrm>
            <a:off x="6428232" y="4726617"/>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a:t>
            </a:r>
            <a:endParaRPr lang="en-US" sz="1000" dirty="0"/>
          </a:p>
        </p:txBody>
      </p:sp>
      <p:sp>
        <p:nvSpPr>
          <p:cNvPr id="50" name="Decision rule 8"/>
          <p:cNvSpPr/>
          <p:nvPr/>
        </p:nvSpPr>
        <p:spPr>
          <a:xfrm>
            <a:off x="548640" y="5067439"/>
            <a:ext cx="7452360" cy="0"/>
          </a:xfrm>
          <a:prstGeom prst="line">
            <a:avLst/>
          </a:prstGeom>
          <a:noFill/>
          <a:ln w="6350">
            <a:solidFill>
              <a:srgbClr val="E4DAD5"/>
            </a:solidFill>
            <a:prstDash val="solid"/>
          </a:ln>
        </p:spPr>
      </p:sp>
      <p:sp>
        <p:nvSpPr>
          <p:cNvPr id="51" name="Decision code 9"/>
          <p:cNvSpPr txBox="1"/>
          <p:nvPr/>
        </p:nvSpPr>
        <p:spPr>
          <a:xfrm>
            <a:off x="548640" y="5128121"/>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D8</a:t>
            </a:r>
            <a:endParaRPr lang="en-US" sz="950" dirty="0"/>
          </a:p>
        </p:txBody>
      </p:sp>
      <p:sp>
        <p:nvSpPr>
          <p:cNvPr id="52" name="Decision text 9"/>
          <p:cNvSpPr txBox="1"/>
          <p:nvPr/>
        </p:nvSpPr>
        <p:spPr>
          <a:xfrm>
            <a:off x="1453896" y="5085727"/>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CA on GST;</a:t>
            </a:r>
            <a:pPr algn="l" indent="0" marL="0">
              <a:buNone/>
            </a:pPr>
            <a:r>
              <a:rPr lang="en-US" sz="1000" dirty="0">
                <a:solidFill>
                  <a:schemeClr val="tx1"/>
                </a:solidFill>
              </a:rPr>
              <a:t> counsel on lease, NOC, key-person cover</a:t>
            </a:r>
            <a:endParaRPr lang="en-US" sz="1000" dirty="0"/>
          </a:p>
        </p:txBody>
      </p:sp>
      <p:sp>
        <p:nvSpPr>
          <p:cNvPr id="53" name="Decide-by chip 9"/>
          <p:cNvSpPr txBox="1"/>
          <p:nvPr/>
        </p:nvSpPr>
        <p:spPr>
          <a:xfrm>
            <a:off x="5385816" y="5128121"/>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opinion day 21</a:t>
            </a:r>
            <a:endParaRPr lang="en-US" sz="950" dirty="0"/>
          </a:p>
        </p:txBody>
      </p:sp>
      <p:sp>
        <p:nvSpPr>
          <p:cNvPr id="54" name="Decision default 9"/>
          <p:cNvSpPr txBox="1"/>
          <p:nvPr/>
        </p:nvSpPr>
        <p:spPr>
          <a:xfrm>
            <a:off x="6428232" y="5085727"/>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Fees modelled GST-inclusive</a:t>
            </a:r>
            <a:endParaRPr lang="en-US" sz="1000" dirty="0"/>
          </a:p>
        </p:txBody>
      </p:sp>
      <p:sp>
        <p:nvSpPr>
          <p:cNvPr id="55" name="Decision rule 9"/>
          <p:cNvSpPr/>
          <p:nvPr/>
        </p:nvSpPr>
        <p:spPr>
          <a:xfrm>
            <a:off x="548640" y="5426548"/>
            <a:ext cx="7452360" cy="0"/>
          </a:xfrm>
          <a:prstGeom prst="line">
            <a:avLst/>
          </a:prstGeom>
          <a:noFill/>
          <a:ln w="6350">
            <a:solidFill>
              <a:srgbClr val="E4DAD5"/>
            </a:solidFill>
            <a:prstDash val="solid"/>
          </a:ln>
        </p:spPr>
      </p:sp>
      <p:sp>
        <p:nvSpPr>
          <p:cNvPr id="56" name="Decision code 10"/>
          <p:cNvSpPr txBox="1"/>
          <p:nvPr/>
        </p:nvSpPr>
        <p:spPr>
          <a:xfrm>
            <a:off x="548640" y="5487231"/>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D9</a:t>
            </a:r>
            <a:endParaRPr lang="en-US" sz="950" dirty="0"/>
          </a:p>
        </p:txBody>
      </p:sp>
      <p:sp>
        <p:nvSpPr>
          <p:cNvPr id="57" name="Decision text 10"/>
          <p:cNvSpPr txBox="1"/>
          <p:nvPr/>
        </p:nvSpPr>
        <p:spPr>
          <a:xfrm>
            <a:off x="1453896" y="5444836"/>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Verify the real</a:t>
            </a:r>
            <a:pPr algn="l" indent="0" marL="0">
              <a:buNone/>
            </a:pPr>
            <a:r>
              <a:rPr lang="en-US" sz="1000" dirty="0">
                <a:solidFill>
                  <a:schemeClr val="tx1"/>
                </a:solidFill>
              </a:rPr>
              <a:t> Instagram, Google and review footprint</a:t>
            </a:r>
            <a:endParaRPr lang="en-US" sz="1000" dirty="0"/>
          </a:p>
        </p:txBody>
      </p:sp>
      <p:sp>
        <p:nvSpPr>
          <p:cNvPr id="58" name="Decide-by chip 10"/>
          <p:cNvSpPr txBox="1"/>
          <p:nvPr/>
        </p:nvSpPr>
        <p:spPr>
          <a:xfrm>
            <a:off x="5385816" y="5487231"/>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day 0</a:t>
            </a:r>
            <a:endParaRPr lang="en-US" sz="950" dirty="0"/>
          </a:p>
        </p:txBody>
      </p:sp>
      <p:sp>
        <p:nvSpPr>
          <p:cNvPr id="59" name="Decision default 10"/>
          <p:cNvSpPr txBox="1"/>
          <p:nvPr/>
        </p:nvSpPr>
        <p:spPr>
          <a:xfrm>
            <a:off x="6428232" y="5444836"/>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Deck says "not verifiable"</a:t>
            </a:r>
            <a:endParaRPr lang="en-US" sz="1000" dirty="0"/>
          </a:p>
        </p:txBody>
      </p:sp>
      <p:sp>
        <p:nvSpPr>
          <p:cNvPr id="60" name="Decision rule 10"/>
          <p:cNvSpPr/>
          <p:nvPr/>
        </p:nvSpPr>
        <p:spPr>
          <a:xfrm>
            <a:off x="548640" y="5785658"/>
            <a:ext cx="7452360" cy="0"/>
          </a:xfrm>
          <a:prstGeom prst="line">
            <a:avLst/>
          </a:prstGeom>
          <a:noFill/>
          <a:ln w="6350">
            <a:solidFill>
              <a:srgbClr val="E4DAD5"/>
            </a:solidFill>
            <a:prstDash val="solid"/>
          </a:ln>
        </p:spPr>
      </p:sp>
      <p:sp>
        <p:nvSpPr>
          <p:cNvPr id="61" name="Decision code 11"/>
          <p:cNvSpPr txBox="1"/>
          <p:nvPr/>
        </p:nvSpPr>
        <p:spPr>
          <a:xfrm>
            <a:off x="548640" y="5846341"/>
            <a:ext cx="777240" cy="237744"/>
          </a:xfrm>
          <a:prstGeom prst="roundRect">
            <a:avLst>
              <a:gd name="adj" fmla="val 50000"/>
            </a:avLst>
          </a:prstGeom>
          <a:solidFill>
            <a:schemeClr val="tx2"/>
          </a:solidFill>
          <a:ln/>
        </p:spPr>
        <p:txBody>
          <a:bodyPr wrap="square" lIns="0" tIns="0" rIns="0" bIns="0" rtlCol="0" anchor="ctr"/>
          <a:lstStyle/>
          <a:p>
            <a:pPr algn="ctr" indent="0" marL="0">
              <a:buNone/>
            </a:pPr>
            <a:r>
              <a:rPr lang="en-US" sz="950" b="1" dirty="0">
                <a:solidFill>
                  <a:schemeClr val="bg1"/>
                </a:solidFill>
              </a:rPr>
              <a:t>D10</a:t>
            </a:r>
            <a:endParaRPr lang="en-US" sz="950" dirty="0"/>
          </a:p>
        </p:txBody>
      </p:sp>
      <p:sp>
        <p:nvSpPr>
          <p:cNvPr id="62" name="Decision text 11"/>
          <p:cNvSpPr txBox="1"/>
          <p:nvPr/>
        </p:nvSpPr>
        <p:spPr>
          <a:xfrm>
            <a:off x="1453896" y="5803946"/>
            <a:ext cx="3822192" cy="322534"/>
          </a:xfrm>
          <a:prstGeom prst="rect">
            <a:avLst/>
          </a:prstGeom>
          <a:noFill/>
          <a:ln/>
        </p:spPr>
        <p:txBody>
          <a:bodyPr wrap="square" lIns="0" tIns="0" rIns="0" bIns="0" rtlCol="0" anchor="ctr"/>
          <a:lstStyle/>
          <a:p>
            <a:pPr algn="l" indent="0" marL="0">
              <a:buNone/>
            </a:pPr>
            <a:r>
              <a:rPr lang="en-US" sz="1000" b="1" dirty="0">
                <a:solidFill>
                  <a:schemeClr val="tx1"/>
                </a:solidFill>
              </a:rPr>
              <a:t>Record</a:t>
            </a:r>
            <a:pPr algn="l" indent="0" marL="0">
              <a:buNone/>
            </a:pPr>
            <a:r>
              <a:rPr lang="en-US" sz="1000" dirty="0">
                <a:solidFill>
                  <a:schemeClr val="tx1"/>
                </a:solidFill>
              </a:rPr>
              <a:t> franchise and GM appetite</a:t>
            </a:r>
            <a:endParaRPr lang="en-US" sz="1000" dirty="0"/>
          </a:p>
        </p:txBody>
      </p:sp>
      <p:sp>
        <p:nvSpPr>
          <p:cNvPr id="63" name="Decide-by chip 11"/>
          <p:cNvSpPr txBox="1"/>
          <p:nvPr/>
        </p:nvSpPr>
        <p:spPr>
          <a:xfrm>
            <a:off x="5385816" y="5846341"/>
            <a:ext cx="932688" cy="237744"/>
          </a:xfrm>
          <a:prstGeom prst="roundRect">
            <a:avLst>
              <a:gd name="adj" fmla="val 50000"/>
            </a:avLst>
          </a:prstGeom>
          <a:solidFill>
            <a:srgbClr val="F7E7E1"/>
          </a:solidFill>
          <a:ln/>
        </p:spPr>
        <p:txBody>
          <a:bodyPr wrap="square" lIns="0" tIns="0" rIns="0" bIns="0" rtlCol="0" anchor="ctr"/>
          <a:lstStyle/>
          <a:p>
            <a:pPr algn="ctr" indent="0" marL="0">
              <a:buNone/>
            </a:pPr>
            <a:r>
              <a:rPr lang="en-US" sz="950" b="1" dirty="0">
                <a:solidFill>
                  <a:srgbClr val="A4513F"/>
                </a:solidFill>
              </a:rPr>
              <a:t>record now</a:t>
            </a:r>
            <a:endParaRPr lang="en-US" sz="950" dirty="0"/>
          </a:p>
        </p:txBody>
      </p:sp>
      <p:sp>
        <p:nvSpPr>
          <p:cNvPr id="64" name="Decision default 11"/>
          <p:cNvSpPr txBox="1"/>
          <p:nvPr/>
        </p:nvSpPr>
        <p:spPr>
          <a:xfrm>
            <a:off x="6428232" y="5803946"/>
            <a:ext cx="1572768" cy="322534"/>
          </a:xfrm>
          <a:prstGeom prst="rect">
            <a:avLst/>
          </a:prstGeom>
          <a:noFill/>
          <a:ln/>
        </p:spPr>
        <p:txBody>
          <a:bodyPr wrap="square" lIns="0" tIns="0" rIns="0" bIns="0" rtlCol="0" anchor="ctr"/>
          <a:lstStyle/>
          <a:p>
            <a:pPr algn="l" indent="0" marL="0">
              <a:buNone/>
            </a:pPr>
            <a:r>
              <a:rPr lang="en-US" sz="1000" dirty="0">
                <a:solidFill>
                  <a:srgbClr val="6B5F67"/>
                </a:solidFill>
              </a:rPr>
              <a:t>Defer</a:t>
            </a:r>
            <a:endParaRPr lang="en-US" sz="1000" dirty="0"/>
          </a:p>
        </p:txBody>
      </p:sp>
      <p:sp>
        <p:nvSpPr>
          <p:cNvPr id="65" name="Actions card"/>
          <p:cNvSpPr/>
          <p:nvPr/>
        </p:nvSpPr>
        <p:spPr>
          <a:xfrm>
            <a:off x="8275320" y="1920240"/>
            <a:ext cx="3367735" cy="3063240"/>
          </a:xfrm>
          <a:prstGeom prst="roundRect">
            <a:avLst>
              <a:gd name="adj" fmla="val 2388"/>
            </a:avLst>
          </a:prstGeom>
          <a:solidFill>
            <a:schemeClr val="bg1"/>
          </a:solidFill>
          <a:ln w="9525">
            <a:solidFill>
              <a:srgbClr val="E4DAD5"/>
            </a:solidFill>
            <a:prstDash val="solid"/>
          </a:ln>
        </p:spPr>
      </p:sp>
      <p:sp>
        <p:nvSpPr>
          <p:cNvPr id="66" name="Label 4"/>
          <p:cNvSpPr txBox="1"/>
          <p:nvPr/>
        </p:nvSpPr>
        <p:spPr>
          <a:xfrm>
            <a:off x="8458200" y="2029968"/>
            <a:ext cx="3001975" cy="219456"/>
          </a:xfrm>
          <a:prstGeom prst="rect">
            <a:avLst/>
          </a:prstGeom>
          <a:noFill/>
          <a:ln/>
        </p:spPr>
        <p:txBody>
          <a:bodyPr wrap="square" lIns="0" tIns="0" rIns="0" bIns="0" rtlCol="0" anchor="ctr"/>
          <a:lstStyle/>
          <a:p>
            <a:pPr algn="l" indent="0" marL="0">
              <a:buNone/>
            </a:pPr>
            <a:r>
              <a:rPr lang="en-US" sz="1050" b="1" dirty="0">
                <a:solidFill>
                  <a:srgbClr val="A4513F"/>
                </a:solidFill>
              </a:rPr>
              <a:t>NEXT ACTIONS, DAYS 0–7</a:t>
            </a:r>
            <a:endParaRPr lang="en-US" sz="1050" dirty="0"/>
          </a:p>
        </p:txBody>
      </p:sp>
      <p:sp>
        <p:nvSpPr>
          <p:cNvPr id="67" name="Actions"/>
          <p:cNvSpPr txBox="1"/>
          <p:nvPr/>
        </p:nvSpPr>
        <p:spPr>
          <a:xfrm>
            <a:off x="8458200" y="2304288"/>
            <a:ext cx="3001975" cy="2606040"/>
          </a:xfrm>
          <a:prstGeom prst="rect">
            <a:avLst/>
          </a:prstGeom>
          <a:noFill/>
          <a:ln/>
        </p:spPr>
        <p:txBody>
          <a:bodyPr wrap="square" lIns="0" tIns="0" rIns="0" bIns="0" rtlCol="0" anchor="t"/>
          <a:lstStyle/>
          <a:p>
            <a:pPr algn="l" marL="152400" indent="-152400">
              <a:spcAft>
                <a:spcPts val="150"/>
              </a:spcAft>
              <a:buSzPct val="100000"/>
              <a:buChar char="•"/>
            </a:pPr>
            <a:r>
              <a:rPr lang="en-US" sz="1050" dirty="0">
                <a:solidFill>
                  <a:schemeClr val="tx1"/>
                </a:solidFill>
              </a:rPr>
              <a:t>D9 verification call</a:t>
            </a:r>
            <a:endParaRPr lang="en-US" sz="1050" dirty="0"/>
          </a:p>
          <a:p>
            <a:pPr algn="l" marL="152400" indent="-152400">
              <a:spcAft>
                <a:spcPts val="150"/>
              </a:spcAft>
              <a:buSzPct val="100000"/>
              <a:buChar char="•"/>
            </a:pPr>
            <a:r>
              <a:rPr lang="en-US" sz="1050" dirty="0">
                <a:solidFill>
                  <a:schemeClr val="tx1"/>
                </a:solidFill>
              </a:rPr>
              <a:t>Founder data pull and enquiry-log audit</a:t>
            </a:r>
            <a:endParaRPr lang="en-US" sz="1050" dirty="0"/>
          </a:p>
          <a:p>
            <a:pPr algn="l" marL="152400" indent="-152400">
              <a:spcAft>
                <a:spcPts val="150"/>
              </a:spcAft>
              <a:buSzPct val="100000"/>
              <a:buChar char="•"/>
            </a:pPr>
            <a:r>
              <a:rPr lang="en-US" sz="1050" dirty="0">
                <a:solidFill>
                  <a:schemeClr val="tx1"/>
                </a:solidFill>
              </a:rPr>
              <a:t>Post and fill the Operations Lead role</a:t>
            </a:r>
            <a:endParaRPr lang="en-US" sz="1050" dirty="0"/>
          </a:p>
          <a:p>
            <a:pPr algn="l" marL="152400" indent="-152400">
              <a:spcAft>
                <a:spcPts val="150"/>
              </a:spcAft>
              <a:buSzPct val="100000"/>
              <a:buChar char="•"/>
            </a:pPr>
            <a:r>
              <a:rPr lang="en-US" sz="1050" dirty="0">
                <a:solidFill>
                  <a:schemeClr val="tx1"/>
                </a:solidFill>
              </a:rPr>
              <a:t>Claim GBP with the exact signage name and Sector 8 address</a:t>
            </a:r>
            <a:endParaRPr lang="en-US" sz="1050" dirty="0"/>
          </a:p>
          <a:p>
            <a:pPr algn="l" marL="152400" indent="-152400">
              <a:spcAft>
                <a:spcPts val="150"/>
              </a:spcAft>
              <a:buSzPct val="100000"/>
              <a:buChar char="•"/>
            </a:pPr>
            <a:r>
              <a:rPr lang="en-US" sz="1050" dirty="0">
                <a:solidFill>
                  <a:schemeClr val="tx1"/>
                </a:solidFill>
              </a:rPr>
              <a:t>Create the academy Instagram</a:t>
            </a:r>
            <a:endParaRPr lang="en-US" sz="1050" dirty="0"/>
          </a:p>
          <a:p>
            <a:pPr algn="l" marL="152400" indent="-152400">
              <a:spcAft>
                <a:spcPts val="150"/>
              </a:spcAft>
              <a:buSzPct val="100000"/>
              <a:buChar char="•"/>
            </a:pPr>
            <a:r>
              <a:rPr lang="en-US" sz="1050" dirty="0">
                <a:solidFill>
                  <a:schemeClr val="tx1"/>
                </a:solidFill>
              </a:rPr>
              <a:t>WhatsApp BSP + Phase-0 CRM</a:t>
            </a:r>
            <a:endParaRPr lang="en-US" sz="1050" dirty="0"/>
          </a:p>
          <a:p>
            <a:pPr algn="l" marL="152400" indent="-152400">
              <a:spcAft>
                <a:spcPts val="150"/>
              </a:spcAft>
              <a:buSzPct val="100000"/>
              <a:buChar char="•"/>
            </a:pPr>
            <a:r>
              <a:rPr lang="en-US" sz="1050" dirty="0">
                <a:solidFill>
                  <a:schemeClr val="tx1"/>
                </a:solidFill>
              </a:rPr>
              <a:t>Brief the Lead Trainer search (two finalists)</a:t>
            </a:r>
            <a:endParaRPr lang="en-US" sz="1050" dirty="0"/>
          </a:p>
          <a:p>
            <a:pPr algn="l" marL="152400" indent="-152400">
              <a:spcAft>
                <a:spcPts val="150"/>
              </a:spcAft>
              <a:buSzPct val="100000"/>
              <a:buChar char="•"/>
            </a:pPr>
            <a:r>
              <a:rPr lang="en-US" sz="1050" dirty="0">
                <a:solidFill>
                  <a:schemeClr val="tx1"/>
                </a:solidFill>
              </a:rPr>
              <a:t>CA engaged on GST, counsel on the lease checklist</a:t>
            </a:r>
            <a:endParaRPr lang="en-US" sz="1050" dirty="0"/>
          </a:p>
          <a:p>
            <a:pPr algn="l" marL="152400" indent="-152400">
              <a:spcAft>
                <a:spcPts val="150"/>
              </a:spcAft>
              <a:buSzPct val="100000"/>
              <a:buChar char="•"/>
            </a:pPr>
            <a:r>
              <a:rPr lang="en-US" sz="1050" dirty="0">
                <a:solidFill>
                  <a:schemeClr val="tx1"/>
                </a:solidFill>
              </a:rPr>
              <a:t>Consent forms</a:t>
            </a:r>
            <a:endParaRPr lang="en-US" sz="1050" dirty="0"/>
          </a:p>
          <a:p>
            <a:pPr algn="l" marL="152400" indent="-152400">
              <a:spcAft>
                <a:spcPts val="150"/>
              </a:spcAft>
              <a:buSzPct val="100000"/>
              <a:buChar char="•"/>
            </a:pPr>
            <a:r>
              <a:rPr lang="en-US" sz="1050" dirty="0">
                <a:solidFill>
                  <a:schemeClr val="tx1"/>
                </a:solidFill>
              </a:rPr>
              <a:t>Fee page drafted at today's fee with all-in cost</a:t>
            </a:r>
            <a:endParaRPr lang="en-US" sz="1050" dirty="0"/>
          </a:p>
          <a:p>
            <a:pPr algn="l" marL="152400" indent="-152400">
              <a:spcAft>
                <a:spcPts val="150"/>
              </a:spcAft>
              <a:buSzPct val="100000"/>
              <a:buChar char="•"/>
            </a:pPr>
            <a:r>
              <a:rPr lang="en-US" sz="1050" dirty="0">
                <a:solidFill>
                  <a:schemeClr val="tx1"/>
                </a:solidFill>
              </a:rPr>
              <a:t>Alumni survey sent</a:t>
            </a:r>
            <a:endParaRPr lang="en-US" sz="1050" dirty="0"/>
          </a:p>
          <a:p>
            <a:pPr algn="l" marL="152400" indent="-152400">
              <a:spcAft>
                <a:spcPts val="150"/>
              </a:spcAft>
              <a:buSzPct val="100000"/>
              <a:buChar char="•"/>
            </a:pPr>
            <a:r>
              <a:rPr lang="en-US" sz="1050" dirty="0">
                <a:solidFill>
                  <a:schemeClr val="tx1"/>
                </a:solidFill>
              </a:rPr>
              <a:t>Portfolio-day shoot booked</a:t>
            </a:r>
            <a:endParaRPr lang="en-US" sz="1050" dirty="0"/>
          </a:p>
          <a:p>
            <a:pPr algn="l" marL="152400" indent="-152400">
              <a:buSzPct val="100000"/>
              <a:buChar char="•"/>
            </a:pPr>
            <a:r>
              <a:rPr lang="en-US" sz="1050" dirty="0">
                <a:solidFill>
                  <a:schemeClr val="tx1"/>
                </a:solidFill>
              </a:rPr>
              <a:t>B&amp;WSSC enquiry sent</a:t>
            </a:r>
            <a:endParaRPr lang="en-US" sz="1050" dirty="0"/>
          </a:p>
        </p:txBody>
      </p:sp>
      <p:sp>
        <p:nvSpPr>
          <p:cNvPr id="68" name="Buys band"/>
          <p:cNvSpPr/>
          <p:nvPr/>
        </p:nvSpPr>
        <p:spPr>
          <a:xfrm>
            <a:off x="8275320" y="5120640"/>
            <a:ext cx="3367735" cy="1024128"/>
          </a:xfrm>
          <a:prstGeom prst="roundRect">
            <a:avLst>
              <a:gd name="adj" fmla="val 7143"/>
            </a:avLst>
          </a:prstGeom>
          <a:solidFill>
            <a:schemeClr val="tx2"/>
          </a:solidFill>
          <a:ln/>
        </p:spPr>
      </p:sp>
      <p:sp>
        <p:nvSpPr>
          <p:cNvPr id="69" name="Buys text"/>
          <p:cNvSpPr txBox="1"/>
          <p:nvPr/>
        </p:nvSpPr>
        <p:spPr>
          <a:xfrm>
            <a:off x="8458200" y="5193792"/>
            <a:ext cx="3001975" cy="877824"/>
          </a:xfrm>
          <a:prstGeom prst="rect">
            <a:avLst/>
          </a:prstGeom>
          <a:noFill/>
          <a:ln/>
        </p:spPr>
        <p:txBody>
          <a:bodyPr wrap="square" lIns="0" tIns="0" rIns="0" bIns="0" rtlCol="0" anchor="ctr"/>
          <a:lstStyle/>
          <a:p>
            <a:pPr algn="l" indent="0" marL="0">
              <a:buNone/>
            </a:pPr>
            <a:r>
              <a:rPr lang="en-US" sz="1200" b="1" dirty="0">
                <a:solidFill>
                  <a:schemeClr val="bg1"/>
                </a:solidFill>
              </a:rPr>
              <a:t>What the staged plan buys:</a:t>
            </a:r>
            <a:pPr algn="l" indent="0" marL="0">
              <a:buNone/>
            </a:pPr>
            <a:r>
              <a:rPr lang="en-US" sz="1200" dirty="0">
                <a:solidFill>
                  <a:schemeClr val="bg1"/>
                </a:solidFill>
              </a:rPr>
              <a:t> find out for about ₹12L whether proof, trainer parity and cohort fill exist before committing ₹14.7L to a lease.</a:t>
            </a:r>
            <a:endParaRPr lang="en-US" sz="12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A1 · MARKET SIZING METHOD</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Two methods, one tricity number: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3.27 cr, not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5.7 cr</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The India TAM is the mean of a pipeline method and a supply method; the tricity figure reconciles a ₹5.7 cr "makeup + beauty-artistry" estimate down to makeup-led learners only.</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market_opportunity.md §3–§6, §8; economics §2; india_market_analysis.md §1, §8; chandigarh_market_analysis.md §1, §8; S-IND-01/02/04/05</a:t>
            </a:r>
            <a:pPr algn="l" indent="0" marL="0">
              <a:buNone/>
            </a:pPr>
            <a:r>
              <a:rPr lang="en-US" sz="900" b="1" dirty="0">
                <a:solidFill>
                  <a:srgbClr val="6B5F67"/>
                </a:solidFill>
              </a:rPr>
              <a:t>   Note: </a:t>
            </a:r>
            <a:pPr algn="l" indent="0" marL="0">
              <a:buNone/>
            </a:pPr>
            <a:r>
              <a:rPr lang="en-US" sz="900" dirty="0">
                <a:solidFill>
                  <a:srgbClr val="6B5F67"/>
                </a:solidFill>
              </a:rPr>
              <a:t>₹ cr per year, quoted fees. Methods and bands: ESTIMATE. "No published figure exists": VERIFIED (negative finding).</a:t>
            </a:r>
            <a:endParaRPr lang="en-US" sz="900" dirty="0"/>
          </a:p>
        </p:txBody>
      </p:sp>
      <p:sp>
        <p:nvSpPr>
          <p:cNvPr id="7" name="Label"/>
          <p:cNvSpPr txBox="1"/>
          <p:nvPr/>
        </p:nvSpPr>
        <p:spPr>
          <a:xfrm>
            <a:off x="685800" y="1920240"/>
            <a:ext cx="1828800" cy="219456"/>
          </a:xfrm>
          <a:prstGeom prst="rect">
            <a:avLst/>
          </a:prstGeom>
          <a:noFill/>
          <a:ln/>
        </p:spPr>
        <p:txBody>
          <a:bodyPr wrap="square" lIns="0" tIns="0" rIns="0" bIns="0" rtlCol="0" anchor="ctr"/>
          <a:lstStyle/>
          <a:p>
            <a:pPr algn="l" indent="0" marL="0">
              <a:buNone/>
            </a:pPr>
            <a:r>
              <a:rPr lang="en-US" sz="1050" b="1" dirty="0">
                <a:solidFill>
                  <a:schemeClr val="accent3"/>
                </a:solidFill>
              </a:rPr>
              <a:t>DO NOT USE</a:t>
            </a:r>
            <a:endParaRPr lang="en-US" sz="1050" dirty="0"/>
          </a:p>
        </p:txBody>
      </p:sp>
      <p:sp>
        <p:nvSpPr>
          <p:cNvPr id="8" name="Label 2"/>
          <p:cNvSpPr txBox="1"/>
          <p:nvPr/>
        </p:nvSpPr>
        <p:spPr>
          <a:xfrm>
            <a:off x="4183380" y="1920240"/>
            <a:ext cx="1828800" cy="219456"/>
          </a:xfrm>
          <a:prstGeom prst="rect">
            <a:avLst/>
          </a:prstGeom>
          <a:noFill/>
          <a:ln/>
        </p:spPr>
        <p:txBody>
          <a:bodyPr wrap="square" lIns="0" tIns="0" rIns="0" bIns="0" rtlCol="0" anchor="ctr"/>
          <a:lstStyle/>
          <a:p>
            <a:pPr algn="l" indent="0" marL="0">
              <a:buNone/>
            </a:pPr>
            <a:r>
              <a:rPr lang="en-US" sz="1050" b="1" dirty="0">
                <a:solidFill>
                  <a:srgbClr val="A4513F"/>
                </a:solidFill>
              </a:rPr>
              <a:t>USE INSTEAD</a:t>
            </a:r>
            <a:endParaRPr lang="en-US" sz="1050" dirty="0"/>
          </a:p>
        </p:txBody>
      </p:sp>
      <p:sp>
        <p:nvSpPr>
          <p:cNvPr id="9" name="Do-not card"/>
          <p:cNvSpPr/>
          <p:nvPr/>
        </p:nvSpPr>
        <p:spPr>
          <a:xfrm>
            <a:off x="548640" y="2212848"/>
            <a:ext cx="3086100" cy="594360"/>
          </a:xfrm>
          <a:prstGeom prst="roundRect">
            <a:avLst>
              <a:gd name="adj" fmla="val 12308"/>
            </a:avLst>
          </a:prstGeom>
          <a:solidFill>
            <a:schemeClr val="bg2"/>
          </a:solidFill>
          <a:ln w="9525">
            <a:solidFill>
              <a:schemeClr val="accent3"/>
            </a:solidFill>
            <a:prstDash val="dash"/>
          </a:ln>
        </p:spPr>
      </p:sp>
      <p:sp>
        <p:nvSpPr>
          <p:cNvPr id="10" name="Do-not text"/>
          <p:cNvSpPr txBox="1"/>
          <p:nvPr/>
        </p:nvSpPr>
        <p:spPr>
          <a:xfrm>
            <a:off x="685800" y="2249424"/>
            <a:ext cx="2811780" cy="521208"/>
          </a:xfrm>
          <a:prstGeom prst="rect">
            <a:avLst/>
          </a:prstGeom>
          <a:noFill/>
          <a:ln/>
        </p:spPr>
        <p:txBody>
          <a:bodyPr wrap="square" lIns="0" tIns="0" rIns="0" bIns="0" rtlCol="0" anchor="ctr"/>
          <a:lstStyle/>
          <a:p>
            <a:pPr algn="l" indent="0" marL="0">
              <a:buNone/>
            </a:pPr>
            <a:r>
              <a:rPr lang="en-US" sz="1100" dirty="0">
                <a:solidFill>
                  <a:srgbClr val="6B5F67"/>
                </a:solidFill>
              </a:rPr>
              <a:t>Tricity ₹5.7 cr / 1,256 students</a:t>
            </a:r>
            <a:endParaRPr lang="en-US" sz="1100" dirty="0"/>
          </a:p>
        </p:txBody>
      </p:sp>
      <p:sp>
        <p:nvSpPr>
          <p:cNvPr id="11" name="Arrow"/>
          <p:cNvSpPr/>
          <p:nvPr/>
        </p:nvSpPr>
        <p:spPr>
          <a:xfrm>
            <a:off x="3762756" y="2400300"/>
            <a:ext cx="146304" cy="219456"/>
          </a:xfrm>
          <a:prstGeom prst="chevron">
            <a:avLst/>
          </a:prstGeom>
          <a:solidFill>
            <a:schemeClr val="accent2"/>
          </a:solidFill>
          <a:ln/>
        </p:spPr>
      </p:sp>
      <p:sp>
        <p:nvSpPr>
          <p:cNvPr id="12" name="Use card"/>
          <p:cNvSpPr/>
          <p:nvPr/>
        </p:nvSpPr>
        <p:spPr>
          <a:xfrm>
            <a:off x="4046220" y="2212848"/>
            <a:ext cx="3086100" cy="594360"/>
          </a:xfrm>
          <a:prstGeom prst="roundRect">
            <a:avLst>
              <a:gd name="adj" fmla="val 12308"/>
            </a:avLst>
          </a:prstGeom>
          <a:solidFill>
            <a:srgbClr val="F2EAF0"/>
          </a:solidFill>
          <a:ln/>
        </p:spPr>
      </p:sp>
      <p:sp>
        <p:nvSpPr>
          <p:cNvPr id="13" name="Use text"/>
          <p:cNvSpPr txBox="1"/>
          <p:nvPr/>
        </p:nvSpPr>
        <p:spPr>
          <a:xfrm>
            <a:off x="4183380" y="2249424"/>
            <a:ext cx="2811780" cy="521208"/>
          </a:xfrm>
          <a:prstGeom prst="rect">
            <a:avLst/>
          </a:prstGeom>
          <a:noFill/>
          <a:ln/>
        </p:spPr>
        <p:txBody>
          <a:bodyPr wrap="square" lIns="0" tIns="0" rIns="0" bIns="0" rtlCol="0" anchor="ctr"/>
          <a:lstStyle/>
          <a:p>
            <a:pPr algn="l" indent="0" marL="0">
              <a:buNone/>
            </a:pPr>
            <a:r>
              <a:rPr lang="en-US" sz="1100" b="1" dirty="0">
                <a:solidFill>
                  <a:schemeClr val="tx2"/>
                </a:solidFill>
              </a:rPr>
              <a:t>₹3.27 cr base (₹1.45–5.28), ≈730 learners</a:t>
            </a:r>
            <a:endParaRPr lang="en-US" sz="1100" dirty="0"/>
          </a:p>
        </p:txBody>
      </p:sp>
      <p:sp>
        <p:nvSpPr>
          <p:cNvPr id="14" name="Do-not card 2"/>
          <p:cNvSpPr/>
          <p:nvPr/>
        </p:nvSpPr>
        <p:spPr>
          <a:xfrm>
            <a:off x="548640" y="2880360"/>
            <a:ext cx="3086100" cy="594360"/>
          </a:xfrm>
          <a:prstGeom prst="roundRect">
            <a:avLst>
              <a:gd name="adj" fmla="val 12308"/>
            </a:avLst>
          </a:prstGeom>
          <a:solidFill>
            <a:schemeClr val="bg2"/>
          </a:solidFill>
          <a:ln w="9525">
            <a:solidFill>
              <a:schemeClr val="accent3"/>
            </a:solidFill>
            <a:prstDash val="dash"/>
          </a:ln>
        </p:spPr>
      </p:sp>
      <p:sp>
        <p:nvSpPr>
          <p:cNvPr id="15" name="Do-not text 2"/>
          <p:cNvSpPr txBox="1"/>
          <p:nvPr/>
        </p:nvSpPr>
        <p:spPr>
          <a:xfrm>
            <a:off x="685800" y="2916936"/>
            <a:ext cx="2811780" cy="521208"/>
          </a:xfrm>
          <a:prstGeom prst="rect">
            <a:avLst/>
          </a:prstGeom>
          <a:noFill/>
          <a:ln/>
        </p:spPr>
        <p:txBody>
          <a:bodyPr wrap="square" lIns="0" tIns="0" rIns="0" bIns="0" rtlCol="0" anchor="ctr"/>
          <a:lstStyle/>
          <a:p>
            <a:pPr algn="l" indent="0" marL="0">
              <a:buNone/>
            </a:pPr>
            <a:r>
              <a:rPr lang="en-US" sz="1100" dirty="0">
                <a:solidFill>
                  <a:srgbClr val="6B5F67"/>
                </a:solidFill>
              </a:rPr>
              <a:t>India ₹800–1,500 cr</a:t>
            </a:r>
            <a:endParaRPr lang="en-US" sz="1100" dirty="0"/>
          </a:p>
        </p:txBody>
      </p:sp>
      <p:sp>
        <p:nvSpPr>
          <p:cNvPr id="16" name="Arrow 2"/>
          <p:cNvSpPr/>
          <p:nvPr/>
        </p:nvSpPr>
        <p:spPr>
          <a:xfrm>
            <a:off x="3762756" y="3067812"/>
            <a:ext cx="146304" cy="219456"/>
          </a:xfrm>
          <a:prstGeom prst="chevron">
            <a:avLst/>
          </a:prstGeom>
          <a:solidFill>
            <a:schemeClr val="accent2"/>
          </a:solidFill>
          <a:ln/>
        </p:spPr>
      </p:sp>
      <p:sp>
        <p:nvSpPr>
          <p:cNvPr id="17" name="Use card 2"/>
          <p:cNvSpPr/>
          <p:nvPr/>
        </p:nvSpPr>
        <p:spPr>
          <a:xfrm>
            <a:off x="4046220" y="2880360"/>
            <a:ext cx="3086100" cy="594360"/>
          </a:xfrm>
          <a:prstGeom prst="roundRect">
            <a:avLst>
              <a:gd name="adj" fmla="val 12308"/>
            </a:avLst>
          </a:prstGeom>
          <a:solidFill>
            <a:srgbClr val="F2EAF0"/>
          </a:solidFill>
          <a:ln/>
        </p:spPr>
      </p:sp>
      <p:sp>
        <p:nvSpPr>
          <p:cNvPr id="18" name="Use text 2"/>
          <p:cNvSpPr txBox="1"/>
          <p:nvPr/>
        </p:nvSpPr>
        <p:spPr>
          <a:xfrm>
            <a:off x="4183380" y="2916936"/>
            <a:ext cx="2811780" cy="521208"/>
          </a:xfrm>
          <a:prstGeom prst="rect">
            <a:avLst/>
          </a:prstGeom>
          <a:noFill/>
          <a:ln/>
        </p:spPr>
        <p:txBody>
          <a:bodyPr wrap="square" lIns="0" tIns="0" rIns="0" bIns="0" rtlCol="0" anchor="ctr"/>
          <a:lstStyle/>
          <a:p>
            <a:pPr algn="l" indent="0" marL="0">
              <a:buNone/>
            </a:pPr>
            <a:r>
              <a:rPr lang="en-US" sz="1100" b="1" dirty="0">
                <a:solidFill>
                  <a:schemeClr val="tx2"/>
                </a:solidFill>
              </a:rPr>
              <a:t>₹388 cr (₹80–1,373 cr)</a:t>
            </a:r>
            <a:endParaRPr lang="en-US" sz="1100" dirty="0"/>
          </a:p>
        </p:txBody>
      </p:sp>
      <p:sp>
        <p:nvSpPr>
          <p:cNvPr id="19" name="Do-not card 3"/>
          <p:cNvSpPr/>
          <p:nvPr/>
        </p:nvSpPr>
        <p:spPr>
          <a:xfrm>
            <a:off x="548640" y="3547872"/>
            <a:ext cx="3086100" cy="594360"/>
          </a:xfrm>
          <a:prstGeom prst="roundRect">
            <a:avLst>
              <a:gd name="adj" fmla="val 12308"/>
            </a:avLst>
          </a:prstGeom>
          <a:solidFill>
            <a:schemeClr val="bg2"/>
          </a:solidFill>
          <a:ln w="9525">
            <a:solidFill>
              <a:schemeClr val="accent3"/>
            </a:solidFill>
            <a:prstDash val="dash"/>
          </a:ln>
        </p:spPr>
      </p:sp>
      <p:sp>
        <p:nvSpPr>
          <p:cNvPr id="20" name="Do-not text 3"/>
          <p:cNvSpPr txBox="1"/>
          <p:nvPr/>
        </p:nvSpPr>
        <p:spPr>
          <a:xfrm>
            <a:off x="685800" y="3584448"/>
            <a:ext cx="2811780" cy="521208"/>
          </a:xfrm>
          <a:prstGeom prst="rect">
            <a:avLst/>
          </a:prstGeom>
          <a:noFill/>
          <a:ln/>
        </p:spPr>
        <p:txBody>
          <a:bodyPr wrap="square" lIns="0" tIns="0" rIns="0" bIns="0" rtlCol="0" anchor="ctr"/>
          <a:lstStyle/>
          <a:p>
            <a:pPr algn="l" indent="0" marL="0">
              <a:buNone/>
            </a:pPr>
            <a:r>
              <a:rPr lang="en-US" sz="1100" dirty="0">
                <a:solidFill>
                  <a:srgbClr val="6B5F67"/>
                </a:solidFill>
              </a:rPr>
              <a:t>PNA revenue ₹0.3 cr today</a:t>
            </a:r>
            <a:endParaRPr lang="en-US" sz="1100" dirty="0"/>
          </a:p>
        </p:txBody>
      </p:sp>
      <p:sp>
        <p:nvSpPr>
          <p:cNvPr id="21" name="Arrow 3"/>
          <p:cNvSpPr/>
          <p:nvPr/>
        </p:nvSpPr>
        <p:spPr>
          <a:xfrm>
            <a:off x="3762756" y="3735324"/>
            <a:ext cx="146304" cy="219456"/>
          </a:xfrm>
          <a:prstGeom prst="chevron">
            <a:avLst/>
          </a:prstGeom>
          <a:solidFill>
            <a:schemeClr val="accent2"/>
          </a:solidFill>
          <a:ln/>
        </p:spPr>
      </p:sp>
      <p:sp>
        <p:nvSpPr>
          <p:cNvPr id="22" name="Use card 3"/>
          <p:cNvSpPr/>
          <p:nvPr/>
        </p:nvSpPr>
        <p:spPr>
          <a:xfrm>
            <a:off x="4046220" y="3547872"/>
            <a:ext cx="3086100" cy="594360"/>
          </a:xfrm>
          <a:prstGeom prst="roundRect">
            <a:avLst>
              <a:gd name="adj" fmla="val 12308"/>
            </a:avLst>
          </a:prstGeom>
          <a:solidFill>
            <a:srgbClr val="F2EAF0"/>
          </a:solidFill>
          <a:ln/>
        </p:spPr>
      </p:sp>
      <p:sp>
        <p:nvSpPr>
          <p:cNvPr id="23" name="Use text 3"/>
          <p:cNvSpPr txBox="1"/>
          <p:nvPr/>
        </p:nvSpPr>
        <p:spPr>
          <a:xfrm>
            <a:off x="4183380" y="3584448"/>
            <a:ext cx="2811780" cy="521208"/>
          </a:xfrm>
          <a:prstGeom prst="rect">
            <a:avLst/>
          </a:prstGeom>
          <a:noFill/>
          <a:ln/>
        </p:spPr>
        <p:txBody>
          <a:bodyPr wrap="square" lIns="0" tIns="0" rIns="0" bIns="0" rtlCol="0" anchor="ctr"/>
          <a:lstStyle/>
          <a:p>
            <a:pPr algn="l" indent="0" marL="0">
              <a:buNone/>
            </a:pPr>
            <a:r>
              <a:rPr lang="en-US" sz="1100" b="1" dirty="0">
                <a:solidFill>
                  <a:schemeClr val="tx2"/>
                </a:solidFill>
              </a:rPr>
              <a:t>₹19.6L quoted / ₹16.6L ex-GST, illustrative</a:t>
            </a:r>
            <a:endParaRPr lang="en-US" sz="1100" dirty="0"/>
          </a:p>
        </p:txBody>
      </p:sp>
      <p:sp>
        <p:nvSpPr>
          <p:cNvPr id="24" name="Do-not card 4"/>
          <p:cNvSpPr/>
          <p:nvPr/>
        </p:nvSpPr>
        <p:spPr>
          <a:xfrm>
            <a:off x="548640" y="4215384"/>
            <a:ext cx="3086100" cy="594360"/>
          </a:xfrm>
          <a:prstGeom prst="roundRect">
            <a:avLst>
              <a:gd name="adj" fmla="val 12308"/>
            </a:avLst>
          </a:prstGeom>
          <a:solidFill>
            <a:schemeClr val="bg2"/>
          </a:solidFill>
          <a:ln w="9525">
            <a:solidFill>
              <a:schemeClr val="accent3"/>
            </a:solidFill>
            <a:prstDash val="dash"/>
          </a:ln>
        </p:spPr>
      </p:sp>
      <p:sp>
        <p:nvSpPr>
          <p:cNvPr id="25" name="Do-not text 4"/>
          <p:cNvSpPr txBox="1"/>
          <p:nvPr/>
        </p:nvSpPr>
        <p:spPr>
          <a:xfrm>
            <a:off x="685800" y="4251960"/>
            <a:ext cx="2811780" cy="521208"/>
          </a:xfrm>
          <a:prstGeom prst="rect">
            <a:avLst/>
          </a:prstGeom>
          <a:noFill/>
          <a:ln/>
        </p:spPr>
        <p:txBody>
          <a:bodyPr wrap="square" lIns="0" tIns="0" rIns="0" bIns="0" rtlCol="0" anchor="ctr"/>
          <a:lstStyle/>
          <a:p>
            <a:pPr algn="l" indent="0" marL="0">
              <a:buNone/>
            </a:pPr>
            <a:r>
              <a:rPr lang="en-US" sz="1100" dirty="0">
                <a:solidFill>
                  <a:srgbClr val="6B5F67"/>
                </a:solidFill>
              </a:rPr>
              <a:t>PNA 4% share today</a:t>
            </a:r>
            <a:endParaRPr lang="en-US" sz="1100" dirty="0"/>
          </a:p>
        </p:txBody>
      </p:sp>
      <p:sp>
        <p:nvSpPr>
          <p:cNvPr id="26" name="Arrow 4"/>
          <p:cNvSpPr/>
          <p:nvPr/>
        </p:nvSpPr>
        <p:spPr>
          <a:xfrm>
            <a:off x="3762756" y="4402836"/>
            <a:ext cx="146304" cy="219456"/>
          </a:xfrm>
          <a:prstGeom prst="chevron">
            <a:avLst/>
          </a:prstGeom>
          <a:solidFill>
            <a:schemeClr val="accent2"/>
          </a:solidFill>
          <a:ln/>
        </p:spPr>
      </p:sp>
      <p:sp>
        <p:nvSpPr>
          <p:cNvPr id="27" name="Use card 4"/>
          <p:cNvSpPr/>
          <p:nvPr/>
        </p:nvSpPr>
        <p:spPr>
          <a:xfrm>
            <a:off x="4046220" y="4215384"/>
            <a:ext cx="3086100" cy="594360"/>
          </a:xfrm>
          <a:prstGeom prst="roundRect">
            <a:avLst>
              <a:gd name="adj" fmla="val 12308"/>
            </a:avLst>
          </a:prstGeom>
          <a:solidFill>
            <a:srgbClr val="F2EAF0"/>
          </a:solidFill>
          <a:ln/>
        </p:spPr>
      </p:sp>
      <p:sp>
        <p:nvSpPr>
          <p:cNvPr id="28" name="Use text 4"/>
          <p:cNvSpPr txBox="1"/>
          <p:nvPr/>
        </p:nvSpPr>
        <p:spPr>
          <a:xfrm>
            <a:off x="4183380" y="4251960"/>
            <a:ext cx="2811780" cy="521208"/>
          </a:xfrm>
          <a:prstGeom prst="rect">
            <a:avLst/>
          </a:prstGeom>
          <a:noFill/>
          <a:ln/>
        </p:spPr>
        <p:txBody>
          <a:bodyPr wrap="square" lIns="0" tIns="0" rIns="0" bIns="0" rtlCol="0" anchor="ctr"/>
          <a:lstStyle/>
          <a:p>
            <a:pPr algn="l" indent="0" marL="0">
              <a:buNone/>
            </a:pPr>
            <a:r>
              <a:rPr lang="en-US" sz="1100" b="1" dirty="0">
                <a:solidFill>
                  <a:schemeClr val="tx2"/>
                </a:solidFill>
              </a:rPr>
              <a:t>About 7%, illustrative (3–12%)</a:t>
            </a:r>
            <a:endParaRPr lang="en-US" sz="1100" dirty="0"/>
          </a:p>
        </p:txBody>
      </p:sp>
      <p:sp>
        <p:nvSpPr>
          <p:cNvPr id="29" name="Do-not card 5"/>
          <p:cNvSpPr/>
          <p:nvPr/>
        </p:nvSpPr>
        <p:spPr>
          <a:xfrm>
            <a:off x="548640" y="4882896"/>
            <a:ext cx="3086100" cy="594360"/>
          </a:xfrm>
          <a:prstGeom prst="roundRect">
            <a:avLst>
              <a:gd name="adj" fmla="val 12308"/>
            </a:avLst>
          </a:prstGeom>
          <a:solidFill>
            <a:schemeClr val="bg2"/>
          </a:solidFill>
          <a:ln w="9525">
            <a:solidFill>
              <a:schemeClr val="accent3"/>
            </a:solidFill>
            <a:prstDash val="dash"/>
          </a:ln>
        </p:spPr>
      </p:sp>
      <p:sp>
        <p:nvSpPr>
          <p:cNvPr id="30" name="Do-not text 5"/>
          <p:cNvSpPr txBox="1"/>
          <p:nvPr/>
        </p:nvSpPr>
        <p:spPr>
          <a:xfrm>
            <a:off x="685800" y="4919472"/>
            <a:ext cx="2811780" cy="521208"/>
          </a:xfrm>
          <a:prstGeom prst="rect">
            <a:avLst/>
          </a:prstGeom>
          <a:noFill/>
          <a:ln/>
        </p:spPr>
        <p:txBody>
          <a:bodyPr wrap="square" lIns="0" tIns="0" rIns="0" bIns="0" rtlCol="0" anchor="ctr"/>
          <a:lstStyle/>
          <a:p>
            <a:pPr algn="l" indent="0" marL="0">
              <a:buNone/>
            </a:pPr>
            <a:r>
              <a:rPr lang="en-US" sz="1100" dirty="0">
                <a:solidFill>
                  <a:srgbClr val="6B5F67"/>
                </a:solidFill>
              </a:rPr>
              <a:t>Beauty &amp; Salon ₹76,141 cr / products USD 1.5 bn / salon services USD 12.6 bn / wedding spend ₹6.5 lakh cr as the market</a:t>
            </a:r>
            <a:endParaRPr lang="en-US" sz="1100" dirty="0"/>
          </a:p>
        </p:txBody>
      </p:sp>
      <p:sp>
        <p:nvSpPr>
          <p:cNvPr id="31" name="Arrow 5"/>
          <p:cNvSpPr/>
          <p:nvPr/>
        </p:nvSpPr>
        <p:spPr>
          <a:xfrm>
            <a:off x="3762756" y="5070348"/>
            <a:ext cx="146304" cy="219456"/>
          </a:xfrm>
          <a:prstGeom prst="chevron">
            <a:avLst/>
          </a:prstGeom>
          <a:solidFill>
            <a:schemeClr val="accent2"/>
          </a:solidFill>
          <a:ln/>
        </p:spPr>
      </p:sp>
      <p:sp>
        <p:nvSpPr>
          <p:cNvPr id="32" name="Use card 5"/>
          <p:cNvSpPr/>
          <p:nvPr/>
        </p:nvSpPr>
        <p:spPr>
          <a:xfrm>
            <a:off x="4046220" y="4882896"/>
            <a:ext cx="3086100" cy="594360"/>
          </a:xfrm>
          <a:prstGeom prst="roundRect">
            <a:avLst>
              <a:gd name="adj" fmla="val 12308"/>
            </a:avLst>
          </a:prstGeom>
          <a:solidFill>
            <a:srgbClr val="F2EAF0"/>
          </a:solidFill>
          <a:ln/>
        </p:spPr>
      </p:sp>
      <p:sp>
        <p:nvSpPr>
          <p:cNvPr id="33" name="Use text 5"/>
          <p:cNvSpPr txBox="1"/>
          <p:nvPr/>
        </p:nvSpPr>
        <p:spPr>
          <a:xfrm>
            <a:off x="4183380" y="4919472"/>
            <a:ext cx="2811780" cy="521208"/>
          </a:xfrm>
          <a:prstGeom prst="rect">
            <a:avLst/>
          </a:prstGeom>
          <a:noFill/>
          <a:ln/>
        </p:spPr>
        <p:txBody>
          <a:bodyPr wrap="square" lIns="0" tIns="0" rIns="0" bIns="0" rtlCol="0" anchor="ctr"/>
          <a:lstStyle/>
          <a:p>
            <a:pPr algn="l" indent="0" marL="0">
              <a:buNone/>
            </a:pPr>
            <a:r>
              <a:rPr lang="en-US" sz="1100" b="1" dirty="0">
                <a:solidFill>
                  <a:schemeClr val="tx2"/>
                </a:solidFill>
              </a:rPr>
              <a:t>Context only: the education TAM is ~0.5% of the beauty-and-salon sector</a:t>
            </a:r>
            <a:endParaRPr lang="en-US" sz="1100" dirty="0"/>
          </a:p>
        </p:txBody>
      </p:sp>
      <p:sp>
        <p:nvSpPr>
          <p:cNvPr id="34" name="Do-not card 6"/>
          <p:cNvSpPr/>
          <p:nvPr/>
        </p:nvSpPr>
        <p:spPr>
          <a:xfrm>
            <a:off x="548640" y="5550408"/>
            <a:ext cx="3086100" cy="594360"/>
          </a:xfrm>
          <a:prstGeom prst="roundRect">
            <a:avLst>
              <a:gd name="adj" fmla="val 12308"/>
            </a:avLst>
          </a:prstGeom>
          <a:solidFill>
            <a:schemeClr val="bg2"/>
          </a:solidFill>
          <a:ln w="9525">
            <a:solidFill>
              <a:schemeClr val="accent3"/>
            </a:solidFill>
            <a:prstDash val="dash"/>
          </a:ln>
        </p:spPr>
      </p:sp>
      <p:sp>
        <p:nvSpPr>
          <p:cNvPr id="35" name="Do-not text 6"/>
          <p:cNvSpPr txBox="1"/>
          <p:nvPr/>
        </p:nvSpPr>
        <p:spPr>
          <a:xfrm>
            <a:off x="685800" y="5586984"/>
            <a:ext cx="2811780" cy="521208"/>
          </a:xfrm>
          <a:prstGeom prst="rect">
            <a:avLst/>
          </a:prstGeom>
          <a:noFill/>
          <a:ln/>
        </p:spPr>
        <p:txBody>
          <a:bodyPr wrap="square" lIns="0" tIns="0" rIns="0" bIns="0" rtlCol="0" anchor="ctr"/>
          <a:lstStyle/>
          <a:p>
            <a:pPr algn="l" indent="0" marL="0">
              <a:buNone/>
            </a:pPr>
            <a:r>
              <a:rPr lang="en-US" sz="1100" dirty="0">
                <a:solidFill>
                  <a:srgbClr val="6B5F67"/>
                </a:solidFill>
              </a:rPr>
              <a:t>3 crore jobs by 2030</a:t>
            </a:r>
            <a:endParaRPr lang="en-US" sz="1100" dirty="0"/>
          </a:p>
        </p:txBody>
      </p:sp>
      <p:sp>
        <p:nvSpPr>
          <p:cNvPr id="36" name="Arrow 6"/>
          <p:cNvSpPr/>
          <p:nvPr/>
        </p:nvSpPr>
        <p:spPr>
          <a:xfrm>
            <a:off x="3762756" y="5737860"/>
            <a:ext cx="146304" cy="219456"/>
          </a:xfrm>
          <a:prstGeom prst="chevron">
            <a:avLst/>
          </a:prstGeom>
          <a:solidFill>
            <a:schemeClr val="accent2"/>
          </a:solidFill>
          <a:ln/>
        </p:spPr>
      </p:sp>
      <p:sp>
        <p:nvSpPr>
          <p:cNvPr id="37" name="Use card 6"/>
          <p:cNvSpPr/>
          <p:nvPr/>
        </p:nvSpPr>
        <p:spPr>
          <a:xfrm>
            <a:off x="4046220" y="5550408"/>
            <a:ext cx="3086100" cy="594360"/>
          </a:xfrm>
          <a:prstGeom prst="roundRect">
            <a:avLst>
              <a:gd name="adj" fmla="val 12308"/>
            </a:avLst>
          </a:prstGeom>
          <a:solidFill>
            <a:srgbClr val="F2EAF0"/>
          </a:solidFill>
          <a:ln/>
        </p:spPr>
      </p:sp>
      <p:sp>
        <p:nvSpPr>
          <p:cNvPr id="38" name="Use text 6"/>
          <p:cNvSpPr txBox="1"/>
          <p:nvPr/>
        </p:nvSpPr>
        <p:spPr>
          <a:xfrm>
            <a:off x="4183380" y="5586984"/>
            <a:ext cx="2811780" cy="521208"/>
          </a:xfrm>
          <a:prstGeom prst="rect">
            <a:avLst/>
          </a:prstGeom>
          <a:noFill/>
          <a:ln/>
        </p:spPr>
        <p:txBody>
          <a:bodyPr wrap="square" lIns="0" tIns="0" rIns="0" bIns="0" rtlCol="0" anchor="ctr"/>
          <a:lstStyle/>
          <a:p>
            <a:pPr algn="l" indent="0" marL="0">
              <a:buNone/>
            </a:pPr>
            <a:r>
              <a:rPr lang="en-US" sz="1100" b="1" dirty="0">
                <a:solidFill>
                  <a:schemeClr val="tx2"/>
                </a:solidFill>
              </a:rPr>
              <a:t>KPMG 26.3M workforce by 2030; 5.44M incremental training need 2022–30</a:t>
            </a:r>
            <a:endParaRPr lang="en-US" sz="1100" dirty="0"/>
          </a:p>
        </p:txBody>
      </p:sp>
      <p:sp>
        <p:nvSpPr>
          <p:cNvPr id="39" name="Method card"/>
          <p:cNvSpPr/>
          <p:nvPr/>
        </p:nvSpPr>
        <p:spPr>
          <a:xfrm>
            <a:off x="7406640" y="1920240"/>
            <a:ext cx="4236415" cy="2487168"/>
          </a:xfrm>
          <a:prstGeom prst="roundRect">
            <a:avLst>
              <a:gd name="adj" fmla="val 2941"/>
            </a:avLst>
          </a:prstGeom>
          <a:solidFill>
            <a:schemeClr val="bg1"/>
          </a:solidFill>
          <a:ln w="9525">
            <a:solidFill>
              <a:srgbClr val="E4DAD5"/>
            </a:solidFill>
            <a:prstDash val="solid"/>
          </a:ln>
        </p:spPr>
      </p:sp>
      <p:sp>
        <p:nvSpPr>
          <p:cNvPr id="40" name="Label 3"/>
          <p:cNvSpPr txBox="1"/>
          <p:nvPr/>
        </p:nvSpPr>
        <p:spPr>
          <a:xfrm>
            <a:off x="7571232" y="2011680"/>
            <a:ext cx="1828800" cy="219456"/>
          </a:xfrm>
          <a:prstGeom prst="rect">
            <a:avLst/>
          </a:prstGeom>
          <a:noFill/>
          <a:ln/>
        </p:spPr>
        <p:txBody>
          <a:bodyPr wrap="square" lIns="0" tIns="0" rIns="0" bIns="0" rtlCol="0" anchor="ctr"/>
          <a:lstStyle/>
          <a:p>
            <a:pPr algn="l" indent="0" marL="0">
              <a:buNone/>
            </a:pPr>
            <a:r>
              <a:rPr lang="en-US" sz="1050" b="1" dirty="0">
                <a:solidFill>
                  <a:srgbClr val="A4513F"/>
                </a:solidFill>
              </a:rPr>
              <a:t>METHOD</a:t>
            </a:r>
            <a:endParaRPr lang="en-US" sz="1050" dirty="0"/>
          </a:p>
        </p:txBody>
      </p:sp>
      <p:sp>
        <p:nvSpPr>
          <p:cNvPr id="41" name="Badge ESTIMATE"/>
          <p:cNvSpPr txBox="1"/>
          <p:nvPr/>
        </p:nvSpPr>
        <p:spPr>
          <a:xfrm>
            <a:off x="10699370" y="2011680"/>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42" name="Method text"/>
          <p:cNvSpPr txBox="1"/>
          <p:nvPr/>
        </p:nvSpPr>
        <p:spPr>
          <a:xfrm>
            <a:off x="7571232" y="2286000"/>
            <a:ext cx="3907231" cy="2048256"/>
          </a:xfrm>
          <a:prstGeom prst="rect">
            <a:avLst/>
          </a:prstGeom>
          <a:noFill/>
          <a:ln/>
        </p:spPr>
        <p:txBody>
          <a:bodyPr wrap="square" lIns="0" tIns="0" rIns="0" bIns="0" rtlCol="0" anchor="t"/>
          <a:lstStyle/>
          <a:p>
            <a:pPr algn="l" indent="0" marL="0">
              <a:spcAft>
                <a:spcPts val="300"/>
              </a:spcAft>
              <a:buNone/>
            </a:pPr>
            <a:r>
              <a:rPr lang="en-US" sz="1050" b="1" dirty="0">
                <a:solidFill>
                  <a:schemeClr val="tx1"/>
                </a:solidFill>
              </a:rPr>
              <a:t>Method 1 (pipeline):</a:t>
            </a:r>
            <a:pPr algn="l" indent="0" marL="0">
              <a:buNone/>
            </a:pPr>
            <a:r>
              <a:rPr lang="en-US" sz="1050" dirty="0">
                <a:solidFill>
                  <a:schemeClr val="tx1"/>
                </a:solidFill>
              </a:rPr>
              <a:t> skill-council certifications → ×unorganised share (~60%) → self-paying share → makeup-led share (15/25/35%) → blended fee across four tiers (₹522 cr alone).</a:t>
            </a:r>
            <a:endParaRPr lang="en-US" sz="1050" dirty="0"/>
          </a:p>
          <a:p>
            <a:pPr algn="l" indent="0" marL="0">
              <a:spcAft>
                <a:spcPts val="300"/>
              </a:spcAft>
              <a:buNone/>
            </a:pPr>
            <a:r>
              <a:rPr lang="en-US" sz="1050" b="1" dirty="0">
                <a:solidFill>
                  <a:schemeClr val="tx1"/>
                </a:solidFill>
              </a:rPr>
              <a:t>Method 2 (supply):</a:t>
            </a:r>
            <a:pPr algn="l" indent="0" marL="0">
              <a:buNone/>
            </a:pPr>
            <a:r>
              <a:rPr lang="en-US" sz="1050" dirty="0">
                <a:solidFill>
                  <a:schemeClr val="tx1"/>
                </a:solidFill>
              </a:rPr>
              <a:t> branded centres × learners per centre + independents × makeup share × fee.</a:t>
            </a:r>
            <a:endParaRPr lang="en-US" sz="1050" dirty="0"/>
          </a:p>
          <a:p>
            <a:pPr algn="l" indent="0" marL="0">
              <a:spcAft>
                <a:spcPts val="300"/>
              </a:spcAft>
              <a:buNone/>
            </a:pPr>
            <a:r>
              <a:rPr lang="en-US" sz="1050" b="1" dirty="0">
                <a:solidFill>
                  <a:schemeClr val="tx1"/>
                </a:solidFill>
              </a:rPr>
              <a:t>Mean ₹388 cr;</a:t>
            </a:r>
            <a:pPr algn="l" indent="0" marL="0">
              <a:buNone/>
            </a:pPr>
            <a:r>
              <a:rPr lang="en-US" sz="1050" dirty="0">
                <a:solidFill>
                  <a:schemeClr val="tx1"/>
                </a:solidFill>
              </a:rPr>
              <a:t> band ₹80–1,373 cr driven by fee mix and makeup share, not learner counts.</a:t>
            </a:r>
            <a:endParaRPr lang="en-US" sz="1050" dirty="0"/>
          </a:p>
          <a:p>
            <a:pPr algn="l" indent="0" marL="0">
              <a:buNone/>
            </a:pPr>
            <a:r>
              <a:rPr lang="en-US" sz="1050" b="1" dirty="0">
                <a:solidFill>
                  <a:schemeClr val="tx1"/>
                </a:solidFill>
              </a:rPr>
              <a:t>Tricity:</a:t>
            </a:r>
            <a:pPr algn="l" indent="0" marL="0">
              <a:buNone/>
            </a:pPr>
            <a:r>
              <a:rPr lang="en-US" sz="1050" dirty="0">
                <a:solidFill>
                  <a:schemeClr val="tx1"/>
                </a:solidFill>
              </a:rPr>
              <a:t> top-down ₹2.18 cr; CA-05 restated ₹3.96 cr; supply count ₹3.67 cr → ₹1.45 / 3.27 / 5.28 cr. North five-state slice ₹30 cr (7.65% of incremental training need) is a cross-check only.</a:t>
            </a:r>
            <a:endParaRPr lang="en-US" sz="1050" dirty="0"/>
          </a:p>
        </p:txBody>
      </p:sp>
      <p:sp>
        <p:nvSpPr>
          <p:cNvPr id="43" name="Facts card"/>
          <p:cNvSpPr/>
          <p:nvPr/>
        </p:nvSpPr>
        <p:spPr>
          <a:xfrm>
            <a:off x="7406640" y="4544568"/>
            <a:ext cx="4236415" cy="1600200"/>
          </a:xfrm>
          <a:prstGeom prst="roundRect">
            <a:avLst>
              <a:gd name="adj" fmla="val 4571"/>
            </a:avLst>
          </a:prstGeom>
          <a:solidFill>
            <a:srgbClr val="F1EAE5"/>
          </a:solidFill>
          <a:ln/>
        </p:spPr>
      </p:sp>
      <p:sp>
        <p:nvSpPr>
          <p:cNvPr id="44" name="Label 4"/>
          <p:cNvSpPr txBox="1"/>
          <p:nvPr/>
        </p:nvSpPr>
        <p:spPr>
          <a:xfrm>
            <a:off x="7571232" y="4636008"/>
            <a:ext cx="3907231" cy="219456"/>
          </a:xfrm>
          <a:prstGeom prst="rect">
            <a:avLst/>
          </a:prstGeom>
          <a:noFill/>
          <a:ln/>
        </p:spPr>
        <p:txBody>
          <a:bodyPr wrap="square" lIns="0" tIns="0" rIns="0" bIns="0" rtlCol="0" anchor="ctr"/>
          <a:lstStyle/>
          <a:p>
            <a:pPr algn="l" indent="0" marL="0">
              <a:buNone/>
            </a:pPr>
            <a:r>
              <a:rPr lang="en-US" sz="1050" b="1" dirty="0">
                <a:solidFill>
                  <a:srgbClr val="A4513F"/>
                </a:solidFill>
              </a:rPr>
              <a:t>KEY FACTS THE SIZING RESTS ON</a:t>
            </a:r>
            <a:endParaRPr lang="en-US" sz="1050" dirty="0"/>
          </a:p>
        </p:txBody>
      </p:sp>
      <p:sp>
        <p:nvSpPr>
          <p:cNvPr id="45" name="Fact"/>
          <p:cNvSpPr txBox="1"/>
          <p:nvPr/>
        </p:nvSpPr>
        <p:spPr>
          <a:xfrm>
            <a:off x="7571232" y="4910328"/>
            <a:ext cx="3086144" cy="224942"/>
          </a:xfrm>
          <a:prstGeom prst="rect">
            <a:avLst/>
          </a:prstGeom>
          <a:noFill/>
          <a:ln/>
        </p:spPr>
        <p:txBody>
          <a:bodyPr wrap="square" lIns="0" tIns="0" rIns="0" bIns="0" rtlCol="0" anchor="ctr"/>
          <a:lstStyle/>
          <a:p>
            <a:pPr algn="l" indent="0" marL="0">
              <a:buNone/>
            </a:pPr>
            <a:r>
              <a:rPr lang="en-US" sz="1050" dirty="0">
                <a:solidFill>
                  <a:schemeClr val="tx1"/>
                </a:solidFill>
              </a:rPr>
              <a:t>5.44M incremental training need, 0.68M a year</a:t>
            </a:r>
            <a:endParaRPr lang="en-US" sz="1050" dirty="0"/>
          </a:p>
        </p:txBody>
      </p:sp>
      <p:sp>
        <p:nvSpPr>
          <p:cNvPr id="46" name="Badge VERIFIED"/>
          <p:cNvSpPr txBox="1"/>
          <p:nvPr/>
        </p:nvSpPr>
        <p:spPr>
          <a:xfrm>
            <a:off x="10748816" y="4913071"/>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47" name="Fact 2"/>
          <p:cNvSpPr txBox="1"/>
          <p:nvPr/>
        </p:nvSpPr>
        <p:spPr>
          <a:xfrm>
            <a:off x="7571232" y="5153558"/>
            <a:ext cx="3086144" cy="224942"/>
          </a:xfrm>
          <a:prstGeom prst="rect">
            <a:avLst/>
          </a:prstGeom>
          <a:noFill/>
          <a:ln/>
        </p:spPr>
        <p:txBody>
          <a:bodyPr wrap="square" lIns="0" tIns="0" rIns="0" bIns="0" rtlCol="0" anchor="ctr"/>
          <a:lstStyle/>
          <a:p>
            <a:pPr algn="l" indent="0" marL="0">
              <a:buNone/>
            </a:pPr>
            <a:r>
              <a:rPr lang="en-US" sz="1050" dirty="0">
                <a:solidFill>
                  <a:schemeClr val="tx1"/>
                </a:solidFill>
              </a:rPr>
              <a:t>~60% unorganised</a:t>
            </a:r>
            <a:endParaRPr lang="en-US" sz="1050" dirty="0"/>
          </a:p>
        </p:txBody>
      </p:sp>
      <p:sp>
        <p:nvSpPr>
          <p:cNvPr id="48" name="Badge VERIFIED 2"/>
          <p:cNvSpPr txBox="1"/>
          <p:nvPr/>
        </p:nvSpPr>
        <p:spPr>
          <a:xfrm>
            <a:off x="10748816" y="515630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49" name="Fact 3"/>
          <p:cNvSpPr txBox="1"/>
          <p:nvPr/>
        </p:nvSpPr>
        <p:spPr>
          <a:xfrm>
            <a:off x="7571232" y="5396789"/>
            <a:ext cx="3086144" cy="224942"/>
          </a:xfrm>
          <a:prstGeom prst="rect">
            <a:avLst/>
          </a:prstGeom>
          <a:noFill/>
          <a:ln/>
        </p:spPr>
        <p:txBody>
          <a:bodyPr wrap="square" lIns="0" tIns="0" rIns="0" bIns="0" rtlCol="0" anchor="ctr"/>
          <a:lstStyle/>
          <a:p>
            <a:pPr algn="l" indent="0" marL="0">
              <a:buNone/>
            </a:pPr>
            <a:r>
              <a:rPr lang="en-US" sz="1050" dirty="0">
                <a:solidFill>
                  <a:schemeClr val="tx1"/>
                </a:solidFill>
              </a:rPr>
              <a:t>Chandigarh 6.16% B&amp;W workforce share</a:t>
            </a:r>
            <a:endParaRPr lang="en-US" sz="1050" dirty="0"/>
          </a:p>
        </p:txBody>
      </p:sp>
      <p:sp>
        <p:nvSpPr>
          <p:cNvPr id="50" name="Badge VERIFIED 3"/>
          <p:cNvSpPr txBox="1"/>
          <p:nvPr/>
        </p:nvSpPr>
        <p:spPr>
          <a:xfrm>
            <a:off x="10748816" y="539953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51" name="Fact 4"/>
          <p:cNvSpPr txBox="1"/>
          <p:nvPr/>
        </p:nvSpPr>
        <p:spPr>
          <a:xfrm>
            <a:off x="7571232" y="5640019"/>
            <a:ext cx="3086144" cy="224942"/>
          </a:xfrm>
          <a:prstGeom prst="rect">
            <a:avLst/>
          </a:prstGeom>
          <a:noFill/>
          <a:ln/>
        </p:spPr>
        <p:txBody>
          <a:bodyPr wrap="square" lIns="0" tIns="0" rIns="0" bIns="0" rtlCol="0" anchor="ctr"/>
          <a:lstStyle/>
          <a:p>
            <a:pPr algn="l" indent="0" marL="0">
              <a:buNone/>
            </a:pPr>
            <a:r>
              <a:rPr lang="en-US" sz="1050" dirty="0">
                <a:solidFill>
                  <a:schemeClr val="tx1"/>
                </a:solidFill>
              </a:rPr>
              <a:t>47% blended, 41% classroom, 90% short courses</a:t>
            </a:r>
            <a:endParaRPr lang="en-US" sz="1050" dirty="0"/>
          </a:p>
        </p:txBody>
      </p:sp>
      <p:sp>
        <p:nvSpPr>
          <p:cNvPr id="52" name="Badge VERIFIED 4"/>
          <p:cNvSpPr txBox="1"/>
          <p:nvPr/>
        </p:nvSpPr>
        <p:spPr>
          <a:xfrm>
            <a:off x="10748816" y="5642762"/>
            <a:ext cx="729647"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53" name="Fact 5"/>
          <p:cNvSpPr txBox="1"/>
          <p:nvPr/>
        </p:nvSpPr>
        <p:spPr>
          <a:xfrm>
            <a:off x="7571232" y="5883250"/>
            <a:ext cx="3237062" cy="224942"/>
          </a:xfrm>
          <a:prstGeom prst="rect">
            <a:avLst/>
          </a:prstGeom>
          <a:noFill/>
          <a:ln/>
        </p:spPr>
        <p:txBody>
          <a:bodyPr wrap="square" lIns="0" tIns="0" rIns="0" bIns="0" rtlCol="0" anchor="ctr"/>
          <a:lstStyle/>
          <a:p>
            <a:pPr algn="l" indent="0" marL="0">
              <a:buNone/>
            </a:pPr>
            <a:r>
              <a:rPr lang="en-US" sz="1050" dirty="0">
                <a:solidFill>
                  <a:schemeClr val="tx1"/>
                </a:solidFill>
              </a:rPr>
              <a:t>Certification 1.3–2.1 lakh/yr (counters conflict)</a:t>
            </a:r>
            <a:endParaRPr lang="en-US" sz="1050" dirty="0"/>
          </a:p>
        </p:txBody>
      </p:sp>
      <p:sp>
        <p:nvSpPr>
          <p:cNvPr id="54" name="Badge CLAIM"/>
          <p:cNvSpPr txBox="1"/>
          <p:nvPr/>
        </p:nvSpPr>
        <p:spPr>
          <a:xfrm>
            <a:off x="10899734" y="5885993"/>
            <a:ext cx="578729"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A2 · HYPOTHESIS VERDICTS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Two hypotheses hold, four are plausible but unproven, one is strongly supported</a:t>
            </a:r>
            <a:endParaRPr lang="en-US" sz="2800" dirty="0"/>
          </a:p>
        </p:txBody>
      </p:sp>
      <p:sp>
        <p:nvSpPr>
          <p:cNvPr id="4" name="Subtitle"/>
          <p:cNvSpPr txBox="1"/>
          <p:nvPr/>
        </p:nvSpPr>
        <p:spPr>
          <a:xfrm>
            <a:off x="548640" y="1531112"/>
            <a:ext cx="11094415" cy="269367"/>
          </a:xfrm>
          <a:prstGeom prst="rect">
            <a:avLst/>
          </a:prstGeom>
          <a:noFill/>
          <a:ln/>
        </p:spPr>
        <p:txBody>
          <a:bodyPr wrap="square" lIns="0" tIns="0" rIns="0" bIns="0" rtlCol="0" anchor="t"/>
          <a:lstStyle/>
          <a:p>
            <a:pPr algn="l" indent="0" marL="0">
              <a:buNone/>
            </a:pPr>
            <a:r>
              <a:rPr lang="en-US" sz="1500" dirty="0">
                <a:solidFill>
                  <a:srgbClr val="6B5F67"/>
                </a:solidFill>
              </a:rPr>
              <a:t>H1 and H5 are supported; H2, H4, H6, H7 need the tests in the plan; H3 is a constraint more than an asset.</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§4.5; business_model_evaluation.md §5; international_benchmarks.md §6.3; S-CHD-11; S-IND-01; S-INT-05/11/12/25; S-CUS-14/20/33</a:t>
            </a:r>
            <a:pPr algn="l" indent="0" marL="0">
              <a:buNone/>
            </a:pPr>
            <a:r>
              <a:rPr lang="en-US" sz="900" b="1" dirty="0">
                <a:solidFill>
                  <a:srgbClr val="6B5F67"/>
                </a:solidFill>
              </a:rPr>
              <a:t>   Note: </a:t>
            </a:r>
            <a:pPr algn="l" indent="0" marL="0">
              <a:buNone/>
            </a:pPr>
            <a:r>
              <a:rPr lang="en-US" sz="900" dirty="0">
                <a:solidFill>
                  <a:srgbClr val="6B5F67"/>
                </a:solidFill>
              </a:rPr>
              <a:t>Verdicts: ESTIMATE / HYPOTHESIS as stated per row.</a:t>
            </a:r>
            <a:endParaRPr lang="en-US" sz="900" dirty="0"/>
          </a:p>
        </p:txBody>
      </p:sp>
      <p:graphicFrame>
        <p:nvGraphicFramePr>
          <p:cNvPr id="27" name="Appendix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017166"/>
                <a:gridCol w="2292235"/>
                <a:gridCol w="3942643"/>
                <a:gridCol w="2842371"/>
              </a:tblGrid>
              <a:tr h="298729">
                <a:tc>
                  <a:txBody>
                    <a:bodyPr/>
                    <a:lstStyle/>
                    <a:p>
                      <a:pPr algn="l" indent="0" marL="0">
                        <a:buNone/>
                      </a:pPr>
                      <a:r>
                        <a:rPr lang="en-US" sz="1100" b="1" dirty="0">
                          <a:solidFill>
                            <a:srgbClr val="FFFFFF"/>
                          </a:solidFill>
                        </a:rPr>
                        <a:t>Hypothesis</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Verdict</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Decisive evidence</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Test that settles it</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640156">
                <a:tc>
                  <a:txBody>
                    <a:bodyPr/>
                    <a:lstStyle/>
                    <a:p>
                      <a:pPr algn="l" indent="0" marL="0">
                        <a:buNone/>
                      </a:pPr>
                      <a:r>
                        <a:rPr lang="en-US" sz="1100" b="1" dirty="0">
                          <a:solidFill>
                            <a:srgbClr val="2B2129"/>
                          </a:solidFill>
                        </a:rPr>
                        <a:t>H1 Tricity caps a single centre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Supported; binds at the plan's fee by Year 3 unless out-of-town share is delivered </a:t>
                      </a:r>
                      <a:pPr algn="l" indent="0" marL="0">
                        <a:buNone/>
                      </a:pPr>
                      <a:r>
                        <a:rPr lang="en-US" sz="900" b="1" dirty="0">
                          <a:solidFill>
                            <a:srgbClr val="7A4B0C"/>
                          </a:solidFill>
                        </a:rPr>
                        <a:t>ESTIMATE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₹3.27 cr; 15–25% ≈ ₹0.5–0.8 cr; ≈20% of the professional tier (reviewer estimate, model line pending)</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CRM city tags, mystery shopping</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69443">
                <a:tc>
                  <a:txBody>
                    <a:bodyPr/>
                    <a:lstStyle/>
                    <a:p>
                      <a:pPr algn="l" indent="0" marL="0">
                        <a:buNone/>
                      </a:pPr>
                      <a:r>
                        <a:rPr lang="en-US" sz="1100" b="1" dirty="0">
                          <a:solidFill>
                            <a:srgbClr val="2B2129"/>
                          </a:solidFill>
                        </a:rPr>
                        <a:t>H2 Chandigarh as destination hub</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Plausible, unproven </a:t>
                      </a:r>
                      <a:pPr algn="l" indent="0" marL="0">
                        <a:buNone/>
                      </a:pPr>
                      <a:r>
                        <a:rPr lang="en-US" sz="900" b="1" dirty="0">
                          <a:solidFill>
                            <a:srgbClr val="3F5873"/>
                          </a:solidFill>
                        </a:rPr>
                        <a:t>HYPOTHESIS</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GER inflow (VERIFIED); no beauty-origin data; PG cost/safety</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≥20% out-of-town QLs; two pop-ups ≥8%; six-student pilot</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640156">
                <a:tc>
                  <a:txBody>
                    <a:bodyPr/>
                    <a:lstStyle/>
                    <a:p>
                      <a:pPr algn="l" indent="0" marL="0">
                        <a:buNone/>
                      </a:pPr>
                      <a:r>
                        <a:rPr lang="en-US" sz="1100" b="1" dirty="0">
                          <a:solidFill>
                            <a:srgbClr val="2B2129"/>
                          </a:solidFill>
                        </a:rPr>
                        <a:t>H3 Founder brand = asset and constraint</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Constraint strongly supported; asset unverified outside the referral circle </a:t>
                      </a:r>
                      <a:pPr algn="l" indent="0" marL="0">
                        <a:buNone/>
                      </a:pPr>
                      <a:r>
                        <a:rPr lang="en-US" sz="900" b="1" dirty="0">
                          <a:solidFill>
                            <a:srgbClr val="7A4B0C"/>
                          </a:solidFill>
                        </a:rPr>
                        <a:t>ESTIMATE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100% of delivery; teaching up to 114 h/month on the planning case, 128 on the G1-at-M6 upside; Mao Geping "founder absent" complaint (CLAIM; 9 campuses in 24 years)</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Team-led conversion ≥75% of founder-led by G1</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69443">
                <a:tc>
                  <a:txBody>
                    <a:bodyPr/>
                    <a:lstStyle/>
                    <a:p>
                      <a:pPr algn="l" indent="0" marL="0">
                        <a:buNone/>
                      </a:pPr>
                      <a:r>
                        <a:rPr lang="en-US" sz="1100" b="1" dirty="0">
                          <a:solidFill>
                            <a:srgbClr val="2B2129"/>
                          </a:solidFill>
                        </a:rPr>
                        <a:t>H4 Hybrid beats pure online on completion and price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Supported on price for hands-on bridal tiers; completion unproven </a:t>
                      </a:r>
                      <a:pPr algn="l" indent="0" marL="0">
                        <a:buNone/>
                      </a:pPr>
                      <a:r>
                        <a:rPr lang="en-US" sz="900" b="1" dirty="0">
                          <a:solidFill>
                            <a:srgbClr val="3F5873"/>
                          </a:solidFill>
                        </a:rPr>
                        <a:t>HYPOTHESIS</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Premium tiers offline; 47% prefer blended (VERIFIED); Airblack's 80% completion claim is live-online (CLAIM)</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Destination pilot completion ≥85%, practical pass within 5 points, price ≥90%</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69443">
                <a:tc>
                  <a:txBody>
                    <a:bodyPr/>
                    <a:lstStyle/>
                    <a:p>
                      <a:pPr algn="l" indent="0" marL="0">
                        <a:buNone/>
                      </a:pPr>
                      <a:r>
                        <a:rPr lang="en-US" sz="1100" b="1" dirty="0">
                          <a:solidFill>
                            <a:srgbClr val="2B2129"/>
                          </a:solidFill>
                        </a:rPr>
                        <a:t>H5 Marketplace is a different business</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Strongly supported </a:t>
                      </a:r>
                      <a:pPr algn="l" indent="0" marL="0">
                        <a:buNone/>
                      </a:pPr>
                      <a:r>
                        <a:rPr lang="en-US" sz="900" b="1" dirty="0">
                          <a:solidFill>
                            <a:srgbClr val="2D6A5B"/>
                          </a:solidFill>
                        </a:rPr>
                        <a:t>VERIFIED</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UC ~10 years; Blow liquidated (VERIFIED); LTV/CAC 0.35</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Not expected to change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69443">
                <a:tc>
                  <a:txBody>
                    <a:bodyPr/>
                    <a:lstStyle/>
                    <a:p>
                      <a:pPr algn="l" indent="0" marL="0">
                        <a:buNone/>
                      </a:pPr>
                      <a:r>
                        <a:rPr lang="en-US" sz="1100" b="1" dirty="0">
                          <a:solidFill>
                            <a:srgbClr val="2B2129"/>
                          </a:solidFill>
                        </a:rPr>
                        <a:t>H6 WhatsApp counselling beats website-first</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Right but incomplete </a:t>
                      </a:r>
                      <a:pPr algn="l" indent="0" marL="0">
                        <a:buNone/>
                      </a:pPr>
                      <a:r>
                        <a:rPr lang="en-US" sz="900" b="1" dirty="0">
                          <a:solidFill>
                            <a:srgbClr val="3F5873"/>
                          </a:solidFill>
                        </a:rPr>
                        <a:t>HYPOTHESIS</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Preference claim is Meta-commissioned (CLAIM); the close is a parent visit or paid taster</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T1, T4</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69443">
                <a:tc>
                  <a:txBody>
                    <a:bodyPr/>
                    <a:lstStyle/>
                    <a:p>
                      <a:pPr algn="l" indent="0" marL="0">
                        <a:buNone/>
                      </a:pPr>
                      <a:r>
                        <a:rPr lang="en-US" sz="1100" b="1" dirty="0">
                          <a:solidFill>
                            <a:srgbClr val="2B2129"/>
                          </a:solidFill>
                        </a:rPr>
                        <a:t>H7 Follow-up discipline beats more spend</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Plausible, untested </a:t>
                      </a:r>
                      <a:pPr algn="l" indent="0" marL="0">
                        <a:buNone/>
                      </a:pPr>
                      <a:r>
                        <a:rPr lang="en-US" sz="900" b="1" dirty="0">
                          <a:solidFill>
                            <a:srgbClr val="3F5873"/>
                          </a:solidFill>
                        </a:rPr>
                        <a:t>HYPOTHESIS</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1.5x media is a model output of A-GRO-24; 5-vs-30-minute study is a 2007 vendor study (CLAIM)</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V7 SLA pilot Jan–Mar 2027; SG2 kept because it costs nothing</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A3 · GATE DEFINITIONS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Every gate is measurable from the CRM, attendance and accounts</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G0 instruments the baseline (Jan 2027); SG1–SG5 govern media month to month; G1 (end-Jul 2027) releases Tranche 2 on eight tests; G2 (Jan–Apr 2028) releases the regional engine.</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§6.2, §7.1–7.2; growth_marketing_strategy.md §9; economics §1A (gate metrics), §1A.6</a:t>
            </a:r>
            <a:pPr algn="l" indent="0" marL="0">
              <a:buNone/>
            </a:pPr>
            <a:r>
              <a:rPr lang="en-US" sz="900" b="1" dirty="0">
                <a:solidFill>
                  <a:srgbClr val="6B5F67"/>
                </a:solidFill>
              </a:rPr>
              <a:t>   Note: </a:t>
            </a:r>
            <a:pPr algn="l" indent="0" marL="0">
              <a:buNone/>
            </a:pPr>
            <a:r>
              <a:rPr lang="en-US" sz="900" dirty="0">
                <a:solidFill>
                  <a:srgbClr val="6B5F67"/>
                </a:solidFill>
              </a:rPr>
              <a:t>Dates 2027–2028. Thresholds: RECOMMENDATION (HYPOTHESIS where numeric). Planning-path cohort sizes and SG4 readings: ESTIMATE.</a:t>
            </a:r>
            <a:endParaRPr lang="en-US" sz="900" dirty="0"/>
          </a:p>
        </p:txBody>
      </p:sp>
      <p:graphicFrame>
        <p:nvGraphicFramePr>
          <p:cNvPr id="28" name="Appendix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916894"/>
                <a:gridCol w="1421185"/>
                <a:gridCol w="5776431"/>
                <a:gridCol w="2979905"/>
              </a:tblGrid>
              <a:tr h="298729">
                <a:tc>
                  <a:txBody>
                    <a:bodyPr/>
                    <a:lstStyle/>
                    <a:p>
                      <a:pPr algn="l" indent="0" marL="0">
                        <a:buNone/>
                      </a:pPr>
                      <a:r>
                        <a:rPr lang="en-US" sz="1100" b="1" dirty="0">
                          <a:solidFill>
                            <a:srgbClr val="FFFFFF"/>
                          </a:solidFill>
                        </a:rPr>
                        <a:t>Gate</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Window</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Thresholds (as adopted at Gate E)</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Unlocks / if missed</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981583">
                <a:tc>
                  <a:txBody>
                    <a:bodyPr/>
                    <a:lstStyle/>
                    <a:p>
                      <a:pPr algn="l" indent="0" marL="0">
                        <a:buNone/>
                      </a:pPr>
                      <a:r>
                        <a:rPr lang="en-US" sz="1100" b="1" dirty="0">
                          <a:solidFill>
                            <a:srgbClr val="2B2129"/>
                          </a:solidFill>
                        </a:rPr>
                        <a:t>G0</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M3, Jan 2027</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Founder data pull and footprint verified; Operations Lead in post; CRM + WhatsApp BSP live, ≥95% of leads source- and city-tagged; median first human reply ≤15 min (≤5 by M6); fee ladder with all-in cost, course pages, refund/EMI policy, GBP published; Lead Trainer hired and shadow-teaching; academy Instagram live; B&amp;WSSC enquiry lodged; CA opinion on GST; consent forms; alumni survey sent</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Unlocks paid tests above ₹15k. If missed: media held at ≤₹15k, no trainer hire, weekly review; KT-1 if unmet by M4</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810870">
                <a:tc>
                  <a:txBody>
                    <a:bodyPr/>
                    <a:lstStyle/>
                    <a:p>
                      <a:pPr algn="l" indent="0" marL="0">
                        <a:buNone/>
                      </a:pPr>
                      <a:r>
                        <a:rPr lang="en-US" sz="1100" b="1" dirty="0">
                          <a:solidFill>
                            <a:srgbClr val="2B2129"/>
                          </a:solidFill>
                        </a:rPr>
                        <a:t>SG1</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Weekly from Dec 2026; four green weeks before scaling</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≥95% source tags, CAPI/offline conversions firing, CRM reconciles with accounts ±5%</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Amber freezes increases; red rolls back</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69443">
                <a:tc>
                  <a:txBody>
                    <a:bodyPr/>
                    <a:lstStyle/>
                    <a:p>
                      <a:pPr algn="l" indent="0" marL="0">
                        <a:buNone/>
                      </a:pPr>
                      <a:r>
                        <a:rPr lang="en-US" sz="1100" b="1" dirty="0">
                          <a:solidFill>
                            <a:srgbClr val="2B2129"/>
                          </a:solidFill>
                        </a:rPr>
                        <a:t>SG2</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Weekly</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Median first reply &lt;5 min, P90 &lt;30 min, ≥90% contacted within 1 h, ≥5 touches in 14 days, lost reasons ≥90%</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Amber freezes increases; red rolls back</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69443">
                <a:tc>
                  <a:txBody>
                    <a:bodyPr/>
                    <a:lstStyle/>
                    <a:p>
                      <a:pPr algn="l" indent="0" marL="0">
                        <a:buNone/>
                      </a:pPr>
                      <a:r>
                        <a:rPr lang="en-US" sz="1100" b="1" dirty="0">
                          <a:solidFill>
                            <a:srgbClr val="2B2129"/>
                          </a:solidFill>
                        </a:rPr>
                        <a:t>SG3</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Weekly</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Next two batches scheduled with seats ≥ forecast, counsellor ≤30 conversations/day, founder hours within budget</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Amber freezes increases; red rolls back</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640156">
                <a:tc>
                  <a:txBody>
                    <a:bodyPr/>
                    <a:lstStyle/>
                    <a:p>
                      <a:pPr algn="l" indent="0" marL="0">
                        <a:buNone/>
                      </a:pPr>
                      <a:r>
                        <a:rPr lang="en-US" sz="1100" b="1" dirty="0">
                          <a:solidFill>
                            <a:srgbClr val="2B2129"/>
                          </a:solidFill>
                        </a:rPr>
                        <a:t>SG4</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Weekly</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Media CAC per paid career enrolment ≤₹9k green, ₹9–12k amber, &gt;₹12k red; fully loaded acquisition ≤40% green, 40–50% amber (founder review, not a pass), &gt;50% red. Planning case: ₹11.7k and 53% in M7–M12, the accepted Year-1 inefficiency</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Amber freezes increases; red rolls back</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69443">
                <a:tc>
                  <a:txBody>
                    <a:bodyPr/>
                    <a:lstStyle/>
                    <a:p>
                      <a:pPr algn="l" indent="0" marL="0">
                        <a:buNone/>
                      </a:pPr>
                      <a:r>
                        <a:rPr lang="en-US" sz="1100" b="1" dirty="0">
                          <a:solidFill>
                            <a:srgbClr val="2B2129"/>
                          </a:solidFill>
                        </a:rPr>
                        <a:t>SG5</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Weekly</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Completion ≥85%, NPS ≥50, ≥30 Google reviews at ≥4.5, outcomes report n≥30, refunds/drops &lt;10%</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Amber freezes increases; red rolls back</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A3 · GATE DEFINITIONS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Every gate is measurable from the CRM, attendance and accounts, continued (2 of 2)</a:t>
            </a:r>
            <a:endParaRPr lang="en-US" sz="2800" dirty="0"/>
          </a:p>
        </p:txBody>
      </p:sp>
      <p:sp>
        <p:nvSpPr>
          <p:cNvPr id="4"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§6.2, §7.1–7.2; growth_marketing_strategy.md §9; economics §1A (gate metrics), §1A.6</a:t>
            </a:r>
            <a:pPr algn="l" indent="0" marL="0">
              <a:buNone/>
            </a:pPr>
            <a:r>
              <a:rPr lang="en-US" sz="900" b="1" dirty="0">
                <a:solidFill>
                  <a:srgbClr val="6B5F67"/>
                </a:solidFill>
              </a:rPr>
              <a:t>   Note: </a:t>
            </a:r>
            <a:pPr algn="l" indent="0" marL="0">
              <a:buNone/>
            </a:pPr>
            <a:r>
              <a:rPr lang="en-US" sz="900" dirty="0">
                <a:solidFill>
                  <a:srgbClr val="6B5F67"/>
                </a:solidFill>
              </a:rPr>
              <a:t>Dates 2027–2028. Thresholds: RECOMMENDATION (HYPOTHESIS where numeric). Planning-path cohort sizes and SG4 readings: ESTIMATE.</a:t>
            </a:r>
            <a:endParaRPr lang="en-US" sz="900" dirty="0"/>
          </a:p>
        </p:txBody>
      </p:sp>
      <p:graphicFrame>
        <p:nvGraphicFramePr>
          <p:cNvPr id="29" name="Appendix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916894"/>
                <a:gridCol w="1421185"/>
                <a:gridCol w="5776431"/>
                <a:gridCol w="2979905"/>
              </a:tblGrid>
              <a:tr h="298729">
                <a:tc>
                  <a:txBody>
                    <a:bodyPr/>
                    <a:lstStyle/>
                    <a:p>
                      <a:pPr algn="l" indent="0" marL="0">
                        <a:buNone/>
                      </a:pPr>
                      <a:r>
                        <a:rPr lang="en-US" sz="1100" b="1" dirty="0">
                          <a:solidFill>
                            <a:srgbClr val="FFFFFF"/>
                          </a:solidFill>
                        </a:rPr>
                        <a:t>Gate</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Window</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Thresholds (as adopted at Gate E)</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Unlocks / if missed</a:t>
                      </a:r>
                      <a:endParaRPr lang="en-US" sz="110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640156">
                <a:tc>
                  <a:txBody>
                    <a:bodyPr/>
                    <a:lstStyle/>
                    <a:p>
                      <a:pPr algn="l" indent="0" marL="0">
                        <a:buNone/>
                      </a:pPr>
                      <a:r>
                        <a:rPr lang="en-US" sz="1100" b="1" dirty="0">
                          <a:solidFill>
                            <a:srgbClr val="2B2129"/>
                          </a:solidFill>
                        </a:rPr>
                        <a:t>G1 (1)</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Last week of Jul 2027, on May–July actuals</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Two consecutive L3 cohorts starting at ≥6 of 8 studio stations (adopted 8-weekly calendar: 26 Apr ≈8.7, 21 Jun ≈9.4; first passable with the 21 Jun cohort, M8); ≥9 of 12 after the move (16 Aug ≈9.1, 11 Oct ≈10.1)</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Unlocks Tranche 2. If missed: stay in the studio on T1's cost base, re-review M12, then KT-10b</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810870">
                <a:tc>
                  <a:txBody>
                    <a:bodyPr/>
                    <a:lstStyle/>
                    <a:p>
                      <a:pPr algn="l" indent="0" marL="0">
                        <a:buNone/>
                      </a:pPr>
                      <a:r>
                        <a:rPr lang="en-US" sz="1100" b="1" dirty="0">
                          <a:solidFill>
                            <a:srgbClr val="2B2129"/>
                          </a:solidFill>
                        </a:rPr>
                        <a:t>G1 (2)–(4)</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as above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(2) Completion ≥85%, NPS ≥50, ≥40% of completers review on cohorts 1–2. (3) Pooled trainer-led cohorts within 0.3/5 of founder-led; team-led conversion ≥75% of founder-led. (4) SG1–SG3 green 4 weeks; SG4 ≤₹12k with ≥12 cumulative paid enrolments; paid-social lead→enrolment ≥4%</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All eight tests must hold</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640156">
                <a:tc>
                  <a:txBody>
                    <a:bodyPr/>
                    <a:lstStyle/>
                    <a:p>
                      <a:pPr algn="l" indent="0" marL="0">
                        <a:buNone/>
                      </a:pPr>
                      <a:r>
                        <a:rPr lang="en-US" sz="1100" b="1" dirty="0">
                          <a:solidFill>
                            <a:srgbClr val="2B2129"/>
                          </a:solidFill>
                        </a:rPr>
                        <a:t>G1 (5)–(8)</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as above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(5) Outcomes Report n≥30 with "% paid booking ≤90 days"; ≥30 reviews at ≥4.5. (6) Founder ≤50% of hours. (7) Cumulative cash ≤₹15L. (8) No lease before this reading; ≤3 months' notice, fire NOC, shop-and-establishment clearance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All eight tests must hold</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69443">
                <a:tc>
                  <a:txBody>
                    <a:bodyPr/>
                    <a:lstStyle/>
                    <a:p>
                      <a:pPr algn="l" indent="0" marL="0">
                        <a:buNone/>
                      </a:pPr>
                      <a:r>
                        <a:rPr lang="en-US" sz="1100" b="1" dirty="0">
                          <a:solidFill>
                            <a:srgbClr val="7A4B0C"/>
                          </a:solidFill>
                        </a:rPr>
                        <a:t>G1 disclosure</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7A4B0C"/>
                          </a:solidFill>
                        </a:rPr>
                        <a:t>Test (1) is a lower bar than the original ≥75%-of-12 test, which no run meets in Year 1, and the 8-weekly calendar's effect on revenue timing and trainer hours is not yet modelled</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Disclosed (R-7)</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981583">
                <a:tc>
                  <a:txBody>
                    <a:bodyPr/>
                    <a:lstStyle/>
                    <a:p>
                      <a:pPr algn="l" indent="0" marL="0">
                        <a:buNone/>
                      </a:pPr>
                      <a:r>
                        <a:rPr lang="en-US" sz="1100" b="1" dirty="0">
                          <a:solidFill>
                            <a:srgbClr val="2B2129"/>
                          </a:solidFill>
                        </a:rPr>
                        <a:t>G2</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M15–M18 (Jan–Apr 2028)</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Utilisation ≥75% for two quarters; out-of-town ≥20% of QLs and ≥15% of enrolments before regional spend; two pop-ups ≥25 paid attendees and ≥8% attendee→enrolment in 60 days, tickets ≥70% of cost; Destination pilot completion ≥85%, practical pass within 5 points, price ≥90% of Weekday; accommodation partners signed, zero serious incidents; trainer bench ≥3; founder ≤30%; flagship EBITDA-positive two quarters; SG4 ≤40%</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Unlocks Tranche 3 and price step 2 (only if step-1 conversion held within −15%)</a:t>
                      </a:r>
                      <a:endParaRPr lang="en-US" sz="110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A4 · KILL AND PIVOT TRIGGERS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Thirteen triggers say in advance what stops, when, and what it costs</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The money rules (KT-1a, KT-10, KT-11) protect the ₹35L ceiling; the quality rules (KT-2, KT-3, KT-5, KT-7) protect the brand; KT-12/13 cover trainer loss and founder incapacity.</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§7.3; economics §1A.2</a:t>
            </a:r>
            <a:pPr algn="l" indent="0" marL="0">
              <a:buNone/>
            </a:pPr>
            <a:r>
              <a:rPr lang="en-US" sz="900" b="1" dirty="0">
                <a:solidFill>
                  <a:srgbClr val="6B5F67"/>
                </a:solidFill>
              </a:rPr>
              <a:t>   Note: </a:t>
            </a:r>
            <a:pPr algn="l" indent="0" marL="0">
              <a:buNone/>
            </a:pPr>
            <a:r>
              <a:rPr lang="en-US" sz="900" dirty="0">
                <a:solidFill>
                  <a:srgbClr val="6B5F67"/>
                </a:solidFill>
              </a:rPr>
              <a:t>₹ lakh, cash by Oct 2027. Triggers: RECOMMENDATION (thresholds HYPOTHESIS); rupee consequences: ESTIMATE (Staged_Cons_CutM5_Deep, _CutM5, _CutM10, Staged_Cons, Staged_FalsePos, Plan10L_BaseRates). Tinted: money rules.</a:t>
            </a:r>
            <a:endParaRPr lang="en-US" sz="900" dirty="0"/>
          </a:p>
        </p:txBody>
      </p:sp>
      <p:graphicFrame>
        <p:nvGraphicFramePr>
          <p:cNvPr id="30" name="Appendix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916894"/>
                <a:gridCol w="4217712"/>
                <a:gridCol w="5959810"/>
              </a:tblGrid>
              <a:tr h="306489">
                <a:tc>
                  <a:txBody>
                    <a:bodyPr/>
                    <a:lstStyle/>
                    <a:p>
                      <a:pPr algn="l" indent="0" marL="0">
                        <a:buNone/>
                      </a:pPr>
                      <a:r>
                        <a:rPr lang="en-US" sz="1150" b="1" dirty="0">
                          <a:solidFill>
                            <a:srgbClr val="FFFFFF"/>
                          </a:solidFill>
                        </a:rPr>
                        <a:t>Trigger</a:t>
                      </a:r>
                      <a:endParaRPr lang="en-US" sz="115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Condition</a:t>
                      </a:r>
                      <a:endParaRPr lang="en-US" sz="115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Action and consequence</a:t>
                      </a:r>
                      <a:endParaRPr lang="en-US" sz="115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306489">
                <a:tc>
                  <a:txBody>
                    <a:bodyPr/>
                    <a:lstStyle/>
                    <a:p>
                      <a:pPr algn="l" indent="0" marL="0">
                        <a:buNone/>
                      </a:pPr>
                      <a:r>
                        <a:rPr lang="en-US" sz="1150" b="1" dirty="0">
                          <a:solidFill>
                            <a:srgbClr val="2B2129"/>
                          </a:solidFill>
                        </a:rPr>
                        <a:t>KT-1</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G0 unmet by Feb 2027</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No media above ₹15k, no trainer hire</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841908">
                <a:tc>
                  <a:txBody>
                    <a:bodyPr/>
                    <a:lstStyle/>
                    <a:p>
                      <a:pPr algn="l" indent="0" marL="0">
                        <a:buNone/>
                      </a:pPr>
                      <a:r>
                        <a:rPr lang="en-US" sz="1150" b="1" dirty="0">
                          <a:solidFill>
                            <a:srgbClr val="2B2129"/>
                          </a:solidFill>
                        </a:rPr>
                        <a:t>KT-1a</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dirty="0">
                          <a:solidFill>
                            <a:srgbClr val="2B2129"/>
                          </a:solidFill>
                        </a:rPr>
                        <a:t>March 2027 review: cash ≥₹15L, or paid CAC &gt;₹12k after minimum learning spend, or 1 Mar cohort &lt;4</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b="1" dirty="0">
                          <a:solidFill>
                            <a:srgbClr val="2B2129"/>
                          </a:solidFill>
                        </a:rPr>
                        <a:t>Mandatory deep cut to the stop-loss state (paid media paused, content team and freelancers released, Lead Trainer 0.5 FTE, founder-led delivery, Operations Lead kept): modelled ₹25.4L by Oct 2027 vs ₹28.7L shallow / ₹33.9L at M10 / ₹36.2L no cut; team notice ≈₹1.2L</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r>
              <a:tr h="484962">
                <a:tc>
                  <a:txBody>
                    <a:bodyPr/>
                    <a:lstStyle/>
                    <a:p>
                      <a:pPr algn="l" indent="0" marL="0">
                        <a:buNone/>
                      </a:pPr>
                      <a:r>
                        <a:rPr lang="en-US" sz="1150" b="1" dirty="0">
                          <a:solidFill>
                            <a:srgbClr val="2B2129"/>
                          </a:solidFill>
                        </a:rPr>
                        <a:t>KT-2</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From the 26 Apr cohort, two consecutive cohorts &lt;5 students (cohorts 1–2 exempt)</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Freeze fixed costs, review price and response speed</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84962">
                <a:tc>
                  <a:txBody>
                    <a:bodyPr/>
                    <a:lstStyle/>
                    <a:p>
                      <a:pPr algn="l" indent="0" marL="0">
                        <a:buNone/>
                      </a:pPr>
                      <a:r>
                        <a:rPr lang="en-US" sz="1150" b="1" dirty="0">
                          <a:solidFill>
                            <a:srgbClr val="2B2129"/>
                          </a:solidFill>
                        </a:rPr>
                        <a:t>KT-3</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After the first two trainer-led cohorts, NPS &gt;15 points below founder-led or team conversion &lt;60%</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Hold founder share ≤50%; the move waits one intake</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84962">
                <a:tc>
                  <a:txBody>
                    <a:bodyPr/>
                    <a:lstStyle/>
                    <a:p>
                      <a:pPr algn="l" indent="0" marL="0">
                        <a:buNone/>
                      </a:pPr>
                      <a:r>
                        <a:rPr lang="en-US" sz="1150" b="1" dirty="0">
                          <a:solidFill>
                            <a:srgbClr val="2B2129"/>
                          </a:solidFill>
                        </a:rPr>
                        <a:t>KT-4</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Cost per QL &gt;2x target or zero QLs after ₹5,000; CAC payback &gt;6 months for two quarters</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Kill the cell; cut the channel</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306489">
                <a:tc>
                  <a:txBody>
                    <a:bodyPr/>
                    <a:lstStyle/>
                    <a:p>
                      <a:pPr algn="l" indent="0" marL="0">
                        <a:buNone/>
                      </a:pPr>
                      <a:r>
                        <a:rPr lang="en-US" sz="1150" b="1" dirty="0">
                          <a:solidFill>
                            <a:srgbClr val="2B2129"/>
                          </a:solidFill>
                        </a:rPr>
                        <a:t>KT-5</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QL rate or counselled→applied falls &gt;20% after a price step</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Revert for one intake; step 2 not taken if step-1 loss settles above 15%</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484962">
                <a:tc>
                  <a:txBody>
                    <a:bodyPr/>
                    <a:lstStyle/>
                    <a:p>
                      <a:pPr algn="l" indent="0" marL="0">
                        <a:buNone/>
                      </a:pPr>
                      <a:r>
                        <a:rPr lang="en-US" sz="1150" b="1" dirty="0">
                          <a:solidFill>
                            <a:srgbClr val="2B2129"/>
                          </a:solidFill>
                        </a:rPr>
                        <a:t>KT-6</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Pop-up city &lt;15 paid attendees twice or &lt;3% conversion after 3 events</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Drop or rotate the city</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A4 · KILL AND PIVOT TRIGGERS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Thirteen triggers say in advance what stops, when, and what it costs, continued (2 of 2)</a:t>
            </a:r>
            <a:endParaRPr lang="en-US" sz="2800" dirty="0"/>
          </a:p>
        </p:txBody>
      </p:sp>
      <p:sp>
        <p:nvSpPr>
          <p:cNvPr id="4"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recommended_strategy.md §7.3; economics §1A.2</a:t>
            </a:r>
            <a:pPr algn="l" indent="0" marL="0">
              <a:buNone/>
            </a:pPr>
            <a:r>
              <a:rPr lang="en-US" sz="900" b="1" dirty="0">
                <a:solidFill>
                  <a:srgbClr val="6B5F67"/>
                </a:solidFill>
              </a:rPr>
              <a:t>   Note: </a:t>
            </a:r>
            <a:pPr algn="l" indent="0" marL="0">
              <a:buNone/>
            </a:pPr>
            <a:r>
              <a:rPr lang="en-US" sz="900" dirty="0">
                <a:solidFill>
                  <a:srgbClr val="6B5F67"/>
                </a:solidFill>
              </a:rPr>
              <a:t>₹ lakh, cash by Oct 2027. Triggers: RECOMMENDATION (thresholds HYPOTHESIS); rupee consequences: ESTIMATE (Staged_Cons_CutM5_Deep, _CutM5, _CutM10, Staged_Cons, Staged_FalsePos, Plan10L_BaseRates). Tinted: money rules.</a:t>
            </a:r>
            <a:endParaRPr lang="en-US" sz="900" dirty="0"/>
          </a:p>
        </p:txBody>
      </p:sp>
      <p:graphicFrame>
        <p:nvGraphicFramePr>
          <p:cNvPr id="31" name="Appendix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916894"/>
                <a:gridCol w="4217712"/>
                <a:gridCol w="5959810"/>
              </a:tblGrid>
              <a:tr h="306489">
                <a:tc>
                  <a:txBody>
                    <a:bodyPr/>
                    <a:lstStyle/>
                    <a:p>
                      <a:pPr algn="l" indent="0" marL="0">
                        <a:buNone/>
                      </a:pPr>
                      <a:r>
                        <a:rPr lang="en-US" sz="1150" b="1" dirty="0">
                          <a:solidFill>
                            <a:srgbClr val="FFFFFF"/>
                          </a:solidFill>
                        </a:rPr>
                        <a:t>Trigger</a:t>
                      </a:r>
                      <a:endParaRPr lang="en-US" sz="115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Condition</a:t>
                      </a:r>
                      <a:endParaRPr lang="en-US" sz="115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Action and consequence</a:t>
                      </a:r>
                      <a:endParaRPr lang="en-US" sz="1150" dirty="0"/>
                    </a:p>
                  </a:txBody>
                  <a:tcPr marL="91440" marR="91440"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484962">
                <a:tc>
                  <a:txBody>
                    <a:bodyPr/>
                    <a:lstStyle/>
                    <a:p>
                      <a:pPr algn="l" indent="0" marL="0">
                        <a:buNone/>
                      </a:pPr>
                      <a:r>
                        <a:rPr lang="en-US" sz="1150" b="1" dirty="0">
                          <a:solidFill>
                            <a:srgbClr val="2B2129"/>
                          </a:solidFill>
                        </a:rPr>
                        <a:t>KT-7</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Destination pre-work completion &lt;70% or practical pass &gt;10 points below</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Revert the segment to Weekday</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306489">
                <a:tc>
                  <a:txBody>
                    <a:bodyPr/>
                    <a:lstStyle/>
                    <a:p>
                      <a:pPr algn="l" indent="0" marL="0">
                        <a:buNone/>
                      </a:pPr>
                      <a:r>
                        <a:rPr lang="en-US" sz="1150" b="1" dirty="0">
                          <a:solidFill>
                            <a:srgbClr val="2B2129"/>
                          </a:solidFill>
                        </a:rPr>
                        <a:t>KT-8</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Any serious safety incident</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Suspend the partner; independent review</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306489">
                <a:tc>
                  <a:txBody>
                    <a:bodyPr/>
                    <a:lstStyle/>
                    <a:p>
                      <a:pPr algn="l" indent="0" marL="0">
                        <a:buNone/>
                      </a:pPr>
                      <a:r>
                        <a:rPr lang="en-US" sz="1150" b="1" dirty="0">
                          <a:solidFill>
                            <a:srgbClr val="2B2129"/>
                          </a:solidFill>
                        </a:rPr>
                        <a:t>KT-9</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Partner site &lt;60% fill for 2 cohorts</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Exit</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663435">
                <a:tc>
                  <a:txBody>
                    <a:bodyPr/>
                    <a:lstStyle/>
                    <a:p>
                      <a:pPr algn="l" indent="0" marL="0">
                        <a:buNone/>
                      </a:pPr>
                      <a:r>
                        <a:rPr lang="en-US" sz="1150" b="1" dirty="0">
                          <a:solidFill>
                            <a:srgbClr val="2B2129"/>
                          </a:solidFill>
                        </a:rPr>
                        <a:t>KT-10</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dirty="0">
                          <a:solidFill>
                            <a:srgbClr val="2B2129"/>
                          </a:solidFill>
                        </a:rPr>
                        <a:t>After the move: contribution &lt;60% of plan for two months, or both first post-move intakes (16 Aug, 11 Oct) start below 60% of planned fill (≈5.5 and ≈6.1 students)</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b="1" dirty="0">
                          <a:solidFill>
                            <a:srgbClr val="2B2129"/>
                          </a:solidFill>
                        </a:rPr>
                        <a:t>Give lease notice (₹3.1L), release T2 hires (₹1.8L), revert to the studio; ₹11.6L sunk, ₹3.1L deposit recoverable, cash floor ≈₹32–33L</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r>
              <a:tr h="306489">
                <a:tc>
                  <a:txBody>
                    <a:bodyPr/>
                    <a:lstStyle/>
                    <a:p>
                      <a:pPr algn="l" indent="0" marL="0">
                        <a:buNone/>
                      </a:pPr>
                      <a:r>
                        <a:rPr lang="en-US" sz="1150" b="1" dirty="0">
                          <a:solidFill>
                            <a:srgbClr val="2B2129"/>
                          </a:solidFill>
                        </a:rPr>
                        <a:t>KT-10b</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G1 still red at M12, no lease</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Boutique path (~52 career students, +₹10.8L EBITDA at Base rates)</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84962">
                <a:tc>
                  <a:txBody>
                    <a:bodyPr/>
                    <a:lstStyle/>
                    <a:p>
                      <a:pPr algn="l" indent="0" marL="0">
                        <a:buNone/>
                      </a:pPr>
                      <a:r>
                        <a:rPr lang="en-US" sz="1150" b="1" dirty="0">
                          <a:solidFill>
                            <a:srgbClr val="2B2129"/>
                          </a:solidFill>
                        </a:rPr>
                        <a:t>KT-11</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dirty="0">
                          <a:solidFill>
                            <a:srgbClr val="2B2129"/>
                          </a:solidFill>
                        </a:rPr>
                        <a:t>Actual cumulative cash reaches ₹28L</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b="1" dirty="0">
                          <a:solidFill>
                            <a:srgbClr val="2B2129"/>
                          </a:solidFill>
                        </a:rPr>
                        <a:t>Freeze discretionary spend (≈₹1.2L/month); a warning, not protection (committed spend after the move ≈₹4L/month)</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r>
              <a:tr h="306489">
                <a:tc>
                  <a:txBody>
                    <a:bodyPr/>
                    <a:lstStyle/>
                    <a:p>
                      <a:pPr algn="l" indent="0" marL="0">
                        <a:buNone/>
                      </a:pPr>
                      <a:r>
                        <a:rPr lang="en-US" sz="1150" b="1" dirty="0">
                          <a:solidFill>
                            <a:srgbClr val="2B2129"/>
                          </a:solidFill>
                        </a:rPr>
                        <a:t>KT-12</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Lead Trainer notice or two missed co-teaching weeks</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Retainer trainer within two weeks; founder share may rise to ≤60% for one cohort</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306489">
                <a:tc>
                  <a:txBody>
                    <a:bodyPr/>
                    <a:lstStyle/>
                    <a:p>
                      <a:pPr algn="l" indent="0" marL="0">
                        <a:buNone/>
                      </a:pPr>
                      <a:r>
                        <a:rPr lang="en-US" sz="1150" b="1" dirty="0">
                          <a:solidFill>
                            <a:srgbClr val="2B2129"/>
                          </a:solidFill>
                        </a:rPr>
                        <a:t>KT-13</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Founder incapacity ≥4 weeks</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Trainers carry cohorts, theory from recordings, no new intake until return</a:t>
                      </a:r>
                      <a:endParaRPr lang="en-US" sz="1150" dirty="0"/>
                    </a:p>
                  </a:txBody>
                  <a:tcPr marL="91440" marR="91440"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A5 · SENSITIVITIES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Fees, conversion and GST move Year-1 EBITDA by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20L,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13L and </a:t>
            </a:r>
            <a:pPr algn="l" indent="0" marL="0">
              <a:buNone/>
            </a:pPr>
            <a:r>
              <a:rPr lang="en-US" sz="2800" dirty="0">
                <a:solidFill>
                  <a:schemeClr val="tx2"/>
                </a:solidFill>
                <a:latin typeface="+mn-lt" pitchFamily="34" charset="0"/>
                <a:ea typeface="+mn-lt" pitchFamily="34" charset="-122"/>
                <a:cs typeface="+mn-lt" pitchFamily="34" charset="-120"/>
              </a:rPr>
              <a:t>₹</a:t>
            </a:r>
            <a:pPr algn="l" indent="0" marL="0">
              <a:buNone/>
            </a:pPr>
            <a:r>
              <a:rPr lang="en-US" sz="2800" dirty="0">
                <a:solidFill>
                  <a:schemeClr val="tx2"/>
                </a:solidFill>
                <a:latin typeface="+mj-lt" pitchFamily="34" charset="0"/>
                <a:ea typeface="+mj-lt" pitchFamily="34" charset="-122"/>
                <a:cs typeface="+mj-lt" pitchFamily="34" charset="-120"/>
              </a:rPr>
              <a:t>11L</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The tornado is run on the recommended plan, not the unstaged Base; any single adverse driver at the tested magnitude breaches the ₹30L planned line but stays inside ₹35L.</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§1A.5, §1A.3, §1B row 24 (superseded tornado)</a:t>
            </a:r>
            <a:pPr algn="l" indent="0" marL="0">
              <a:buNone/>
            </a:pPr>
            <a:r>
              <a:rPr lang="en-US" sz="900" b="1" dirty="0">
                <a:solidFill>
                  <a:srgbClr val="6B5F67"/>
                </a:solidFill>
              </a:rPr>
              <a:t>   Note: </a:t>
            </a:r>
            <a:pPr algn="l" indent="0" marL="0">
              <a:buNone/>
            </a:pPr>
            <a:r>
              <a:rPr lang="en-US" sz="900" dirty="0">
                <a:solidFill>
                  <a:srgbClr val="6B5F67"/>
                </a:solidFill>
              </a:rPr>
              <a:t>₹ lakh, Year 1 Nov 2026–Oct 2027, planning case. All values: ESTIMATE (Flex_* re-runs on Staged_G1M9; Sensitivity groups 6–8).</a:t>
            </a:r>
            <a:endParaRPr lang="en-US" sz="900" dirty="0"/>
          </a:p>
        </p:txBody>
      </p:sp>
      <p:sp>
        <p:nvSpPr>
          <p:cNvPr id="7" name="Chart card"/>
          <p:cNvSpPr/>
          <p:nvPr/>
        </p:nvSpPr>
        <p:spPr>
          <a:xfrm>
            <a:off x="548640" y="1920240"/>
            <a:ext cx="6949440" cy="4224528"/>
          </a:xfrm>
          <a:prstGeom prst="roundRect">
            <a:avLst>
              <a:gd name="adj" fmla="val 1732"/>
            </a:avLst>
          </a:prstGeom>
          <a:solidFill>
            <a:schemeClr val="bg1"/>
          </a:solidFill>
          <a:ln w="9525">
            <a:solidFill>
              <a:srgbClr val="E4DAD5"/>
            </a:solidFill>
            <a:prstDash val="solid"/>
          </a:ln>
        </p:spPr>
      </p:sp>
      <p:sp>
        <p:nvSpPr>
          <p:cNvPr id="8" name="Badge ESTIMATE"/>
          <p:cNvSpPr txBox="1"/>
          <p:nvPr/>
        </p:nvSpPr>
        <p:spPr>
          <a:xfrm>
            <a:off x="6554395" y="20848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Chart title"/>
          <p:cNvSpPr txBox="1"/>
          <p:nvPr/>
        </p:nvSpPr>
        <p:spPr>
          <a:xfrm>
            <a:off x="713232" y="2084832"/>
            <a:ext cx="5731435" cy="212281"/>
          </a:xfrm>
          <a:prstGeom prst="rect">
            <a:avLst/>
          </a:prstGeom>
          <a:noFill/>
          <a:ln/>
        </p:spPr>
        <p:txBody>
          <a:bodyPr wrap="square" lIns="0" tIns="0" rIns="0" bIns="0" rtlCol="0" anchor="t"/>
          <a:lstStyle/>
          <a:p>
            <a:pPr algn="l" indent="0" marL="0">
              <a:buNone/>
            </a:pPr>
            <a:r>
              <a:rPr lang="en-US" sz="1250" b="1" dirty="0">
                <a:solidFill>
                  <a:schemeClr val="tx1"/>
                </a:solidFill>
              </a:rPr>
              <a:t>Swing in Year-1 EBITDA, planning case, ₹ lakh (adverse peak cash)</a:t>
            </a:r>
            <a:endParaRPr lang="en-US" sz="1250" dirty="0"/>
          </a:p>
        </p:txBody>
      </p:sp>
      <p:graphicFrame>
        <p:nvGraphicFramePr>
          <p:cNvPr id="10" name="Tornado chart" descr="Tornado chart"/>
          <p:cNvGraphicFramePr/>
          <p:nvPr/>
        </p:nvGraphicFramePr>
        <p:xfrm>
          <a:off x="630936" y="2368296"/>
          <a:ext cx="6784848" cy="3694176"/>
        </p:xfrm>
        <a:graphic xmlns:a="http://schemas.openxmlformats.org/drawingml/2006/main">
          <a:graphicData uri="http://schemas.openxmlformats.org/drawingml/2006/chart">
            <c:chart xmlns:c="http://schemas.openxmlformats.org/drawingml/2006/chart" r:id="rId1"/>
          </a:graphicData>
        </a:graphic>
      </p:graphicFrame>
      <p:sp>
        <p:nvSpPr>
          <p:cNvPr id="11" name="Stress card"/>
          <p:cNvSpPr/>
          <p:nvPr/>
        </p:nvSpPr>
        <p:spPr>
          <a:xfrm>
            <a:off x="7772400" y="1920240"/>
            <a:ext cx="3870655" cy="3355848"/>
          </a:xfrm>
          <a:prstGeom prst="roundRect">
            <a:avLst>
              <a:gd name="adj" fmla="val 2180"/>
            </a:avLst>
          </a:prstGeom>
          <a:solidFill>
            <a:srgbClr val="F2EAF0"/>
          </a:solidFill>
          <a:ln/>
        </p:spPr>
      </p:sp>
      <p:sp>
        <p:nvSpPr>
          <p:cNvPr id="12" name="Label"/>
          <p:cNvSpPr txBox="1"/>
          <p:nvPr/>
        </p:nvSpPr>
        <p:spPr>
          <a:xfrm>
            <a:off x="7955280" y="2029968"/>
            <a:ext cx="3504895" cy="219456"/>
          </a:xfrm>
          <a:prstGeom prst="rect">
            <a:avLst/>
          </a:prstGeom>
          <a:noFill/>
          <a:ln/>
        </p:spPr>
        <p:txBody>
          <a:bodyPr wrap="square" lIns="0" tIns="0" rIns="0" bIns="0" rtlCol="0" anchor="ctr"/>
          <a:lstStyle/>
          <a:p>
            <a:pPr algn="l" indent="0" marL="0">
              <a:buNone/>
            </a:pPr>
            <a:r>
              <a:rPr lang="en-US" sz="1050" b="1" dirty="0">
                <a:solidFill>
                  <a:srgbClr val="A4513F"/>
                </a:solidFill>
              </a:rPr>
              <a:t>NAMED STRESSES, ONE-SIDED</a:t>
            </a:r>
            <a:endParaRPr lang="en-US" sz="1050" dirty="0"/>
          </a:p>
        </p:txBody>
      </p:sp>
      <p:sp>
        <p:nvSpPr>
          <p:cNvPr id="13" name="Stress text"/>
          <p:cNvSpPr txBox="1"/>
          <p:nvPr/>
        </p:nvSpPr>
        <p:spPr>
          <a:xfrm>
            <a:off x="7955280" y="2331720"/>
            <a:ext cx="3504895" cy="497434"/>
          </a:xfrm>
          <a:prstGeom prst="rect">
            <a:avLst/>
          </a:prstGeom>
          <a:noFill/>
          <a:ln/>
        </p:spPr>
        <p:txBody>
          <a:bodyPr wrap="square" lIns="0" tIns="0" rIns="0" bIns="0" rtlCol="0" anchor="t"/>
          <a:lstStyle/>
          <a:p>
            <a:pPr algn="l" indent="0" marL="0">
              <a:spcAft>
                <a:spcPts val="100"/>
              </a:spcAft>
              <a:buNone/>
            </a:pPr>
            <a:r>
              <a:rPr lang="en-US" sz="1150" b="1" dirty="0">
                <a:solidFill>
                  <a:schemeClr val="tx2"/>
                </a:solidFill>
              </a:rPr>
              <a:t>Masterclass volume at half</a:t>
            </a:r>
            <a:endParaRPr lang="en-US" sz="1150" dirty="0"/>
          </a:p>
          <a:p>
            <a:pPr algn="l" indent="0" marL="0">
              <a:buNone/>
            </a:pPr>
            <a:r>
              <a:rPr lang="en-US" sz="1150" dirty="0">
                <a:solidFill>
                  <a:schemeClr val="tx1"/>
                </a:solidFill>
              </a:rPr>
              <a:t>−₹5.9L EBITDA, +₹4.2L peak cash</a:t>
            </a:r>
            <a:endParaRPr lang="en-US" sz="1150" dirty="0"/>
          </a:p>
        </p:txBody>
      </p:sp>
      <p:sp>
        <p:nvSpPr>
          <p:cNvPr id="14" name="Stress rule"/>
          <p:cNvSpPr/>
          <p:nvPr/>
        </p:nvSpPr>
        <p:spPr>
          <a:xfrm>
            <a:off x="7955280" y="2865730"/>
            <a:ext cx="3504895" cy="0"/>
          </a:xfrm>
          <a:prstGeom prst="line">
            <a:avLst/>
          </a:prstGeom>
          <a:noFill/>
          <a:ln w="9525">
            <a:solidFill>
              <a:srgbClr val="E4DAD5"/>
            </a:solidFill>
            <a:prstDash val="solid"/>
          </a:ln>
        </p:spPr>
      </p:sp>
      <p:sp>
        <p:nvSpPr>
          <p:cNvPr id="15" name="Stress text 2"/>
          <p:cNvSpPr txBox="1"/>
          <p:nvPr/>
        </p:nvSpPr>
        <p:spPr>
          <a:xfrm>
            <a:off x="7955280" y="2902306"/>
            <a:ext cx="3504895" cy="497434"/>
          </a:xfrm>
          <a:prstGeom prst="rect">
            <a:avLst/>
          </a:prstGeom>
          <a:noFill/>
          <a:ln/>
        </p:spPr>
        <p:txBody>
          <a:bodyPr wrap="square" lIns="0" tIns="0" rIns="0" bIns="0" rtlCol="0" anchor="t"/>
          <a:lstStyle/>
          <a:p>
            <a:pPr algn="l" indent="0" marL="0">
              <a:spcAft>
                <a:spcPts val="100"/>
              </a:spcAft>
              <a:buNone/>
            </a:pPr>
            <a:r>
              <a:rPr lang="en-US" sz="1150" b="1" dirty="0">
                <a:solidFill>
                  <a:schemeClr val="tx2"/>
                </a:solidFill>
              </a:rPr>
              <a:t>Non-paid engine flat at today's rate</a:t>
            </a:r>
            <a:endParaRPr lang="en-US" sz="1150" dirty="0"/>
          </a:p>
          <a:p>
            <a:pPr algn="l" indent="0" marL="0">
              <a:buNone/>
            </a:pPr>
            <a:r>
              <a:rPr lang="en-US" sz="1150" dirty="0">
                <a:solidFill>
                  <a:schemeClr val="tx1"/>
                </a:solidFill>
              </a:rPr>
              <a:t>−₹2.5L, −6.9 enrolments</a:t>
            </a:r>
            <a:endParaRPr lang="en-US" sz="1150" dirty="0"/>
          </a:p>
        </p:txBody>
      </p:sp>
      <p:sp>
        <p:nvSpPr>
          <p:cNvPr id="16" name="Stress rule 2"/>
          <p:cNvSpPr/>
          <p:nvPr/>
        </p:nvSpPr>
        <p:spPr>
          <a:xfrm>
            <a:off x="7955280" y="3436315"/>
            <a:ext cx="3504895" cy="0"/>
          </a:xfrm>
          <a:prstGeom prst="line">
            <a:avLst/>
          </a:prstGeom>
          <a:noFill/>
          <a:ln w="9525">
            <a:solidFill>
              <a:srgbClr val="E4DAD5"/>
            </a:solidFill>
            <a:prstDash val="solid"/>
          </a:ln>
        </p:spPr>
      </p:sp>
      <p:sp>
        <p:nvSpPr>
          <p:cNvPr id="17" name="Stress text 3"/>
          <p:cNvSpPr txBox="1"/>
          <p:nvPr/>
        </p:nvSpPr>
        <p:spPr>
          <a:xfrm>
            <a:off x="7955280" y="3472891"/>
            <a:ext cx="3504895" cy="497434"/>
          </a:xfrm>
          <a:prstGeom prst="rect">
            <a:avLst/>
          </a:prstGeom>
          <a:noFill/>
          <a:ln/>
        </p:spPr>
        <p:txBody>
          <a:bodyPr wrap="square" lIns="0" tIns="0" rIns="0" bIns="0" rtlCol="0" anchor="t"/>
          <a:lstStyle/>
          <a:p>
            <a:pPr algn="l" indent="0" marL="0">
              <a:spcAft>
                <a:spcPts val="100"/>
              </a:spcAft>
              <a:buNone/>
            </a:pPr>
            <a:r>
              <a:rPr lang="en-US" sz="1150" b="1" dirty="0">
                <a:solidFill>
                  <a:schemeClr val="tx2"/>
                </a:solidFill>
              </a:rPr>
              <a:t>Lead trainer at ₹75k</a:t>
            </a:r>
            <a:endParaRPr lang="en-US" sz="1150" dirty="0"/>
          </a:p>
          <a:p>
            <a:pPr algn="l" indent="0" marL="0">
              <a:buNone/>
            </a:pPr>
            <a:r>
              <a:rPr lang="en-US" sz="1150" dirty="0">
                <a:solidFill>
                  <a:schemeClr val="tx1"/>
                </a:solidFill>
              </a:rPr>
              <a:t>−₹1.7L</a:t>
            </a:r>
            <a:endParaRPr lang="en-US" sz="1150" dirty="0"/>
          </a:p>
        </p:txBody>
      </p:sp>
      <p:sp>
        <p:nvSpPr>
          <p:cNvPr id="18" name="Stress rule 3"/>
          <p:cNvSpPr/>
          <p:nvPr/>
        </p:nvSpPr>
        <p:spPr>
          <a:xfrm>
            <a:off x="7955280" y="4006901"/>
            <a:ext cx="3504895" cy="0"/>
          </a:xfrm>
          <a:prstGeom prst="line">
            <a:avLst/>
          </a:prstGeom>
          <a:noFill/>
          <a:ln w="9525">
            <a:solidFill>
              <a:srgbClr val="E4DAD5"/>
            </a:solidFill>
            <a:prstDash val="solid"/>
          </a:ln>
        </p:spPr>
      </p:sp>
      <p:sp>
        <p:nvSpPr>
          <p:cNvPr id="19" name="Stress text 4"/>
          <p:cNvSpPr txBox="1"/>
          <p:nvPr/>
        </p:nvSpPr>
        <p:spPr>
          <a:xfrm>
            <a:off x="7955280" y="4043477"/>
            <a:ext cx="3504895" cy="497434"/>
          </a:xfrm>
          <a:prstGeom prst="rect">
            <a:avLst/>
          </a:prstGeom>
          <a:noFill/>
          <a:ln/>
        </p:spPr>
        <p:txBody>
          <a:bodyPr wrap="square" lIns="0" tIns="0" rIns="0" bIns="0" rtlCol="0" anchor="t"/>
          <a:lstStyle/>
          <a:p>
            <a:pPr algn="l" indent="0" marL="0">
              <a:spcAft>
                <a:spcPts val="100"/>
              </a:spcAft>
              <a:buNone/>
            </a:pPr>
            <a:r>
              <a:rPr lang="en-US" sz="1150" b="1" dirty="0">
                <a:solidFill>
                  <a:schemeClr val="tx2"/>
                </a:solidFill>
              </a:rPr>
              <a:t>Price response at step 1</a:t>
            </a:r>
            <a:endParaRPr lang="en-US" sz="1150" dirty="0"/>
          </a:p>
          <a:p>
            <a:pPr algn="l" indent="0" marL="0">
              <a:buNone/>
            </a:pPr>
            <a:r>
              <a:rPr lang="en-US" sz="1150" dirty="0">
                <a:solidFill>
                  <a:schemeClr val="tx1"/>
                </a:solidFill>
              </a:rPr>
              <a:t>−₹0.8L (−10%) / −₹2.0L (−20%)</a:t>
            </a:r>
            <a:endParaRPr lang="en-US" sz="1150" dirty="0"/>
          </a:p>
        </p:txBody>
      </p:sp>
      <p:sp>
        <p:nvSpPr>
          <p:cNvPr id="20" name="Stress rule 4"/>
          <p:cNvSpPr/>
          <p:nvPr/>
        </p:nvSpPr>
        <p:spPr>
          <a:xfrm>
            <a:off x="7955280" y="4577486"/>
            <a:ext cx="3504895" cy="0"/>
          </a:xfrm>
          <a:prstGeom prst="line">
            <a:avLst/>
          </a:prstGeom>
          <a:noFill/>
          <a:ln w="9525">
            <a:solidFill>
              <a:srgbClr val="E4DAD5"/>
            </a:solidFill>
            <a:prstDash val="solid"/>
          </a:ln>
        </p:spPr>
      </p:sp>
      <p:sp>
        <p:nvSpPr>
          <p:cNvPr id="21" name="Stress text 5"/>
          <p:cNvSpPr txBox="1"/>
          <p:nvPr/>
        </p:nvSpPr>
        <p:spPr>
          <a:xfrm>
            <a:off x="7955280" y="4614062"/>
            <a:ext cx="3504895" cy="497434"/>
          </a:xfrm>
          <a:prstGeom prst="rect">
            <a:avLst/>
          </a:prstGeom>
          <a:noFill/>
          <a:ln/>
        </p:spPr>
        <p:txBody>
          <a:bodyPr wrap="square" lIns="0" tIns="0" rIns="0" bIns="0" rtlCol="0" anchor="t"/>
          <a:lstStyle/>
          <a:p>
            <a:pPr algn="l" indent="0" marL="0">
              <a:spcAft>
                <a:spcPts val="100"/>
              </a:spcAft>
              <a:buNone/>
            </a:pPr>
            <a:r>
              <a:rPr lang="en-US" sz="1150" b="1" dirty="0">
                <a:solidFill>
                  <a:schemeClr val="tx2"/>
                </a:solidFill>
              </a:rPr>
              <a:t>Step 2 in Year 3</a:t>
            </a:r>
            <a:endParaRPr lang="en-US" sz="1150" dirty="0"/>
          </a:p>
          <a:p>
            <a:pPr algn="l" indent="0" marL="0">
              <a:buNone/>
            </a:pPr>
            <a:r>
              <a:rPr lang="en-US" sz="1150" dirty="0">
                <a:solidFill>
                  <a:schemeClr val="tx1"/>
                </a:solidFill>
              </a:rPr>
              <a:t>+₹14.5L / +₹7.5L / +₹0.4L at 0 / −10 / −20% conversion</a:t>
            </a:r>
            <a:endParaRPr lang="en-US" sz="1150" dirty="0"/>
          </a:p>
        </p:txBody>
      </p:sp>
      <p:sp>
        <p:nvSpPr>
          <p:cNvPr id="22" name="Superseded card"/>
          <p:cNvSpPr/>
          <p:nvPr/>
        </p:nvSpPr>
        <p:spPr>
          <a:xfrm>
            <a:off x="7772400" y="5413248"/>
            <a:ext cx="3870655" cy="731520"/>
          </a:xfrm>
          <a:prstGeom prst="roundRect">
            <a:avLst>
              <a:gd name="adj" fmla="val 10000"/>
            </a:avLst>
          </a:prstGeom>
          <a:solidFill>
            <a:srgbClr val="F1EAE5"/>
          </a:solidFill>
          <a:ln/>
        </p:spPr>
      </p:sp>
      <p:sp>
        <p:nvSpPr>
          <p:cNvPr id="23" name="Superseded text"/>
          <p:cNvSpPr txBox="1"/>
          <p:nvPr/>
        </p:nvSpPr>
        <p:spPr>
          <a:xfrm>
            <a:off x="7955280" y="5468112"/>
            <a:ext cx="3504895" cy="621792"/>
          </a:xfrm>
          <a:prstGeom prst="rect">
            <a:avLst/>
          </a:prstGeom>
          <a:noFill/>
          <a:ln/>
        </p:spPr>
        <p:txBody>
          <a:bodyPr wrap="square" lIns="0" tIns="0" rIns="0" bIns="0" rtlCol="0" anchor="ctr"/>
          <a:lstStyle/>
          <a:p>
            <a:pPr algn="l" indent="0" marL="0">
              <a:buNone/>
            </a:pPr>
            <a:r>
              <a:rPr lang="en-US" sz="1050" i="1" dirty="0">
                <a:solidFill>
                  <a:srgbClr val="6B5F67"/>
                </a:solidFill>
              </a:rPr>
              <a:t>Superseded unstaged-Base tornado, reference only: fees ₹23.0L, conversion ₹15.1L, GST ₹12.7L, rent ₹8.7L.</a:t>
            </a:r>
            <a:endParaRPr lang="en-US" sz="10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A6 · DOWNSIDE RUNS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The founder can be told exactly what each failure path costs and when she would know</a:t>
            </a:r>
            <a:endParaRPr lang="en-US" sz="2800" dirty="0"/>
          </a:p>
        </p:txBody>
      </p:sp>
      <p:sp>
        <p:nvSpPr>
          <p:cNvPr id="4" name="Subtitle"/>
          <p:cNvSpPr txBox="1"/>
          <p:nvPr/>
        </p:nvSpPr>
        <p:spPr>
          <a:xfrm>
            <a:off x="548640" y="1531112"/>
            <a:ext cx="11094415" cy="269367"/>
          </a:xfrm>
          <a:prstGeom prst="rect">
            <a:avLst/>
          </a:prstGeom>
          <a:noFill/>
          <a:ln/>
        </p:spPr>
        <p:txBody>
          <a:bodyPr wrap="square" lIns="0" tIns="0" rIns="0" bIns="0" rtlCol="0" anchor="t"/>
          <a:lstStyle/>
          <a:p>
            <a:pPr algn="l" indent="0" marL="0">
              <a:buNone/>
            </a:pPr>
            <a:r>
              <a:rPr lang="en-US" sz="1500" dirty="0">
                <a:solidFill>
                  <a:srgbClr val="6B5F67"/>
                </a:solidFill>
              </a:rPr>
              <a:t>Five modelled failure paths, their Year-1 EBITDA, peak cash, the month they become visible, and what is sunk versus recoverable.</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§1A.2 (final, incl. Staged_Cons_CutM5_Deep); recommended_strategy.md §5 ("What ₹35L can lose"), §10 row 31</a:t>
            </a:r>
            <a:pPr algn="l" indent="0" marL="0">
              <a:buNone/>
            </a:pPr>
            <a:r>
              <a:rPr lang="en-US" sz="900" b="1" dirty="0">
                <a:solidFill>
                  <a:srgbClr val="6B5F67"/>
                </a:solidFill>
              </a:rPr>
              <a:t>   Note: </a:t>
            </a:r>
            <a:pPr algn="l" indent="0" marL="0">
              <a:buNone/>
            </a:pPr>
            <a:r>
              <a:rPr lang="en-US" sz="900" dirty="0">
                <a:solidFill>
                  <a:srgbClr val="6B5F67"/>
                </a:solidFill>
              </a:rPr>
              <a:t>₹ lakh ex-GST; cash by Oct 2027 unless stated. All values ESTIMATE; exit terms (3 months' notice, 1 month severance): HYPOTHESIS (A-ECO-158/159).</a:t>
            </a:r>
            <a:endParaRPr lang="en-US" sz="900" dirty="0"/>
          </a:p>
        </p:txBody>
      </p:sp>
      <p:graphicFrame>
        <p:nvGraphicFramePr>
          <p:cNvPr id="33" name="Downside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1833788"/>
                <a:gridCol w="4034333"/>
                <a:gridCol w="1008583"/>
                <a:gridCol w="2017166"/>
                <a:gridCol w="1100273"/>
                <a:gridCol w="1100273"/>
              </a:tblGrid>
              <a:tr h="475818">
                <a:tc>
                  <a:txBody>
                    <a:bodyPr/>
                    <a:lstStyle/>
                    <a:p>
                      <a:pPr algn="l" indent="0" marL="0">
                        <a:buNone/>
                      </a:pPr>
                      <a:r>
                        <a:rPr lang="en-US" sz="1150" b="1" dirty="0">
                          <a:solidFill>
                            <a:srgbClr val="FFFFFF"/>
                          </a:solidFill>
                        </a:rPr>
                        <a:t>Run</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What happens</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r" indent="0" marL="0">
                        <a:buNone/>
                      </a:pPr>
                      <a:r>
                        <a:rPr lang="en-US" sz="1150" b="1" dirty="0">
                          <a:solidFill>
                            <a:srgbClr val="FFFFFF"/>
                          </a:solidFill>
                        </a:rPr>
                        <a:t>Year-1 EBITDA</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Peak cash (month)</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Visible</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50" b="1" dirty="0">
                          <a:solidFill>
                            <a:srgbClr val="FFFFFF"/>
                          </a:solidFill>
                        </a:rPr>
                        <a:t>Exit / severance</a:t>
                      </a:r>
                      <a:endParaRPr lang="en-US" sz="115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475818">
                <a:tc>
                  <a:txBody>
                    <a:bodyPr/>
                    <a:lstStyle/>
                    <a:p>
                      <a:pPr algn="l" indent="0" marL="0">
                        <a:buNone/>
                      </a:pPr>
                      <a:r>
                        <a:rPr lang="en-US" sz="1150" b="1" dirty="0">
                          <a:solidFill>
                            <a:srgbClr val="2B2129"/>
                          </a:solidFill>
                        </a:rPr>
                        <a:t>Staged_Cons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T1 team at Conservative rates, no cut; effective paid CAC ₹40.3k; 5–7 enrolments/month from May; burns ≈₹2.3L/month</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2B2129"/>
                          </a:solidFill>
                        </a:rPr>
                        <a:t>−₹32.1L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₹36.2L (M12, rising)</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M4 Feb 2027</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654291">
                <a:tc>
                  <a:txBody>
                    <a:bodyPr/>
                    <a:lstStyle/>
                    <a:p>
                      <a:pPr algn="l" indent="0" marL="0">
                        <a:buNone/>
                      </a:pPr>
                      <a:r>
                        <a:rPr lang="en-US" sz="1150" b="1" dirty="0">
                          <a:solidFill>
                            <a:srgbClr val="2B2129"/>
                          </a:solidFill>
                        </a:rPr>
                        <a:t>Staged_Cons_CutM5_Deep</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dirty="0">
                          <a:solidFill>
                            <a:srgbClr val="2B2129"/>
                          </a:solidFill>
                        </a:rPr>
                        <a:t>KT-1a mandatory cut at the March review to the stop-loss state; 2–3 career enrolments/month</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r" indent="0" marL="0">
                        <a:buNone/>
                      </a:pPr>
                      <a:r>
                        <a:rPr lang="en-US" sz="1150" dirty="0">
                          <a:solidFill>
                            <a:srgbClr val="2B2129"/>
                          </a:solidFill>
                        </a:rPr>
                        <a:t>−₹22.2L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b="1" dirty="0">
                          <a:solidFill>
                            <a:srgbClr val="2B2129"/>
                          </a:solidFill>
                        </a:rPr>
                        <a:t>₹25.4L (M12), still rising ≈₹0.9L/month; burn does not reach zero in Year 1</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dirty="0">
                          <a:solidFill>
                            <a:srgbClr val="2B2129"/>
                          </a:solidFill>
                        </a:rPr>
                        <a:t>M4</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c>
                  <a:txBody>
                    <a:bodyPr/>
                    <a:lstStyle/>
                    <a:p>
                      <a:pPr algn="l" indent="0" marL="0">
                        <a:buNone/>
                      </a:pPr>
                      <a:r>
                        <a:rPr lang="en-US" sz="1150" dirty="0">
                          <a:solidFill>
                            <a:srgbClr val="2B2129"/>
                          </a:solidFill>
                        </a:rPr>
                        <a:t>₹1.3L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2EAF0"/>
                    </a:solidFill>
                  </a:tcPr>
                </a:tc>
              </a:tr>
              <a:tr h="297345">
                <a:tc>
                  <a:txBody>
                    <a:bodyPr/>
                    <a:lstStyle/>
                    <a:p>
                      <a:pPr algn="l" indent="0" marL="0">
                        <a:buNone/>
                      </a:pPr>
                      <a:r>
                        <a:rPr lang="en-US" sz="1150" b="1" dirty="0">
                          <a:solidFill>
                            <a:srgbClr val="2B2129"/>
                          </a:solidFill>
                        </a:rPr>
                        <a:t>Staged_Cons_CutM5</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Shallow cut to the ₹10L-plan base only</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2B2129"/>
                          </a:solidFill>
                        </a:rPr>
                        <a:t>−₹25.2L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₹28.7L (rising ≈₹1.3L/month)</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M4</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₹1.2L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97345">
                <a:tc>
                  <a:txBody>
                    <a:bodyPr/>
                    <a:lstStyle/>
                    <a:p>
                      <a:pPr algn="l" indent="0" marL="0">
                        <a:buNone/>
                      </a:pPr>
                      <a:r>
                        <a:rPr lang="en-US" sz="1150" b="1" dirty="0">
                          <a:solidFill>
                            <a:srgbClr val="2B2129"/>
                          </a:solidFill>
                        </a:rPr>
                        <a:t>Staged_Cons_CutM10</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Old rule</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50" dirty="0">
                          <a:solidFill>
                            <a:srgbClr val="2B2129"/>
                          </a:solidFill>
                        </a:rPr>
                        <a:t>−₹30.4L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₹33.9L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M4</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₹1.2L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654291">
                <a:tc>
                  <a:txBody>
                    <a:bodyPr/>
                    <a:lstStyle/>
                    <a:p>
                      <a:pPr algn="l" indent="0" marL="0">
                        <a:buNone/>
                      </a:pPr>
                      <a:r>
                        <a:rPr lang="en-US" sz="1150" b="1" dirty="0">
                          <a:solidFill>
                            <a:srgbClr val="2B2129"/>
                          </a:solidFill>
                        </a:rPr>
                        <a:t>Staged_FalsePos</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G1 passed at M9 on a false positive; demand ×0.6 from M10; price reverted M11; exit M12; lease costs ≈₹1.7L/month while held</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2B2129"/>
                          </a:solidFill>
                        </a:rPr>
                        <a:t>−₹14.7L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₹32.7L (M12), flat after exit</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M11 Sep 2027</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B2129"/>
                          </a:solidFill>
                        </a:rPr>
                        <a:t>₹4.9L (₹3.1L notice + ₹1.8L severance)</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97345">
                <a:tc>
                  <a:txBody>
                    <a:bodyPr/>
                    <a:lstStyle/>
                    <a:p>
                      <a:pPr algn="l" indent="0" marL="0">
                        <a:buNone/>
                      </a:pPr>
                      <a:r>
                        <a:rPr lang="en-US" sz="1150" b="1" dirty="0">
                          <a:solidFill>
                            <a:srgbClr val="2B2129"/>
                          </a:solidFill>
                        </a:rPr>
                        <a:t>Staged_FalsePos_M6</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Upside timing; exit M9</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r" indent="0" marL="0">
                        <a:buNone/>
                      </a:pPr>
                      <a:r>
                        <a:rPr lang="en-US" sz="1150" dirty="0">
                          <a:solidFill>
                            <a:srgbClr val="2B2129"/>
                          </a:solidFill>
                        </a:rPr>
                        <a:t>−₹14.5L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₹32.4L (M9)</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M8 Jun 2027</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50" dirty="0">
                          <a:solidFill>
                            <a:srgbClr val="2B2129"/>
                          </a:solidFill>
                        </a:rPr>
                        <a:t>₹4.6L</a:t>
                      </a:r>
                      <a:endParaRPr lang="en-US" sz="115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8" name="Downside band"/>
          <p:cNvSpPr/>
          <p:nvPr/>
        </p:nvSpPr>
        <p:spPr>
          <a:xfrm>
            <a:off x="548640" y="5394960"/>
            <a:ext cx="11094415" cy="749808"/>
          </a:xfrm>
          <a:prstGeom prst="roundRect">
            <a:avLst>
              <a:gd name="adj" fmla="val 9756"/>
            </a:avLst>
          </a:prstGeom>
          <a:solidFill>
            <a:srgbClr val="F8EBD4"/>
          </a:solidFill>
          <a:ln/>
        </p:spPr>
      </p:sp>
      <p:sp>
        <p:nvSpPr>
          <p:cNvPr id="9" name="Downside band text"/>
          <p:cNvSpPr txBox="1"/>
          <p:nvPr/>
        </p:nvSpPr>
        <p:spPr>
          <a:xfrm>
            <a:off x="731520" y="5449824"/>
            <a:ext cx="10728655" cy="640080"/>
          </a:xfrm>
          <a:prstGeom prst="rect">
            <a:avLst/>
          </a:prstGeom>
          <a:noFill/>
          <a:ln/>
        </p:spPr>
        <p:txBody>
          <a:bodyPr wrap="square" lIns="0" tIns="0" rIns="0" bIns="0" rtlCol="0" anchor="ctr"/>
          <a:lstStyle/>
          <a:p>
            <a:pPr algn="l" indent="0" marL="0">
              <a:buNone/>
            </a:pPr>
            <a:r>
              <a:rPr lang="en-US" sz="1200" dirty="0">
                <a:solidFill>
                  <a:srgbClr val="7A4B0C"/>
                </a:solidFill>
              </a:rPr>
              <a:t>On a lease exit </a:t>
            </a:r>
            <a:pPr algn="l" indent="0" marL="0">
              <a:buNone/>
            </a:pPr>
            <a:r>
              <a:rPr lang="en-US" sz="1200" b="1" dirty="0">
                <a:solidFill>
                  <a:srgbClr val="7A4B0C"/>
                </a:solidFill>
              </a:rPr>
              <a:t>₹11.6L</a:t>
            </a:r>
            <a:pPr algn="l" indent="0" marL="0">
              <a:buNone/>
            </a:pPr>
            <a:r>
              <a:rPr lang="en-US" sz="1200" dirty="0">
                <a:solidFill>
                  <a:srgbClr val="7A4B0C"/>
                </a:solidFill>
              </a:rPr>
              <a:t> of fit-out and stations is sunk; the </a:t>
            </a:r>
            <a:pPr algn="l" indent="0" marL="0">
              <a:buNone/>
            </a:pPr>
            <a:r>
              <a:rPr lang="en-US" sz="1200" b="1" dirty="0">
                <a:solidFill>
                  <a:srgbClr val="7A4B0C"/>
                </a:solidFill>
              </a:rPr>
              <a:t>₹3.1L</a:t>
            </a:r>
            <a:pPr algn="l" indent="0" marL="0">
              <a:buNone/>
            </a:pPr>
            <a:r>
              <a:rPr lang="en-US" sz="1200" dirty="0">
                <a:solidFill>
                  <a:srgbClr val="7A4B0C"/>
                </a:solidFill>
              </a:rPr>
              <a:t> deposit is recoverable. Even the deep stop-loss state burns </a:t>
            </a:r>
            <a:pPr algn="l" indent="0" marL="0">
              <a:buNone/>
            </a:pPr>
            <a:r>
              <a:rPr lang="en-US" sz="1200" b="1" dirty="0">
                <a:solidFill>
                  <a:srgbClr val="7A4B0C"/>
                </a:solidFill>
              </a:rPr>
              <a:t>≈₹0.9L/month</a:t>
            </a:r>
            <a:pPr algn="l" indent="0" marL="0">
              <a:buNone/>
            </a:pPr>
            <a:r>
              <a:rPr lang="en-US" sz="1200" dirty="0">
                <a:solidFill>
                  <a:srgbClr val="7A4B0C"/>
                </a:solidFill>
              </a:rPr>
              <a:t> at adverse rates (≈₹0.9L contribution against ≈₹1.8L fixed), so the March review must also decide the boutique path for Year 2.</a:t>
            </a:r>
            <a:endParaRPr lang="en-US" sz="12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A7 · COHORT FILL VS THE G1 TEST</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On the adopted 8-weekly calendar the station test is met in June and post-move cohorts fill</a:t>
            </a:r>
            <a:endParaRPr lang="en-US" sz="2800" dirty="0"/>
          </a:p>
        </p:txBody>
      </p:sp>
      <p:sp>
        <p:nvSpPr>
          <p:cNvPr id="4" name="Subtitle"/>
          <p:cNvSpPr txBox="1"/>
          <p:nvPr/>
        </p:nvSpPr>
        <p:spPr>
          <a:xfrm>
            <a:off x="548640" y="1531112"/>
            <a:ext cx="11094415" cy="222809"/>
          </a:xfrm>
          <a:prstGeom prst="rect">
            <a:avLst/>
          </a:prstGeom>
          <a:noFill/>
          <a:ln/>
        </p:spPr>
        <p:txBody>
          <a:bodyPr wrap="square" lIns="0" tIns="0" rIns="0" bIns="0" rtlCol="0" anchor="t"/>
          <a:lstStyle/>
          <a:p>
            <a:pPr algn="l" indent="0" marL="0">
              <a:buNone/>
            </a:pPr>
            <a:r>
              <a:rPr lang="en-US" sz="1200" dirty="0">
                <a:solidFill>
                  <a:srgbClr val="6B5F67"/>
                </a:solidFill>
              </a:rPr>
              <a:t>The old "two cohorts ≥75% of 12" test is never met in Year 1; against the stations in the room (a lower bar, disclosed), G1 is first passable with the 21 June cohort (M8).</a:t>
            </a:r>
            <a:endParaRPr lang="en-US" sz="12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§1A.6 (final), §1A.8 item 5; recommended_strategy.md §7.1 G1, §10 rows 22, 31–32; execution/twelve_month_roadmap.md §3.1; execution/kpi_framework.md §3 DEL-01</a:t>
            </a:r>
            <a:pPr algn="l" indent="0" marL="0">
              <a:buNone/>
            </a:pPr>
            <a:r>
              <a:rPr lang="en-US" sz="900" b="1" dirty="0">
                <a:solidFill>
                  <a:srgbClr val="6B5F67"/>
                </a:solidFill>
              </a:rPr>
              <a:t>   Note: </a:t>
            </a:r>
            <a:pPr algn="l" indent="0" marL="0">
              <a:buNone/>
            </a:pPr>
            <a:r>
              <a:rPr lang="en-US" sz="900" dirty="0">
                <a:solidFill>
                  <a:srgbClr val="6B5F67"/>
                </a:solidFill>
              </a:rPr>
              <a:t>Students per cohort, 2027 intake dates. Cohort sizes: ESTIMATE (Staged_G1M9 section K, A-ECO-164/165); thresholds and calendar: RECOMMENDATION.</a:t>
            </a:r>
            <a:endParaRPr lang="en-US" sz="900" dirty="0"/>
          </a:p>
        </p:txBody>
      </p:sp>
      <p:sp>
        <p:nvSpPr>
          <p:cNvPr id="7" name="Chart card"/>
          <p:cNvSpPr/>
          <p:nvPr/>
        </p:nvSpPr>
        <p:spPr>
          <a:xfrm>
            <a:off x="548640" y="1920240"/>
            <a:ext cx="7086600" cy="4224528"/>
          </a:xfrm>
          <a:prstGeom prst="roundRect">
            <a:avLst>
              <a:gd name="adj" fmla="val 1732"/>
            </a:avLst>
          </a:prstGeom>
          <a:solidFill>
            <a:schemeClr val="bg1"/>
          </a:solidFill>
          <a:ln w="9525">
            <a:solidFill>
              <a:srgbClr val="E4DAD5"/>
            </a:solidFill>
            <a:prstDash val="solid"/>
          </a:ln>
        </p:spPr>
      </p:sp>
      <p:sp>
        <p:nvSpPr>
          <p:cNvPr id="8" name="Badge ESTIMATE"/>
          <p:cNvSpPr txBox="1"/>
          <p:nvPr/>
        </p:nvSpPr>
        <p:spPr>
          <a:xfrm>
            <a:off x="6691555" y="2084832"/>
            <a:ext cx="779093"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9" name="Chart title"/>
          <p:cNvSpPr txBox="1"/>
          <p:nvPr/>
        </p:nvSpPr>
        <p:spPr>
          <a:xfrm>
            <a:off x="713232" y="2084832"/>
            <a:ext cx="5868595" cy="212281"/>
          </a:xfrm>
          <a:prstGeom prst="rect">
            <a:avLst/>
          </a:prstGeom>
          <a:noFill/>
          <a:ln/>
        </p:spPr>
        <p:txBody>
          <a:bodyPr wrap="square" lIns="0" tIns="0" rIns="0" bIns="0" rtlCol="0" anchor="t"/>
          <a:lstStyle/>
          <a:p>
            <a:pPr algn="l" indent="0" marL="0">
              <a:buNone/>
            </a:pPr>
            <a:r>
              <a:rPr lang="en-US" sz="1250" b="1" dirty="0">
                <a:solidFill>
                  <a:schemeClr val="tx1"/>
                </a:solidFill>
              </a:rPr>
              <a:t>L3 cohort starts, students (cap 12)</a:t>
            </a:r>
            <a:endParaRPr lang="en-US" sz="1250" dirty="0"/>
          </a:p>
        </p:txBody>
      </p:sp>
      <p:graphicFrame>
        <p:nvGraphicFramePr>
          <p:cNvPr id="10" name="Cohort chart" descr="Cohort chart"/>
          <p:cNvGraphicFramePr/>
          <p:nvPr/>
        </p:nvGraphicFramePr>
        <p:xfrm>
          <a:off x="630936" y="2368296"/>
          <a:ext cx="6922008" cy="3236976"/>
        </p:xfrm>
        <a:graphic xmlns:a="http://schemas.openxmlformats.org/drawingml/2006/main">
          <a:graphicData uri="http://schemas.openxmlformats.org/drawingml/2006/chart">
            <c:chart xmlns:c="http://schemas.openxmlformats.org/drawingml/2006/chart" r:id="rId1"/>
          </a:graphicData>
        </a:graphic>
      </p:graphicFrame>
      <p:sp>
        <p:nvSpPr>
          <p:cNvPr id="11" name="Test line"/>
          <p:cNvSpPr/>
          <p:nvPr/>
        </p:nvSpPr>
        <p:spPr>
          <a:xfrm>
            <a:off x="977036" y="3857305"/>
            <a:ext cx="4506227" cy="0"/>
          </a:xfrm>
          <a:prstGeom prst="line">
            <a:avLst/>
          </a:prstGeom>
          <a:noFill/>
          <a:ln w="22225">
            <a:solidFill>
              <a:schemeClr val="accent5"/>
            </a:solidFill>
            <a:prstDash val="dash"/>
          </a:ln>
        </p:spPr>
      </p:sp>
      <p:sp>
        <p:nvSpPr>
          <p:cNvPr id="12" name="Test line 2"/>
          <p:cNvSpPr/>
          <p:nvPr/>
        </p:nvSpPr>
        <p:spPr>
          <a:xfrm>
            <a:off x="5483264" y="3274649"/>
            <a:ext cx="1931240" cy="0"/>
          </a:xfrm>
          <a:prstGeom prst="line">
            <a:avLst/>
          </a:prstGeom>
          <a:noFill/>
          <a:ln w="22225">
            <a:solidFill>
              <a:schemeClr val="accent2"/>
            </a:solidFill>
            <a:prstDash val="dash"/>
          </a:ln>
        </p:spPr>
      </p:sp>
      <p:sp>
        <p:nvSpPr>
          <p:cNvPr id="13" name="G1 marker"/>
          <p:cNvSpPr/>
          <p:nvPr/>
        </p:nvSpPr>
        <p:spPr>
          <a:xfrm>
            <a:off x="5225765" y="2691994"/>
            <a:ext cx="0" cy="2330623"/>
          </a:xfrm>
          <a:prstGeom prst="line">
            <a:avLst/>
          </a:prstGeom>
          <a:noFill/>
          <a:ln w="15875">
            <a:solidFill>
              <a:schemeClr val="tx2"/>
            </a:solidFill>
            <a:prstDash val="sysDot"/>
          </a:ln>
        </p:spPr>
      </p:sp>
      <p:sp>
        <p:nvSpPr>
          <p:cNvPr id="14" name="G1 chip"/>
          <p:cNvSpPr txBox="1"/>
          <p:nvPr/>
        </p:nvSpPr>
        <p:spPr>
          <a:xfrm>
            <a:off x="4894118" y="2445106"/>
            <a:ext cx="663294" cy="219456"/>
          </a:xfrm>
          <a:prstGeom prst="roundRect">
            <a:avLst>
              <a:gd name="adj" fmla="val 50000"/>
            </a:avLst>
          </a:prstGeom>
          <a:solidFill>
            <a:schemeClr val="tx2"/>
          </a:solidFill>
          <a:ln/>
        </p:spPr>
        <p:txBody>
          <a:bodyPr wrap="square" lIns="0" tIns="0" rIns="0" bIns="0" rtlCol="0" anchor="ctr"/>
          <a:lstStyle/>
          <a:p>
            <a:pPr algn="ctr" indent="0" marL="0">
              <a:buNone/>
            </a:pPr>
            <a:r>
              <a:rPr lang="en-US" sz="900" b="1" dirty="0">
                <a:solidFill>
                  <a:schemeClr val="bg1"/>
                </a:solidFill>
              </a:rPr>
              <a:t>G1 26 Jul</a:t>
            </a:r>
            <a:endParaRPr lang="en-US" sz="900" dirty="0"/>
          </a:p>
        </p:txBody>
      </p:sp>
      <p:sp>
        <p:nvSpPr>
          <p:cNvPr id="15" name="Key line"/>
          <p:cNvSpPr/>
          <p:nvPr/>
        </p:nvSpPr>
        <p:spPr>
          <a:xfrm>
            <a:off x="713232" y="5742432"/>
            <a:ext cx="274320" cy="0"/>
          </a:xfrm>
          <a:prstGeom prst="line">
            <a:avLst/>
          </a:prstGeom>
          <a:noFill/>
          <a:ln w="22225">
            <a:solidFill>
              <a:schemeClr val="accent5"/>
            </a:solidFill>
            <a:prstDash val="dash"/>
          </a:ln>
        </p:spPr>
      </p:sp>
      <p:sp>
        <p:nvSpPr>
          <p:cNvPr id="16" name="Key text"/>
          <p:cNvSpPr txBox="1"/>
          <p:nvPr/>
        </p:nvSpPr>
        <p:spPr>
          <a:xfrm>
            <a:off x="1042416" y="5641848"/>
            <a:ext cx="1979656" cy="201168"/>
          </a:xfrm>
          <a:prstGeom prst="rect">
            <a:avLst/>
          </a:prstGeom>
          <a:noFill/>
          <a:ln/>
        </p:spPr>
        <p:txBody>
          <a:bodyPr wrap="square" lIns="0" tIns="0" rIns="0" bIns="0" rtlCol="0" anchor="ctr"/>
          <a:lstStyle/>
          <a:p>
            <a:pPr algn="l" indent="0" marL="0">
              <a:buNone/>
            </a:pPr>
            <a:r>
              <a:rPr lang="en-US" sz="1000" dirty="0">
                <a:solidFill>
                  <a:srgbClr val="7A4B0C"/>
                </a:solidFill>
              </a:rPr>
              <a:t>Studio test ≥6 of 8 stations (to July)</a:t>
            </a:r>
            <a:endParaRPr lang="en-US" sz="1000" dirty="0"/>
          </a:p>
        </p:txBody>
      </p:sp>
      <p:sp>
        <p:nvSpPr>
          <p:cNvPr id="17" name="Key line 2"/>
          <p:cNvSpPr/>
          <p:nvPr/>
        </p:nvSpPr>
        <p:spPr>
          <a:xfrm>
            <a:off x="3250672" y="5742432"/>
            <a:ext cx="274320" cy="0"/>
          </a:xfrm>
          <a:prstGeom prst="line">
            <a:avLst/>
          </a:prstGeom>
          <a:noFill/>
          <a:ln w="22225">
            <a:solidFill>
              <a:schemeClr val="accent2"/>
            </a:solidFill>
            <a:prstDash val="dash"/>
          </a:ln>
        </p:spPr>
      </p:sp>
      <p:sp>
        <p:nvSpPr>
          <p:cNvPr id="18" name="Key text 2"/>
          <p:cNvSpPr txBox="1"/>
          <p:nvPr/>
        </p:nvSpPr>
        <p:spPr>
          <a:xfrm>
            <a:off x="3579856" y="5641848"/>
            <a:ext cx="2142682" cy="201168"/>
          </a:xfrm>
          <a:prstGeom prst="rect">
            <a:avLst/>
          </a:prstGeom>
          <a:noFill/>
          <a:ln/>
        </p:spPr>
        <p:txBody>
          <a:bodyPr wrap="square" lIns="0" tIns="0" rIns="0" bIns="0" rtlCol="0" anchor="ctr"/>
          <a:lstStyle/>
          <a:p>
            <a:pPr algn="l" indent="0" marL="0">
              <a:buNone/>
            </a:pPr>
            <a:r>
              <a:rPr lang="en-US" sz="1000" dirty="0">
                <a:solidFill>
                  <a:srgbClr val="A4513F"/>
                </a:solidFill>
              </a:rPr>
              <a:t>Post-move test ≥9 of 12 (from August)</a:t>
            </a:r>
            <a:endParaRPr lang="en-US" sz="1000" dirty="0"/>
          </a:p>
        </p:txBody>
      </p:sp>
      <p:sp>
        <p:nvSpPr>
          <p:cNvPr id="19" name="Key line 3"/>
          <p:cNvSpPr/>
          <p:nvPr/>
        </p:nvSpPr>
        <p:spPr>
          <a:xfrm>
            <a:off x="713232" y="5952744"/>
            <a:ext cx="274320" cy="0"/>
          </a:xfrm>
          <a:prstGeom prst="line">
            <a:avLst/>
          </a:prstGeom>
          <a:noFill/>
          <a:ln w="22225">
            <a:solidFill>
              <a:schemeClr val="tx2"/>
            </a:solidFill>
            <a:prstDash val="sysDot"/>
          </a:ln>
        </p:spPr>
      </p:sp>
      <p:sp>
        <p:nvSpPr>
          <p:cNvPr id="20" name="Key text 3"/>
          <p:cNvSpPr txBox="1"/>
          <p:nvPr/>
        </p:nvSpPr>
        <p:spPr>
          <a:xfrm>
            <a:off x="1042416" y="5852160"/>
            <a:ext cx="2159258" cy="201168"/>
          </a:xfrm>
          <a:prstGeom prst="rect">
            <a:avLst/>
          </a:prstGeom>
          <a:noFill/>
          <a:ln/>
        </p:spPr>
        <p:txBody>
          <a:bodyPr wrap="square" lIns="0" tIns="0" rIns="0" bIns="0" rtlCol="0" anchor="ctr"/>
          <a:lstStyle/>
          <a:p>
            <a:pPr algn="l" indent="0" marL="0">
              <a:buNone/>
            </a:pPr>
            <a:r>
              <a:rPr lang="en-US" sz="1000" dirty="0">
                <a:solidFill>
                  <a:schemeClr val="tx2"/>
                </a:solidFill>
              </a:rPr>
              <a:t>G1 decision 26 Jul on May–July actuals</a:t>
            </a:r>
            <a:endParaRPr lang="en-US" sz="1000" dirty="0"/>
          </a:p>
        </p:txBody>
      </p:sp>
      <p:graphicFrame>
        <p:nvGraphicFramePr>
          <p:cNvPr id="34" name="Calendar table"/>
          <p:cNvGraphicFramePr>
            <a:graphicFrameLocks noGrp="1"/>
          </p:cNvGraphicFramePr>
          <p:nvPr>
            <p:extLst>
              <p:ext uri="{D42A27DB-BD31-4B8C-83A1-F6EECF244321}">
                <p14:modId xmlns:p14="http://schemas.microsoft.com/office/powerpoint/2010/main" val="1579011935"/>
              </p:ext>
            </p:extLst>
          </p:nvPr>
        </p:nvGraphicFramePr>
        <p:xfrm>
          <a:off x="7909560" y="1920240"/>
          <a:ext cx="3733495" cy="914400"/>
        </p:xfrm>
        <a:graphic>
          <a:graphicData uri="http://schemas.openxmlformats.org/drawingml/2006/table">
            <a:tbl>
              <a:tblPr/>
              <a:tblGrid>
                <a:gridCol w="754643"/>
                <a:gridCol w="1032669"/>
                <a:gridCol w="913515"/>
                <a:gridCol w="1032669"/>
              </a:tblGrid>
              <a:tr h="631012">
                <a:tc>
                  <a:txBody>
                    <a:bodyPr/>
                    <a:lstStyle/>
                    <a:p>
                      <a:pPr algn="l" indent="0" marL="0">
                        <a:buNone/>
                      </a:pPr>
                      <a:r>
                        <a:rPr lang="en-US" sz="1100" b="1" dirty="0">
                          <a:solidFill>
                            <a:srgbClr val="FFFFFF"/>
                          </a:solidFill>
                        </a:rPr>
                        <a:t>Calendar</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First passable</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M9 achievable?</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After the move (≥9 of 12)</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289585">
                <a:tc>
                  <a:txBody>
                    <a:bodyPr/>
                    <a:lstStyle/>
                    <a:p>
                      <a:pPr algn="l" indent="0" marL="0">
                        <a:buNone/>
                      </a:pPr>
                      <a:r>
                        <a:rPr lang="en-US" sz="1100" b="1" dirty="0">
                          <a:solidFill>
                            <a:srgbClr val="2B2129"/>
                          </a:solidFill>
                        </a:rPr>
                        <a:t>8-weekly</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21 Jun (M8)</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Yes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Met (9.1, 10.1)</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631012">
                <a:tc>
                  <a:txBody>
                    <a:bodyPr/>
                    <a:lstStyle/>
                    <a:p>
                      <a:pPr algn="l" indent="0" marL="0">
                        <a:buNone/>
                      </a:pPr>
                      <a:r>
                        <a:rPr lang="en-US" sz="1100" b="1" dirty="0">
                          <a:solidFill>
                            <a:srgbClr val="2B2129"/>
                          </a:solidFill>
                        </a:rPr>
                        <a:t>6-weekly</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24 May (M7), confirmed 5 Jul</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Yes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Not met (6.9, 7.5)</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22" name="Tally card"/>
          <p:cNvSpPr/>
          <p:nvPr/>
        </p:nvSpPr>
        <p:spPr>
          <a:xfrm>
            <a:off x="7909560" y="3777386"/>
            <a:ext cx="3733495" cy="576402"/>
          </a:xfrm>
          <a:prstGeom prst="roundRect">
            <a:avLst>
              <a:gd name="adj" fmla="val 12691"/>
            </a:avLst>
          </a:prstGeom>
          <a:solidFill>
            <a:srgbClr val="F1EAE5"/>
          </a:solidFill>
          <a:ln/>
        </p:spPr>
      </p:sp>
      <p:sp>
        <p:nvSpPr>
          <p:cNvPr id="23" name="Tally text"/>
          <p:cNvSpPr txBox="1"/>
          <p:nvPr/>
        </p:nvSpPr>
        <p:spPr>
          <a:xfrm>
            <a:off x="8074152" y="3887114"/>
            <a:ext cx="3404311" cy="393522"/>
          </a:xfrm>
          <a:prstGeom prst="rect">
            <a:avLst/>
          </a:prstGeom>
          <a:noFill/>
          <a:ln/>
        </p:spPr>
        <p:txBody>
          <a:bodyPr wrap="square" lIns="0" tIns="0" rIns="0" bIns="0" rtlCol="0" anchor="t"/>
          <a:lstStyle/>
          <a:p>
            <a:pPr algn="l" indent="0" marL="0">
              <a:buNone/>
            </a:pPr>
            <a:r>
              <a:rPr lang="en-US" sz="1150" dirty="0">
                <a:solidFill>
                  <a:schemeClr val="tx1"/>
                </a:solidFill>
              </a:rPr>
              <a:t>8-weekly: 4 of 6 cohorts pass. 6-weekly: 3 of 7 pass. The end-July decision is achievable on either calendar.</a:t>
            </a:r>
            <a:endParaRPr lang="en-US" sz="1150" dirty="0"/>
          </a:p>
        </p:txBody>
      </p:sp>
      <p:sp>
        <p:nvSpPr>
          <p:cNvPr id="24" name="Decision chip"/>
          <p:cNvSpPr/>
          <p:nvPr/>
        </p:nvSpPr>
        <p:spPr>
          <a:xfrm>
            <a:off x="7909560" y="4659325"/>
            <a:ext cx="3733495" cy="603504"/>
          </a:xfrm>
          <a:prstGeom prst="roundRect">
            <a:avLst>
              <a:gd name="adj" fmla="val 12121"/>
            </a:avLst>
          </a:prstGeom>
          <a:solidFill>
            <a:schemeClr val="tx2"/>
          </a:solidFill>
          <a:ln/>
        </p:spPr>
      </p:sp>
      <p:sp>
        <p:nvSpPr>
          <p:cNvPr id="25" name="Badge RECOMMENDATION"/>
          <p:cNvSpPr txBox="1"/>
          <p:nvPr/>
        </p:nvSpPr>
        <p:spPr>
          <a:xfrm>
            <a:off x="8074152" y="4741621"/>
            <a:ext cx="1331417" cy="219456"/>
          </a:xfrm>
          <a:prstGeom prst="roundRect">
            <a:avLst>
              <a:gd name="adj" fmla="val 50000"/>
            </a:avLst>
          </a:prstGeom>
          <a:solidFill>
            <a:schemeClr val="tx2"/>
          </a:solidFill>
          <a:ln w="9525">
            <a:solidFill>
              <a:srgbClr val="E7A995"/>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26" name="Decision text"/>
          <p:cNvSpPr txBox="1"/>
          <p:nvPr/>
        </p:nvSpPr>
        <p:spPr>
          <a:xfrm>
            <a:off x="8074152" y="4997653"/>
            <a:ext cx="3404311" cy="219456"/>
          </a:xfrm>
          <a:prstGeom prst="rect">
            <a:avLst/>
          </a:prstGeom>
          <a:noFill/>
          <a:ln/>
        </p:spPr>
        <p:txBody>
          <a:bodyPr wrap="square" lIns="0" tIns="0" rIns="0" bIns="0" rtlCol="0" anchor="t"/>
          <a:lstStyle/>
          <a:p>
            <a:pPr algn="l" indent="0" marL="0">
              <a:buNone/>
            </a:pPr>
            <a:r>
              <a:rPr lang="en-US" sz="1150" b="1" dirty="0">
                <a:solidFill>
                  <a:schemeClr val="bg1"/>
                </a:solidFill>
              </a:rPr>
              <a:t>Intakes 8-weekly from 1 March 2027 (adopted)</a:t>
            </a:r>
            <a:endParaRPr lang="en-US" sz="1150" dirty="0"/>
          </a:p>
        </p:txBody>
      </p:sp>
      <p:sp>
        <p:nvSpPr>
          <p:cNvPr id="27" name="Caveat chip"/>
          <p:cNvSpPr/>
          <p:nvPr/>
        </p:nvSpPr>
        <p:spPr>
          <a:xfrm>
            <a:off x="7909560" y="5568366"/>
            <a:ext cx="3733495" cy="576402"/>
          </a:xfrm>
          <a:prstGeom prst="roundRect">
            <a:avLst>
              <a:gd name="adj" fmla="val 12691"/>
            </a:avLst>
          </a:prstGeom>
          <a:solidFill>
            <a:srgbClr val="F8EBD4"/>
          </a:solidFill>
          <a:ln w="9525">
            <a:solidFill>
              <a:schemeClr val="accent5"/>
            </a:solidFill>
            <a:prstDash val="solid"/>
          </a:ln>
        </p:spPr>
      </p:sp>
      <p:sp>
        <p:nvSpPr>
          <p:cNvPr id="28" name="Caveat text"/>
          <p:cNvSpPr txBox="1"/>
          <p:nvPr/>
        </p:nvSpPr>
        <p:spPr>
          <a:xfrm>
            <a:off x="8074152" y="5678094"/>
            <a:ext cx="3404311" cy="393522"/>
          </a:xfrm>
          <a:prstGeom prst="rect">
            <a:avLst/>
          </a:prstGeom>
          <a:noFill/>
          <a:ln/>
        </p:spPr>
        <p:txBody>
          <a:bodyPr wrap="square" lIns="0" tIns="0" rIns="0" bIns="0" rtlCol="0" anchor="ctr"/>
          <a:lstStyle/>
          <a:p>
            <a:pPr algn="l" indent="0" marL="0">
              <a:buNone/>
            </a:pPr>
            <a:r>
              <a:rPr lang="en-US" sz="1150" dirty="0">
                <a:solidFill>
                  <a:srgbClr val="7A4B0C"/>
                </a:solidFill>
              </a:rPr>
              <a:t>The calendar re-allocates modelled enrolments; revenue timing on it is a deferred model run.</a:t>
            </a:r>
            <a:endParaRPr lang="en-US" sz="115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A8 · INDEPENDENT REVIEW</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The review approved the direction and corrected the money, the gate and the owner</a:t>
            </a:r>
            <a:endParaRPr lang="en-US" sz="2800" dirty="0"/>
          </a:p>
        </p:txBody>
      </p:sp>
      <p:sp>
        <p:nvSpPr>
          <p:cNvPr id="4" name="Subtitle"/>
          <p:cNvSpPr txBox="1"/>
          <p:nvPr/>
        </p:nvSpPr>
        <p:spPr>
          <a:xfrm>
            <a:off x="548640" y="1531112"/>
            <a:ext cx="11094415" cy="269367"/>
          </a:xfrm>
          <a:prstGeom prst="rect">
            <a:avLst/>
          </a:prstGeom>
          <a:noFill/>
          <a:ln/>
        </p:spPr>
        <p:txBody>
          <a:bodyPr wrap="square" lIns="0" tIns="0" rIns="0" bIns="0" rtlCol="0" anchor="t"/>
          <a:lstStyle/>
          <a:p>
            <a:pPr algn="l" indent="0" marL="0">
              <a:buNone/>
            </a:pPr>
            <a:r>
              <a:rPr lang="en-US" sz="1500" dirty="0">
                <a:solidFill>
                  <a:srgbClr val="6B5F67"/>
                </a:solidFill>
              </a:rPr>
              <a:t>Three critical and twelve major objections; eight conditions; the deck now answers the fourteen questions a sceptical investor asks.</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strategy/independent_review.md §1–§2, §5, §7; recommended_strategy.md §10 (arbitration log rows 22–31)</a:t>
            </a:r>
            <a:pPr algn="l" indent="0" marL="0">
              <a:buNone/>
            </a:pPr>
            <a:r>
              <a:rPr lang="en-US" sz="900" b="1" dirty="0">
                <a:solidFill>
                  <a:srgbClr val="6B5F67"/>
                </a:solidFill>
              </a:rPr>
              <a:t>   Note: </a:t>
            </a:r>
            <a:pPr algn="l" indent="0" marL="0">
              <a:buNone/>
            </a:pPr>
            <a:r>
              <a:rPr lang="en-US" sz="900" dirty="0">
                <a:solidFill>
                  <a:srgbClr val="6B5F67"/>
                </a:solidFill>
              </a:rPr>
              <a:t>Navigation and audit trail. Objection counts: VERIFIED (review §2).</a:t>
            </a:r>
            <a:endParaRPr lang="en-US" sz="900" dirty="0"/>
          </a:p>
        </p:txBody>
      </p:sp>
      <p:sp>
        <p:nvSpPr>
          <p:cNvPr id="7" name="Changes card"/>
          <p:cNvSpPr/>
          <p:nvPr/>
        </p:nvSpPr>
        <p:spPr>
          <a:xfrm>
            <a:off x="548640" y="1920240"/>
            <a:ext cx="5120640" cy="4224528"/>
          </a:xfrm>
          <a:prstGeom prst="roundRect">
            <a:avLst>
              <a:gd name="adj" fmla="val 1732"/>
            </a:avLst>
          </a:prstGeom>
          <a:solidFill>
            <a:srgbClr val="F2EAF0"/>
          </a:solidFill>
          <a:ln/>
        </p:spPr>
      </p:sp>
      <p:sp>
        <p:nvSpPr>
          <p:cNvPr id="8" name="Label"/>
          <p:cNvSpPr txBox="1"/>
          <p:nvPr/>
        </p:nvSpPr>
        <p:spPr>
          <a:xfrm>
            <a:off x="731520" y="2029968"/>
            <a:ext cx="2743200" cy="219456"/>
          </a:xfrm>
          <a:prstGeom prst="rect">
            <a:avLst/>
          </a:prstGeom>
          <a:noFill/>
          <a:ln/>
        </p:spPr>
        <p:txBody>
          <a:bodyPr wrap="square" lIns="0" tIns="0" rIns="0" bIns="0" rtlCol="0" anchor="ctr"/>
          <a:lstStyle/>
          <a:p>
            <a:pPr algn="l" indent="0" marL="0">
              <a:buNone/>
            </a:pPr>
            <a:r>
              <a:rPr lang="en-US" sz="1050" b="1" dirty="0">
                <a:solidFill>
                  <a:srgbClr val="A4513F"/>
                </a:solidFill>
              </a:rPr>
              <a:t>CHANGES ADOPTED</a:t>
            </a:r>
            <a:endParaRPr lang="en-US" sz="1050" dirty="0"/>
          </a:p>
        </p:txBody>
      </p:sp>
      <p:sp>
        <p:nvSpPr>
          <p:cNvPr id="9" name="Changes"/>
          <p:cNvSpPr txBox="1"/>
          <p:nvPr/>
        </p:nvSpPr>
        <p:spPr>
          <a:xfrm>
            <a:off x="731520" y="2340864"/>
            <a:ext cx="4754880" cy="3694176"/>
          </a:xfrm>
          <a:prstGeom prst="rect">
            <a:avLst/>
          </a:prstGeom>
          <a:noFill/>
          <a:ln/>
        </p:spPr>
        <p:txBody>
          <a:bodyPr wrap="square" lIns="0" tIns="0" rIns="0" bIns="0" rtlCol="0" anchor="t"/>
          <a:lstStyle/>
          <a:p>
            <a:pPr algn="l" marL="152400" indent="-152400">
              <a:spcAft>
                <a:spcPts val="400"/>
              </a:spcAft>
              <a:buSzPct val="100000"/>
              <a:buChar char="•"/>
            </a:pPr>
            <a:r>
              <a:rPr lang="en-US" sz="1300" dirty="0">
                <a:solidFill>
                  <a:schemeClr val="tx2"/>
                </a:solidFill>
              </a:rPr>
              <a:t>Planning case moved to G1 at M9 with M6 as upside (RT-02)</a:t>
            </a:r>
            <a:endParaRPr lang="en-US" sz="1300" dirty="0"/>
          </a:p>
          <a:p>
            <a:pPr algn="l" marL="152400" indent="-152400">
              <a:spcAft>
                <a:spcPts val="400"/>
              </a:spcAft>
              <a:buSzPct val="100000"/>
              <a:buChar char="•"/>
            </a:pPr>
            <a:r>
              <a:rPr lang="en-US" sz="1300" dirty="0">
                <a:solidFill>
                  <a:schemeClr val="tx2"/>
                </a:solidFill>
              </a:rPr>
              <a:t>Downside runs added and the worst loss stated in rupees (RT-01)</a:t>
            </a:r>
            <a:endParaRPr lang="en-US" sz="1300" dirty="0"/>
          </a:p>
          <a:p>
            <a:pPr algn="l" marL="152400" indent="-152400">
              <a:spcAft>
                <a:spcPts val="400"/>
              </a:spcAft>
              <a:buSzPct val="100000"/>
              <a:buChar char="•"/>
            </a:pPr>
            <a:r>
              <a:rPr lang="en-US" sz="1300" dirty="0">
                <a:solidFill>
                  <a:schemeClr val="tx2"/>
                </a:solidFill>
              </a:rPr>
              <a:t>An execution owner funded in Tranche 1 (RT-03)</a:t>
            </a:r>
            <a:endParaRPr lang="en-US" sz="1300" dirty="0"/>
          </a:p>
          <a:p>
            <a:pPr algn="l" marL="152400" indent="-152400">
              <a:spcAft>
                <a:spcPts val="400"/>
              </a:spcAft>
              <a:buSzPct val="100000"/>
              <a:buChar char="•"/>
            </a:pPr>
            <a:r>
              <a:rPr lang="en-US" sz="1300" dirty="0">
                <a:solidFill>
                  <a:schemeClr val="tx2"/>
                </a:solidFill>
              </a:rPr>
              <a:t>Founder hours disclosed, second trainer in the planning case, cover for attrition and incapacity (RT-04)</a:t>
            </a:r>
            <a:endParaRPr lang="en-US" sz="1300" dirty="0"/>
          </a:p>
          <a:p>
            <a:pPr algn="l" marL="152400" indent="-152400">
              <a:spcAft>
                <a:spcPts val="400"/>
              </a:spcAft>
              <a:buSzPct val="100000"/>
              <a:buChar char="•"/>
            </a:pPr>
            <a:r>
              <a:rPr lang="en-US" sz="1300" dirty="0">
                <a:solidFill>
                  <a:schemeClr val="tx2"/>
                </a:solidFill>
              </a:rPr>
              <a:t>Price response and a "no step 2" Year-3 line, payback and IRR (RT-05/10)</a:t>
            </a:r>
            <a:endParaRPr lang="en-US" sz="1300" dirty="0"/>
          </a:p>
          <a:p>
            <a:pPr algn="l" marL="152400" indent="-152400">
              <a:spcAft>
                <a:spcPts val="400"/>
              </a:spcAft>
              <a:buSzPct val="100000"/>
              <a:buChar char="•"/>
            </a:pPr>
            <a:r>
              <a:rPr lang="en-US" sz="1300" dirty="0">
                <a:solidFill>
                  <a:schemeClr val="tx2"/>
                </a:solidFill>
              </a:rPr>
              <a:t>Corrected CAC KPI and the calibration stated plainly (RT-06)</a:t>
            </a:r>
            <a:endParaRPr lang="en-US" sz="1300" dirty="0"/>
          </a:p>
          <a:p>
            <a:pPr algn="l" marL="152400" indent="-152400">
              <a:spcAft>
                <a:spcPts val="400"/>
              </a:spcAft>
              <a:buSzPct val="100000"/>
              <a:buChar char="•"/>
            </a:pPr>
            <a:r>
              <a:rPr lang="en-US" sz="1300" dirty="0">
                <a:solidFill>
                  <a:schemeClr val="tx2"/>
                </a:solidFill>
              </a:rPr>
              <a:t>SG4 kept at 40% (RT-07)</a:t>
            </a:r>
            <a:endParaRPr lang="en-US" sz="1300" dirty="0"/>
          </a:p>
          <a:p>
            <a:pPr algn="l" marL="152400" indent="-152400">
              <a:spcAft>
                <a:spcPts val="400"/>
              </a:spcAft>
              <a:buSzPct val="100000"/>
              <a:buChar char="•"/>
            </a:pPr>
            <a:r>
              <a:rPr lang="en-US" sz="1300" dirty="0">
                <a:solidFill>
                  <a:schemeClr val="tx2"/>
                </a:solidFill>
              </a:rPr>
              <a:t>CA-07 restated as tool-limited (RT-09)</a:t>
            </a:r>
            <a:endParaRPr lang="en-US" sz="1300" dirty="0"/>
          </a:p>
          <a:p>
            <a:pPr algn="l" marL="152400" indent="-152400">
              <a:spcAft>
                <a:spcPts val="400"/>
              </a:spcAft>
              <a:buSzPct val="100000"/>
              <a:buChar char="•"/>
            </a:pPr>
            <a:r>
              <a:rPr lang="en-US" sz="1300" dirty="0">
                <a:solidFill>
                  <a:schemeClr val="tx2"/>
                </a:solidFill>
              </a:rPr>
              <a:t>Tier-matched share line (RT-12)</a:t>
            </a:r>
            <a:endParaRPr lang="en-US" sz="1300" dirty="0"/>
          </a:p>
          <a:p>
            <a:pPr algn="l" marL="152400" indent="-152400">
              <a:spcAft>
                <a:spcPts val="400"/>
              </a:spcAft>
              <a:buSzPct val="100000"/>
              <a:buChar char="•"/>
            </a:pPr>
            <a:r>
              <a:rPr lang="en-US" sz="1300" dirty="0">
                <a:solidFill>
                  <a:schemeClr val="tx2"/>
                </a:solidFill>
              </a:rPr>
              <a:t>H7 downgraded (RT-13)</a:t>
            </a:r>
            <a:endParaRPr lang="en-US" sz="1300" dirty="0"/>
          </a:p>
          <a:p>
            <a:pPr algn="l" marL="152400" indent="-152400">
              <a:spcAft>
                <a:spcPts val="400"/>
              </a:spcAft>
              <a:buSzPct val="100000"/>
              <a:buChar char="•"/>
            </a:pPr>
            <a:r>
              <a:rPr lang="en-US" sz="1300" dirty="0">
                <a:solidFill>
                  <a:schemeClr val="tx2"/>
                </a:solidFill>
              </a:rPr>
              <a:t>Triggers re-timed (RT-14)</a:t>
            </a:r>
            <a:endParaRPr lang="en-US" sz="1300" dirty="0"/>
          </a:p>
          <a:p>
            <a:pPr algn="l" marL="152400" indent="-152400">
              <a:buSzPct val="100000"/>
              <a:buChar char="•"/>
            </a:pPr>
            <a:r>
              <a:rPr lang="en-US" sz="1300" dirty="0">
                <a:solidFill>
                  <a:schemeClr val="tx2"/>
                </a:solidFill>
              </a:rPr>
              <a:t>Destination pilot moved to Aug–Sep (RT-15)</a:t>
            </a:r>
            <a:endParaRPr lang="en-US" sz="1300" dirty="0"/>
          </a:p>
        </p:txBody>
      </p:sp>
      <p:graphicFrame>
        <p:nvGraphicFramePr>
          <p:cNvPr id="35" name="Investor questions"/>
          <p:cNvGraphicFramePr>
            <a:graphicFrameLocks noGrp="1"/>
          </p:cNvGraphicFramePr>
          <p:nvPr>
            <p:extLst>
              <p:ext uri="{D42A27DB-BD31-4B8C-83A1-F6EECF244321}">
                <p14:modId xmlns:p14="http://schemas.microsoft.com/office/powerpoint/2010/main" val="1579011935"/>
              </p:ext>
            </p:extLst>
          </p:nvPr>
        </p:nvGraphicFramePr>
        <p:xfrm>
          <a:off x="5943600" y="1920240"/>
          <a:ext cx="5699455" cy="914400"/>
        </p:xfrm>
        <a:graphic>
          <a:graphicData uri="http://schemas.openxmlformats.org/drawingml/2006/table">
            <a:tbl>
              <a:tblPr/>
              <a:tblGrid>
                <a:gridCol w="3952848"/>
                <a:gridCol w="1746607"/>
              </a:tblGrid>
              <a:tr h="274066">
                <a:tc>
                  <a:txBody>
                    <a:bodyPr/>
                    <a:lstStyle/>
                    <a:p>
                      <a:pPr algn="l" indent="0" marL="0">
                        <a:buNone/>
                      </a:pPr>
                      <a:r>
                        <a:rPr lang="en-US" sz="1000" b="1" dirty="0">
                          <a:solidFill>
                            <a:srgbClr val="FFFFFF"/>
                          </a:solidFill>
                        </a:rPr>
                        <a:t>Investor question</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000" b="1" dirty="0">
                          <a:solidFill>
                            <a:srgbClr val="FFFFFF"/>
                          </a:solidFill>
                        </a:rPr>
                        <a:t>Answered on slide</a:t>
                      </a:r>
                      <a:endParaRPr lang="en-US" sz="10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274066">
                <a:tc>
                  <a:txBody>
                    <a:bodyPr/>
                    <a:lstStyle/>
                    <a:p>
                      <a:pPr algn="l" indent="0" marL="0">
                        <a:buNone/>
                      </a:pPr>
                      <a:r>
                        <a:rPr lang="en-US" sz="1000" dirty="0">
                          <a:solidFill>
                            <a:srgbClr val="2B2129"/>
                          </a:solidFill>
                        </a:rPr>
                        <a:t>What does PNA make today?</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2129"/>
                          </a:solidFill>
                        </a:rPr>
                        <a:t>4</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dirty="0">
                          <a:solidFill>
                            <a:srgbClr val="2B2129"/>
                          </a:solidFill>
                        </a:rPr>
                        <a:t>What is the return on ₹30–35L?</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b="1" dirty="0">
                          <a:solidFill>
                            <a:srgbClr val="2B2129"/>
                          </a:solidFill>
                        </a:rPr>
                        <a:t>3, 20</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dirty="0">
                          <a:solidFill>
                            <a:srgbClr val="2B2129"/>
                          </a:solidFill>
                        </a:rPr>
                        <a:t>Worst loss and when I would know?</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2129"/>
                          </a:solidFill>
                        </a:rPr>
                        <a:t>19, A6</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dirty="0">
                          <a:solidFill>
                            <a:srgbClr val="2B2129"/>
                          </a:solidFill>
                        </a:rPr>
                        <a:t>Who runs this?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b="1" dirty="0">
                          <a:solidFill>
                            <a:srgbClr val="2B2129"/>
                          </a:solidFill>
                        </a:rPr>
                        <a:t>11, 24</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dirty="0">
                          <a:solidFill>
                            <a:srgbClr val="2B2129"/>
                          </a:solidFill>
                        </a:rPr>
                        <a:t>Why will a family pay ₹90k with no public reviews?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2129"/>
                          </a:solidFill>
                        </a:rPr>
                        <a:t>13, 23</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dirty="0">
                          <a:solidFill>
                            <a:srgbClr val="2B2129"/>
                          </a:solidFill>
                        </a:rPr>
                        <a:t>What if Orane/Lakmé/Zuri copy published fees?</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b="1" dirty="0">
                          <a:solidFill>
                            <a:srgbClr val="2B2129"/>
                          </a:solidFill>
                        </a:rPr>
                        <a:t>9</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dirty="0">
                          <a:solidFill>
                            <a:srgbClr val="2B2129"/>
                          </a:solidFill>
                        </a:rPr>
                        <a:t>Can you hire the trainer?</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2129"/>
                          </a:solidFill>
                        </a:rPr>
                        <a:t>23</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dirty="0">
                          <a:solidFill>
                            <a:srgbClr val="2B2129"/>
                          </a:solidFill>
                        </a:rPr>
                        <a:t>What if the trainer leaves or the founder is out a month?</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b="1" dirty="0">
                          <a:solidFill>
                            <a:srgbClr val="2B2129"/>
                          </a:solidFill>
                        </a:rPr>
                        <a:t>A4 (KT-12/13)</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dirty="0">
                          <a:solidFill>
                            <a:srgbClr val="2B2129"/>
                          </a:solidFill>
                        </a:rPr>
                        <a:t>How much of Year 3 is gated hope?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2129"/>
                          </a:solidFill>
                        </a:rPr>
                        <a:t>20</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dirty="0">
                          <a:solidFill>
                            <a:srgbClr val="2B2129"/>
                          </a:solidFill>
                        </a:rPr>
                        <a:t>Why ₹1.0L/month media when ₹37.6k buys the same?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b="1" dirty="0">
                          <a:solidFill>
                            <a:srgbClr val="2B2129"/>
                          </a:solidFill>
                        </a:rPr>
                        <a:t>17</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dirty="0">
                          <a:solidFill>
                            <a:srgbClr val="2B2129"/>
                          </a:solidFill>
                        </a:rPr>
                        <a:t>What does the founder live on?</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2129"/>
                          </a:solidFill>
                        </a:rPr>
                        <a:t>24 (D6b)</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dirty="0">
                          <a:solidFill>
                            <a:srgbClr val="2B2129"/>
                          </a:solidFill>
                        </a:rPr>
                        <a:t>What is the lease?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b="1" dirty="0">
                          <a:solidFill>
                            <a:srgbClr val="2B2129"/>
                          </a:solidFill>
                        </a:rPr>
                        <a:t>19, A3 (G1 pre-lease rule)</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74066">
                <a:tc>
                  <a:txBody>
                    <a:bodyPr/>
                    <a:lstStyle/>
                    <a:p>
                      <a:pPr algn="l" indent="0" marL="0">
                        <a:buNone/>
                      </a:pPr>
                      <a:r>
                        <a:rPr lang="en-US" sz="1000" dirty="0">
                          <a:solidFill>
                            <a:srgbClr val="2B2129"/>
                          </a:solidFill>
                        </a:rPr>
                        <a:t>Is the digital invisibility real?</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B2129"/>
                          </a:solidFill>
                        </a:rPr>
                        <a:t>4, 24 (D9)</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74066">
                <a:tc>
                  <a:txBody>
                    <a:bodyPr/>
                    <a:lstStyle/>
                    <a:p>
                      <a:pPr algn="l" indent="0" marL="0">
                        <a:buNone/>
                      </a:pPr>
                      <a:r>
                        <a:rPr lang="en-US" sz="1000" dirty="0">
                          <a:solidFill>
                            <a:srgbClr val="2B2129"/>
                          </a:solidFill>
                        </a:rPr>
                        <a:t>Who owns the PNA Method?</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000" b="1" dirty="0">
                          <a:solidFill>
                            <a:srgbClr val="2B2129"/>
                          </a:solidFill>
                        </a:rPr>
                        <a:t>24 (D5), 23</a:t>
                      </a:r>
                      <a:endParaRPr lang="en-US" sz="10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
          <p:cNvSpPr txBox="1"/>
          <p:nvPr/>
        </p:nvSpPr>
        <p:spPr>
          <a:xfrm>
            <a:off x="548640" y="329184"/>
            <a:ext cx="6766560" cy="256032"/>
          </a:xfrm>
          <a:prstGeom prst="rect">
            <a:avLst/>
          </a:prstGeom>
          <a:noFill/>
          <a:ln/>
        </p:spPr>
        <p:txBody>
          <a:bodyPr wrap="square" lIns="0" tIns="0" rIns="0" bIns="0" rtlCol="0" anchor="ctr"/>
          <a:lstStyle/>
          <a:p>
            <a:pPr algn="l" indent="0" marL="0">
              <a:buNone/>
            </a:pPr>
            <a:r>
              <a:rPr lang="en-US" sz="1100" b="1" spc="150" kern="0" dirty="0">
                <a:solidFill>
                  <a:srgbClr val="A4513F"/>
                </a:solidFill>
              </a:rPr>
              <a:t>APPENDIX A9 · EVIDENCE AND SOURCES</a:t>
            </a:r>
            <a:endParaRPr lang="en-US" sz="1100" dirty="0"/>
          </a:p>
        </p:txBody>
      </p:sp>
      <p:sp>
        <p:nvSpPr>
          <p:cNvPr id="3" name="Title"/>
          <p:cNvSpPr/>
          <p:nvPr>
            <p:ph type="title" hasCustomPrompt="1"/>
          </p:nvPr>
        </p:nvSpPr>
        <p:spPr>
          <a:xfrm>
            <a:off x="548640" y="621792"/>
            <a:ext cx="11094415" cy="868680"/>
          </a:xfrm>
          <a:prstGeom prst="rect">
            <a:avLst/>
          </a:prstGeom>
          <a:noFill/>
          <a:ln/>
        </p:spPr>
        <p:txBody>
          <a:bodyPr wrap="square" lIns="0" tIns="0" rIns="0" bIns="0" rtlCol="0" anchor="t"/>
          <a:lstStyle/>
          <a:p>
            <a:pPr algn="l" indent="0" marL="0">
              <a:buNone/>
            </a:pPr>
            <a:r>
              <a:rPr lang="en-US" sz="2800" dirty="0">
                <a:solidFill>
                  <a:schemeClr val="tx2"/>
                </a:solidFill>
                <a:latin typeface="+mj-lt" pitchFamily="34" charset="0"/>
                <a:ea typeface="+mj-lt" pitchFamily="34" charset="-122"/>
                <a:cs typeface="+mj-lt" pitchFamily="34" charset="-120"/>
              </a:rPr>
              <a:t>Every number carries a tag, a source and, where it is still open, a date</a:t>
            </a:r>
            <a:endParaRPr lang="en-US" sz="2800" dirty="0"/>
          </a:p>
        </p:txBody>
      </p:sp>
      <p:sp>
        <p:nvSpPr>
          <p:cNvPr id="4" name="Subtitle"/>
          <p:cNvSpPr txBox="1"/>
          <p:nvPr/>
        </p:nvSpPr>
        <p:spPr>
          <a:xfrm>
            <a:off x="548640" y="1122172"/>
            <a:ext cx="11094415" cy="502158"/>
          </a:xfrm>
          <a:prstGeom prst="rect">
            <a:avLst/>
          </a:prstGeom>
          <a:noFill/>
          <a:ln/>
        </p:spPr>
        <p:txBody>
          <a:bodyPr wrap="square" lIns="0" tIns="0" rIns="0" bIns="0" rtlCol="0" anchor="t"/>
          <a:lstStyle/>
          <a:p>
            <a:pPr algn="l" indent="0" marL="0">
              <a:buNone/>
            </a:pPr>
            <a:r>
              <a:rPr lang="en-US" sz="1500" dirty="0">
                <a:solidFill>
                  <a:srgbClr val="6B5F67"/>
                </a:solidFill>
              </a:rPr>
              <a:t>Six evidence labels, one source register, three workbooks with 0 formula errors, and four outstanding model runs that do not change the recommendation.</a:t>
            </a:r>
            <a:endParaRPr lang="en-US" sz="1500" dirty="0"/>
          </a:p>
        </p:txBody>
      </p:sp>
      <p:sp>
        <p:nvSpPr>
          <p:cNvPr id="5" name="Source footer"/>
          <p:cNvSpPr txBox="1"/>
          <p:nvPr/>
        </p:nvSpPr>
        <p:spPr>
          <a:xfrm>
            <a:off x="548640" y="6272784"/>
            <a:ext cx="10271455" cy="384048"/>
          </a:xfrm>
          <a:prstGeom prst="rect">
            <a:avLst/>
          </a:prstGeom>
          <a:noFill/>
          <a:ln/>
        </p:spPr>
        <p:txBody>
          <a:bodyPr wrap="square" lIns="0" tIns="0" rIns="0" bIns="0" rtlCol="0" anchor="b"/>
          <a:lstStyle/>
          <a:p>
            <a:pPr algn="l" indent="0" marL="0">
              <a:buNone/>
            </a:pPr>
            <a:r>
              <a:rPr lang="en-US" sz="900" b="1" dirty="0">
                <a:solidFill>
                  <a:srgbClr val="6B5F67"/>
                </a:solidFill>
              </a:rPr>
              <a:t>Source: </a:t>
            </a:r>
            <a:pPr algn="l" indent="0" marL="0">
              <a:buNone/>
            </a:pPr>
            <a:r>
              <a:rPr lang="en-US" sz="900" dirty="0">
                <a:solidFill>
                  <a:srgbClr val="6B5F67"/>
                </a:solidFill>
              </a:rPr>
              <a:t>Economics header, §1A.8, §7; recommended_strategy.md §11.3; research/sources.md header; final/deck_sources.md</a:t>
            </a:r>
            <a:pPr algn="l" indent="0" marL="0">
              <a:buNone/>
            </a:pPr>
            <a:r>
              <a:rPr lang="en-US" sz="900" b="1" dirty="0">
                <a:solidFill>
                  <a:srgbClr val="6B5F67"/>
                </a:solidFill>
              </a:rPr>
              <a:t>   Note: </a:t>
            </a:r>
            <a:pPr algn="l" indent="0" marL="0">
              <a:buNone/>
            </a:pPr>
            <a:r>
              <a:rPr lang="en-US" sz="900" dirty="0">
                <a:solidFill>
                  <a:srgbClr val="6B5F67"/>
                </a:solidFill>
              </a:rPr>
              <a:t>"0 formula errors": VERIFIED (build log, economics header). F = fetched, S = snippet-only.</a:t>
            </a:r>
            <a:endParaRPr lang="en-US" sz="900" dirty="0"/>
          </a:p>
        </p:txBody>
      </p:sp>
      <p:sp>
        <p:nvSpPr>
          <p:cNvPr id="7" name="Legend card"/>
          <p:cNvSpPr/>
          <p:nvPr/>
        </p:nvSpPr>
        <p:spPr>
          <a:xfrm>
            <a:off x="548640" y="1920240"/>
            <a:ext cx="3840480" cy="4224528"/>
          </a:xfrm>
          <a:prstGeom prst="roundRect">
            <a:avLst>
              <a:gd name="adj" fmla="val 1905"/>
            </a:avLst>
          </a:prstGeom>
          <a:solidFill>
            <a:schemeClr val="bg1"/>
          </a:solidFill>
          <a:ln w="9525">
            <a:solidFill>
              <a:srgbClr val="E4DAD5"/>
            </a:solidFill>
            <a:prstDash val="solid"/>
          </a:ln>
        </p:spPr>
      </p:sp>
      <p:sp>
        <p:nvSpPr>
          <p:cNvPr id="8" name="Label"/>
          <p:cNvSpPr txBox="1"/>
          <p:nvPr/>
        </p:nvSpPr>
        <p:spPr>
          <a:xfrm>
            <a:off x="731520" y="2029968"/>
            <a:ext cx="2743200" cy="219456"/>
          </a:xfrm>
          <a:prstGeom prst="rect">
            <a:avLst/>
          </a:prstGeom>
          <a:noFill/>
          <a:ln/>
        </p:spPr>
        <p:txBody>
          <a:bodyPr wrap="square" lIns="0" tIns="0" rIns="0" bIns="0" rtlCol="0" anchor="ctr"/>
          <a:lstStyle/>
          <a:p>
            <a:pPr algn="l" indent="0" marL="0">
              <a:buNone/>
            </a:pPr>
            <a:r>
              <a:rPr lang="en-US" sz="1050" b="1" dirty="0">
                <a:solidFill>
                  <a:srgbClr val="A4513F"/>
                </a:solidFill>
              </a:rPr>
              <a:t>EVIDENCE LABELS</a:t>
            </a:r>
            <a:endParaRPr lang="en-US" sz="1050" dirty="0"/>
          </a:p>
        </p:txBody>
      </p:sp>
      <p:sp>
        <p:nvSpPr>
          <p:cNvPr id="9" name="Badge VERIFIED"/>
          <p:cNvSpPr txBox="1"/>
          <p:nvPr/>
        </p:nvSpPr>
        <p:spPr>
          <a:xfrm>
            <a:off x="731520" y="2359152"/>
            <a:ext cx="1325880" cy="219456"/>
          </a:xfrm>
          <a:prstGeom prst="roundRect">
            <a:avLst>
              <a:gd name="adj" fmla="val 50000"/>
            </a:avLst>
          </a:prstGeom>
          <a:solidFill>
            <a:schemeClr val="accent4"/>
          </a:solidFill>
          <a:ln w="9525">
            <a:solidFill>
              <a:schemeClr val="accent4"/>
            </a:solidFill>
            <a:prstDash val="solid"/>
          </a:ln>
        </p:spPr>
        <p:txBody>
          <a:bodyPr wrap="square" lIns="0" tIns="0" rIns="0" bIns="0" rtlCol="0" anchor="ctr"/>
          <a:lstStyle/>
          <a:p>
            <a:pPr algn="ctr" indent="0" marL="0">
              <a:buNone/>
            </a:pPr>
            <a:r>
              <a:rPr lang="en-US" sz="900" b="1" spc="80" kern="0" dirty="0">
                <a:solidFill>
                  <a:schemeClr val="bg1"/>
                </a:solidFill>
              </a:rPr>
              <a:t>VERIFIED</a:t>
            </a:r>
            <a:endParaRPr lang="en-US" sz="900" dirty="0"/>
          </a:p>
        </p:txBody>
      </p:sp>
      <p:sp>
        <p:nvSpPr>
          <p:cNvPr id="10" name="Legend text"/>
          <p:cNvSpPr txBox="1"/>
          <p:nvPr/>
        </p:nvSpPr>
        <p:spPr>
          <a:xfrm>
            <a:off x="2176272" y="2313432"/>
            <a:ext cx="2029968" cy="536448"/>
          </a:xfrm>
          <a:prstGeom prst="rect">
            <a:avLst/>
          </a:prstGeom>
          <a:noFill/>
          <a:ln/>
        </p:spPr>
        <p:txBody>
          <a:bodyPr wrap="square" lIns="0" tIns="0" rIns="0" bIns="0" rtlCol="0" anchor="t"/>
          <a:lstStyle/>
          <a:p>
            <a:pPr algn="l" indent="0" marL="0">
              <a:buNone/>
            </a:pPr>
            <a:r>
              <a:rPr lang="en-US" sz="1100" dirty="0">
                <a:solidFill>
                  <a:schemeClr val="tx1"/>
                </a:solidFill>
              </a:rPr>
              <a:t>[FACT] sourced and checked</a:t>
            </a:r>
            <a:endParaRPr lang="en-US" sz="1100" dirty="0"/>
          </a:p>
        </p:txBody>
      </p:sp>
      <p:sp>
        <p:nvSpPr>
          <p:cNvPr id="11" name="Badge CLAIM"/>
          <p:cNvSpPr txBox="1"/>
          <p:nvPr/>
        </p:nvSpPr>
        <p:spPr>
          <a:xfrm>
            <a:off x="731520" y="2987040"/>
            <a:ext cx="1325880" cy="219456"/>
          </a:xfrm>
          <a:prstGeom prst="roundRect">
            <a:avLst>
              <a:gd name="adj" fmla="val 50000"/>
            </a:avLst>
          </a:prstGeom>
          <a:solidFill>
            <a:schemeClr val="bg1"/>
          </a:solidFill>
          <a:ln w="9525">
            <a:solidFill>
              <a:srgbClr val="C9BCB5"/>
            </a:solidFill>
            <a:prstDash val="sysDot"/>
          </a:ln>
        </p:spPr>
        <p:txBody>
          <a:bodyPr wrap="square" lIns="0" tIns="0" rIns="0" bIns="0" rtlCol="0" anchor="ctr"/>
          <a:lstStyle/>
          <a:p>
            <a:pPr algn="ctr" indent="0" marL="0">
              <a:buNone/>
            </a:pPr>
            <a:r>
              <a:rPr lang="en-US" sz="900" b="1" spc="80" kern="0" dirty="0">
                <a:solidFill>
                  <a:srgbClr val="6B5F67"/>
                </a:solidFill>
              </a:rPr>
              <a:t>CLAIM</a:t>
            </a:r>
            <a:endParaRPr lang="en-US" sz="900" dirty="0"/>
          </a:p>
        </p:txBody>
      </p:sp>
      <p:sp>
        <p:nvSpPr>
          <p:cNvPr id="12" name="Legend text 2"/>
          <p:cNvSpPr txBox="1"/>
          <p:nvPr/>
        </p:nvSpPr>
        <p:spPr>
          <a:xfrm>
            <a:off x="2176272" y="2941320"/>
            <a:ext cx="2029968" cy="536448"/>
          </a:xfrm>
          <a:prstGeom prst="rect">
            <a:avLst/>
          </a:prstGeom>
          <a:noFill/>
          <a:ln/>
        </p:spPr>
        <p:txBody>
          <a:bodyPr wrap="square" lIns="0" tIns="0" rIns="0" bIns="0" rtlCol="0" anchor="t"/>
          <a:lstStyle/>
          <a:p>
            <a:pPr algn="l" indent="0" marL="0">
              <a:buNone/>
            </a:pPr>
            <a:r>
              <a:rPr lang="en-US" sz="1100" dirty="0">
                <a:solidFill>
                  <a:schemeClr val="tx1"/>
                </a:solidFill>
              </a:rPr>
              <a:t>First-party or unverified; never read as verified</a:t>
            </a:r>
            <a:endParaRPr lang="en-US" sz="1100" dirty="0"/>
          </a:p>
        </p:txBody>
      </p:sp>
      <p:sp>
        <p:nvSpPr>
          <p:cNvPr id="13" name="Badge FOUNDER"/>
          <p:cNvSpPr txBox="1"/>
          <p:nvPr/>
        </p:nvSpPr>
        <p:spPr>
          <a:xfrm>
            <a:off x="731520" y="3614928"/>
            <a:ext cx="1325880" cy="219456"/>
          </a:xfrm>
          <a:prstGeom prst="roundRect">
            <a:avLst>
              <a:gd name="adj" fmla="val 50000"/>
            </a:avLst>
          </a:prstGeom>
          <a:solidFill>
            <a:srgbClr val="EEE7EB"/>
          </a:solidFill>
          <a:ln w="9525">
            <a:solidFill>
              <a:schemeClr val="accent3"/>
            </a:solidFill>
            <a:prstDash val="solid"/>
          </a:ln>
        </p:spPr>
        <p:txBody>
          <a:bodyPr wrap="square" lIns="0" tIns="0" rIns="0" bIns="0" rtlCol="0" anchor="ctr"/>
          <a:lstStyle/>
          <a:p>
            <a:pPr algn="ctr" indent="0" marL="0">
              <a:buNone/>
            </a:pPr>
            <a:r>
              <a:rPr lang="en-US" sz="900" b="1" spc="80" kern="0" dirty="0">
                <a:solidFill>
                  <a:schemeClr val="tx2"/>
                </a:solidFill>
              </a:rPr>
              <a:t>FOUNDER</a:t>
            </a:r>
            <a:endParaRPr lang="en-US" sz="900" dirty="0"/>
          </a:p>
        </p:txBody>
      </p:sp>
      <p:sp>
        <p:nvSpPr>
          <p:cNvPr id="14" name="Legend text 3"/>
          <p:cNvSpPr txBox="1"/>
          <p:nvPr/>
        </p:nvSpPr>
        <p:spPr>
          <a:xfrm>
            <a:off x="2176272" y="3569208"/>
            <a:ext cx="2029968" cy="536448"/>
          </a:xfrm>
          <a:prstGeom prst="rect">
            <a:avLst/>
          </a:prstGeom>
          <a:noFill/>
          <a:ln/>
        </p:spPr>
        <p:txBody>
          <a:bodyPr wrap="square" lIns="0" tIns="0" rIns="0" bIns="0" rtlCol="0" anchor="t"/>
          <a:lstStyle/>
          <a:p>
            <a:pPr algn="l" indent="0" marL="0">
              <a:buNone/>
            </a:pPr>
            <a:r>
              <a:rPr lang="en-US" sz="1100" dirty="0">
                <a:solidFill>
                  <a:schemeClr val="tx1"/>
                </a:solidFill>
              </a:rPr>
              <a:t>Stated by the founder, not verified</a:t>
            </a:r>
            <a:endParaRPr lang="en-US" sz="1100" dirty="0"/>
          </a:p>
        </p:txBody>
      </p:sp>
      <p:sp>
        <p:nvSpPr>
          <p:cNvPr id="15" name="Badge ESTIMATE"/>
          <p:cNvSpPr txBox="1"/>
          <p:nvPr/>
        </p:nvSpPr>
        <p:spPr>
          <a:xfrm>
            <a:off x="731520" y="4242816"/>
            <a:ext cx="1325880" cy="219456"/>
          </a:xfrm>
          <a:prstGeom prst="roundRect">
            <a:avLst>
              <a:gd name="adj" fmla="val 50000"/>
            </a:avLst>
          </a:prstGeom>
          <a:solidFill>
            <a:srgbClr val="F8EBD4"/>
          </a:solidFill>
          <a:ln w="9525">
            <a:solidFill>
              <a:schemeClr val="accent5"/>
            </a:solidFill>
            <a:prstDash val="solid"/>
          </a:ln>
        </p:spPr>
        <p:txBody>
          <a:bodyPr wrap="square" lIns="0" tIns="0" rIns="0" bIns="0" rtlCol="0" anchor="ctr"/>
          <a:lstStyle/>
          <a:p>
            <a:pPr algn="ctr" indent="0" marL="0">
              <a:buNone/>
            </a:pPr>
            <a:r>
              <a:rPr lang="en-US" sz="900" b="1" spc="80" kern="0" dirty="0">
                <a:solidFill>
                  <a:srgbClr val="7A4B0C"/>
                </a:solidFill>
              </a:rPr>
              <a:t>ESTIMATE</a:t>
            </a:r>
            <a:endParaRPr lang="en-US" sz="900" dirty="0"/>
          </a:p>
        </p:txBody>
      </p:sp>
      <p:sp>
        <p:nvSpPr>
          <p:cNvPr id="16" name="Legend text 4"/>
          <p:cNvSpPr txBox="1"/>
          <p:nvPr/>
        </p:nvSpPr>
        <p:spPr>
          <a:xfrm>
            <a:off x="2176272" y="4197096"/>
            <a:ext cx="2029968" cy="536448"/>
          </a:xfrm>
          <a:prstGeom prst="rect">
            <a:avLst/>
          </a:prstGeom>
          <a:noFill/>
          <a:ln/>
        </p:spPr>
        <p:txBody>
          <a:bodyPr wrap="square" lIns="0" tIns="0" rIns="0" bIns="0" rtlCol="0" anchor="t"/>
          <a:lstStyle/>
          <a:p>
            <a:pPr algn="l" indent="0" marL="0">
              <a:buNone/>
            </a:pPr>
            <a:r>
              <a:rPr lang="en-US" sz="1100" dirty="0">
                <a:solidFill>
                  <a:schemeClr val="tx1"/>
                </a:solidFill>
              </a:rPr>
              <a:t>[EST] our arithmetic, shown in the workbooks</a:t>
            </a:r>
            <a:endParaRPr lang="en-US" sz="1100" dirty="0"/>
          </a:p>
        </p:txBody>
      </p:sp>
      <p:sp>
        <p:nvSpPr>
          <p:cNvPr id="17" name="Badge HYPOTHESIS"/>
          <p:cNvSpPr txBox="1"/>
          <p:nvPr/>
        </p:nvSpPr>
        <p:spPr>
          <a:xfrm>
            <a:off x="731520" y="4870704"/>
            <a:ext cx="1325880" cy="219456"/>
          </a:xfrm>
          <a:prstGeom prst="roundRect">
            <a:avLst>
              <a:gd name="adj" fmla="val 50000"/>
            </a:avLst>
          </a:prstGeom>
          <a:solidFill>
            <a:schemeClr val="bg1"/>
          </a:solidFill>
          <a:ln w="9525">
            <a:solidFill>
              <a:schemeClr val="accent6"/>
            </a:solidFill>
            <a:prstDash val="dash"/>
          </a:ln>
        </p:spPr>
        <p:txBody>
          <a:bodyPr wrap="square" lIns="0" tIns="0" rIns="0" bIns="0" rtlCol="0" anchor="ctr"/>
          <a:lstStyle/>
          <a:p>
            <a:pPr algn="ctr" indent="0" marL="0">
              <a:buNone/>
            </a:pPr>
            <a:r>
              <a:rPr lang="en-US" sz="900" b="1" spc="80" kern="0" dirty="0">
                <a:solidFill>
                  <a:schemeClr val="accent6"/>
                </a:solidFill>
              </a:rPr>
              <a:t>HYPOTHESIS</a:t>
            </a:r>
            <a:endParaRPr lang="en-US" sz="900" dirty="0"/>
          </a:p>
        </p:txBody>
      </p:sp>
      <p:sp>
        <p:nvSpPr>
          <p:cNvPr id="18" name="Legend text 5"/>
          <p:cNvSpPr txBox="1"/>
          <p:nvPr/>
        </p:nvSpPr>
        <p:spPr>
          <a:xfrm>
            <a:off x="2176272" y="4824984"/>
            <a:ext cx="2029968" cy="536448"/>
          </a:xfrm>
          <a:prstGeom prst="rect">
            <a:avLst/>
          </a:prstGeom>
          <a:noFill/>
          <a:ln/>
        </p:spPr>
        <p:txBody>
          <a:bodyPr wrap="square" lIns="0" tIns="0" rIns="0" bIns="0" rtlCol="0" anchor="t"/>
          <a:lstStyle/>
          <a:p>
            <a:pPr algn="l" indent="0" marL="0">
              <a:buNone/>
            </a:pPr>
            <a:r>
              <a:rPr lang="en-US" sz="1100" dirty="0">
                <a:solidFill>
                  <a:schemeClr val="tx1"/>
                </a:solidFill>
              </a:rPr>
              <a:t>[HYP] to be validated</a:t>
            </a:r>
            <a:endParaRPr lang="en-US" sz="1100" dirty="0"/>
          </a:p>
        </p:txBody>
      </p:sp>
      <p:sp>
        <p:nvSpPr>
          <p:cNvPr id="19" name="Badge RECOMMENDATION"/>
          <p:cNvSpPr txBox="1"/>
          <p:nvPr/>
        </p:nvSpPr>
        <p:spPr>
          <a:xfrm>
            <a:off x="731520" y="5498592"/>
            <a:ext cx="1325880" cy="219456"/>
          </a:xfrm>
          <a:prstGeom prst="roundRect">
            <a:avLst>
              <a:gd name="adj" fmla="val 50000"/>
            </a:avLst>
          </a:prstGeom>
          <a:solidFill>
            <a:schemeClr val="tx2"/>
          </a:solidFill>
          <a:ln w="9525">
            <a:solidFill>
              <a:schemeClr val="tx2"/>
            </a:solidFill>
            <a:prstDash val="solid"/>
          </a:ln>
        </p:spPr>
        <p:txBody>
          <a:bodyPr wrap="square" lIns="0" tIns="0" rIns="0" bIns="0" rtlCol="0" anchor="ctr"/>
          <a:lstStyle/>
          <a:p>
            <a:pPr algn="ctr" indent="0" marL="0">
              <a:buNone/>
            </a:pPr>
            <a:r>
              <a:rPr lang="en-US" sz="900" b="1" spc="80" kern="0" dirty="0">
                <a:solidFill>
                  <a:schemeClr val="bg1"/>
                </a:solidFill>
              </a:rPr>
              <a:t>RECOMMENDATION</a:t>
            </a:r>
            <a:endParaRPr lang="en-US" sz="900" dirty="0"/>
          </a:p>
        </p:txBody>
      </p:sp>
      <p:sp>
        <p:nvSpPr>
          <p:cNvPr id="20" name="Legend text 6"/>
          <p:cNvSpPr txBox="1"/>
          <p:nvPr/>
        </p:nvSpPr>
        <p:spPr>
          <a:xfrm>
            <a:off x="2176272" y="5452872"/>
            <a:ext cx="2029968" cy="536448"/>
          </a:xfrm>
          <a:prstGeom prst="rect">
            <a:avLst/>
          </a:prstGeom>
          <a:noFill/>
          <a:ln/>
        </p:spPr>
        <p:txBody>
          <a:bodyPr wrap="square" lIns="0" tIns="0" rIns="0" bIns="0" rtlCol="0" anchor="t"/>
          <a:lstStyle/>
          <a:p>
            <a:pPr algn="l" indent="0" marL="0">
              <a:buNone/>
            </a:pPr>
            <a:r>
              <a:rPr lang="en-US" sz="1100" dirty="0">
                <a:solidFill>
                  <a:schemeClr val="tx1"/>
                </a:solidFill>
              </a:rPr>
              <a:t>[REC] a decision, not a model output</a:t>
            </a:r>
            <a:endParaRPr lang="en-US" sz="1100" dirty="0"/>
          </a:p>
        </p:txBody>
      </p:sp>
      <p:sp>
        <p:nvSpPr>
          <p:cNvPr id="21" name="Label 2"/>
          <p:cNvSpPr txBox="1"/>
          <p:nvPr/>
        </p:nvSpPr>
        <p:spPr>
          <a:xfrm>
            <a:off x="4663440" y="1920240"/>
            <a:ext cx="2743200" cy="219456"/>
          </a:xfrm>
          <a:prstGeom prst="rect">
            <a:avLst/>
          </a:prstGeom>
          <a:noFill/>
          <a:ln/>
        </p:spPr>
        <p:txBody>
          <a:bodyPr wrap="square" lIns="0" tIns="0" rIns="0" bIns="0" rtlCol="0" anchor="ctr"/>
          <a:lstStyle/>
          <a:p>
            <a:pPr algn="l" indent="0" marL="0">
              <a:buNone/>
            </a:pPr>
            <a:r>
              <a:rPr lang="en-US" sz="1050" b="1" dirty="0">
                <a:solidFill>
                  <a:srgbClr val="A4513F"/>
                </a:solidFill>
              </a:rPr>
              <a:t>SOURCE REGISTER</a:t>
            </a:r>
            <a:endParaRPr lang="en-US" sz="1050" dirty="0"/>
          </a:p>
        </p:txBody>
      </p:sp>
      <p:graphicFrame>
        <p:nvGraphicFramePr>
          <p:cNvPr id="36" name="Register table"/>
          <p:cNvGraphicFramePr>
            <a:graphicFrameLocks noGrp="1"/>
          </p:cNvGraphicFramePr>
          <p:nvPr>
            <p:extLst>
              <p:ext uri="{D42A27DB-BD31-4B8C-83A1-F6EECF244321}">
                <p14:modId xmlns:p14="http://schemas.microsoft.com/office/powerpoint/2010/main" val="1579011935"/>
              </p:ext>
            </p:extLst>
          </p:nvPr>
        </p:nvGraphicFramePr>
        <p:xfrm>
          <a:off x="4663440" y="2194560"/>
          <a:ext cx="3977640" cy="914400"/>
        </p:xfrm>
        <a:graphic>
          <a:graphicData uri="http://schemas.openxmlformats.org/drawingml/2006/table">
            <a:tbl>
              <a:tblPr/>
              <a:tblGrid>
                <a:gridCol w="830496"/>
                <a:gridCol w="2272937"/>
                <a:gridCol w="874207"/>
              </a:tblGrid>
              <a:tr h="289585">
                <a:tc>
                  <a:txBody>
                    <a:bodyPr/>
                    <a:lstStyle/>
                    <a:p>
                      <a:pPr algn="l" indent="0" marL="0">
                        <a:buNone/>
                      </a:pPr>
                      <a:r>
                        <a:rPr lang="en-US" sz="1100" b="1" dirty="0">
                          <a:solidFill>
                            <a:srgbClr val="FFFFFF"/>
                          </a:solidFill>
                        </a:rPr>
                        <a:t>Prefix</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Covers</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c>
                  <a:txBody>
                    <a:bodyPr/>
                    <a:lstStyle/>
                    <a:p>
                      <a:pPr algn="l" indent="0" marL="0">
                        <a:buNone/>
                      </a:pPr>
                      <a:r>
                        <a:rPr lang="en-US" sz="1100" b="1" dirty="0">
                          <a:solidFill>
                            <a:srgbClr val="FFFFFF"/>
                          </a:solidFill>
                        </a:rPr>
                        <a:t>F / S</a:t>
                      </a:r>
                      <a:endParaRPr lang="en-US" sz="1100" dirty="0"/>
                    </a:p>
                  </a:txBody>
                  <a:tcPr marL="73152" marR="73152" marT="45720" marB="45720" anchor="b">
                    <a:lnL w="0" cap="flat" cmpd="sng" algn="ctr">
                      <a:noFill/>
                    </a:lnL>
                    <a:lnR w="0" cap="flat" cmpd="sng" algn="ctr">
                      <a:noFill/>
                    </a:lnR>
                    <a:lnT w="0" cap="flat" cmpd="sng" algn="ctr">
                      <a:noFill/>
                    </a:lnT>
                    <a:lnB w="6350" cap="flat" cmpd="sng" algn="ctr">
                      <a:solidFill>
                        <a:srgbClr val="3D1A33"/>
                      </a:solidFill>
                      <a:prstDash val="solid"/>
                      <a:round/>
                      <a:headEnd type="none" w="med" len="med"/>
                      <a:tailEnd type="none" w="med" len="med"/>
                    </a:lnB>
                    <a:solidFill>
                      <a:srgbClr val="3D1A33"/>
                    </a:solidFill>
                  </a:tcPr>
                </a:tc>
              </a:tr>
              <a:tr h="289585">
                <a:tc>
                  <a:txBody>
                    <a:bodyPr/>
                    <a:lstStyle/>
                    <a:p>
                      <a:pPr algn="l" indent="0" marL="0">
                        <a:buNone/>
                      </a:pPr>
                      <a:r>
                        <a:rPr lang="en-US" sz="1100" b="1" dirty="0">
                          <a:solidFill>
                            <a:srgbClr val="2B2129"/>
                          </a:solidFill>
                        </a:rPr>
                        <a:t>S-IND</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India market, skill council, KPMG</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460299">
                <a:tc>
                  <a:txBody>
                    <a:bodyPr/>
                    <a:lstStyle/>
                    <a:p>
                      <a:pPr algn="l" indent="0" marL="0">
                        <a:buNone/>
                      </a:pPr>
                      <a:r>
                        <a:rPr lang="en-US" sz="1100" b="1" dirty="0">
                          <a:solidFill>
                            <a:srgbClr val="2B2129"/>
                          </a:solidFill>
                        </a:rPr>
                        <a:t>S-CHD</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Chandigarh demographics, rents, PGs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89585">
                <a:tc>
                  <a:txBody>
                    <a:bodyPr/>
                    <a:lstStyle/>
                    <a:p>
                      <a:pPr algn="l" indent="0" marL="0">
                        <a:buNone/>
                      </a:pPr>
                      <a:r>
                        <a:rPr lang="en-US" sz="1100" b="1" dirty="0">
                          <a:solidFill>
                            <a:srgbClr val="2B2129"/>
                          </a:solidFill>
                        </a:rPr>
                        <a:t>S-NC</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National competitors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89585">
                <a:tc>
                  <a:txBody>
                    <a:bodyPr/>
                    <a:lstStyle/>
                    <a:p>
                      <a:pPr algn="l" indent="0" marL="0">
                        <a:buNone/>
                      </a:pPr>
                      <a:r>
                        <a:rPr lang="en-US" sz="1100" b="1" dirty="0">
                          <a:solidFill>
                            <a:srgbClr val="2B2129"/>
                          </a:solidFill>
                        </a:rPr>
                        <a:t>S-LC</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Local competitors, PNA footprint</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89585">
                <a:tc>
                  <a:txBody>
                    <a:bodyPr/>
                    <a:lstStyle/>
                    <a:p>
                      <a:pPr algn="l" indent="0" marL="0">
                        <a:buNone/>
                      </a:pPr>
                      <a:r>
                        <a:rPr lang="en-US" sz="1100" b="1" dirty="0">
                          <a:solidFill>
                            <a:srgbClr val="2B2129"/>
                          </a:solidFill>
                        </a:rPr>
                        <a:t>S-INT</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International benchmarks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89585">
                <a:tc>
                  <a:txBody>
                    <a:bodyPr/>
                    <a:lstStyle/>
                    <a:p>
                      <a:pPr algn="l" indent="0" marL="0">
                        <a:buNone/>
                      </a:pPr>
                      <a:r>
                        <a:rPr lang="en-US" sz="1100" b="1" dirty="0">
                          <a:solidFill>
                            <a:srgbClr val="2B2129"/>
                          </a:solidFill>
                        </a:rPr>
                        <a:t>S-CUS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Customer research</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r h="289585">
                <a:tc>
                  <a:txBody>
                    <a:bodyPr/>
                    <a:lstStyle/>
                    <a:p>
                      <a:pPr algn="l" indent="0" marL="0">
                        <a:buNone/>
                      </a:pPr>
                      <a:r>
                        <a:rPr lang="en-US" sz="1100" b="1" dirty="0">
                          <a:solidFill>
                            <a:srgbClr val="2B2129"/>
                          </a:solidFill>
                        </a:rPr>
                        <a:t>S-BM</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Business-model sources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FFFFF"/>
                    </a:solidFill>
                  </a:tcPr>
                </a:tc>
              </a:tr>
              <a:tr h="289585">
                <a:tc>
                  <a:txBody>
                    <a:bodyPr/>
                    <a:lstStyle/>
                    <a:p>
                      <a:pPr algn="l" indent="0" marL="0">
                        <a:buNone/>
                      </a:pPr>
                      <a:r>
                        <a:rPr lang="en-US" sz="1100" b="1" dirty="0">
                          <a:solidFill>
                            <a:srgbClr val="2B2129"/>
                          </a:solidFill>
                        </a:rPr>
                        <a:t>S-GRO</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Growth and martech vendors</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c>
                  <a:txBody>
                    <a:bodyPr/>
                    <a:lstStyle/>
                    <a:p>
                      <a:pPr algn="l" indent="0" marL="0">
                        <a:buNone/>
                      </a:pPr>
                      <a:r>
                        <a:rPr lang="en-US" sz="1100" dirty="0">
                          <a:solidFill>
                            <a:srgbClr val="2B2129"/>
                          </a:solidFill>
                        </a:rPr>
                        <a:t>See register</a:t>
                      </a:r>
                      <a:endParaRPr lang="en-US" sz="1100" dirty="0"/>
                    </a:p>
                  </a:txBody>
                  <a:tcPr marL="73152" marR="73152" marT="45720" marB="45720" anchor="t">
                    <a:lnL w="0" cap="flat" cmpd="sng" algn="ctr">
                      <a:noFill/>
                    </a:lnL>
                    <a:lnR w="0" cap="flat" cmpd="sng" algn="ctr">
                      <a:noFill/>
                    </a:lnR>
                    <a:lnT w="0" cap="flat" cmpd="sng" algn="ctr">
                      <a:noFill/>
                    </a:lnT>
                    <a:lnB w="6350" cap="flat" cmpd="sng" algn="ctr">
                      <a:solidFill>
                        <a:srgbClr val="E4DAD5"/>
                      </a:solidFill>
                      <a:prstDash val="solid"/>
                      <a:round/>
                      <a:headEnd type="none" w="med" len="med"/>
                      <a:tailEnd type="none" w="med" len="med"/>
                    </a:lnB>
                    <a:solidFill>
                      <a:srgbClr val="F1EAE5"/>
                    </a:solidFill>
                  </a:tcPr>
                </a:tc>
              </a:tr>
            </a:tbl>
          </a:graphicData>
        </a:graphic>
      </p:graphicFrame>
      <p:sp>
        <p:nvSpPr>
          <p:cNvPr id="23" name="Register note"/>
          <p:cNvSpPr txBox="1"/>
          <p:nvPr/>
        </p:nvSpPr>
        <p:spPr>
          <a:xfrm>
            <a:off x="4663440" y="5081270"/>
            <a:ext cx="3977640" cy="1063498"/>
          </a:xfrm>
          <a:prstGeom prst="rect">
            <a:avLst/>
          </a:prstGeom>
          <a:noFill/>
          <a:ln/>
        </p:spPr>
        <p:txBody>
          <a:bodyPr wrap="square" lIns="0" tIns="0" rIns="0" bIns="0" rtlCol="0" anchor="t"/>
          <a:lstStyle/>
          <a:p>
            <a:pPr algn="l" indent="0" marL="0">
              <a:spcAft>
                <a:spcPts val="500"/>
              </a:spcAft>
              <a:buNone/>
            </a:pPr>
            <a:r>
              <a:rPr lang="en-US" sz="1000" dirty="0">
                <a:solidFill>
                  <a:srgbClr val="6B5F67"/>
                </a:solidFill>
              </a:rPr>
              <a:t>research/sources.md: all accessed 2026-10-16. Access limits: Instagram, Maps, Justdial, Sulekha blocked; PNA's site refused the proxy.</a:t>
            </a:r>
            <a:endParaRPr lang="en-US" sz="1000" dirty="0"/>
          </a:p>
          <a:p>
            <a:pPr algn="l" indent="0" marL="0">
              <a:buNone/>
            </a:pPr>
            <a:r>
              <a:rPr lang="en-US" sz="1000" b="1" dirty="0">
                <a:solidFill>
                  <a:schemeClr val="tx1"/>
                </a:solidFill>
              </a:rPr>
              <a:t>Workbooks:</a:t>
            </a:r>
            <a:pPr algn="l" indent="0" marL="0">
              <a:buNone/>
            </a:pPr>
            <a:r>
              <a:rPr lang="en-US" sz="1000" dirty="0">
                <a:solidFill>
                  <a:schemeClr val="tx1"/>
                </a:solidFill>
              </a:rPr>
              <a:t> market_sizing_model.xlsx, funnel_economics.xlsx, business_forecast.xlsx: 0 formula errors; all Checks TRUE. Delivered after Gate E: Staged_Cons_CutM5_Deep (₹25.4L) and the G1 station-test pass month (M7 on 6-weekly, M8 on 8-weekly).</a:t>
            </a:r>
            <a:endParaRPr lang="en-US" sz="1000" dirty="0"/>
          </a:p>
        </p:txBody>
      </p:sp>
      <p:sp>
        <p:nvSpPr>
          <p:cNvPr id="24" name="Open items card"/>
          <p:cNvSpPr/>
          <p:nvPr/>
        </p:nvSpPr>
        <p:spPr>
          <a:xfrm>
            <a:off x="8915400" y="1920240"/>
            <a:ext cx="2727655" cy="4224528"/>
          </a:xfrm>
          <a:prstGeom prst="roundRect">
            <a:avLst>
              <a:gd name="adj" fmla="val 2682"/>
            </a:avLst>
          </a:prstGeom>
          <a:solidFill>
            <a:srgbClr val="F8EBD4"/>
          </a:solidFill>
          <a:ln/>
        </p:spPr>
      </p:sp>
      <p:sp>
        <p:nvSpPr>
          <p:cNvPr id="25" name="Open heading"/>
          <p:cNvSpPr txBox="1"/>
          <p:nvPr/>
        </p:nvSpPr>
        <p:spPr>
          <a:xfrm>
            <a:off x="9098280" y="2029968"/>
            <a:ext cx="2361895" cy="457200"/>
          </a:xfrm>
          <a:prstGeom prst="rect">
            <a:avLst/>
          </a:prstGeom>
          <a:noFill/>
          <a:ln/>
        </p:spPr>
        <p:txBody>
          <a:bodyPr wrap="square" lIns="0" tIns="0" rIns="0" bIns="0" rtlCol="0" anchor="t"/>
          <a:lstStyle/>
          <a:p>
            <a:pPr algn="l" indent="0" marL="0">
              <a:buNone/>
            </a:pPr>
            <a:r>
              <a:rPr lang="en-US" sz="1200" b="1" dirty="0">
                <a:solidFill>
                  <a:srgbClr val="7A4B0C"/>
                </a:solidFill>
              </a:rPr>
              <a:t>Outstanding model items (no deck number depends on them)</a:t>
            </a:r>
            <a:endParaRPr lang="en-US" sz="1200" dirty="0"/>
          </a:p>
        </p:txBody>
      </p:sp>
      <p:sp>
        <p:nvSpPr>
          <p:cNvPr id="26" name="Open items"/>
          <p:cNvSpPr txBox="1"/>
          <p:nvPr/>
        </p:nvSpPr>
        <p:spPr>
          <a:xfrm>
            <a:off x="9098280" y="2542032"/>
            <a:ext cx="2361895" cy="3493008"/>
          </a:xfrm>
          <a:prstGeom prst="rect">
            <a:avLst/>
          </a:prstGeom>
          <a:noFill/>
          <a:ln/>
        </p:spPr>
        <p:txBody>
          <a:bodyPr wrap="square" lIns="0" tIns="0" rIns="0" bIns="0" rtlCol="0" anchor="t"/>
          <a:lstStyle/>
          <a:p>
            <a:pPr algn="l" marL="152400" indent="-152400">
              <a:spcAft>
                <a:spcPts val="500"/>
              </a:spcAft>
              <a:buSzPct val="100000"/>
              <a:buChar char="•"/>
            </a:pPr>
            <a:r>
              <a:rPr lang="en-US" sz="1100" b="1" dirty="0">
                <a:solidFill>
                  <a:schemeClr val="tx1"/>
                </a:solidFill>
              </a:rPr>
              <a:t>Staged_FalsePos_PhasedFitout:</a:t>
            </a:r>
            <a:pPr algn="l" indent="0" marL="0">
              <a:buNone/>
            </a:pPr>
            <a:r>
              <a:rPr lang="en-US" sz="1100" dirty="0">
                <a:solidFill>
                  <a:schemeClr val="tx1"/>
                </a:solidFill>
              </a:rPr>
              <a:t> phased fit-out; sunk cost in the false-positive case</a:t>
            </a:r>
            <a:endParaRPr lang="en-US" sz="1100" dirty="0"/>
          </a:p>
          <a:p>
            <a:pPr algn="l" marL="152400" indent="-152400">
              <a:spcAft>
                <a:spcPts val="500"/>
              </a:spcAft>
              <a:buSzPct val="100000"/>
              <a:buChar char="•"/>
            </a:pPr>
            <a:r>
              <a:rPr lang="en-US" sz="1100" b="1" dirty="0">
                <a:solidFill>
                  <a:schemeClr val="tx1"/>
                </a:solidFill>
              </a:rPr>
              <a:t>Staged_G1M9_Retainer:</a:t>
            </a:r>
            <a:pPr algn="l" indent="0" marL="0">
              <a:buNone/>
            </a:pPr>
            <a:r>
              <a:rPr lang="en-US" sz="1100" dirty="0">
                <a:solidFill>
                  <a:schemeClr val="tx1"/>
                </a:solidFill>
              </a:rPr>
              <a:t> retainer trainer from M4; four-week founder-incapacity stress</a:t>
            </a:r>
            <a:endParaRPr lang="en-US" sz="1100" dirty="0"/>
          </a:p>
          <a:p>
            <a:pPr algn="l" marL="152400" indent="-152400">
              <a:spcAft>
                <a:spcPts val="500"/>
              </a:spcAft>
              <a:buSzPct val="100000"/>
              <a:buChar char="•"/>
            </a:pPr>
            <a:r>
              <a:rPr lang="en-US" sz="1100" b="1" dirty="0">
                <a:solidFill>
                  <a:schemeClr val="tx1"/>
                </a:solidFill>
              </a:rPr>
              <a:t>SOM_PNA tier-matched share line:</a:t>
            </a:r>
            <a:pPr algn="l" indent="0" marL="0">
              <a:buNone/>
            </a:pPr>
            <a:r>
              <a:rPr lang="en-US" sz="1100" dirty="0">
                <a:solidFill>
                  <a:schemeClr val="tx1"/>
                </a:solidFill>
              </a:rPr>
              <a:t> replaces the reviewer's ≈20%</a:t>
            </a:r>
            <a:endParaRPr lang="en-US" sz="1100" dirty="0"/>
          </a:p>
          <a:p>
            <a:pPr algn="l" marL="152400" indent="-152400">
              <a:spcAft>
                <a:spcPts val="500"/>
              </a:spcAft>
              <a:buSzPct val="100000"/>
              <a:buChar char="•"/>
            </a:pPr>
            <a:r>
              <a:rPr lang="en-US" sz="1100" b="1" dirty="0">
                <a:solidFill>
                  <a:schemeClr val="tx1"/>
                </a:solidFill>
              </a:rPr>
              <a:t>Contingency sensitivity:</a:t>
            </a:r>
            <a:pPr algn="l" indent="0" marL="0">
              <a:buNone/>
            </a:pPr>
            <a:r>
              <a:rPr lang="en-US" sz="1100" dirty="0">
                <a:solidFill>
                  <a:schemeClr val="tx1"/>
                </a:solidFill>
              </a:rPr>
              <a:t> GST input-credit timing, one-month instalment delay</a:t>
            </a:r>
            <a:endParaRPr lang="en-US" sz="1100" dirty="0"/>
          </a:p>
          <a:p>
            <a:pPr algn="l" marL="152400" indent="-152400">
              <a:buSzPct val="100000"/>
              <a:buChar char="•"/>
            </a:pPr>
            <a:r>
              <a:rPr lang="en-US" sz="1100" b="1" dirty="0">
                <a:solidFill>
                  <a:schemeClr val="tx1"/>
                </a:solidFill>
              </a:rPr>
              <a:t>8-weekly calendar:</a:t>
            </a:r>
            <a:pPr algn="l" indent="0" marL="0">
              <a:buNone/>
            </a:pPr>
            <a:r>
              <a:rPr lang="en-US" sz="1100" dirty="0">
                <a:solidFill>
                  <a:schemeClr val="tx1"/>
                </a:solidFill>
              </a:rPr>
              <a:t> effect on revenue timing and trainer hours (§1A.8)</a:t>
            </a:r>
            <a:endParaRPr lang="en-US" sz="1100" dirty="0"/>
          </a:p>
        </p:txBody>
      </p:sp>
      <p:sp>
        <p:nvSpPr>
          <p:cNvPr id="25" name="Slide Number Placeholder 0"/>
          <p:cNvSpPr>
            <a:spLocks noGrp="1"/>
          </p:cNvSpPr>
          <p:nvPr>
            <p:ph type="sldNum" sz="quarter" idx="4294967295"/>
          </p:nvPr>
        </p:nvSpPr>
        <p:spPr>
          <a:xfrm>
            <a:off x="11094415" y="6419088"/>
            <a:ext cx="548640" cy="237744"/>
          </a:xfrm>
          <a:prstGeom prst="rect">
            <a:avLst/>
          </a:prstGeom>
          <a:extLst>
            <a:ext uri="{C572A759-6A51-4108-AA02-DFA0A04FC94B}">
              <ma14:wrappingTextBoxFlag xmlns:ma14="http://schemas.microsoft.com/office/mac/drawingml/2011/main" val="0"/>
            </a:ext>
          </a:extLst>
        </p:spPr>
        <p:txBody>
          <a:bodyPr lIns="0" tIns="0" rIns="0" bIns="0" anchor="b"/>
          <a:lstStyle>
            <a:lvl1pPr>
              <a:defRPr sz="900">
                <a:solidFill>
                  <a:srgbClr val="6B5F67"/>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PNA Aubergine">
  <a:themeElements>
    <a:clrScheme name="PNA Aubergine">
      <a:dk1>
        <a:srgbClr val="2B2129"/>
      </a:dk1>
      <a:lt1>
        <a:srgbClr val="FFFFFF"/>
      </a:lt1>
      <a:dk2>
        <a:srgbClr val="3D1A33"/>
      </a:dk2>
      <a:lt2>
        <a:srgbClr val="F8F4F1"/>
      </a:lt2>
      <a:accent1>
        <a:srgbClr val="5E2B52"/>
      </a:accent1>
      <a:accent2>
        <a:srgbClr val="C2705C"/>
      </a:accent2>
      <a:accent3>
        <a:srgbClr val="9C8794"/>
      </a:accent3>
      <a:accent4>
        <a:srgbClr val="2D6A5B"/>
      </a:accent4>
      <a:accent5>
        <a:srgbClr val="98600F"/>
      </a:accent5>
      <a:accent6>
        <a:srgbClr val="3F5873"/>
      </a:accent6>
      <a:hlink>
        <a:srgbClr val="A4513F"/>
      </a:hlink>
      <a:folHlink>
        <a:srgbClr val="6B5F67"/>
      </a:folHlink>
    </a:clrScheme>
    <a:fontScheme name="PNA Auberg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Priyanka Nanda Makeup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PNA Growth Strategy and Investment Case</dc:title>
  <dc:subject>Growth strategy, admissions engine and staged investment plan for Priyanka Nanda Makeup Academy, Chandigarh</dc:subject>
  <dc:creator>PNA strategy team</dc:creator>
  <cp:lastModifiedBy>PNA strategy team</cp:lastModifiedBy>
  <cp:revision>1</cp:revision>
  <dcterms:created xsi:type="dcterms:W3CDTF">2026-10-16T07:37:22Z</dcterms:created>
  <dcterms:modified xsi:type="dcterms:W3CDTF">2026-10-16T07:37:22Z</dcterms:modified>
</cp:coreProperties>
</file>