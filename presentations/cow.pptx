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Cow" id="{fb3c817a-2de3-bc32-361a-2772015623c4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A cow is a domesticated bovine kept for milk, meat, labour and manure. Three slides: what a cow is, a few facts, and why cows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quick facts. The four-chamber stomach is what lets cows live on grass that humans cannot digest. Figures are rounded averages.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Cows feed us, work the land, and hold a place in culture. Thank the audience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49377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937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i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The Cow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The Cow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2"/>
                </a:solidFill>
              </a:rPr>
              <a:t>The gentle giant of the farm</a:t>
            </a:r>
            <a:endParaRPr lang="en-US" sz="2000" dirty="0"/>
          </a:p>
        </p:txBody>
      </p:sp>
      <p:sp>
        <p:nvSpPr>
          <p:cNvPr id="4" name="Cow badge"/>
          <p:cNvSpPr/>
          <p:nvPr/>
        </p:nvSpPr>
        <p:spPr>
          <a:xfrm>
            <a:off x="5852160" y="1188720"/>
            <a:ext cx="2743200" cy="2743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ow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0020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 cow at a glance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325880"/>
            <a:ext cx="38862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 1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9384"/>
            <a:ext cx="393192" cy="393192"/>
          </a:xfrm>
          <a:prstGeom prst="rect">
            <a:avLst/>
          </a:prstGeom>
        </p:spPr>
      </p:pic>
      <p:sp>
        <p:nvSpPr>
          <p:cNvPr id="6" name="Stat 1"/>
          <p:cNvSpPr txBox="1"/>
          <p:nvPr/>
        </p:nvSpPr>
        <p:spPr>
          <a:xfrm>
            <a:off x="1645920" y="1508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stomach compartments</a:t>
            </a:r>
            <a:endParaRPr lang="en-US" sz="3000" dirty="0"/>
          </a:p>
        </p:txBody>
      </p:sp>
      <p:sp>
        <p:nvSpPr>
          <p:cNvPr id="7" name="Stat detail 1"/>
          <p:cNvSpPr txBox="1"/>
          <p:nvPr/>
        </p:nvSpPr>
        <p:spPr>
          <a:xfrm>
            <a:off x="164592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Rumen, reticulum, omasum and abomasum digest tough grass</a:t>
            </a:r>
            <a:endParaRPr lang="en-US" sz="1200" dirty="0"/>
          </a:p>
        </p:txBody>
      </p:sp>
      <p:sp>
        <p:nvSpPr>
          <p:cNvPr id="8" name="Stat card 2"/>
          <p:cNvSpPr/>
          <p:nvPr/>
        </p:nvSpPr>
        <p:spPr>
          <a:xfrm>
            <a:off x="4709160" y="1325880"/>
            <a:ext cx="38862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 2"/>
          <p:cNvSpPr/>
          <p:nvPr/>
        </p:nvSpPr>
        <p:spPr>
          <a:xfrm>
            <a:off x="493776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1929384"/>
            <a:ext cx="393192" cy="393192"/>
          </a:xfrm>
          <a:prstGeom prst="rect">
            <a:avLst/>
          </a:prstGeom>
        </p:spPr>
      </p:pic>
      <p:sp>
        <p:nvSpPr>
          <p:cNvPr id="11" name="Stat 2"/>
          <p:cNvSpPr txBox="1"/>
          <p:nvPr/>
        </p:nvSpPr>
        <p:spPr>
          <a:xfrm>
            <a:off x="5806440" y="1508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hrs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 day chewing cud</a:t>
            </a:r>
            <a:endParaRPr lang="en-US" sz="3000" dirty="0"/>
          </a:p>
        </p:txBody>
      </p:sp>
      <p:sp>
        <p:nvSpPr>
          <p:cNvPr id="12" name="Stat detail 2"/>
          <p:cNvSpPr txBox="1"/>
          <p:nvPr/>
        </p:nvSpPr>
        <p:spPr>
          <a:xfrm>
            <a:off x="5806440" y="2148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Food is brought back up and chewed again, which is why cows look so relaxed</a:t>
            </a:r>
            <a:endParaRPr lang="en-US" sz="1200" dirty="0"/>
          </a:p>
        </p:txBody>
      </p:sp>
      <p:sp>
        <p:nvSpPr>
          <p:cNvPr id="13" name="Stat card 3"/>
          <p:cNvSpPr/>
          <p:nvPr/>
        </p:nvSpPr>
        <p:spPr>
          <a:xfrm>
            <a:off x="548640" y="3200400"/>
            <a:ext cx="38862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 3"/>
          <p:cNvSpPr/>
          <p:nvPr/>
        </p:nvSpPr>
        <p:spPr>
          <a:xfrm>
            <a:off x="777240" y="3657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803904"/>
            <a:ext cx="393192" cy="393192"/>
          </a:xfrm>
          <a:prstGeom prst="rect">
            <a:avLst/>
          </a:prstGeom>
        </p:spPr>
      </p:pic>
      <p:sp>
        <p:nvSpPr>
          <p:cNvPr id="16" name="Stat 3"/>
          <p:cNvSpPr txBox="1"/>
          <p:nvPr/>
        </p:nvSpPr>
        <p:spPr>
          <a:xfrm>
            <a:off x="164592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 L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of milk a day</a:t>
            </a:r>
            <a:endParaRPr lang="en-US" sz="3000" dirty="0"/>
          </a:p>
        </p:txBody>
      </p:sp>
      <p:sp>
        <p:nvSpPr>
          <p:cNvPr id="17" name="Stat detail 3"/>
          <p:cNvSpPr txBox="1"/>
          <p:nvPr/>
        </p:nvSpPr>
        <p:spPr>
          <a:xfrm>
            <a:off x="1645920" y="4023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typical dairy cow's daily yield, roughly 100 glasses</a:t>
            </a:r>
            <a:endParaRPr lang="en-US" sz="1200" dirty="0"/>
          </a:p>
        </p:txBody>
      </p:sp>
      <p:sp>
        <p:nvSpPr>
          <p:cNvPr id="18" name="Stat card 4"/>
          <p:cNvSpPr/>
          <p:nvPr/>
        </p:nvSpPr>
        <p:spPr>
          <a:xfrm>
            <a:off x="4709160" y="3200400"/>
            <a:ext cx="38862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 4"/>
          <p:cNvSpPr/>
          <p:nvPr/>
        </p:nvSpPr>
        <p:spPr>
          <a:xfrm>
            <a:off x="4937760" y="3657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3803904"/>
            <a:ext cx="393192" cy="393192"/>
          </a:xfrm>
          <a:prstGeom prst="rect">
            <a:avLst/>
          </a:prstGeom>
        </p:spPr>
      </p:pic>
      <p:sp>
        <p:nvSpPr>
          <p:cNvPr id="21" name="Stat 4"/>
          <p:cNvSpPr txBox="1"/>
          <p:nvPr/>
        </p:nvSpPr>
        <p:spPr>
          <a:xfrm>
            <a:off x="580644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bn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cattle worldwide</a:t>
            </a:r>
            <a:endParaRPr lang="en-US" sz="3000" dirty="0"/>
          </a:p>
        </p:txBody>
      </p:sp>
      <p:sp>
        <p:nvSpPr>
          <p:cNvPr id="22" name="Stat detail 4"/>
          <p:cNvSpPr txBox="1"/>
          <p:nvPr/>
        </p:nvSpPr>
        <p:spPr>
          <a:xfrm>
            <a:off x="5806440" y="4023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Found on every inhabited continent, from Alpine pastures to Indian villages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Why cows matter</a:t>
            </a:r>
            <a:endParaRPr lang="en-US" sz="3600" dirty="0"/>
          </a:p>
        </p:txBody>
      </p:sp>
      <p:sp>
        <p:nvSpPr>
          <p:cNvPr id="3" name="Column 1"/>
          <p:cNvSpPr/>
          <p:nvPr/>
        </p:nvSpPr>
        <p:spPr>
          <a:xfrm>
            <a:off x="54864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umn icon circle 1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olumn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6" name="Column heading 1"/>
          <p:cNvSpPr txBox="1"/>
          <p:nvPr/>
        </p:nvSpPr>
        <p:spPr>
          <a:xfrm>
            <a:off x="82296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Food</a:t>
            </a:r>
            <a:endParaRPr lang="en-US" sz="2200" dirty="0"/>
          </a:p>
        </p:txBody>
      </p:sp>
      <p:sp>
        <p:nvSpPr>
          <p:cNvPr id="7" name="Column body 1"/>
          <p:cNvSpPr txBox="1"/>
          <p:nvPr/>
        </p:nvSpPr>
        <p:spPr>
          <a:xfrm>
            <a:off x="822960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Milk, butter, cheese, yoghurt and ghee all start with a cow. Dairy is a daily staple for billions of people.</a:t>
            </a:r>
            <a:endParaRPr lang="en-US" sz="1400" dirty="0"/>
          </a:p>
        </p:txBody>
      </p:sp>
      <p:sp>
        <p:nvSpPr>
          <p:cNvPr id="8" name="Column 2"/>
          <p:cNvSpPr/>
          <p:nvPr/>
        </p:nvSpPr>
        <p:spPr>
          <a:xfrm>
            <a:off x="329184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olumn icon circle 2"/>
          <p:cNvSpPr/>
          <p:nvPr/>
        </p:nvSpPr>
        <p:spPr>
          <a:xfrm>
            <a:off x="3566160" y="16002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olumn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783080"/>
            <a:ext cx="457200" cy="457200"/>
          </a:xfrm>
          <a:prstGeom prst="rect">
            <a:avLst/>
          </a:prstGeom>
        </p:spPr>
      </p:pic>
      <p:sp>
        <p:nvSpPr>
          <p:cNvPr id="11" name="Column heading 2"/>
          <p:cNvSpPr txBox="1"/>
          <p:nvPr/>
        </p:nvSpPr>
        <p:spPr>
          <a:xfrm>
            <a:off x="356616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Farming</a:t>
            </a:r>
            <a:endParaRPr lang="en-US" sz="2200" dirty="0"/>
          </a:p>
        </p:txBody>
      </p:sp>
      <p:sp>
        <p:nvSpPr>
          <p:cNvPr id="12" name="Column body 2"/>
          <p:cNvSpPr txBox="1"/>
          <p:nvPr/>
        </p:nvSpPr>
        <p:spPr>
          <a:xfrm>
            <a:off x="3566160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Manure feeds the soil, and in many regions cattle still pull ploughs and carts, powering small farms.</a:t>
            </a:r>
            <a:endParaRPr lang="en-US" sz="1400" dirty="0"/>
          </a:p>
        </p:txBody>
      </p:sp>
      <p:sp>
        <p:nvSpPr>
          <p:cNvPr id="13" name="Column 3"/>
          <p:cNvSpPr/>
          <p:nvPr/>
        </p:nvSpPr>
        <p:spPr>
          <a:xfrm>
            <a:off x="603504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lumn icon circle 3"/>
          <p:cNvSpPr/>
          <p:nvPr/>
        </p:nvSpPr>
        <p:spPr>
          <a:xfrm>
            <a:off x="6309360" y="16002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Column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457200" cy="457200"/>
          </a:xfrm>
          <a:prstGeom prst="rect">
            <a:avLst/>
          </a:prstGeom>
        </p:spPr>
      </p:pic>
      <p:sp>
        <p:nvSpPr>
          <p:cNvPr id="16" name="Column heading 3"/>
          <p:cNvSpPr txBox="1"/>
          <p:nvPr/>
        </p:nvSpPr>
        <p:spPr>
          <a:xfrm>
            <a:off x="630936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Culture</a:t>
            </a:r>
            <a:endParaRPr lang="en-US" sz="2200" dirty="0"/>
          </a:p>
        </p:txBody>
      </p:sp>
      <p:sp>
        <p:nvSpPr>
          <p:cNvPr id="17" name="Column body 3"/>
          <p:cNvSpPr txBox="1"/>
          <p:nvPr/>
        </p:nvSpPr>
        <p:spPr>
          <a:xfrm>
            <a:off x="6309360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Revered in Hinduism, a symbol of plenty in folklore, and a fixture of childhood from nursery rhymes to farm visits.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sture">
  <a:themeElements>
    <a:clrScheme name="Pasture">
      <a:dk1>
        <a:srgbClr val="1B1B1B"/>
      </a:dk1>
      <a:lt1>
        <a:srgbClr val="FFFFFF"/>
      </a:lt1>
      <a:dk2>
        <a:srgbClr val="1F3D2B"/>
      </a:dk2>
      <a:lt2>
        <a:srgbClr val="EEF3EA"/>
      </a:lt2>
      <a:accent1>
        <a:srgbClr val="6A994E"/>
      </a:accent1>
      <a:accent2>
        <a:srgbClr val="E9C46A"/>
      </a:accent2>
      <a:accent3>
        <a:srgbClr val="BC6C25"/>
      </a:accent3>
      <a:accent4>
        <a:srgbClr val="A7C957"/>
      </a:accent4>
      <a:accent5>
        <a:srgbClr val="386641"/>
      </a:accent5>
      <a:accent6>
        <a:srgbClr val="F2E8CF"/>
      </a:accent6>
      <a:hlink>
        <a:srgbClr val="386641"/>
      </a:hlink>
      <a:folHlink>
        <a:srgbClr val="6A994E"/>
      </a:folHlink>
    </a:clrScheme>
    <a:fontScheme name="Pas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Cow</dc:title>
  <dc:subject>PptxGenJS Presentation</dc:subject>
  <dc:creator>apna-demo</dc:creator>
  <cp:lastModifiedBy>apna-demo</cp:lastModifiedBy>
  <cp:revision>1</cp:revision>
  <dcterms:created xsi:type="dcterms:W3CDTF">2026-10-15T11:00:39Z</dcterms:created>
  <dcterms:modified xsi:type="dcterms:W3CDTF">2026-10-15T11:00:39Z</dcterms:modified>
</cp:coreProperties>
</file>